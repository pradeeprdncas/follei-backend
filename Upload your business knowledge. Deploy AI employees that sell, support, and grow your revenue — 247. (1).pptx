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426F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1">
                <a:solidFill>
                  <a:srgbClr val="00426F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6A6F82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385"/>
              </a:lnSpc>
            </a:pPr>
            <a:fld id="{81D60167-4931-47E6-BA6A-407CBD079E47}" type="slidenum">
              <a:rPr dirty="0"/>
              <a:t>#</a:t>
            </a:fld>
            <a:r>
              <a:rPr dirty="0" spc="-15"/>
              <a:t> </a:t>
            </a:r>
            <a:r>
              <a:rPr dirty="0"/>
              <a:t>/</a:t>
            </a:r>
            <a:r>
              <a:rPr dirty="0" spc="-15"/>
              <a:t> </a:t>
            </a:r>
            <a:r>
              <a:rPr dirty="0" spc="-25"/>
              <a:t>16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426F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5400" b="1" i="1">
                <a:solidFill>
                  <a:srgbClr val="00426F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6A6F82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385"/>
              </a:lnSpc>
            </a:pPr>
            <a:fld id="{81D60167-4931-47E6-BA6A-407CBD079E47}" type="slidenum">
              <a:rPr dirty="0"/>
              <a:t>#</a:t>
            </a:fld>
            <a:r>
              <a:rPr dirty="0" spc="-15"/>
              <a:t> </a:t>
            </a:r>
            <a:r>
              <a:rPr dirty="0"/>
              <a:t>/</a:t>
            </a:r>
            <a:r>
              <a:rPr dirty="0" spc="-15"/>
              <a:t> </a:t>
            </a:r>
            <a:r>
              <a:rPr dirty="0" spc="-25"/>
              <a:t>16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121257"/>
            <a:ext cx="3432175" cy="4114800"/>
          </a:xfrm>
          <a:custGeom>
            <a:avLst/>
            <a:gdLst/>
            <a:ahLst/>
            <a:cxnLst/>
            <a:rect l="l" t="t" r="r" b="b"/>
            <a:pathLst>
              <a:path w="3432175" h="4114800">
                <a:moveTo>
                  <a:pt x="1517653" y="12699"/>
                </a:moveTo>
                <a:lnTo>
                  <a:pt x="1227717" y="12699"/>
                </a:lnTo>
                <a:lnTo>
                  <a:pt x="1275756" y="0"/>
                </a:lnTo>
                <a:lnTo>
                  <a:pt x="1469615" y="0"/>
                </a:lnTo>
                <a:lnTo>
                  <a:pt x="1517653" y="12699"/>
                </a:lnTo>
                <a:close/>
              </a:path>
              <a:path w="3432175" h="4114800">
                <a:moveTo>
                  <a:pt x="1659914" y="25399"/>
                </a:moveTo>
                <a:lnTo>
                  <a:pt x="1085457" y="25399"/>
                </a:lnTo>
                <a:lnTo>
                  <a:pt x="1132556" y="12699"/>
                </a:lnTo>
                <a:lnTo>
                  <a:pt x="1612815" y="12699"/>
                </a:lnTo>
                <a:lnTo>
                  <a:pt x="1659914" y="25399"/>
                </a:lnTo>
                <a:close/>
              </a:path>
              <a:path w="3432175" h="4114800">
                <a:moveTo>
                  <a:pt x="1844807" y="63499"/>
                </a:moveTo>
                <a:lnTo>
                  <a:pt x="900563" y="63499"/>
                </a:lnTo>
                <a:lnTo>
                  <a:pt x="1038696" y="25399"/>
                </a:lnTo>
                <a:lnTo>
                  <a:pt x="1706675" y="25399"/>
                </a:lnTo>
                <a:lnTo>
                  <a:pt x="1844807" y="63499"/>
                </a:lnTo>
                <a:close/>
              </a:path>
              <a:path w="3432175" h="4114800">
                <a:moveTo>
                  <a:pt x="1753086" y="4089399"/>
                </a:moveTo>
                <a:lnTo>
                  <a:pt x="992285" y="4089399"/>
                </a:lnTo>
                <a:lnTo>
                  <a:pt x="678253" y="4000499"/>
                </a:lnTo>
                <a:lnTo>
                  <a:pt x="635089" y="3987799"/>
                </a:lnTo>
                <a:lnTo>
                  <a:pt x="592386" y="3962399"/>
                </a:lnTo>
                <a:lnTo>
                  <a:pt x="508414" y="3936999"/>
                </a:lnTo>
                <a:lnTo>
                  <a:pt x="426436" y="3886199"/>
                </a:lnTo>
                <a:lnTo>
                  <a:pt x="386226" y="3873499"/>
                </a:lnTo>
                <a:lnTo>
                  <a:pt x="307425" y="3822699"/>
                </a:lnTo>
                <a:lnTo>
                  <a:pt x="230865" y="3771899"/>
                </a:lnTo>
                <a:lnTo>
                  <a:pt x="193456" y="3746499"/>
                </a:lnTo>
                <a:lnTo>
                  <a:pt x="156645" y="3721099"/>
                </a:lnTo>
                <a:lnTo>
                  <a:pt x="120443" y="3695699"/>
                </a:lnTo>
                <a:lnTo>
                  <a:pt x="84863" y="3670299"/>
                </a:lnTo>
                <a:lnTo>
                  <a:pt x="49918" y="3644899"/>
                </a:lnTo>
                <a:lnTo>
                  <a:pt x="15620" y="3606799"/>
                </a:lnTo>
                <a:lnTo>
                  <a:pt x="0" y="3595005"/>
                </a:lnTo>
                <a:lnTo>
                  <a:pt x="0" y="525691"/>
                </a:lnTo>
                <a:lnTo>
                  <a:pt x="15620" y="507999"/>
                </a:lnTo>
                <a:lnTo>
                  <a:pt x="49918" y="482599"/>
                </a:lnTo>
                <a:lnTo>
                  <a:pt x="84863" y="457199"/>
                </a:lnTo>
                <a:lnTo>
                  <a:pt x="120443" y="431799"/>
                </a:lnTo>
                <a:lnTo>
                  <a:pt x="156645" y="406399"/>
                </a:lnTo>
                <a:lnTo>
                  <a:pt x="193456" y="368299"/>
                </a:lnTo>
                <a:lnTo>
                  <a:pt x="230865" y="342899"/>
                </a:lnTo>
                <a:lnTo>
                  <a:pt x="268858" y="317499"/>
                </a:lnTo>
                <a:lnTo>
                  <a:pt x="307425" y="304799"/>
                </a:lnTo>
                <a:lnTo>
                  <a:pt x="386226" y="253999"/>
                </a:lnTo>
                <a:lnTo>
                  <a:pt x="426436" y="228599"/>
                </a:lnTo>
                <a:lnTo>
                  <a:pt x="467170" y="215899"/>
                </a:lnTo>
                <a:lnTo>
                  <a:pt x="508414" y="190499"/>
                </a:lnTo>
                <a:lnTo>
                  <a:pt x="550157" y="177799"/>
                </a:lnTo>
                <a:lnTo>
                  <a:pt x="592386" y="152399"/>
                </a:lnTo>
                <a:lnTo>
                  <a:pt x="721866" y="114299"/>
                </a:lnTo>
                <a:lnTo>
                  <a:pt x="765916" y="88899"/>
                </a:lnTo>
                <a:lnTo>
                  <a:pt x="855277" y="63499"/>
                </a:lnTo>
                <a:lnTo>
                  <a:pt x="1890093" y="63499"/>
                </a:lnTo>
                <a:lnTo>
                  <a:pt x="1979454" y="88899"/>
                </a:lnTo>
                <a:lnTo>
                  <a:pt x="2023504" y="114299"/>
                </a:lnTo>
                <a:lnTo>
                  <a:pt x="2152984" y="152399"/>
                </a:lnTo>
                <a:lnTo>
                  <a:pt x="2195213" y="177799"/>
                </a:lnTo>
                <a:lnTo>
                  <a:pt x="2236956" y="190499"/>
                </a:lnTo>
                <a:lnTo>
                  <a:pt x="2278201" y="215899"/>
                </a:lnTo>
                <a:lnTo>
                  <a:pt x="2318934" y="228599"/>
                </a:lnTo>
                <a:lnTo>
                  <a:pt x="2359144" y="253999"/>
                </a:lnTo>
                <a:lnTo>
                  <a:pt x="2437946" y="304799"/>
                </a:lnTo>
                <a:lnTo>
                  <a:pt x="2476512" y="317499"/>
                </a:lnTo>
                <a:lnTo>
                  <a:pt x="2514506" y="342899"/>
                </a:lnTo>
                <a:lnTo>
                  <a:pt x="2551915" y="368299"/>
                </a:lnTo>
                <a:lnTo>
                  <a:pt x="2588726" y="406399"/>
                </a:lnTo>
                <a:lnTo>
                  <a:pt x="2624928" y="431799"/>
                </a:lnTo>
                <a:lnTo>
                  <a:pt x="2660507" y="457199"/>
                </a:lnTo>
                <a:lnTo>
                  <a:pt x="2695452" y="482599"/>
                </a:lnTo>
                <a:lnTo>
                  <a:pt x="2729750" y="507999"/>
                </a:lnTo>
                <a:lnTo>
                  <a:pt x="2763390" y="546099"/>
                </a:lnTo>
                <a:lnTo>
                  <a:pt x="2796357" y="571499"/>
                </a:lnTo>
                <a:lnTo>
                  <a:pt x="2828641" y="609599"/>
                </a:lnTo>
                <a:lnTo>
                  <a:pt x="2860228" y="634999"/>
                </a:lnTo>
                <a:lnTo>
                  <a:pt x="2891107" y="673099"/>
                </a:lnTo>
                <a:lnTo>
                  <a:pt x="2921265" y="711199"/>
                </a:lnTo>
                <a:lnTo>
                  <a:pt x="2950690" y="736599"/>
                </a:lnTo>
                <a:lnTo>
                  <a:pt x="2979369" y="774699"/>
                </a:lnTo>
                <a:lnTo>
                  <a:pt x="3007290" y="812799"/>
                </a:lnTo>
                <a:lnTo>
                  <a:pt x="3034440" y="850899"/>
                </a:lnTo>
                <a:lnTo>
                  <a:pt x="3060808" y="888999"/>
                </a:lnTo>
                <a:lnTo>
                  <a:pt x="3086381" y="914399"/>
                </a:lnTo>
                <a:lnTo>
                  <a:pt x="3111146" y="952499"/>
                </a:lnTo>
                <a:lnTo>
                  <a:pt x="3135091" y="990599"/>
                </a:lnTo>
                <a:lnTo>
                  <a:pt x="3158204" y="1041399"/>
                </a:lnTo>
                <a:lnTo>
                  <a:pt x="3180473" y="1079499"/>
                </a:lnTo>
                <a:lnTo>
                  <a:pt x="3201885" y="1117599"/>
                </a:lnTo>
                <a:lnTo>
                  <a:pt x="3222427" y="1155699"/>
                </a:lnTo>
                <a:lnTo>
                  <a:pt x="3242088" y="1193799"/>
                </a:lnTo>
                <a:lnTo>
                  <a:pt x="3260855" y="1244599"/>
                </a:lnTo>
                <a:lnTo>
                  <a:pt x="3278716" y="1282699"/>
                </a:lnTo>
                <a:lnTo>
                  <a:pt x="3295658" y="1320799"/>
                </a:lnTo>
                <a:lnTo>
                  <a:pt x="3311669" y="1371599"/>
                </a:lnTo>
                <a:lnTo>
                  <a:pt x="3326736" y="1409699"/>
                </a:lnTo>
                <a:lnTo>
                  <a:pt x="3340848" y="1460499"/>
                </a:lnTo>
                <a:lnTo>
                  <a:pt x="3353992" y="1498599"/>
                </a:lnTo>
                <a:lnTo>
                  <a:pt x="3366155" y="1549399"/>
                </a:lnTo>
                <a:lnTo>
                  <a:pt x="3377325" y="1587499"/>
                </a:lnTo>
                <a:lnTo>
                  <a:pt x="3387490" y="1638299"/>
                </a:lnTo>
                <a:lnTo>
                  <a:pt x="3396638" y="1676399"/>
                </a:lnTo>
                <a:lnTo>
                  <a:pt x="3404756" y="1727199"/>
                </a:lnTo>
                <a:lnTo>
                  <a:pt x="3411831" y="1777999"/>
                </a:lnTo>
                <a:lnTo>
                  <a:pt x="3417852" y="1816099"/>
                </a:lnTo>
                <a:lnTo>
                  <a:pt x="3422806" y="1866899"/>
                </a:lnTo>
                <a:lnTo>
                  <a:pt x="3426680" y="1917699"/>
                </a:lnTo>
                <a:lnTo>
                  <a:pt x="3429463" y="1968499"/>
                </a:lnTo>
                <a:lnTo>
                  <a:pt x="3431142" y="2019299"/>
                </a:lnTo>
                <a:lnTo>
                  <a:pt x="3431704" y="2057399"/>
                </a:lnTo>
                <a:lnTo>
                  <a:pt x="3431142" y="2108199"/>
                </a:lnTo>
                <a:lnTo>
                  <a:pt x="3429463" y="2158999"/>
                </a:lnTo>
                <a:lnTo>
                  <a:pt x="3426680" y="2209799"/>
                </a:lnTo>
                <a:lnTo>
                  <a:pt x="3422806" y="2260599"/>
                </a:lnTo>
                <a:lnTo>
                  <a:pt x="3417852" y="2298699"/>
                </a:lnTo>
                <a:lnTo>
                  <a:pt x="3411831" y="2349499"/>
                </a:lnTo>
                <a:lnTo>
                  <a:pt x="3404756" y="2400299"/>
                </a:lnTo>
                <a:lnTo>
                  <a:pt x="3396638" y="2438399"/>
                </a:lnTo>
                <a:lnTo>
                  <a:pt x="3387490" y="2489199"/>
                </a:lnTo>
                <a:lnTo>
                  <a:pt x="3377325" y="2539999"/>
                </a:lnTo>
                <a:lnTo>
                  <a:pt x="3366155" y="2578099"/>
                </a:lnTo>
                <a:lnTo>
                  <a:pt x="3353992" y="2628899"/>
                </a:lnTo>
                <a:lnTo>
                  <a:pt x="3340848" y="2666999"/>
                </a:lnTo>
                <a:lnTo>
                  <a:pt x="3326736" y="2717799"/>
                </a:lnTo>
                <a:lnTo>
                  <a:pt x="3311669" y="2755899"/>
                </a:lnTo>
                <a:lnTo>
                  <a:pt x="3295658" y="2793999"/>
                </a:lnTo>
                <a:lnTo>
                  <a:pt x="3278716" y="2844799"/>
                </a:lnTo>
                <a:lnTo>
                  <a:pt x="3260855" y="2882899"/>
                </a:lnTo>
                <a:lnTo>
                  <a:pt x="3242088" y="2920999"/>
                </a:lnTo>
                <a:lnTo>
                  <a:pt x="3222427" y="2971799"/>
                </a:lnTo>
                <a:lnTo>
                  <a:pt x="3201885" y="3009899"/>
                </a:lnTo>
                <a:lnTo>
                  <a:pt x="3180473" y="3047999"/>
                </a:lnTo>
                <a:lnTo>
                  <a:pt x="3158204" y="3086099"/>
                </a:lnTo>
                <a:lnTo>
                  <a:pt x="3135091" y="3124199"/>
                </a:lnTo>
                <a:lnTo>
                  <a:pt x="3111146" y="3162299"/>
                </a:lnTo>
                <a:lnTo>
                  <a:pt x="3086381" y="3200399"/>
                </a:lnTo>
                <a:lnTo>
                  <a:pt x="3060808" y="3238499"/>
                </a:lnTo>
                <a:lnTo>
                  <a:pt x="3034440" y="3276599"/>
                </a:lnTo>
                <a:lnTo>
                  <a:pt x="3007290" y="3314699"/>
                </a:lnTo>
                <a:lnTo>
                  <a:pt x="2979369" y="3352799"/>
                </a:lnTo>
                <a:lnTo>
                  <a:pt x="2950690" y="3390899"/>
                </a:lnTo>
                <a:lnTo>
                  <a:pt x="2921265" y="3416299"/>
                </a:lnTo>
                <a:lnTo>
                  <a:pt x="2891107" y="3454399"/>
                </a:lnTo>
                <a:lnTo>
                  <a:pt x="2860228" y="3479799"/>
                </a:lnTo>
                <a:lnTo>
                  <a:pt x="2828641" y="3517899"/>
                </a:lnTo>
                <a:lnTo>
                  <a:pt x="2796357" y="3555999"/>
                </a:lnTo>
                <a:lnTo>
                  <a:pt x="2763390" y="3581399"/>
                </a:lnTo>
                <a:lnTo>
                  <a:pt x="2729750" y="3606799"/>
                </a:lnTo>
                <a:lnTo>
                  <a:pt x="2695452" y="3644899"/>
                </a:lnTo>
                <a:lnTo>
                  <a:pt x="2660507" y="3670299"/>
                </a:lnTo>
                <a:lnTo>
                  <a:pt x="2624928" y="3695699"/>
                </a:lnTo>
                <a:lnTo>
                  <a:pt x="2588726" y="3721099"/>
                </a:lnTo>
                <a:lnTo>
                  <a:pt x="2551915" y="3746499"/>
                </a:lnTo>
                <a:lnTo>
                  <a:pt x="2514506" y="3771899"/>
                </a:lnTo>
                <a:lnTo>
                  <a:pt x="2437946" y="3822699"/>
                </a:lnTo>
                <a:lnTo>
                  <a:pt x="2359144" y="3873499"/>
                </a:lnTo>
                <a:lnTo>
                  <a:pt x="2318934" y="3886199"/>
                </a:lnTo>
                <a:lnTo>
                  <a:pt x="2236956" y="3936999"/>
                </a:lnTo>
                <a:lnTo>
                  <a:pt x="2152984" y="3962399"/>
                </a:lnTo>
                <a:lnTo>
                  <a:pt x="2110282" y="3987799"/>
                </a:lnTo>
                <a:lnTo>
                  <a:pt x="2067117" y="4000499"/>
                </a:lnTo>
                <a:lnTo>
                  <a:pt x="1753086" y="4089399"/>
                </a:lnTo>
                <a:close/>
              </a:path>
              <a:path w="3432175" h="4114800">
                <a:moveTo>
                  <a:pt x="1659914" y="4102099"/>
                </a:moveTo>
                <a:lnTo>
                  <a:pt x="1085457" y="4102099"/>
                </a:lnTo>
                <a:lnTo>
                  <a:pt x="1038696" y="4089399"/>
                </a:lnTo>
                <a:lnTo>
                  <a:pt x="1706675" y="4089399"/>
                </a:lnTo>
                <a:lnTo>
                  <a:pt x="1659914" y="4102099"/>
                </a:lnTo>
                <a:close/>
              </a:path>
              <a:path w="3432175" h="4114800">
                <a:moveTo>
                  <a:pt x="1565391" y="4114799"/>
                </a:moveTo>
                <a:lnTo>
                  <a:pt x="1179980" y="4114799"/>
                </a:lnTo>
                <a:lnTo>
                  <a:pt x="1132556" y="4102099"/>
                </a:lnTo>
                <a:lnTo>
                  <a:pt x="1612815" y="4102099"/>
                </a:lnTo>
                <a:lnTo>
                  <a:pt x="1565391" y="4114799"/>
                </a:lnTo>
                <a:close/>
              </a:path>
            </a:pathLst>
          </a:custGeom>
          <a:solidFill>
            <a:srgbClr val="00D4AA">
              <a:alpha val="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823607" y="562794"/>
            <a:ext cx="343535" cy="20955"/>
          </a:xfrm>
          <a:custGeom>
            <a:avLst/>
            <a:gdLst/>
            <a:ahLst/>
            <a:cxnLst/>
            <a:rect l="l" t="t" r="r" b="b"/>
            <a:pathLst>
              <a:path w="343534" h="20954">
                <a:moveTo>
                  <a:pt x="343163" y="20593"/>
                </a:moveTo>
                <a:lnTo>
                  <a:pt x="0" y="20593"/>
                </a:lnTo>
                <a:lnTo>
                  <a:pt x="0" y="0"/>
                </a:lnTo>
                <a:lnTo>
                  <a:pt x="343163" y="0"/>
                </a:lnTo>
                <a:lnTo>
                  <a:pt x="343163" y="20593"/>
                </a:lnTo>
                <a:close/>
              </a:path>
            </a:pathLst>
          </a:custGeom>
          <a:solidFill>
            <a:srgbClr val="0C40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681570" y="2524115"/>
            <a:ext cx="7967980" cy="6873240"/>
          </a:xfrm>
          <a:custGeom>
            <a:avLst/>
            <a:gdLst/>
            <a:ahLst/>
            <a:cxnLst/>
            <a:rect l="l" t="t" r="r" b="b"/>
            <a:pathLst>
              <a:path w="7967980" h="6873240">
                <a:moveTo>
                  <a:pt x="7764874" y="6872896"/>
                </a:moveTo>
                <a:lnTo>
                  <a:pt x="206216" y="6872896"/>
                </a:lnTo>
                <a:lnTo>
                  <a:pt x="159225" y="6867508"/>
                </a:lnTo>
                <a:lnTo>
                  <a:pt x="159021" y="6867508"/>
                </a:lnTo>
                <a:lnTo>
                  <a:pt x="115677" y="6851998"/>
                </a:lnTo>
                <a:lnTo>
                  <a:pt x="77336" y="6827659"/>
                </a:lnTo>
                <a:lnTo>
                  <a:pt x="45364" y="6795727"/>
                </a:lnTo>
                <a:lnTo>
                  <a:pt x="20992" y="6757438"/>
                </a:lnTo>
                <a:lnTo>
                  <a:pt x="5457" y="6714029"/>
                </a:lnTo>
                <a:lnTo>
                  <a:pt x="0" y="6666737"/>
                </a:lnTo>
                <a:lnTo>
                  <a:pt x="0" y="206216"/>
                </a:lnTo>
                <a:lnTo>
                  <a:pt x="5444" y="158923"/>
                </a:lnTo>
                <a:lnTo>
                  <a:pt x="20955" y="115514"/>
                </a:lnTo>
                <a:lnTo>
                  <a:pt x="45294" y="77226"/>
                </a:lnTo>
                <a:lnTo>
                  <a:pt x="77226" y="45294"/>
                </a:lnTo>
                <a:lnTo>
                  <a:pt x="115514" y="20955"/>
                </a:lnTo>
                <a:lnTo>
                  <a:pt x="158923" y="5444"/>
                </a:lnTo>
                <a:lnTo>
                  <a:pt x="206216" y="0"/>
                </a:lnTo>
                <a:lnTo>
                  <a:pt x="7764874" y="0"/>
                </a:lnTo>
                <a:lnTo>
                  <a:pt x="7812167" y="5444"/>
                </a:lnTo>
                <a:lnTo>
                  <a:pt x="7855575" y="20955"/>
                </a:lnTo>
                <a:lnTo>
                  <a:pt x="7893864" y="45294"/>
                </a:lnTo>
                <a:lnTo>
                  <a:pt x="7925796" y="77226"/>
                </a:lnTo>
                <a:lnTo>
                  <a:pt x="7950135" y="115514"/>
                </a:lnTo>
                <a:lnTo>
                  <a:pt x="7965645" y="158923"/>
                </a:lnTo>
                <a:lnTo>
                  <a:pt x="7967609" y="175980"/>
                </a:lnTo>
                <a:lnTo>
                  <a:pt x="7967609" y="6696972"/>
                </a:lnTo>
                <a:lnTo>
                  <a:pt x="7950135" y="6757438"/>
                </a:lnTo>
                <a:lnTo>
                  <a:pt x="7925796" y="6795727"/>
                </a:lnTo>
                <a:lnTo>
                  <a:pt x="7893864" y="6827659"/>
                </a:lnTo>
                <a:lnTo>
                  <a:pt x="7855575" y="6851998"/>
                </a:lnTo>
                <a:lnTo>
                  <a:pt x="7812167" y="6867508"/>
                </a:lnTo>
                <a:lnTo>
                  <a:pt x="7764874" y="6872896"/>
                </a:lnTo>
                <a:close/>
              </a:path>
            </a:pathLst>
          </a:custGeom>
          <a:solidFill>
            <a:srgbClr val="FFFA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681567" y="2524115"/>
            <a:ext cx="7971155" cy="6873240"/>
          </a:xfrm>
          <a:custGeom>
            <a:avLst/>
            <a:gdLst/>
            <a:ahLst/>
            <a:cxnLst/>
            <a:rect l="l" t="t" r="r" b="b"/>
            <a:pathLst>
              <a:path w="7971155" h="6873240">
                <a:moveTo>
                  <a:pt x="0" y="206248"/>
                </a:moveTo>
                <a:lnTo>
                  <a:pt x="5438" y="158952"/>
                </a:lnTo>
                <a:lnTo>
                  <a:pt x="20943" y="115538"/>
                </a:lnTo>
                <a:lnTo>
                  <a:pt x="45280" y="77243"/>
                </a:lnTo>
                <a:lnTo>
                  <a:pt x="77213" y="45304"/>
                </a:lnTo>
                <a:lnTo>
                  <a:pt x="115506" y="20959"/>
                </a:lnTo>
                <a:lnTo>
                  <a:pt x="158921" y="5445"/>
                </a:lnTo>
                <a:lnTo>
                  <a:pt x="206217" y="0"/>
                </a:lnTo>
                <a:lnTo>
                  <a:pt x="7764782" y="0"/>
                </a:lnTo>
                <a:lnTo>
                  <a:pt x="7812096" y="5418"/>
                </a:lnTo>
                <a:lnTo>
                  <a:pt x="7855526" y="20921"/>
                </a:lnTo>
                <a:lnTo>
                  <a:pt x="7893836" y="45262"/>
                </a:lnTo>
                <a:lnTo>
                  <a:pt x="7925787" y="77206"/>
                </a:lnTo>
                <a:lnTo>
                  <a:pt x="7950139" y="115513"/>
                </a:lnTo>
                <a:lnTo>
                  <a:pt x="7965652" y="158944"/>
                </a:lnTo>
                <a:lnTo>
                  <a:pt x="7971094" y="206248"/>
                </a:lnTo>
                <a:lnTo>
                  <a:pt x="7971098" y="6666701"/>
                </a:lnTo>
                <a:lnTo>
                  <a:pt x="7965653" y="6714018"/>
                </a:lnTo>
                <a:lnTo>
                  <a:pt x="7950133" y="6757448"/>
                </a:lnTo>
                <a:lnTo>
                  <a:pt x="7925775" y="6795751"/>
                </a:lnTo>
                <a:lnTo>
                  <a:pt x="7893821" y="6827689"/>
                </a:lnTo>
                <a:lnTo>
                  <a:pt x="7855509" y="6852023"/>
                </a:lnTo>
                <a:lnTo>
                  <a:pt x="7812081" y="6867519"/>
                </a:lnTo>
                <a:lnTo>
                  <a:pt x="7764782" y="6872953"/>
                </a:lnTo>
                <a:lnTo>
                  <a:pt x="206211" y="6872952"/>
                </a:lnTo>
                <a:lnTo>
                  <a:pt x="159028" y="6867481"/>
                </a:lnTo>
                <a:lnTo>
                  <a:pt x="115515" y="6851893"/>
                </a:lnTo>
                <a:lnTo>
                  <a:pt x="77224" y="6827544"/>
                </a:lnTo>
                <a:lnTo>
                  <a:pt x="45293" y="6795610"/>
                </a:lnTo>
                <a:lnTo>
                  <a:pt x="20957" y="6757332"/>
                </a:lnTo>
                <a:lnTo>
                  <a:pt x="5451" y="6713946"/>
                </a:lnTo>
                <a:lnTo>
                  <a:pt x="3" y="6666689"/>
                </a:lnTo>
                <a:lnTo>
                  <a:pt x="0" y="206248"/>
                </a:lnTo>
              </a:path>
            </a:pathLst>
          </a:custGeom>
          <a:ln w="19064">
            <a:solidFill>
              <a:srgbClr val="21213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2054237" y="3344780"/>
            <a:ext cx="6323965" cy="490220"/>
          </a:xfrm>
          <a:custGeom>
            <a:avLst/>
            <a:gdLst/>
            <a:ahLst/>
            <a:cxnLst/>
            <a:rect l="l" t="t" r="r" b="b"/>
            <a:pathLst>
              <a:path w="6323965" h="490220">
                <a:moveTo>
                  <a:pt x="6274783" y="489965"/>
                </a:moveTo>
                <a:lnTo>
                  <a:pt x="48958" y="489965"/>
                </a:lnTo>
                <a:lnTo>
                  <a:pt x="29896" y="486120"/>
                </a:lnTo>
                <a:lnTo>
                  <a:pt x="14335" y="475630"/>
                </a:lnTo>
                <a:lnTo>
                  <a:pt x="3845" y="460069"/>
                </a:lnTo>
                <a:lnTo>
                  <a:pt x="0" y="441007"/>
                </a:lnTo>
                <a:lnTo>
                  <a:pt x="0" y="48958"/>
                </a:lnTo>
                <a:lnTo>
                  <a:pt x="3845" y="29896"/>
                </a:lnTo>
                <a:lnTo>
                  <a:pt x="14335" y="14335"/>
                </a:lnTo>
                <a:lnTo>
                  <a:pt x="29896" y="3845"/>
                </a:lnTo>
                <a:lnTo>
                  <a:pt x="48958" y="0"/>
                </a:lnTo>
                <a:lnTo>
                  <a:pt x="6274783" y="0"/>
                </a:lnTo>
                <a:lnTo>
                  <a:pt x="6293845" y="3845"/>
                </a:lnTo>
                <a:lnTo>
                  <a:pt x="6309407" y="14335"/>
                </a:lnTo>
                <a:lnTo>
                  <a:pt x="6319896" y="29896"/>
                </a:lnTo>
                <a:lnTo>
                  <a:pt x="6323742" y="48958"/>
                </a:lnTo>
                <a:lnTo>
                  <a:pt x="6323742" y="441007"/>
                </a:lnTo>
                <a:lnTo>
                  <a:pt x="6319896" y="460069"/>
                </a:lnTo>
                <a:lnTo>
                  <a:pt x="6309407" y="475630"/>
                </a:lnTo>
                <a:lnTo>
                  <a:pt x="6293845" y="486120"/>
                </a:lnTo>
                <a:lnTo>
                  <a:pt x="6274783" y="489965"/>
                </a:lnTo>
                <a:close/>
              </a:path>
            </a:pathLst>
          </a:custGeom>
          <a:solidFill>
            <a:srgbClr val="DBE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2054330" y="3344780"/>
            <a:ext cx="6323965" cy="485775"/>
          </a:xfrm>
          <a:custGeom>
            <a:avLst/>
            <a:gdLst/>
            <a:ahLst/>
            <a:cxnLst/>
            <a:rect l="l" t="t" r="r" b="b"/>
            <a:pathLst>
              <a:path w="6323965" h="485775">
                <a:moveTo>
                  <a:pt x="29417" y="485774"/>
                </a:moveTo>
                <a:lnTo>
                  <a:pt x="14334" y="475607"/>
                </a:lnTo>
                <a:lnTo>
                  <a:pt x="3845" y="460046"/>
                </a:lnTo>
                <a:lnTo>
                  <a:pt x="0" y="440985"/>
                </a:lnTo>
                <a:lnTo>
                  <a:pt x="0" y="48956"/>
                </a:lnTo>
                <a:lnTo>
                  <a:pt x="3845" y="29895"/>
                </a:lnTo>
                <a:lnTo>
                  <a:pt x="14334" y="14334"/>
                </a:lnTo>
                <a:lnTo>
                  <a:pt x="29895" y="3845"/>
                </a:lnTo>
                <a:lnTo>
                  <a:pt x="48956" y="0"/>
                </a:lnTo>
                <a:lnTo>
                  <a:pt x="6274479" y="0"/>
                </a:lnTo>
                <a:lnTo>
                  <a:pt x="6293539" y="3845"/>
                </a:lnTo>
                <a:lnTo>
                  <a:pt x="6309100" y="14334"/>
                </a:lnTo>
                <a:lnTo>
                  <a:pt x="6319589" y="29895"/>
                </a:lnTo>
                <a:lnTo>
                  <a:pt x="6323434" y="48956"/>
                </a:lnTo>
                <a:lnTo>
                  <a:pt x="6323434" y="440985"/>
                </a:lnTo>
                <a:lnTo>
                  <a:pt x="6319589" y="460046"/>
                </a:lnTo>
                <a:lnTo>
                  <a:pt x="6309100" y="475607"/>
                </a:lnTo>
                <a:lnTo>
                  <a:pt x="6294016" y="485775"/>
                </a:lnTo>
              </a:path>
            </a:pathLst>
          </a:custGeom>
          <a:ln w="19064">
            <a:solidFill>
              <a:srgbClr val="21213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956100" y="4118019"/>
            <a:ext cx="7421245" cy="764540"/>
          </a:xfrm>
          <a:custGeom>
            <a:avLst/>
            <a:gdLst/>
            <a:ahLst/>
            <a:cxnLst/>
            <a:rect l="l" t="t" r="r" b="b"/>
            <a:pathLst>
              <a:path w="7421245" h="764539">
                <a:moveTo>
                  <a:pt x="7345487" y="764504"/>
                </a:moveTo>
                <a:lnTo>
                  <a:pt x="76485" y="764504"/>
                </a:lnTo>
                <a:lnTo>
                  <a:pt x="46890" y="758554"/>
                </a:lnTo>
                <a:lnTo>
                  <a:pt x="46752" y="758554"/>
                </a:lnTo>
                <a:lnTo>
                  <a:pt x="22436" y="742152"/>
                </a:lnTo>
                <a:lnTo>
                  <a:pt x="6012" y="717838"/>
                </a:lnTo>
                <a:lnTo>
                  <a:pt x="0" y="688085"/>
                </a:lnTo>
                <a:lnTo>
                  <a:pt x="0" y="76485"/>
                </a:lnTo>
                <a:lnTo>
                  <a:pt x="22383" y="22383"/>
                </a:lnTo>
                <a:lnTo>
                  <a:pt x="76485" y="0"/>
                </a:lnTo>
                <a:lnTo>
                  <a:pt x="7345487" y="0"/>
                </a:lnTo>
                <a:lnTo>
                  <a:pt x="7375240" y="6003"/>
                </a:lnTo>
                <a:lnTo>
                  <a:pt x="7399554" y="22383"/>
                </a:lnTo>
                <a:lnTo>
                  <a:pt x="7415957" y="46693"/>
                </a:lnTo>
                <a:lnTo>
                  <a:pt x="7421073" y="72026"/>
                </a:lnTo>
                <a:lnTo>
                  <a:pt x="7421073" y="692548"/>
                </a:lnTo>
                <a:lnTo>
                  <a:pt x="7415970" y="717838"/>
                </a:lnTo>
                <a:lnTo>
                  <a:pt x="7399590" y="742152"/>
                </a:lnTo>
                <a:lnTo>
                  <a:pt x="7375280" y="758554"/>
                </a:lnTo>
                <a:lnTo>
                  <a:pt x="7345487" y="764504"/>
                </a:lnTo>
                <a:close/>
              </a:path>
            </a:pathLst>
          </a:custGeom>
          <a:solidFill>
            <a:srgbClr val="E3E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956673" y="4118019"/>
            <a:ext cx="7419975" cy="762635"/>
          </a:xfrm>
          <a:custGeom>
            <a:avLst/>
            <a:gdLst/>
            <a:ahLst/>
            <a:cxnLst/>
            <a:rect l="l" t="t" r="r" b="b"/>
            <a:pathLst>
              <a:path w="7419975" h="762635">
                <a:moveTo>
                  <a:pt x="7419401" y="694772"/>
                </a:moveTo>
                <a:lnTo>
                  <a:pt x="7414770" y="717722"/>
                </a:lnTo>
                <a:lnTo>
                  <a:pt x="7398392" y="742032"/>
                </a:lnTo>
                <a:lnTo>
                  <a:pt x="7374086" y="758431"/>
                </a:lnTo>
                <a:lnTo>
                  <a:pt x="7356419" y="761999"/>
                </a:lnTo>
              </a:path>
              <a:path w="7419975" h="762635">
                <a:moveTo>
                  <a:pt x="64430" y="762015"/>
                </a:moveTo>
                <a:lnTo>
                  <a:pt x="22399" y="741982"/>
                </a:lnTo>
                <a:lnTo>
                  <a:pt x="0" y="687974"/>
                </a:lnTo>
                <a:lnTo>
                  <a:pt x="0" y="76473"/>
                </a:lnTo>
                <a:lnTo>
                  <a:pt x="22380" y="22380"/>
                </a:lnTo>
                <a:lnTo>
                  <a:pt x="76473" y="0"/>
                </a:lnTo>
                <a:lnTo>
                  <a:pt x="7344299" y="0"/>
                </a:lnTo>
                <a:lnTo>
                  <a:pt x="7374046" y="6002"/>
                </a:lnTo>
                <a:lnTo>
                  <a:pt x="7398356" y="22379"/>
                </a:lnTo>
                <a:lnTo>
                  <a:pt x="7414756" y="46685"/>
                </a:lnTo>
                <a:lnTo>
                  <a:pt x="7419401" y="69681"/>
                </a:lnTo>
              </a:path>
            </a:pathLst>
          </a:custGeom>
          <a:ln w="19064">
            <a:solidFill>
              <a:srgbClr val="00D4A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2054237" y="5163573"/>
            <a:ext cx="6323965" cy="490220"/>
          </a:xfrm>
          <a:custGeom>
            <a:avLst/>
            <a:gdLst/>
            <a:ahLst/>
            <a:cxnLst/>
            <a:rect l="l" t="t" r="r" b="b"/>
            <a:pathLst>
              <a:path w="6323965" h="490220">
                <a:moveTo>
                  <a:pt x="6274783" y="489965"/>
                </a:moveTo>
                <a:lnTo>
                  <a:pt x="48958" y="489965"/>
                </a:lnTo>
                <a:lnTo>
                  <a:pt x="29896" y="486120"/>
                </a:lnTo>
                <a:lnTo>
                  <a:pt x="14335" y="475630"/>
                </a:lnTo>
                <a:lnTo>
                  <a:pt x="3845" y="460069"/>
                </a:lnTo>
                <a:lnTo>
                  <a:pt x="0" y="441007"/>
                </a:lnTo>
                <a:lnTo>
                  <a:pt x="0" y="48958"/>
                </a:lnTo>
                <a:lnTo>
                  <a:pt x="3845" y="29896"/>
                </a:lnTo>
                <a:lnTo>
                  <a:pt x="14335" y="14335"/>
                </a:lnTo>
                <a:lnTo>
                  <a:pt x="29896" y="3845"/>
                </a:lnTo>
                <a:lnTo>
                  <a:pt x="48958" y="0"/>
                </a:lnTo>
                <a:lnTo>
                  <a:pt x="6274783" y="0"/>
                </a:lnTo>
                <a:lnTo>
                  <a:pt x="6293845" y="3845"/>
                </a:lnTo>
                <a:lnTo>
                  <a:pt x="6309407" y="14335"/>
                </a:lnTo>
                <a:lnTo>
                  <a:pt x="6319896" y="29896"/>
                </a:lnTo>
                <a:lnTo>
                  <a:pt x="6323742" y="48958"/>
                </a:lnTo>
                <a:lnTo>
                  <a:pt x="6323742" y="441007"/>
                </a:lnTo>
                <a:lnTo>
                  <a:pt x="6319896" y="460069"/>
                </a:lnTo>
                <a:lnTo>
                  <a:pt x="6309407" y="475630"/>
                </a:lnTo>
                <a:lnTo>
                  <a:pt x="6293845" y="486120"/>
                </a:lnTo>
                <a:lnTo>
                  <a:pt x="6274783" y="489965"/>
                </a:lnTo>
                <a:close/>
              </a:path>
            </a:pathLst>
          </a:custGeom>
          <a:solidFill>
            <a:srgbClr val="DBE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2054330" y="5163573"/>
            <a:ext cx="6323965" cy="485775"/>
          </a:xfrm>
          <a:custGeom>
            <a:avLst/>
            <a:gdLst/>
            <a:ahLst/>
            <a:cxnLst/>
            <a:rect l="l" t="t" r="r" b="b"/>
            <a:pathLst>
              <a:path w="6323965" h="485775">
                <a:moveTo>
                  <a:pt x="29417" y="485774"/>
                </a:moveTo>
                <a:lnTo>
                  <a:pt x="14334" y="475607"/>
                </a:lnTo>
                <a:lnTo>
                  <a:pt x="3845" y="460046"/>
                </a:lnTo>
                <a:lnTo>
                  <a:pt x="0" y="440985"/>
                </a:lnTo>
                <a:lnTo>
                  <a:pt x="0" y="48956"/>
                </a:lnTo>
                <a:lnTo>
                  <a:pt x="3845" y="29895"/>
                </a:lnTo>
                <a:lnTo>
                  <a:pt x="14334" y="14334"/>
                </a:lnTo>
                <a:lnTo>
                  <a:pt x="29895" y="3845"/>
                </a:lnTo>
                <a:lnTo>
                  <a:pt x="48956" y="0"/>
                </a:lnTo>
                <a:lnTo>
                  <a:pt x="6274479" y="0"/>
                </a:lnTo>
                <a:lnTo>
                  <a:pt x="6319589" y="29895"/>
                </a:lnTo>
                <a:lnTo>
                  <a:pt x="6323434" y="440985"/>
                </a:lnTo>
                <a:lnTo>
                  <a:pt x="6319589" y="460046"/>
                </a:lnTo>
                <a:lnTo>
                  <a:pt x="6309100" y="475607"/>
                </a:lnTo>
                <a:lnTo>
                  <a:pt x="6294016" y="485774"/>
                </a:lnTo>
              </a:path>
            </a:pathLst>
          </a:custGeom>
          <a:ln w="19064">
            <a:solidFill>
              <a:srgbClr val="21213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956100" y="5939290"/>
            <a:ext cx="7421245" cy="764540"/>
          </a:xfrm>
          <a:custGeom>
            <a:avLst/>
            <a:gdLst/>
            <a:ahLst/>
            <a:cxnLst/>
            <a:rect l="l" t="t" r="r" b="b"/>
            <a:pathLst>
              <a:path w="7421245" h="764540">
                <a:moveTo>
                  <a:pt x="7345487" y="764504"/>
                </a:moveTo>
                <a:lnTo>
                  <a:pt x="76485" y="764504"/>
                </a:lnTo>
                <a:lnTo>
                  <a:pt x="46891" y="758554"/>
                </a:lnTo>
                <a:lnTo>
                  <a:pt x="46753" y="758554"/>
                </a:lnTo>
                <a:lnTo>
                  <a:pt x="22436" y="742152"/>
                </a:lnTo>
                <a:lnTo>
                  <a:pt x="6012" y="717838"/>
                </a:lnTo>
                <a:lnTo>
                  <a:pt x="0" y="688085"/>
                </a:lnTo>
                <a:lnTo>
                  <a:pt x="0" y="76485"/>
                </a:lnTo>
                <a:lnTo>
                  <a:pt x="6003" y="46693"/>
                </a:lnTo>
                <a:lnTo>
                  <a:pt x="22383" y="22383"/>
                </a:lnTo>
                <a:lnTo>
                  <a:pt x="46693" y="6003"/>
                </a:lnTo>
                <a:lnTo>
                  <a:pt x="76485" y="0"/>
                </a:lnTo>
                <a:lnTo>
                  <a:pt x="7345487" y="0"/>
                </a:lnTo>
                <a:lnTo>
                  <a:pt x="7375240" y="6003"/>
                </a:lnTo>
                <a:lnTo>
                  <a:pt x="7399554" y="22383"/>
                </a:lnTo>
                <a:lnTo>
                  <a:pt x="7415957" y="46693"/>
                </a:lnTo>
                <a:lnTo>
                  <a:pt x="7421073" y="72026"/>
                </a:lnTo>
                <a:lnTo>
                  <a:pt x="7421073" y="692548"/>
                </a:lnTo>
                <a:lnTo>
                  <a:pt x="7415970" y="717838"/>
                </a:lnTo>
                <a:lnTo>
                  <a:pt x="7399590" y="742152"/>
                </a:lnTo>
                <a:lnTo>
                  <a:pt x="7375280" y="758554"/>
                </a:lnTo>
                <a:lnTo>
                  <a:pt x="7345487" y="764504"/>
                </a:lnTo>
                <a:close/>
              </a:path>
            </a:pathLst>
          </a:custGeom>
          <a:solidFill>
            <a:srgbClr val="E3E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956673" y="5939289"/>
            <a:ext cx="7419975" cy="762635"/>
          </a:xfrm>
          <a:custGeom>
            <a:avLst/>
            <a:gdLst/>
            <a:ahLst/>
            <a:cxnLst/>
            <a:rect l="l" t="t" r="r" b="b"/>
            <a:pathLst>
              <a:path w="7419975" h="762634">
                <a:moveTo>
                  <a:pt x="7419401" y="694772"/>
                </a:moveTo>
                <a:lnTo>
                  <a:pt x="7414770" y="717722"/>
                </a:lnTo>
                <a:lnTo>
                  <a:pt x="7398392" y="742032"/>
                </a:lnTo>
                <a:lnTo>
                  <a:pt x="7374086" y="758432"/>
                </a:lnTo>
                <a:lnTo>
                  <a:pt x="7356422" y="761999"/>
                </a:lnTo>
              </a:path>
              <a:path w="7419975" h="762634">
                <a:moveTo>
                  <a:pt x="64427" y="762015"/>
                </a:moveTo>
                <a:lnTo>
                  <a:pt x="22399" y="741982"/>
                </a:lnTo>
                <a:lnTo>
                  <a:pt x="0" y="687974"/>
                </a:lnTo>
                <a:lnTo>
                  <a:pt x="0" y="76473"/>
                </a:lnTo>
                <a:lnTo>
                  <a:pt x="22380" y="22380"/>
                </a:lnTo>
                <a:lnTo>
                  <a:pt x="76473" y="0"/>
                </a:lnTo>
                <a:lnTo>
                  <a:pt x="7344299" y="0"/>
                </a:lnTo>
                <a:lnTo>
                  <a:pt x="7374046" y="6002"/>
                </a:lnTo>
                <a:lnTo>
                  <a:pt x="7398356" y="22379"/>
                </a:lnTo>
                <a:lnTo>
                  <a:pt x="7414756" y="46685"/>
                </a:lnTo>
                <a:lnTo>
                  <a:pt x="7419401" y="69681"/>
                </a:lnTo>
              </a:path>
            </a:pathLst>
          </a:custGeom>
          <a:ln w="19064">
            <a:solidFill>
              <a:srgbClr val="00D4A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2054237" y="6980019"/>
            <a:ext cx="6323965" cy="490220"/>
          </a:xfrm>
          <a:custGeom>
            <a:avLst/>
            <a:gdLst/>
            <a:ahLst/>
            <a:cxnLst/>
            <a:rect l="l" t="t" r="r" b="b"/>
            <a:pathLst>
              <a:path w="6323965" h="490220">
                <a:moveTo>
                  <a:pt x="6274783" y="489965"/>
                </a:moveTo>
                <a:lnTo>
                  <a:pt x="48958" y="489965"/>
                </a:lnTo>
                <a:lnTo>
                  <a:pt x="29896" y="486120"/>
                </a:lnTo>
                <a:lnTo>
                  <a:pt x="14335" y="475630"/>
                </a:lnTo>
                <a:lnTo>
                  <a:pt x="3845" y="460069"/>
                </a:lnTo>
                <a:lnTo>
                  <a:pt x="0" y="441007"/>
                </a:lnTo>
                <a:lnTo>
                  <a:pt x="0" y="48958"/>
                </a:lnTo>
                <a:lnTo>
                  <a:pt x="3845" y="29896"/>
                </a:lnTo>
                <a:lnTo>
                  <a:pt x="14335" y="14335"/>
                </a:lnTo>
                <a:lnTo>
                  <a:pt x="29896" y="3845"/>
                </a:lnTo>
                <a:lnTo>
                  <a:pt x="48958" y="0"/>
                </a:lnTo>
                <a:lnTo>
                  <a:pt x="6274783" y="0"/>
                </a:lnTo>
                <a:lnTo>
                  <a:pt x="6293845" y="3845"/>
                </a:lnTo>
                <a:lnTo>
                  <a:pt x="6309407" y="14335"/>
                </a:lnTo>
                <a:lnTo>
                  <a:pt x="6319896" y="29896"/>
                </a:lnTo>
                <a:lnTo>
                  <a:pt x="6323742" y="48958"/>
                </a:lnTo>
                <a:lnTo>
                  <a:pt x="6323742" y="441007"/>
                </a:lnTo>
                <a:lnTo>
                  <a:pt x="6319896" y="460069"/>
                </a:lnTo>
                <a:lnTo>
                  <a:pt x="6309407" y="475630"/>
                </a:lnTo>
                <a:lnTo>
                  <a:pt x="6293845" y="486120"/>
                </a:lnTo>
                <a:lnTo>
                  <a:pt x="6274783" y="489965"/>
                </a:lnTo>
                <a:close/>
              </a:path>
            </a:pathLst>
          </a:custGeom>
          <a:solidFill>
            <a:srgbClr val="DBE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2054330" y="6980019"/>
            <a:ext cx="6323965" cy="485775"/>
          </a:xfrm>
          <a:custGeom>
            <a:avLst/>
            <a:gdLst/>
            <a:ahLst/>
            <a:cxnLst/>
            <a:rect l="l" t="t" r="r" b="b"/>
            <a:pathLst>
              <a:path w="6323965" h="485775">
                <a:moveTo>
                  <a:pt x="29418" y="485774"/>
                </a:moveTo>
                <a:lnTo>
                  <a:pt x="14334" y="475607"/>
                </a:lnTo>
                <a:lnTo>
                  <a:pt x="3845" y="460046"/>
                </a:lnTo>
                <a:lnTo>
                  <a:pt x="0" y="440985"/>
                </a:lnTo>
                <a:lnTo>
                  <a:pt x="0" y="48955"/>
                </a:lnTo>
                <a:lnTo>
                  <a:pt x="3845" y="29895"/>
                </a:lnTo>
                <a:lnTo>
                  <a:pt x="14334" y="14334"/>
                </a:lnTo>
                <a:lnTo>
                  <a:pt x="29895" y="3845"/>
                </a:lnTo>
                <a:lnTo>
                  <a:pt x="48956" y="0"/>
                </a:lnTo>
                <a:lnTo>
                  <a:pt x="6274479" y="0"/>
                </a:lnTo>
                <a:lnTo>
                  <a:pt x="6293539" y="3845"/>
                </a:lnTo>
                <a:lnTo>
                  <a:pt x="6309100" y="14334"/>
                </a:lnTo>
                <a:lnTo>
                  <a:pt x="6319589" y="29895"/>
                </a:lnTo>
                <a:lnTo>
                  <a:pt x="6323434" y="48955"/>
                </a:lnTo>
                <a:lnTo>
                  <a:pt x="6323434" y="440985"/>
                </a:lnTo>
                <a:lnTo>
                  <a:pt x="6319589" y="460046"/>
                </a:lnTo>
                <a:lnTo>
                  <a:pt x="6309100" y="475607"/>
                </a:lnTo>
                <a:lnTo>
                  <a:pt x="6294016" y="485774"/>
                </a:lnTo>
              </a:path>
            </a:pathLst>
          </a:custGeom>
          <a:ln w="19064">
            <a:solidFill>
              <a:srgbClr val="21213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956100" y="7755735"/>
            <a:ext cx="7421245" cy="764540"/>
          </a:xfrm>
          <a:custGeom>
            <a:avLst/>
            <a:gdLst/>
            <a:ahLst/>
            <a:cxnLst/>
            <a:rect l="l" t="t" r="r" b="b"/>
            <a:pathLst>
              <a:path w="7421245" h="764540">
                <a:moveTo>
                  <a:pt x="7345487" y="764504"/>
                </a:moveTo>
                <a:lnTo>
                  <a:pt x="76485" y="764504"/>
                </a:lnTo>
                <a:lnTo>
                  <a:pt x="46891" y="758554"/>
                </a:lnTo>
                <a:lnTo>
                  <a:pt x="46753" y="758554"/>
                </a:lnTo>
                <a:lnTo>
                  <a:pt x="22436" y="742152"/>
                </a:lnTo>
                <a:lnTo>
                  <a:pt x="6012" y="717838"/>
                </a:lnTo>
                <a:lnTo>
                  <a:pt x="0" y="688086"/>
                </a:lnTo>
                <a:lnTo>
                  <a:pt x="0" y="76485"/>
                </a:lnTo>
                <a:lnTo>
                  <a:pt x="22383" y="22383"/>
                </a:lnTo>
                <a:lnTo>
                  <a:pt x="76485" y="0"/>
                </a:lnTo>
                <a:lnTo>
                  <a:pt x="7345487" y="0"/>
                </a:lnTo>
                <a:lnTo>
                  <a:pt x="7375240" y="6003"/>
                </a:lnTo>
                <a:lnTo>
                  <a:pt x="7399554" y="22383"/>
                </a:lnTo>
                <a:lnTo>
                  <a:pt x="7415957" y="46693"/>
                </a:lnTo>
                <a:lnTo>
                  <a:pt x="7421073" y="72026"/>
                </a:lnTo>
                <a:lnTo>
                  <a:pt x="7421073" y="692549"/>
                </a:lnTo>
                <a:lnTo>
                  <a:pt x="7415970" y="717838"/>
                </a:lnTo>
                <a:lnTo>
                  <a:pt x="7399590" y="742152"/>
                </a:lnTo>
                <a:lnTo>
                  <a:pt x="7375280" y="758554"/>
                </a:lnTo>
                <a:lnTo>
                  <a:pt x="7345487" y="764504"/>
                </a:lnTo>
                <a:close/>
              </a:path>
            </a:pathLst>
          </a:custGeom>
          <a:solidFill>
            <a:srgbClr val="E3E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956673" y="7755735"/>
            <a:ext cx="7419975" cy="762635"/>
          </a:xfrm>
          <a:custGeom>
            <a:avLst/>
            <a:gdLst/>
            <a:ahLst/>
            <a:cxnLst/>
            <a:rect l="l" t="t" r="r" b="b"/>
            <a:pathLst>
              <a:path w="7419975" h="762634">
                <a:moveTo>
                  <a:pt x="7419401" y="694772"/>
                </a:moveTo>
                <a:lnTo>
                  <a:pt x="7414770" y="717721"/>
                </a:lnTo>
                <a:lnTo>
                  <a:pt x="7398392" y="742032"/>
                </a:lnTo>
                <a:lnTo>
                  <a:pt x="7374086" y="758432"/>
                </a:lnTo>
                <a:lnTo>
                  <a:pt x="7356420" y="761999"/>
                </a:lnTo>
              </a:path>
              <a:path w="7419975" h="762634">
                <a:moveTo>
                  <a:pt x="64429" y="762015"/>
                </a:moveTo>
                <a:lnTo>
                  <a:pt x="22399" y="741982"/>
                </a:lnTo>
                <a:lnTo>
                  <a:pt x="0" y="687974"/>
                </a:lnTo>
                <a:lnTo>
                  <a:pt x="0" y="76473"/>
                </a:lnTo>
                <a:lnTo>
                  <a:pt x="6002" y="46685"/>
                </a:lnTo>
                <a:lnTo>
                  <a:pt x="22380" y="22380"/>
                </a:lnTo>
                <a:lnTo>
                  <a:pt x="46685" y="6002"/>
                </a:lnTo>
                <a:lnTo>
                  <a:pt x="76473" y="0"/>
                </a:lnTo>
                <a:lnTo>
                  <a:pt x="7344299" y="0"/>
                </a:lnTo>
                <a:lnTo>
                  <a:pt x="7374046" y="6002"/>
                </a:lnTo>
                <a:lnTo>
                  <a:pt x="7398356" y="22379"/>
                </a:lnTo>
                <a:lnTo>
                  <a:pt x="7414756" y="46685"/>
                </a:lnTo>
                <a:lnTo>
                  <a:pt x="7419401" y="69681"/>
                </a:lnTo>
              </a:path>
            </a:pathLst>
          </a:custGeom>
          <a:ln w="19064">
            <a:solidFill>
              <a:srgbClr val="00D4A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bg object 32"/>
          <p:cNvSpPr/>
          <p:nvPr/>
        </p:nvSpPr>
        <p:spPr>
          <a:xfrm>
            <a:off x="9329403" y="2512372"/>
            <a:ext cx="7971155" cy="1519555"/>
          </a:xfrm>
          <a:custGeom>
            <a:avLst/>
            <a:gdLst/>
            <a:ahLst/>
            <a:cxnLst/>
            <a:rect l="l" t="t" r="r" b="b"/>
            <a:pathLst>
              <a:path w="7971155" h="1519554">
                <a:moveTo>
                  <a:pt x="7895081" y="1519522"/>
                </a:moveTo>
                <a:lnTo>
                  <a:pt x="76009" y="1519522"/>
                </a:lnTo>
                <a:lnTo>
                  <a:pt x="46412" y="1513553"/>
                </a:lnTo>
                <a:lnTo>
                  <a:pt x="22252" y="1497270"/>
                </a:lnTo>
                <a:lnTo>
                  <a:pt x="5969" y="1473110"/>
                </a:lnTo>
                <a:lnTo>
                  <a:pt x="0" y="1443513"/>
                </a:lnTo>
                <a:lnTo>
                  <a:pt x="0" y="76009"/>
                </a:lnTo>
                <a:lnTo>
                  <a:pt x="5969" y="46412"/>
                </a:lnTo>
                <a:lnTo>
                  <a:pt x="22252" y="22252"/>
                </a:lnTo>
                <a:lnTo>
                  <a:pt x="46412" y="5969"/>
                </a:lnTo>
                <a:lnTo>
                  <a:pt x="76009" y="0"/>
                </a:lnTo>
                <a:lnTo>
                  <a:pt x="7895081" y="0"/>
                </a:lnTo>
                <a:lnTo>
                  <a:pt x="7924678" y="5969"/>
                </a:lnTo>
                <a:lnTo>
                  <a:pt x="7948838" y="22252"/>
                </a:lnTo>
                <a:lnTo>
                  <a:pt x="7965121" y="46412"/>
                </a:lnTo>
                <a:lnTo>
                  <a:pt x="7971090" y="76009"/>
                </a:lnTo>
                <a:lnTo>
                  <a:pt x="7971090" y="1443513"/>
                </a:lnTo>
                <a:lnTo>
                  <a:pt x="7965121" y="1473110"/>
                </a:lnTo>
                <a:lnTo>
                  <a:pt x="7948838" y="1497270"/>
                </a:lnTo>
                <a:lnTo>
                  <a:pt x="7924678" y="1513553"/>
                </a:lnTo>
                <a:lnTo>
                  <a:pt x="7895081" y="1519522"/>
                </a:lnTo>
                <a:close/>
              </a:path>
            </a:pathLst>
          </a:custGeom>
          <a:solidFill>
            <a:srgbClr val="FFFA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bg object 33"/>
          <p:cNvSpPr/>
          <p:nvPr/>
        </p:nvSpPr>
        <p:spPr>
          <a:xfrm>
            <a:off x="9329589" y="2512371"/>
            <a:ext cx="7971155" cy="1519555"/>
          </a:xfrm>
          <a:custGeom>
            <a:avLst/>
            <a:gdLst/>
            <a:ahLst/>
            <a:cxnLst/>
            <a:rect l="l" t="t" r="r" b="b"/>
            <a:pathLst>
              <a:path w="7971155" h="1519554">
                <a:moveTo>
                  <a:pt x="0" y="76005"/>
                </a:moveTo>
                <a:lnTo>
                  <a:pt x="5969" y="46409"/>
                </a:lnTo>
                <a:lnTo>
                  <a:pt x="22251" y="22251"/>
                </a:lnTo>
                <a:lnTo>
                  <a:pt x="46409" y="5969"/>
                </a:lnTo>
                <a:lnTo>
                  <a:pt x="76004" y="0"/>
                </a:lnTo>
                <a:lnTo>
                  <a:pt x="7894617" y="0"/>
                </a:lnTo>
                <a:lnTo>
                  <a:pt x="7948371" y="22251"/>
                </a:lnTo>
                <a:lnTo>
                  <a:pt x="7970623" y="76004"/>
                </a:lnTo>
                <a:lnTo>
                  <a:pt x="7970623" y="1443428"/>
                </a:lnTo>
                <a:lnTo>
                  <a:pt x="7964653" y="1473024"/>
                </a:lnTo>
                <a:lnTo>
                  <a:pt x="7948371" y="1497182"/>
                </a:lnTo>
                <a:lnTo>
                  <a:pt x="7924213" y="1513464"/>
                </a:lnTo>
                <a:lnTo>
                  <a:pt x="7894617" y="1519434"/>
                </a:lnTo>
                <a:lnTo>
                  <a:pt x="76004" y="1519433"/>
                </a:lnTo>
                <a:lnTo>
                  <a:pt x="22251" y="1497182"/>
                </a:lnTo>
                <a:lnTo>
                  <a:pt x="0" y="1443428"/>
                </a:lnTo>
                <a:lnTo>
                  <a:pt x="0" y="76005"/>
                </a:lnTo>
              </a:path>
            </a:pathLst>
          </a:custGeom>
          <a:ln w="19064">
            <a:solidFill>
              <a:srgbClr val="21213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bg object 34"/>
          <p:cNvSpPr/>
          <p:nvPr/>
        </p:nvSpPr>
        <p:spPr>
          <a:xfrm>
            <a:off x="9329403" y="4228214"/>
            <a:ext cx="7971155" cy="1519555"/>
          </a:xfrm>
          <a:custGeom>
            <a:avLst/>
            <a:gdLst/>
            <a:ahLst/>
            <a:cxnLst/>
            <a:rect l="l" t="t" r="r" b="b"/>
            <a:pathLst>
              <a:path w="7971155" h="1519554">
                <a:moveTo>
                  <a:pt x="7895081" y="1519523"/>
                </a:moveTo>
                <a:lnTo>
                  <a:pt x="76009" y="1519523"/>
                </a:lnTo>
                <a:lnTo>
                  <a:pt x="46412" y="1513553"/>
                </a:lnTo>
                <a:lnTo>
                  <a:pt x="22252" y="1497270"/>
                </a:lnTo>
                <a:lnTo>
                  <a:pt x="5969" y="1473111"/>
                </a:lnTo>
                <a:lnTo>
                  <a:pt x="0" y="1443513"/>
                </a:lnTo>
                <a:lnTo>
                  <a:pt x="0" y="76009"/>
                </a:lnTo>
                <a:lnTo>
                  <a:pt x="5969" y="46412"/>
                </a:lnTo>
                <a:lnTo>
                  <a:pt x="22252" y="22252"/>
                </a:lnTo>
                <a:lnTo>
                  <a:pt x="46412" y="5969"/>
                </a:lnTo>
                <a:lnTo>
                  <a:pt x="76009" y="0"/>
                </a:lnTo>
                <a:lnTo>
                  <a:pt x="7895081" y="0"/>
                </a:lnTo>
                <a:lnTo>
                  <a:pt x="7924678" y="5969"/>
                </a:lnTo>
                <a:lnTo>
                  <a:pt x="7948838" y="22252"/>
                </a:lnTo>
                <a:lnTo>
                  <a:pt x="7965121" y="46412"/>
                </a:lnTo>
                <a:lnTo>
                  <a:pt x="7971090" y="76009"/>
                </a:lnTo>
                <a:lnTo>
                  <a:pt x="7971090" y="1443513"/>
                </a:lnTo>
                <a:lnTo>
                  <a:pt x="7965121" y="1473111"/>
                </a:lnTo>
                <a:lnTo>
                  <a:pt x="7948838" y="1497270"/>
                </a:lnTo>
                <a:lnTo>
                  <a:pt x="7924678" y="1513553"/>
                </a:lnTo>
                <a:lnTo>
                  <a:pt x="7895081" y="1519523"/>
                </a:lnTo>
                <a:close/>
              </a:path>
            </a:pathLst>
          </a:custGeom>
          <a:solidFill>
            <a:srgbClr val="FFFA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bg object 35"/>
          <p:cNvSpPr/>
          <p:nvPr/>
        </p:nvSpPr>
        <p:spPr>
          <a:xfrm>
            <a:off x="9329589" y="4228214"/>
            <a:ext cx="7971155" cy="1519555"/>
          </a:xfrm>
          <a:custGeom>
            <a:avLst/>
            <a:gdLst/>
            <a:ahLst/>
            <a:cxnLst/>
            <a:rect l="l" t="t" r="r" b="b"/>
            <a:pathLst>
              <a:path w="7971155" h="1519554">
                <a:moveTo>
                  <a:pt x="0" y="76004"/>
                </a:moveTo>
                <a:lnTo>
                  <a:pt x="5969" y="46409"/>
                </a:lnTo>
                <a:lnTo>
                  <a:pt x="22251" y="22251"/>
                </a:lnTo>
                <a:lnTo>
                  <a:pt x="46409" y="5969"/>
                </a:lnTo>
                <a:lnTo>
                  <a:pt x="76004" y="0"/>
                </a:lnTo>
                <a:lnTo>
                  <a:pt x="7894617" y="0"/>
                </a:lnTo>
                <a:lnTo>
                  <a:pt x="7924213" y="5968"/>
                </a:lnTo>
                <a:lnTo>
                  <a:pt x="7948371" y="22251"/>
                </a:lnTo>
                <a:lnTo>
                  <a:pt x="7964653" y="46409"/>
                </a:lnTo>
                <a:lnTo>
                  <a:pt x="7970623" y="76004"/>
                </a:lnTo>
                <a:lnTo>
                  <a:pt x="7970623" y="1443428"/>
                </a:lnTo>
                <a:lnTo>
                  <a:pt x="7964653" y="1473024"/>
                </a:lnTo>
                <a:lnTo>
                  <a:pt x="7948370" y="1497182"/>
                </a:lnTo>
                <a:lnTo>
                  <a:pt x="7924213" y="1513464"/>
                </a:lnTo>
                <a:lnTo>
                  <a:pt x="7894617" y="1519433"/>
                </a:lnTo>
                <a:lnTo>
                  <a:pt x="76004" y="1519433"/>
                </a:lnTo>
                <a:lnTo>
                  <a:pt x="46409" y="1513464"/>
                </a:lnTo>
                <a:lnTo>
                  <a:pt x="22251" y="1497182"/>
                </a:lnTo>
                <a:lnTo>
                  <a:pt x="5969" y="1473024"/>
                </a:lnTo>
                <a:lnTo>
                  <a:pt x="0" y="1443428"/>
                </a:lnTo>
                <a:lnTo>
                  <a:pt x="0" y="76004"/>
                </a:lnTo>
              </a:path>
            </a:pathLst>
          </a:custGeom>
          <a:ln w="19064">
            <a:solidFill>
              <a:srgbClr val="21213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bg object 36"/>
          <p:cNvSpPr/>
          <p:nvPr/>
        </p:nvSpPr>
        <p:spPr>
          <a:xfrm>
            <a:off x="9329403" y="5944057"/>
            <a:ext cx="7971155" cy="1519555"/>
          </a:xfrm>
          <a:custGeom>
            <a:avLst/>
            <a:gdLst/>
            <a:ahLst/>
            <a:cxnLst/>
            <a:rect l="l" t="t" r="r" b="b"/>
            <a:pathLst>
              <a:path w="7971155" h="1519554">
                <a:moveTo>
                  <a:pt x="7895081" y="1519523"/>
                </a:moveTo>
                <a:lnTo>
                  <a:pt x="76009" y="1519523"/>
                </a:lnTo>
                <a:lnTo>
                  <a:pt x="46412" y="1513553"/>
                </a:lnTo>
                <a:lnTo>
                  <a:pt x="22252" y="1497270"/>
                </a:lnTo>
                <a:lnTo>
                  <a:pt x="5969" y="1473111"/>
                </a:lnTo>
                <a:lnTo>
                  <a:pt x="0" y="1443513"/>
                </a:lnTo>
                <a:lnTo>
                  <a:pt x="0" y="76009"/>
                </a:lnTo>
                <a:lnTo>
                  <a:pt x="5969" y="46412"/>
                </a:lnTo>
                <a:lnTo>
                  <a:pt x="22252" y="22252"/>
                </a:lnTo>
                <a:lnTo>
                  <a:pt x="46412" y="5969"/>
                </a:lnTo>
                <a:lnTo>
                  <a:pt x="76009" y="0"/>
                </a:lnTo>
                <a:lnTo>
                  <a:pt x="7895081" y="0"/>
                </a:lnTo>
                <a:lnTo>
                  <a:pt x="7924678" y="5969"/>
                </a:lnTo>
                <a:lnTo>
                  <a:pt x="7948838" y="22252"/>
                </a:lnTo>
                <a:lnTo>
                  <a:pt x="7965121" y="46412"/>
                </a:lnTo>
                <a:lnTo>
                  <a:pt x="7971090" y="76009"/>
                </a:lnTo>
                <a:lnTo>
                  <a:pt x="7971090" y="1443513"/>
                </a:lnTo>
                <a:lnTo>
                  <a:pt x="7965121" y="1473111"/>
                </a:lnTo>
                <a:lnTo>
                  <a:pt x="7948838" y="1497270"/>
                </a:lnTo>
                <a:lnTo>
                  <a:pt x="7924678" y="1513553"/>
                </a:lnTo>
                <a:lnTo>
                  <a:pt x="7895081" y="1519523"/>
                </a:lnTo>
                <a:close/>
              </a:path>
            </a:pathLst>
          </a:custGeom>
          <a:solidFill>
            <a:srgbClr val="FFFA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bg object 37"/>
          <p:cNvSpPr/>
          <p:nvPr/>
        </p:nvSpPr>
        <p:spPr>
          <a:xfrm>
            <a:off x="9329589" y="5944056"/>
            <a:ext cx="7971155" cy="1519555"/>
          </a:xfrm>
          <a:custGeom>
            <a:avLst/>
            <a:gdLst/>
            <a:ahLst/>
            <a:cxnLst/>
            <a:rect l="l" t="t" r="r" b="b"/>
            <a:pathLst>
              <a:path w="7971155" h="1519554">
                <a:moveTo>
                  <a:pt x="0" y="76004"/>
                </a:moveTo>
                <a:lnTo>
                  <a:pt x="5969" y="46409"/>
                </a:lnTo>
                <a:lnTo>
                  <a:pt x="22251" y="22251"/>
                </a:lnTo>
                <a:lnTo>
                  <a:pt x="46409" y="5969"/>
                </a:lnTo>
                <a:lnTo>
                  <a:pt x="76004" y="0"/>
                </a:lnTo>
                <a:lnTo>
                  <a:pt x="7894617" y="0"/>
                </a:lnTo>
                <a:lnTo>
                  <a:pt x="7924213" y="5968"/>
                </a:lnTo>
                <a:lnTo>
                  <a:pt x="7948371" y="22251"/>
                </a:lnTo>
                <a:lnTo>
                  <a:pt x="7964653" y="46409"/>
                </a:lnTo>
                <a:lnTo>
                  <a:pt x="7970623" y="76004"/>
                </a:lnTo>
                <a:lnTo>
                  <a:pt x="7970623" y="1443428"/>
                </a:lnTo>
                <a:lnTo>
                  <a:pt x="7964653" y="1473024"/>
                </a:lnTo>
                <a:lnTo>
                  <a:pt x="7948371" y="1497182"/>
                </a:lnTo>
                <a:lnTo>
                  <a:pt x="7924213" y="1513464"/>
                </a:lnTo>
                <a:lnTo>
                  <a:pt x="7894617" y="1519433"/>
                </a:lnTo>
                <a:lnTo>
                  <a:pt x="76004" y="1519433"/>
                </a:lnTo>
                <a:lnTo>
                  <a:pt x="22251" y="1497182"/>
                </a:lnTo>
                <a:lnTo>
                  <a:pt x="0" y="1443428"/>
                </a:lnTo>
                <a:lnTo>
                  <a:pt x="0" y="76004"/>
                </a:lnTo>
              </a:path>
            </a:pathLst>
          </a:custGeom>
          <a:ln w="19064">
            <a:solidFill>
              <a:srgbClr val="21213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bg object 38"/>
          <p:cNvSpPr/>
          <p:nvPr/>
        </p:nvSpPr>
        <p:spPr>
          <a:xfrm>
            <a:off x="9329403" y="7659900"/>
            <a:ext cx="7971155" cy="1519555"/>
          </a:xfrm>
          <a:custGeom>
            <a:avLst/>
            <a:gdLst/>
            <a:ahLst/>
            <a:cxnLst/>
            <a:rect l="l" t="t" r="r" b="b"/>
            <a:pathLst>
              <a:path w="7971155" h="1519554">
                <a:moveTo>
                  <a:pt x="7895081" y="1519523"/>
                </a:moveTo>
                <a:lnTo>
                  <a:pt x="76009" y="1519523"/>
                </a:lnTo>
                <a:lnTo>
                  <a:pt x="46412" y="1513553"/>
                </a:lnTo>
                <a:lnTo>
                  <a:pt x="22252" y="1497270"/>
                </a:lnTo>
                <a:lnTo>
                  <a:pt x="5969" y="1473111"/>
                </a:lnTo>
                <a:lnTo>
                  <a:pt x="0" y="1443513"/>
                </a:lnTo>
                <a:lnTo>
                  <a:pt x="0" y="76009"/>
                </a:lnTo>
                <a:lnTo>
                  <a:pt x="5969" y="46412"/>
                </a:lnTo>
                <a:lnTo>
                  <a:pt x="22252" y="22252"/>
                </a:lnTo>
                <a:lnTo>
                  <a:pt x="46412" y="5969"/>
                </a:lnTo>
                <a:lnTo>
                  <a:pt x="76009" y="0"/>
                </a:lnTo>
                <a:lnTo>
                  <a:pt x="7895081" y="0"/>
                </a:lnTo>
                <a:lnTo>
                  <a:pt x="7924678" y="5969"/>
                </a:lnTo>
                <a:lnTo>
                  <a:pt x="7948838" y="22252"/>
                </a:lnTo>
                <a:lnTo>
                  <a:pt x="7965121" y="46412"/>
                </a:lnTo>
                <a:lnTo>
                  <a:pt x="7971090" y="76009"/>
                </a:lnTo>
                <a:lnTo>
                  <a:pt x="7971090" y="1443513"/>
                </a:lnTo>
                <a:lnTo>
                  <a:pt x="7965121" y="1473111"/>
                </a:lnTo>
                <a:lnTo>
                  <a:pt x="7948838" y="1497270"/>
                </a:lnTo>
                <a:lnTo>
                  <a:pt x="7924678" y="1513553"/>
                </a:lnTo>
                <a:lnTo>
                  <a:pt x="7895081" y="1519523"/>
                </a:lnTo>
                <a:close/>
              </a:path>
            </a:pathLst>
          </a:custGeom>
          <a:solidFill>
            <a:srgbClr val="FFFA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bg object 39"/>
          <p:cNvSpPr/>
          <p:nvPr/>
        </p:nvSpPr>
        <p:spPr>
          <a:xfrm>
            <a:off x="9329589" y="7659900"/>
            <a:ext cx="7971155" cy="1519555"/>
          </a:xfrm>
          <a:custGeom>
            <a:avLst/>
            <a:gdLst/>
            <a:ahLst/>
            <a:cxnLst/>
            <a:rect l="l" t="t" r="r" b="b"/>
            <a:pathLst>
              <a:path w="7971155" h="1519554">
                <a:moveTo>
                  <a:pt x="0" y="76004"/>
                </a:moveTo>
                <a:lnTo>
                  <a:pt x="5969" y="46409"/>
                </a:lnTo>
                <a:lnTo>
                  <a:pt x="22251" y="22251"/>
                </a:lnTo>
                <a:lnTo>
                  <a:pt x="46409" y="5969"/>
                </a:lnTo>
                <a:lnTo>
                  <a:pt x="76004" y="0"/>
                </a:lnTo>
                <a:lnTo>
                  <a:pt x="7894617" y="0"/>
                </a:lnTo>
                <a:lnTo>
                  <a:pt x="7924213" y="5968"/>
                </a:lnTo>
                <a:lnTo>
                  <a:pt x="7948371" y="22251"/>
                </a:lnTo>
                <a:lnTo>
                  <a:pt x="7964653" y="46409"/>
                </a:lnTo>
                <a:lnTo>
                  <a:pt x="7970623" y="76004"/>
                </a:lnTo>
                <a:lnTo>
                  <a:pt x="7970623" y="1443428"/>
                </a:lnTo>
                <a:lnTo>
                  <a:pt x="7964653" y="1473024"/>
                </a:lnTo>
                <a:lnTo>
                  <a:pt x="7948371" y="1497182"/>
                </a:lnTo>
                <a:lnTo>
                  <a:pt x="7924213" y="1513464"/>
                </a:lnTo>
                <a:lnTo>
                  <a:pt x="7894617" y="1519433"/>
                </a:lnTo>
                <a:lnTo>
                  <a:pt x="76004" y="1519433"/>
                </a:lnTo>
                <a:lnTo>
                  <a:pt x="46408" y="1513464"/>
                </a:lnTo>
                <a:lnTo>
                  <a:pt x="22251" y="1497182"/>
                </a:lnTo>
                <a:lnTo>
                  <a:pt x="5969" y="1473024"/>
                </a:lnTo>
                <a:lnTo>
                  <a:pt x="0" y="1443428"/>
                </a:lnTo>
                <a:lnTo>
                  <a:pt x="0" y="76004"/>
                </a:lnTo>
              </a:path>
            </a:pathLst>
          </a:custGeom>
          <a:ln w="19064">
            <a:solidFill>
              <a:srgbClr val="212134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0" name="bg object 4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63880" y="2746757"/>
            <a:ext cx="285749" cy="285749"/>
          </a:xfrm>
          <a:prstGeom prst="rect">
            <a:avLst/>
          </a:prstGeom>
        </p:spPr>
      </p:pic>
      <p:pic>
        <p:nvPicPr>
          <p:cNvPr id="41" name="bg object 4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63880" y="4462472"/>
            <a:ext cx="390524" cy="390524"/>
          </a:xfrm>
          <a:prstGeom prst="rect">
            <a:avLst/>
          </a:prstGeom>
        </p:spPr>
      </p:pic>
      <p:pic>
        <p:nvPicPr>
          <p:cNvPr id="42" name="bg object 4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63880" y="6186554"/>
            <a:ext cx="333374" cy="333374"/>
          </a:xfrm>
          <a:prstGeom prst="rect">
            <a:avLst/>
          </a:prstGeom>
        </p:spPr>
      </p:pic>
      <p:pic>
        <p:nvPicPr>
          <p:cNvPr id="43" name="bg object 4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69719" y="7894942"/>
            <a:ext cx="333374" cy="33337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426F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6A6F82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385"/>
              </a:lnSpc>
            </a:pPr>
            <a:fld id="{81D60167-4931-47E6-BA6A-407CBD079E47}" type="slidenum">
              <a:rPr dirty="0"/>
              <a:t>#</a:t>
            </a:fld>
            <a:r>
              <a:rPr dirty="0" spc="-15"/>
              <a:t> </a:t>
            </a:r>
            <a:r>
              <a:rPr dirty="0"/>
              <a:t>/</a:t>
            </a:r>
            <a:r>
              <a:rPr dirty="0" spc="-15"/>
              <a:t> </a:t>
            </a:r>
            <a:r>
              <a:rPr dirty="0" spc="-25"/>
              <a:t>16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426F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6A6F82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385"/>
              </a:lnSpc>
            </a:pPr>
            <a:fld id="{81D60167-4931-47E6-BA6A-407CBD079E47}" type="slidenum">
              <a:rPr dirty="0"/>
              <a:t>#</a:t>
            </a:fld>
            <a:r>
              <a:rPr dirty="0" spc="-15"/>
              <a:t> </a:t>
            </a:r>
            <a:r>
              <a:rPr dirty="0"/>
              <a:t>/</a:t>
            </a:r>
            <a:r>
              <a:rPr dirty="0" spc="-15"/>
              <a:t> </a:t>
            </a:r>
            <a:r>
              <a:rPr dirty="0" spc="-25"/>
              <a:t>16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6A6F82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385"/>
              </a:lnSpc>
            </a:pPr>
            <a:fld id="{81D60167-4931-47E6-BA6A-407CBD079E47}" type="slidenum">
              <a:rPr dirty="0"/>
              <a:t>#</a:t>
            </a:fld>
            <a:r>
              <a:rPr dirty="0" spc="-15"/>
              <a:t> </a:t>
            </a:r>
            <a:r>
              <a:rPr dirty="0"/>
              <a:t>/</a:t>
            </a:r>
            <a:r>
              <a:rPr dirty="0" spc="-15"/>
              <a:t> </a:t>
            </a:r>
            <a:r>
              <a:rPr dirty="0" spc="-25"/>
              <a:t>16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2347" y="877153"/>
            <a:ext cx="17343120" cy="7575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426F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355759" y="2739786"/>
            <a:ext cx="11576481" cy="3306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1">
                <a:solidFill>
                  <a:srgbClr val="00426F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7223767" y="9655941"/>
            <a:ext cx="542290" cy="1974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6A6F82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385"/>
              </a:lnSpc>
            </a:pPr>
            <a:fld id="{81D60167-4931-47E6-BA6A-407CBD079E47}" type="slidenum">
              <a:rPr dirty="0"/>
              <a:t>#</a:t>
            </a:fld>
            <a:r>
              <a:rPr dirty="0" spc="-15"/>
              <a:t> </a:t>
            </a:r>
            <a:r>
              <a:rPr dirty="0"/>
              <a:t>/</a:t>
            </a:r>
            <a:r>
              <a:rPr dirty="0" spc="-15"/>
              <a:t> </a:t>
            </a:r>
            <a:r>
              <a:rPr dirty="0" spc="-25"/>
              <a:t>16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804410" cy="5490845"/>
          </a:xfrm>
          <a:custGeom>
            <a:avLst/>
            <a:gdLst/>
            <a:ahLst/>
            <a:cxnLst/>
            <a:rect l="l" t="t" r="r" b="b"/>
            <a:pathLst>
              <a:path w="4804410" h="5490845">
                <a:moveTo>
                  <a:pt x="2081434" y="5427157"/>
                </a:moveTo>
                <a:lnTo>
                  <a:pt x="663880" y="5427157"/>
                </a:lnTo>
                <a:lnTo>
                  <a:pt x="175226" y="5287457"/>
                </a:lnTo>
                <a:lnTo>
                  <a:pt x="132347" y="5262057"/>
                </a:lnTo>
                <a:lnTo>
                  <a:pt x="47422" y="5236657"/>
                </a:lnTo>
                <a:lnTo>
                  <a:pt x="5385" y="5211257"/>
                </a:lnTo>
                <a:lnTo>
                  <a:pt x="0" y="5209619"/>
                </a:lnTo>
                <a:lnTo>
                  <a:pt x="0" y="0"/>
                </a:lnTo>
                <a:lnTo>
                  <a:pt x="4115847" y="0"/>
                </a:lnTo>
                <a:lnTo>
                  <a:pt x="4136873" y="29657"/>
                </a:lnTo>
                <a:lnTo>
                  <a:pt x="4163417" y="67757"/>
                </a:lnTo>
                <a:lnTo>
                  <a:pt x="4189491" y="105857"/>
                </a:lnTo>
                <a:lnTo>
                  <a:pt x="4215090" y="143957"/>
                </a:lnTo>
                <a:lnTo>
                  <a:pt x="4240210" y="182057"/>
                </a:lnTo>
                <a:lnTo>
                  <a:pt x="4264845" y="220157"/>
                </a:lnTo>
                <a:lnTo>
                  <a:pt x="4288993" y="258257"/>
                </a:lnTo>
                <a:lnTo>
                  <a:pt x="4312648" y="296357"/>
                </a:lnTo>
                <a:lnTo>
                  <a:pt x="4335807" y="334457"/>
                </a:lnTo>
                <a:lnTo>
                  <a:pt x="4358464" y="372557"/>
                </a:lnTo>
                <a:lnTo>
                  <a:pt x="4380615" y="410657"/>
                </a:lnTo>
                <a:lnTo>
                  <a:pt x="4402256" y="448757"/>
                </a:lnTo>
                <a:lnTo>
                  <a:pt x="4423382" y="486857"/>
                </a:lnTo>
                <a:lnTo>
                  <a:pt x="4443989" y="537657"/>
                </a:lnTo>
                <a:lnTo>
                  <a:pt x="4464073" y="575757"/>
                </a:lnTo>
                <a:lnTo>
                  <a:pt x="4483629" y="613857"/>
                </a:lnTo>
                <a:lnTo>
                  <a:pt x="4502653" y="651957"/>
                </a:lnTo>
                <a:lnTo>
                  <a:pt x="4521140" y="702757"/>
                </a:lnTo>
                <a:lnTo>
                  <a:pt x="4539086" y="740857"/>
                </a:lnTo>
                <a:lnTo>
                  <a:pt x="4556486" y="778957"/>
                </a:lnTo>
                <a:lnTo>
                  <a:pt x="4573337" y="829757"/>
                </a:lnTo>
                <a:lnTo>
                  <a:pt x="4589633" y="867857"/>
                </a:lnTo>
                <a:lnTo>
                  <a:pt x="4605371" y="905957"/>
                </a:lnTo>
                <a:lnTo>
                  <a:pt x="4620545" y="956757"/>
                </a:lnTo>
                <a:lnTo>
                  <a:pt x="4635152" y="994857"/>
                </a:lnTo>
                <a:lnTo>
                  <a:pt x="4649187" y="1045657"/>
                </a:lnTo>
                <a:lnTo>
                  <a:pt x="4662646" y="1083757"/>
                </a:lnTo>
                <a:lnTo>
                  <a:pt x="4675524" y="1134557"/>
                </a:lnTo>
                <a:lnTo>
                  <a:pt x="4687816" y="1172657"/>
                </a:lnTo>
                <a:lnTo>
                  <a:pt x="4699519" y="1223457"/>
                </a:lnTo>
                <a:lnTo>
                  <a:pt x="4710628" y="1261557"/>
                </a:lnTo>
                <a:lnTo>
                  <a:pt x="4721139" y="1312357"/>
                </a:lnTo>
                <a:lnTo>
                  <a:pt x="4731047" y="1350457"/>
                </a:lnTo>
                <a:lnTo>
                  <a:pt x="4740347" y="1401257"/>
                </a:lnTo>
                <a:lnTo>
                  <a:pt x="4749036" y="1452057"/>
                </a:lnTo>
                <a:lnTo>
                  <a:pt x="4757109" y="1490157"/>
                </a:lnTo>
                <a:lnTo>
                  <a:pt x="4764561" y="1540957"/>
                </a:lnTo>
                <a:lnTo>
                  <a:pt x="4771389" y="1591757"/>
                </a:lnTo>
                <a:lnTo>
                  <a:pt x="4777587" y="1629857"/>
                </a:lnTo>
                <a:lnTo>
                  <a:pt x="4783151" y="1680657"/>
                </a:lnTo>
                <a:lnTo>
                  <a:pt x="4788078" y="1731457"/>
                </a:lnTo>
                <a:lnTo>
                  <a:pt x="4792361" y="1782257"/>
                </a:lnTo>
                <a:lnTo>
                  <a:pt x="4795998" y="1820357"/>
                </a:lnTo>
                <a:lnTo>
                  <a:pt x="4798984" y="1871157"/>
                </a:lnTo>
                <a:lnTo>
                  <a:pt x="4801314" y="1921957"/>
                </a:lnTo>
                <a:lnTo>
                  <a:pt x="4802983" y="1972757"/>
                </a:lnTo>
                <a:lnTo>
                  <a:pt x="4803988" y="2010857"/>
                </a:lnTo>
                <a:lnTo>
                  <a:pt x="4804352" y="2061657"/>
                </a:lnTo>
                <a:lnTo>
                  <a:pt x="4803988" y="2112457"/>
                </a:lnTo>
                <a:lnTo>
                  <a:pt x="4802983" y="2163257"/>
                </a:lnTo>
                <a:lnTo>
                  <a:pt x="4801314" y="2214057"/>
                </a:lnTo>
                <a:lnTo>
                  <a:pt x="4798984" y="2252157"/>
                </a:lnTo>
                <a:lnTo>
                  <a:pt x="4795998" y="2302957"/>
                </a:lnTo>
                <a:lnTo>
                  <a:pt x="4792361" y="2353757"/>
                </a:lnTo>
                <a:lnTo>
                  <a:pt x="4788078" y="2404557"/>
                </a:lnTo>
                <a:lnTo>
                  <a:pt x="4783151" y="2442657"/>
                </a:lnTo>
                <a:lnTo>
                  <a:pt x="4777587" y="2493457"/>
                </a:lnTo>
                <a:lnTo>
                  <a:pt x="4771389" y="2544257"/>
                </a:lnTo>
                <a:lnTo>
                  <a:pt x="4764561" y="2595057"/>
                </a:lnTo>
                <a:lnTo>
                  <a:pt x="4757109" y="2633157"/>
                </a:lnTo>
                <a:lnTo>
                  <a:pt x="4749036" y="2683957"/>
                </a:lnTo>
                <a:lnTo>
                  <a:pt x="4740347" y="2722057"/>
                </a:lnTo>
                <a:lnTo>
                  <a:pt x="4731047" y="2772857"/>
                </a:lnTo>
                <a:lnTo>
                  <a:pt x="4721139" y="2823657"/>
                </a:lnTo>
                <a:lnTo>
                  <a:pt x="4710628" y="2861757"/>
                </a:lnTo>
                <a:lnTo>
                  <a:pt x="4699519" y="2912557"/>
                </a:lnTo>
                <a:lnTo>
                  <a:pt x="4687816" y="2950657"/>
                </a:lnTo>
                <a:lnTo>
                  <a:pt x="4675524" y="3001457"/>
                </a:lnTo>
                <a:lnTo>
                  <a:pt x="4662646" y="3039557"/>
                </a:lnTo>
                <a:lnTo>
                  <a:pt x="4649187" y="3090357"/>
                </a:lnTo>
                <a:lnTo>
                  <a:pt x="4635152" y="3128457"/>
                </a:lnTo>
                <a:lnTo>
                  <a:pt x="4620545" y="3179257"/>
                </a:lnTo>
                <a:lnTo>
                  <a:pt x="4605371" y="3217357"/>
                </a:lnTo>
                <a:lnTo>
                  <a:pt x="4589633" y="3268157"/>
                </a:lnTo>
                <a:lnTo>
                  <a:pt x="4573337" y="3306257"/>
                </a:lnTo>
                <a:lnTo>
                  <a:pt x="4556486" y="3344357"/>
                </a:lnTo>
                <a:lnTo>
                  <a:pt x="4539086" y="3395157"/>
                </a:lnTo>
                <a:lnTo>
                  <a:pt x="4521140" y="3433257"/>
                </a:lnTo>
                <a:lnTo>
                  <a:pt x="4502653" y="3471357"/>
                </a:lnTo>
                <a:lnTo>
                  <a:pt x="4483629" y="3522157"/>
                </a:lnTo>
                <a:lnTo>
                  <a:pt x="4464073" y="3560257"/>
                </a:lnTo>
                <a:lnTo>
                  <a:pt x="4443989" y="3598357"/>
                </a:lnTo>
                <a:lnTo>
                  <a:pt x="4423382" y="3636457"/>
                </a:lnTo>
                <a:lnTo>
                  <a:pt x="4402256" y="3674557"/>
                </a:lnTo>
                <a:lnTo>
                  <a:pt x="4380615" y="3712657"/>
                </a:lnTo>
                <a:lnTo>
                  <a:pt x="4358464" y="3763457"/>
                </a:lnTo>
                <a:lnTo>
                  <a:pt x="4335807" y="3801557"/>
                </a:lnTo>
                <a:lnTo>
                  <a:pt x="4312648" y="3839657"/>
                </a:lnTo>
                <a:lnTo>
                  <a:pt x="4288993" y="3877757"/>
                </a:lnTo>
                <a:lnTo>
                  <a:pt x="4264845" y="3915857"/>
                </a:lnTo>
                <a:lnTo>
                  <a:pt x="4240210" y="3953957"/>
                </a:lnTo>
                <a:lnTo>
                  <a:pt x="4215090" y="3992057"/>
                </a:lnTo>
                <a:lnTo>
                  <a:pt x="4189491" y="4030157"/>
                </a:lnTo>
                <a:lnTo>
                  <a:pt x="4163417" y="4068257"/>
                </a:lnTo>
                <a:lnTo>
                  <a:pt x="4136873" y="4093657"/>
                </a:lnTo>
                <a:lnTo>
                  <a:pt x="4109862" y="4131757"/>
                </a:lnTo>
                <a:lnTo>
                  <a:pt x="4082390" y="4169857"/>
                </a:lnTo>
                <a:lnTo>
                  <a:pt x="4054461" y="4207957"/>
                </a:lnTo>
                <a:lnTo>
                  <a:pt x="4026078" y="4246057"/>
                </a:lnTo>
                <a:lnTo>
                  <a:pt x="3997248" y="4271457"/>
                </a:lnTo>
                <a:lnTo>
                  <a:pt x="3967973" y="4309557"/>
                </a:lnTo>
                <a:lnTo>
                  <a:pt x="3938259" y="4347657"/>
                </a:lnTo>
                <a:lnTo>
                  <a:pt x="3908109" y="4373057"/>
                </a:lnTo>
                <a:lnTo>
                  <a:pt x="3877529" y="4411157"/>
                </a:lnTo>
                <a:lnTo>
                  <a:pt x="3846522" y="4449257"/>
                </a:lnTo>
                <a:lnTo>
                  <a:pt x="3815093" y="4474657"/>
                </a:lnTo>
                <a:lnTo>
                  <a:pt x="3783247" y="4512757"/>
                </a:lnTo>
                <a:lnTo>
                  <a:pt x="3750987" y="4538157"/>
                </a:lnTo>
                <a:lnTo>
                  <a:pt x="3718319" y="4576257"/>
                </a:lnTo>
                <a:lnTo>
                  <a:pt x="3651774" y="4627057"/>
                </a:lnTo>
                <a:lnTo>
                  <a:pt x="3617906" y="4665157"/>
                </a:lnTo>
                <a:lnTo>
                  <a:pt x="3583647" y="4690557"/>
                </a:lnTo>
                <a:lnTo>
                  <a:pt x="3513973" y="4741357"/>
                </a:lnTo>
                <a:lnTo>
                  <a:pt x="3478568" y="4779457"/>
                </a:lnTo>
                <a:lnTo>
                  <a:pt x="3406640" y="4830257"/>
                </a:lnTo>
                <a:lnTo>
                  <a:pt x="3333254" y="4881057"/>
                </a:lnTo>
                <a:lnTo>
                  <a:pt x="3220517" y="4957257"/>
                </a:lnTo>
                <a:lnTo>
                  <a:pt x="3104697" y="5033457"/>
                </a:lnTo>
                <a:lnTo>
                  <a:pt x="3065425" y="5046157"/>
                </a:lnTo>
                <a:lnTo>
                  <a:pt x="2945680" y="5122357"/>
                </a:lnTo>
                <a:lnTo>
                  <a:pt x="2905135" y="5135057"/>
                </a:lnTo>
                <a:lnTo>
                  <a:pt x="2864283" y="5160457"/>
                </a:lnTo>
                <a:lnTo>
                  <a:pt x="2823129" y="5173157"/>
                </a:lnTo>
                <a:lnTo>
                  <a:pt x="2781676" y="5198557"/>
                </a:lnTo>
                <a:lnTo>
                  <a:pt x="2739928" y="5211257"/>
                </a:lnTo>
                <a:lnTo>
                  <a:pt x="2697892" y="5236657"/>
                </a:lnTo>
                <a:lnTo>
                  <a:pt x="2612967" y="5262057"/>
                </a:lnTo>
                <a:lnTo>
                  <a:pt x="2570087" y="5287457"/>
                </a:lnTo>
                <a:lnTo>
                  <a:pt x="2081434" y="5427157"/>
                </a:lnTo>
                <a:close/>
              </a:path>
              <a:path w="4804410" h="5490845">
                <a:moveTo>
                  <a:pt x="1943224" y="5452557"/>
                </a:moveTo>
                <a:lnTo>
                  <a:pt x="802089" y="5452557"/>
                </a:lnTo>
                <a:lnTo>
                  <a:pt x="709732" y="5427157"/>
                </a:lnTo>
                <a:lnTo>
                  <a:pt x="2035581" y="5427157"/>
                </a:lnTo>
                <a:lnTo>
                  <a:pt x="1943224" y="5452557"/>
                </a:lnTo>
                <a:close/>
              </a:path>
              <a:path w="4804410" h="5490845">
                <a:moveTo>
                  <a:pt x="1850026" y="5465257"/>
                </a:moveTo>
                <a:lnTo>
                  <a:pt x="895287" y="5465257"/>
                </a:lnTo>
                <a:lnTo>
                  <a:pt x="848585" y="5452557"/>
                </a:lnTo>
                <a:lnTo>
                  <a:pt x="1896728" y="5452557"/>
                </a:lnTo>
                <a:lnTo>
                  <a:pt x="1850026" y="5465257"/>
                </a:lnTo>
                <a:close/>
              </a:path>
              <a:path w="4804410" h="5490845">
                <a:moveTo>
                  <a:pt x="1756023" y="5477957"/>
                </a:moveTo>
                <a:lnTo>
                  <a:pt x="989291" y="5477957"/>
                </a:lnTo>
                <a:lnTo>
                  <a:pt x="942190" y="5465257"/>
                </a:lnTo>
                <a:lnTo>
                  <a:pt x="1803123" y="5465257"/>
                </a:lnTo>
                <a:lnTo>
                  <a:pt x="1756023" y="5477957"/>
                </a:lnTo>
                <a:close/>
              </a:path>
              <a:path w="4804410" h="5490845">
                <a:moveTo>
                  <a:pt x="1661249" y="5490657"/>
                </a:moveTo>
                <a:lnTo>
                  <a:pt x="1084065" y="5490657"/>
                </a:lnTo>
                <a:lnTo>
                  <a:pt x="1036584" y="5477957"/>
                </a:lnTo>
                <a:lnTo>
                  <a:pt x="1708730" y="5477957"/>
                </a:lnTo>
                <a:lnTo>
                  <a:pt x="1661249" y="5490657"/>
                </a:lnTo>
                <a:close/>
              </a:path>
            </a:pathLst>
          </a:custGeom>
          <a:solidFill>
            <a:srgbClr val="FF4444">
              <a:alpha val="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39470" y="395536"/>
            <a:ext cx="958215" cy="434975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50" spc="-10">
                <a:latin typeface="Calibri"/>
                <a:cs typeface="Calibri"/>
              </a:rPr>
              <a:t>FOLLEI</a:t>
            </a:r>
            <a:endParaRPr sz="26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347" y="2720451"/>
            <a:ext cx="9109710" cy="4206875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12700" marR="5080">
              <a:lnSpc>
                <a:spcPct val="93600"/>
              </a:lnSpc>
              <a:spcBef>
                <a:spcPts val="725"/>
              </a:spcBef>
            </a:pPr>
            <a:r>
              <a:rPr dirty="0" sz="8100" b="1">
                <a:solidFill>
                  <a:srgbClr val="00426F"/>
                </a:solidFill>
                <a:latin typeface="Georgia"/>
                <a:cs typeface="Georgia"/>
              </a:rPr>
              <a:t>The</a:t>
            </a:r>
            <a:r>
              <a:rPr dirty="0" sz="8100" spc="-60" b="1">
                <a:solidFill>
                  <a:srgbClr val="00426F"/>
                </a:solidFill>
                <a:latin typeface="Georgia"/>
                <a:cs typeface="Georgia"/>
              </a:rPr>
              <a:t> </a:t>
            </a:r>
            <a:r>
              <a:rPr dirty="0" sz="8100" spc="-10" b="1">
                <a:solidFill>
                  <a:srgbClr val="00426F"/>
                </a:solidFill>
                <a:latin typeface="Georgia"/>
                <a:cs typeface="Georgia"/>
              </a:rPr>
              <a:t>Autonomous </a:t>
            </a:r>
            <a:r>
              <a:rPr dirty="0" sz="8100" spc="-10" b="1" i="1">
                <a:solidFill>
                  <a:srgbClr val="00D4AA"/>
                </a:solidFill>
                <a:latin typeface="Georgia"/>
                <a:cs typeface="Georgia"/>
              </a:rPr>
              <a:t>Workforce </a:t>
            </a:r>
            <a:r>
              <a:rPr dirty="0" sz="8100" spc="-10" b="1">
                <a:solidFill>
                  <a:srgbClr val="00426F"/>
                </a:solidFill>
                <a:latin typeface="Georgia"/>
                <a:cs typeface="Georgia"/>
              </a:rPr>
              <a:t>Platform.</a:t>
            </a:r>
            <a:endParaRPr sz="8100">
              <a:latin typeface="Georgia"/>
              <a:cs typeface="Georgia"/>
            </a:endParaRPr>
          </a:p>
          <a:p>
            <a:pPr marL="12700">
              <a:lnSpc>
                <a:spcPts val="2360"/>
              </a:lnSpc>
            </a:pPr>
            <a:r>
              <a:rPr dirty="0" sz="2200" i="1">
                <a:solidFill>
                  <a:srgbClr val="8B8FA2"/>
                </a:solidFill>
                <a:latin typeface="Calibri"/>
                <a:cs typeface="Calibri"/>
              </a:rPr>
              <a:t>Upload</a:t>
            </a:r>
            <a:r>
              <a:rPr dirty="0" sz="2200" spc="65" i="1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8B8FA2"/>
                </a:solidFill>
                <a:latin typeface="Calibri"/>
                <a:cs typeface="Calibri"/>
              </a:rPr>
              <a:t>your</a:t>
            </a:r>
            <a:r>
              <a:rPr dirty="0" sz="2200" spc="65" i="1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8B8FA2"/>
                </a:solidFill>
                <a:latin typeface="Calibri"/>
                <a:cs typeface="Calibri"/>
              </a:rPr>
              <a:t>business</a:t>
            </a:r>
            <a:r>
              <a:rPr dirty="0" sz="2200" spc="70" i="1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8B8FA2"/>
                </a:solidFill>
                <a:latin typeface="Calibri"/>
                <a:cs typeface="Calibri"/>
              </a:rPr>
              <a:t>knowledge.</a:t>
            </a:r>
            <a:r>
              <a:rPr dirty="0" sz="2200" spc="65" i="1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8B8FA2"/>
                </a:solidFill>
                <a:latin typeface="Calibri"/>
                <a:cs typeface="Calibri"/>
              </a:rPr>
              <a:t>Deploy</a:t>
            </a:r>
            <a:r>
              <a:rPr dirty="0" sz="2200" spc="65" i="1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8B8FA2"/>
                </a:solidFill>
                <a:latin typeface="Calibri"/>
                <a:cs typeface="Calibri"/>
              </a:rPr>
              <a:t>AI</a:t>
            </a:r>
            <a:r>
              <a:rPr dirty="0" sz="2200" spc="70" i="1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8B8FA2"/>
                </a:solidFill>
                <a:latin typeface="Calibri"/>
                <a:cs typeface="Calibri"/>
              </a:rPr>
              <a:t>employees</a:t>
            </a:r>
            <a:r>
              <a:rPr dirty="0" sz="2200" spc="65" i="1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8B8FA2"/>
                </a:solidFill>
                <a:latin typeface="Calibri"/>
                <a:cs typeface="Calibri"/>
              </a:rPr>
              <a:t>that</a:t>
            </a:r>
            <a:r>
              <a:rPr dirty="0" sz="2200" spc="65" i="1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8B8FA2"/>
                </a:solidFill>
                <a:latin typeface="Calibri"/>
                <a:cs typeface="Calibri"/>
              </a:rPr>
              <a:t>sell,</a:t>
            </a:r>
            <a:r>
              <a:rPr dirty="0" sz="2200" spc="70" i="1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2200" spc="-10" i="1">
                <a:solidFill>
                  <a:srgbClr val="8B8FA2"/>
                </a:solidFill>
                <a:latin typeface="Calibri"/>
                <a:cs typeface="Calibri"/>
              </a:rPr>
              <a:t>support,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ts val="2635"/>
              </a:lnSpc>
            </a:pPr>
            <a:r>
              <a:rPr dirty="0" sz="2200" i="1">
                <a:solidFill>
                  <a:srgbClr val="8B8FA2"/>
                </a:solidFill>
                <a:latin typeface="Calibri"/>
                <a:cs typeface="Calibri"/>
              </a:rPr>
              <a:t>and</a:t>
            </a:r>
            <a:r>
              <a:rPr dirty="0" sz="2200" spc="55" i="1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8B8FA2"/>
                </a:solidFill>
                <a:latin typeface="Calibri"/>
                <a:cs typeface="Calibri"/>
              </a:rPr>
              <a:t>grow</a:t>
            </a:r>
            <a:r>
              <a:rPr dirty="0" sz="2200" spc="55" i="1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8B8FA2"/>
                </a:solidFill>
                <a:latin typeface="Calibri"/>
                <a:cs typeface="Calibri"/>
              </a:rPr>
              <a:t>your</a:t>
            </a:r>
            <a:r>
              <a:rPr dirty="0" sz="2200" spc="55" i="1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8B8FA2"/>
                </a:solidFill>
                <a:latin typeface="Calibri"/>
                <a:cs typeface="Calibri"/>
              </a:rPr>
              <a:t>revenue</a:t>
            </a:r>
            <a:r>
              <a:rPr dirty="0" sz="2200" spc="55" i="1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8B8FA2"/>
                </a:solidFill>
                <a:latin typeface="Calibri"/>
                <a:cs typeface="Calibri"/>
              </a:rPr>
              <a:t>—</a:t>
            </a:r>
            <a:r>
              <a:rPr dirty="0" sz="2200" spc="55" i="1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2200" spc="-10" i="1">
                <a:solidFill>
                  <a:srgbClr val="8B8FA2"/>
                </a:solidFill>
                <a:latin typeface="Calibri"/>
                <a:cs typeface="Calibri"/>
              </a:rPr>
              <a:t>24/7.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92836" y="2487747"/>
            <a:ext cx="5495163" cy="7799252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809468" y="7398136"/>
            <a:ext cx="2225040" cy="781685"/>
            <a:chOff x="809468" y="7398136"/>
            <a:chExt cx="2225040" cy="781685"/>
          </a:xfrm>
        </p:grpSpPr>
        <p:sp>
          <p:nvSpPr>
            <p:cNvPr id="7" name="object 7"/>
            <p:cNvSpPr/>
            <p:nvPr/>
          </p:nvSpPr>
          <p:spPr>
            <a:xfrm>
              <a:off x="818835" y="7407668"/>
              <a:ext cx="2205990" cy="764540"/>
            </a:xfrm>
            <a:custGeom>
              <a:avLst/>
              <a:gdLst/>
              <a:ahLst/>
              <a:cxnLst/>
              <a:rect l="l" t="t" r="r" b="b"/>
              <a:pathLst>
                <a:path w="2205990" h="764540">
                  <a:moveTo>
                    <a:pt x="1976437" y="764476"/>
                  </a:moveTo>
                  <a:lnTo>
                    <a:pt x="229361" y="764476"/>
                  </a:lnTo>
                  <a:lnTo>
                    <a:pt x="183134" y="759817"/>
                  </a:lnTo>
                  <a:lnTo>
                    <a:pt x="140079" y="746453"/>
                  </a:lnTo>
                  <a:lnTo>
                    <a:pt x="101119" y="725307"/>
                  </a:lnTo>
                  <a:lnTo>
                    <a:pt x="67175" y="697301"/>
                  </a:lnTo>
                  <a:lnTo>
                    <a:pt x="39168" y="663357"/>
                  </a:lnTo>
                  <a:lnTo>
                    <a:pt x="18023" y="624396"/>
                  </a:lnTo>
                  <a:lnTo>
                    <a:pt x="4659" y="581341"/>
                  </a:lnTo>
                  <a:lnTo>
                    <a:pt x="0" y="535114"/>
                  </a:lnTo>
                  <a:lnTo>
                    <a:pt x="0" y="229361"/>
                  </a:lnTo>
                  <a:lnTo>
                    <a:pt x="4659" y="183134"/>
                  </a:lnTo>
                  <a:lnTo>
                    <a:pt x="18023" y="140079"/>
                  </a:lnTo>
                  <a:lnTo>
                    <a:pt x="39168" y="101119"/>
                  </a:lnTo>
                  <a:lnTo>
                    <a:pt x="67175" y="67175"/>
                  </a:lnTo>
                  <a:lnTo>
                    <a:pt x="101119" y="39168"/>
                  </a:lnTo>
                  <a:lnTo>
                    <a:pt x="140079" y="18023"/>
                  </a:lnTo>
                  <a:lnTo>
                    <a:pt x="183134" y="4659"/>
                  </a:lnTo>
                  <a:lnTo>
                    <a:pt x="229361" y="0"/>
                  </a:lnTo>
                  <a:lnTo>
                    <a:pt x="1976437" y="0"/>
                  </a:lnTo>
                  <a:lnTo>
                    <a:pt x="2022664" y="4659"/>
                  </a:lnTo>
                  <a:lnTo>
                    <a:pt x="2065719" y="18023"/>
                  </a:lnTo>
                  <a:lnTo>
                    <a:pt x="2104679" y="39168"/>
                  </a:lnTo>
                  <a:lnTo>
                    <a:pt x="2138624" y="67175"/>
                  </a:lnTo>
                  <a:lnTo>
                    <a:pt x="2166630" y="101119"/>
                  </a:lnTo>
                  <a:lnTo>
                    <a:pt x="2187776" y="140079"/>
                  </a:lnTo>
                  <a:lnTo>
                    <a:pt x="2201139" y="183134"/>
                  </a:lnTo>
                  <a:lnTo>
                    <a:pt x="2205799" y="229361"/>
                  </a:lnTo>
                  <a:lnTo>
                    <a:pt x="2205799" y="535114"/>
                  </a:lnTo>
                  <a:lnTo>
                    <a:pt x="2201139" y="581341"/>
                  </a:lnTo>
                  <a:lnTo>
                    <a:pt x="2187776" y="624396"/>
                  </a:lnTo>
                  <a:lnTo>
                    <a:pt x="2166630" y="663357"/>
                  </a:lnTo>
                  <a:lnTo>
                    <a:pt x="2138624" y="697301"/>
                  </a:lnTo>
                  <a:lnTo>
                    <a:pt x="2104679" y="725307"/>
                  </a:lnTo>
                  <a:lnTo>
                    <a:pt x="2065719" y="746453"/>
                  </a:lnTo>
                  <a:lnTo>
                    <a:pt x="2022664" y="759817"/>
                  </a:lnTo>
                  <a:lnTo>
                    <a:pt x="1976437" y="764476"/>
                  </a:lnTo>
                  <a:close/>
                </a:path>
              </a:pathLst>
            </a:custGeom>
            <a:solidFill>
              <a:srgbClr val="1313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19000" y="7407668"/>
              <a:ext cx="2205990" cy="762000"/>
            </a:xfrm>
            <a:custGeom>
              <a:avLst/>
              <a:gdLst/>
              <a:ahLst/>
              <a:cxnLst/>
              <a:rect l="l" t="t" r="r" b="b"/>
              <a:pathLst>
                <a:path w="2205990" h="762000">
                  <a:moveTo>
                    <a:pt x="205979" y="761999"/>
                  </a:moveTo>
                  <a:lnTo>
                    <a:pt x="140057" y="746332"/>
                  </a:lnTo>
                  <a:lnTo>
                    <a:pt x="101102" y="725190"/>
                  </a:lnTo>
                  <a:lnTo>
                    <a:pt x="67163" y="697188"/>
                  </a:lnTo>
                  <a:lnTo>
                    <a:pt x="39162" y="663249"/>
                  </a:lnTo>
                  <a:lnTo>
                    <a:pt x="18020" y="624295"/>
                  </a:lnTo>
                  <a:lnTo>
                    <a:pt x="4658" y="581247"/>
                  </a:lnTo>
                  <a:lnTo>
                    <a:pt x="0" y="535027"/>
                  </a:lnTo>
                  <a:lnTo>
                    <a:pt x="0" y="229324"/>
                  </a:lnTo>
                  <a:lnTo>
                    <a:pt x="4658" y="183105"/>
                  </a:lnTo>
                  <a:lnTo>
                    <a:pt x="18020" y="140057"/>
                  </a:lnTo>
                  <a:lnTo>
                    <a:pt x="39162" y="101102"/>
                  </a:lnTo>
                  <a:lnTo>
                    <a:pt x="67164" y="67164"/>
                  </a:lnTo>
                  <a:lnTo>
                    <a:pt x="101103" y="39162"/>
                  </a:lnTo>
                  <a:lnTo>
                    <a:pt x="140057" y="18020"/>
                  </a:lnTo>
                  <a:lnTo>
                    <a:pt x="183105" y="4658"/>
                  </a:lnTo>
                  <a:lnTo>
                    <a:pt x="229324" y="0"/>
                  </a:lnTo>
                  <a:lnTo>
                    <a:pt x="1976117" y="0"/>
                  </a:lnTo>
                  <a:lnTo>
                    <a:pt x="2022336" y="4658"/>
                  </a:lnTo>
                  <a:lnTo>
                    <a:pt x="2065384" y="18020"/>
                  </a:lnTo>
                  <a:lnTo>
                    <a:pt x="2104338" y="39162"/>
                  </a:lnTo>
                  <a:lnTo>
                    <a:pt x="2138277" y="67164"/>
                  </a:lnTo>
                  <a:lnTo>
                    <a:pt x="2166279" y="101102"/>
                  </a:lnTo>
                  <a:lnTo>
                    <a:pt x="2187421" y="140057"/>
                  </a:lnTo>
                  <a:lnTo>
                    <a:pt x="2200783" y="183105"/>
                  </a:lnTo>
                  <a:lnTo>
                    <a:pt x="2205442" y="229324"/>
                  </a:lnTo>
                  <a:lnTo>
                    <a:pt x="2205442" y="535027"/>
                  </a:lnTo>
                  <a:lnTo>
                    <a:pt x="2200783" y="581247"/>
                  </a:lnTo>
                  <a:lnTo>
                    <a:pt x="2187422" y="624295"/>
                  </a:lnTo>
                  <a:lnTo>
                    <a:pt x="2166279" y="663249"/>
                  </a:lnTo>
                  <a:lnTo>
                    <a:pt x="2138278" y="697188"/>
                  </a:lnTo>
                  <a:lnTo>
                    <a:pt x="2104339" y="725190"/>
                  </a:lnTo>
                  <a:lnTo>
                    <a:pt x="2065384" y="746332"/>
                  </a:lnTo>
                  <a:lnTo>
                    <a:pt x="2022336" y="759694"/>
                  </a:lnTo>
                  <a:lnTo>
                    <a:pt x="1999462" y="761999"/>
                  </a:lnTo>
                </a:path>
              </a:pathLst>
            </a:custGeom>
            <a:ln w="19064">
              <a:solidFill>
                <a:srgbClr val="00D4A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564930" y="7395464"/>
            <a:ext cx="713740" cy="605155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59"/>
              </a:spcBef>
            </a:pPr>
            <a:r>
              <a:rPr dirty="0" sz="2400" spc="-50" b="1">
                <a:solidFill>
                  <a:srgbClr val="00D4AA"/>
                </a:solidFill>
                <a:latin typeface="Calibri"/>
                <a:cs typeface="Calibri"/>
              </a:rPr>
              <a:t>6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80"/>
              </a:spcBef>
            </a:pPr>
            <a:r>
              <a:rPr dirty="0" sz="1200">
                <a:solidFill>
                  <a:srgbClr val="8B8FA2"/>
                </a:solidFill>
                <a:latin typeface="Calibri"/>
                <a:cs typeface="Calibri"/>
              </a:rPr>
              <a:t>AI</a:t>
            </a:r>
            <a:r>
              <a:rPr dirty="0" sz="1200" spc="-2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B8FA2"/>
                </a:solidFill>
                <a:latin typeface="Calibri"/>
                <a:cs typeface="Calibri"/>
              </a:rPr>
              <a:t>Workers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280281" y="7398136"/>
            <a:ext cx="2225040" cy="781685"/>
            <a:chOff x="3280281" y="7398136"/>
            <a:chExt cx="2225040" cy="781685"/>
          </a:xfrm>
        </p:grpSpPr>
        <p:sp>
          <p:nvSpPr>
            <p:cNvPr id="11" name="object 11"/>
            <p:cNvSpPr/>
            <p:nvPr/>
          </p:nvSpPr>
          <p:spPr>
            <a:xfrm>
              <a:off x="3289648" y="7407668"/>
              <a:ext cx="2205990" cy="764540"/>
            </a:xfrm>
            <a:custGeom>
              <a:avLst/>
              <a:gdLst/>
              <a:ahLst/>
              <a:cxnLst/>
              <a:rect l="l" t="t" r="r" b="b"/>
              <a:pathLst>
                <a:path w="2205990" h="764540">
                  <a:moveTo>
                    <a:pt x="1976437" y="764476"/>
                  </a:moveTo>
                  <a:lnTo>
                    <a:pt x="229361" y="764476"/>
                  </a:lnTo>
                  <a:lnTo>
                    <a:pt x="183134" y="759817"/>
                  </a:lnTo>
                  <a:lnTo>
                    <a:pt x="140079" y="746453"/>
                  </a:lnTo>
                  <a:lnTo>
                    <a:pt x="101119" y="725307"/>
                  </a:lnTo>
                  <a:lnTo>
                    <a:pt x="67175" y="697301"/>
                  </a:lnTo>
                  <a:lnTo>
                    <a:pt x="39168" y="663357"/>
                  </a:lnTo>
                  <a:lnTo>
                    <a:pt x="18023" y="624396"/>
                  </a:lnTo>
                  <a:lnTo>
                    <a:pt x="4659" y="581341"/>
                  </a:lnTo>
                  <a:lnTo>
                    <a:pt x="0" y="535114"/>
                  </a:lnTo>
                  <a:lnTo>
                    <a:pt x="0" y="229361"/>
                  </a:lnTo>
                  <a:lnTo>
                    <a:pt x="4659" y="183134"/>
                  </a:lnTo>
                  <a:lnTo>
                    <a:pt x="18023" y="140079"/>
                  </a:lnTo>
                  <a:lnTo>
                    <a:pt x="39168" y="101119"/>
                  </a:lnTo>
                  <a:lnTo>
                    <a:pt x="67175" y="67175"/>
                  </a:lnTo>
                  <a:lnTo>
                    <a:pt x="101119" y="39168"/>
                  </a:lnTo>
                  <a:lnTo>
                    <a:pt x="140079" y="18023"/>
                  </a:lnTo>
                  <a:lnTo>
                    <a:pt x="183134" y="4659"/>
                  </a:lnTo>
                  <a:lnTo>
                    <a:pt x="229361" y="0"/>
                  </a:lnTo>
                  <a:lnTo>
                    <a:pt x="1976437" y="0"/>
                  </a:lnTo>
                  <a:lnTo>
                    <a:pt x="2022664" y="4659"/>
                  </a:lnTo>
                  <a:lnTo>
                    <a:pt x="2065719" y="18023"/>
                  </a:lnTo>
                  <a:lnTo>
                    <a:pt x="2104680" y="39168"/>
                  </a:lnTo>
                  <a:lnTo>
                    <a:pt x="2138624" y="67175"/>
                  </a:lnTo>
                  <a:lnTo>
                    <a:pt x="2166630" y="101119"/>
                  </a:lnTo>
                  <a:lnTo>
                    <a:pt x="2187776" y="140079"/>
                  </a:lnTo>
                  <a:lnTo>
                    <a:pt x="2201140" y="183134"/>
                  </a:lnTo>
                  <a:lnTo>
                    <a:pt x="2205799" y="229361"/>
                  </a:lnTo>
                  <a:lnTo>
                    <a:pt x="2205799" y="535114"/>
                  </a:lnTo>
                  <a:lnTo>
                    <a:pt x="2201140" y="581341"/>
                  </a:lnTo>
                  <a:lnTo>
                    <a:pt x="2187776" y="624396"/>
                  </a:lnTo>
                  <a:lnTo>
                    <a:pt x="2166630" y="663357"/>
                  </a:lnTo>
                  <a:lnTo>
                    <a:pt x="2138624" y="697301"/>
                  </a:lnTo>
                  <a:lnTo>
                    <a:pt x="2104680" y="725307"/>
                  </a:lnTo>
                  <a:lnTo>
                    <a:pt x="2065719" y="746453"/>
                  </a:lnTo>
                  <a:lnTo>
                    <a:pt x="2022664" y="759817"/>
                  </a:lnTo>
                  <a:lnTo>
                    <a:pt x="1976437" y="764476"/>
                  </a:lnTo>
                  <a:close/>
                </a:path>
              </a:pathLst>
            </a:custGeom>
            <a:solidFill>
              <a:srgbClr val="1313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289814" y="7407668"/>
              <a:ext cx="2205990" cy="762000"/>
            </a:xfrm>
            <a:custGeom>
              <a:avLst/>
              <a:gdLst/>
              <a:ahLst/>
              <a:cxnLst/>
              <a:rect l="l" t="t" r="r" b="b"/>
              <a:pathLst>
                <a:path w="2205990" h="762000">
                  <a:moveTo>
                    <a:pt x="205979" y="761999"/>
                  </a:moveTo>
                  <a:lnTo>
                    <a:pt x="140057" y="746332"/>
                  </a:lnTo>
                  <a:lnTo>
                    <a:pt x="101102" y="725190"/>
                  </a:lnTo>
                  <a:lnTo>
                    <a:pt x="67163" y="697188"/>
                  </a:lnTo>
                  <a:lnTo>
                    <a:pt x="39162" y="663249"/>
                  </a:lnTo>
                  <a:lnTo>
                    <a:pt x="18020" y="624295"/>
                  </a:lnTo>
                  <a:lnTo>
                    <a:pt x="4658" y="581247"/>
                  </a:lnTo>
                  <a:lnTo>
                    <a:pt x="0" y="535027"/>
                  </a:lnTo>
                  <a:lnTo>
                    <a:pt x="0" y="229324"/>
                  </a:lnTo>
                  <a:lnTo>
                    <a:pt x="4658" y="183105"/>
                  </a:lnTo>
                  <a:lnTo>
                    <a:pt x="18020" y="140057"/>
                  </a:lnTo>
                  <a:lnTo>
                    <a:pt x="39162" y="101102"/>
                  </a:lnTo>
                  <a:lnTo>
                    <a:pt x="67164" y="67164"/>
                  </a:lnTo>
                  <a:lnTo>
                    <a:pt x="101103" y="39162"/>
                  </a:lnTo>
                  <a:lnTo>
                    <a:pt x="140057" y="18020"/>
                  </a:lnTo>
                  <a:lnTo>
                    <a:pt x="183105" y="4658"/>
                  </a:lnTo>
                  <a:lnTo>
                    <a:pt x="229324" y="0"/>
                  </a:lnTo>
                  <a:lnTo>
                    <a:pt x="1976117" y="0"/>
                  </a:lnTo>
                  <a:lnTo>
                    <a:pt x="2022336" y="4658"/>
                  </a:lnTo>
                  <a:lnTo>
                    <a:pt x="2065384" y="18020"/>
                  </a:lnTo>
                  <a:lnTo>
                    <a:pt x="2104338" y="39162"/>
                  </a:lnTo>
                  <a:lnTo>
                    <a:pt x="2138277" y="67164"/>
                  </a:lnTo>
                  <a:lnTo>
                    <a:pt x="2166279" y="101102"/>
                  </a:lnTo>
                  <a:lnTo>
                    <a:pt x="2187421" y="140057"/>
                  </a:lnTo>
                  <a:lnTo>
                    <a:pt x="2200783" y="183105"/>
                  </a:lnTo>
                  <a:lnTo>
                    <a:pt x="2205442" y="229324"/>
                  </a:lnTo>
                  <a:lnTo>
                    <a:pt x="2205442" y="535027"/>
                  </a:lnTo>
                  <a:lnTo>
                    <a:pt x="2200783" y="581247"/>
                  </a:lnTo>
                  <a:lnTo>
                    <a:pt x="2187422" y="624295"/>
                  </a:lnTo>
                  <a:lnTo>
                    <a:pt x="2166279" y="663249"/>
                  </a:lnTo>
                  <a:lnTo>
                    <a:pt x="2138278" y="697188"/>
                  </a:lnTo>
                  <a:lnTo>
                    <a:pt x="2104339" y="725190"/>
                  </a:lnTo>
                  <a:lnTo>
                    <a:pt x="2065384" y="746332"/>
                  </a:lnTo>
                  <a:lnTo>
                    <a:pt x="2022336" y="759694"/>
                  </a:lnTo>
                  <a:lnTo>
                    <a:pt x="1999461" y="761999"/>
                  </a:lnTo>
                </a:path>
              </a:pathLst>
            </a:custGeom>
            <a:ln w="19064">
              <a:solidFill>
                <a:srgbClr val="00D4A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3978881" y="7395464"/>
            <a:ext cx="827405" cy="605155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59"/>
              </a:spcBef>
            </a:pPr>
            <a:r>
              <a:rPr dirty="0" sz="2400" spc="-20" b="1">
                <a:solidFill>
                  <a:srgbClr val="00D4AA"/>
                </a:solidFill>
                <a:latin typeface="Calibri"/>
                <a:cs typeface="Calibri"/>
              </a:rPr>
              <a:t>24/7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80"/>
              </a:spcBef>
            </a:pPr>
            <a:r>
              <a:rPr dirty="0" sz="1200" spc="-10">
                <a:solidFill>
                  <a:srgbClr val="8B8FA2"/>
                </a:solidFill>
                <a:latin typeface="Calibri"/>
                <a:cs typeface="Calibri"/>
              </a:rPr>
              <a:t>Autonomous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751085" y="7398136"/>
            <a:ext cx="2225040" cy="781685"/>
            <a:chOff x="5751085" y="7398136"/>
            <a:chExt cx="2225040" cy="781685"/>
          </a:xfrm>
        </p:grpSpPr>
        <p:sp>
          <p:nvSpPr>
            <p:cNvPr id="15" name="object 15"/>
            <p:cNvSpPr/>
            <p:nvPr/>
          </p:nvSpPr>
          <p:spPr>
            <a:xfrm>
              <a:off x="5760452" y="7407668"/>
              <a:ext cx="2205990" cy="764540"/>
            </a:xfrm>
            <a:custGeom>
              <a:avLst/>
              <a:gdLst/>
              <a:ahLst/>
              <a:cxnLst/>
              <a:rect l="l" t="t" r="r" b="b"/>
              <a:pathLst>
                <a:path w="2205990" h="764540">
                  <a:moveTo>
                    <a:pt x="1976437" y="764476"/>
                  </a:moveTo>
                  <a:lnTo>
                    <a:pt x="229361" y="764476"/>
                  </a:lnTo>
                  <a:lnTo>
                    <a:pt x="183134" y="759817"/>
                  </a:lnTo>
                  <a:lnTo>
                    <a:pt x="140079" y="746453"/>
                  </a:lnTo>
                  <a:lnTo>
                    <a:pt x="101119" y="725307"/>
                  </a:lnTo>
                  <a:lnTo>
                    <a:pt x="67175" y="697301"/>
                  </a:lnTo>
                  <a:lnTo>
                    <a:pt x="39168" y="663357"/>
                  </a:lnTo>
                  <a:lnTo>
                    <a:pt x="18023" y="624396"/>
                  </a:lnTo>
                  <a:lnTo>
                    <a:pt x="4659" y="581341"/>
                  </a:lnTo>
                  <a:lnTo>
                    <a:pt x="0" y="535114"/>
                  </a:lnTo>
                  <a:lnTo>
                    <a:pt x="0" y="229361"/>
                  </a:lnTo>
                  <a:lnTo>
                    <a:pt x="4659" y="183134"/>
                  </a:lnTo>
                  <a:lnTo>
                    <a:pt x="18023" y="140079"/>
                  </a:lnTo>
                  <a:lnTo>
                    <a:pt x="39168" y="101119"/>
                  </a:lnTo>
                  <a:lnTo>
                    <a:pt x="67175" y="67175"/>
                  </a:lnTo>
                  <a:lnTo>
                    <a:pt x="101119" y="39168"/>
                  </a:lnTo>
                  <a:lnTo>
                    <a:pt x="140079" y="18023"/>
                  </a:lnTo>
                  <a:lnTo>
                    <a:pt x="183134" y="4659"/>
                  </a:lnTo>
                  <a:lnTo>
                    <a:pt x="229361" y="0"/>
                  </a:lnTo>
                  <a:lnTo>
                    <a:pt x="1976437" y="0"/>
                  </a:lnTo>
                  <a:lnTo>
                    <a:pt x="2022664" y="4659"/>
                  </a:lnTo>
                  <a:lnTo>
                    <a:pt x="2065719" y="18023"/>
                  </a:lnTo>
                  <a:lnTo>
                    <a:pt x="2104679" y="39168"/>
                  </a:lnTo>
                  <a:lnTo>
                    <a:pt x="2138624" y="67175"/>
                  </a:lnTo>
                  <a:lnTo>
                    <a:pt x="2166630" y="101119"/>
                  </a:lnTo>
                  <a:lnTo>
                    <a:pt x="2187776" y="140079"/>
                  </a:lnTo>
                  <a:lnTo>
                    <a:pt x="2201139" y="183134"/>
                  </a:lnTo>
                  <a:lnTo>
                    <a:pt x="2205799" y="229361"/>
                  </a:lnTo>
                  <a:lnTo>
                    <a:pt x="2205799" y="535114"/>
                  </a:lnTo>
                  <a:lnTo>
                    <a:pt x="2201139" y="581341"/>
                  </a:lnTo>
                  <a:lnTo>
                    <a:pt x="2187776" y="624396"/>
                  </a:lnTo>
                  <a:lnTo>
                    <a:pt x="2166630" y="663357"/>
                  </a:lnTo>
                  <a:lnTo>
                    <a:pt x="2138624" y="697301"/>
                  </a:lnTo>
                  <a:lnTo>
                    <a:pt x="2104679" y="725307"/>
                  </a:lnTo>
                  <a:lnTo>
                    <a:pt x="2065719" y="746453"/>
                  </a:lnTo>
                  <a:lnTo>
                    <a:pt x="2022664" y="759817"/>
                  </a:lnTo>
                  <a:lnTo>
                    <a:pt x="1976437" y="764476"/>
                  </a:lnTo>
                  <a:close/>
                </a:path>
              </a:pathLst>
            </a:custGeom>
            <a:solidFill>
              <a:srgbClr val="1313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760617" y="7407668"/>
              <a:ext cx="2205990" cy="762000"/>
            </a:xfrm>
            <a:custGeom>
              <a:avLst/>
              <a:gdLst/>
              <a:ahLst/>
              <a:cxnLst/>
              <a:rect l="l" t="t" r="r" b="b"/>
              <a:pathLst>
                <a:path w="2205990" h="762000">
                  <a:moveTo>
                    <a:pt x="205979" y="761999"/>
                  </a:moveTo>
                  <a:lnTo>
                    <a:pt x="140057" y="746332"/>
                  </a:lnTo>
                  <a:lnTo>
                    <a:pt x="101102" y="725190"/>
                  </a:lnTo>
                  <a:lnTo>
                    <a:pt x="67164" y="697188"/>
                  </a:lnTo>
                  <a:lnTo>
                    <a:pt x="39162" y="663249"/>
                  </a:lnTo>
                  <a:lnTo>
                    <a:pt x="18020" y="624295"/>
                  </a:lnTo>
                  <a:lnTo>
                    <a:pt x="4658" y="581247"/>
                  </a:lnTo>
                  <a:lnTo>
                    <a:pt x="0" y="535027"/>
                  </a:lnTo>
                  <a:lnTo>
                    <a:pt x="0" y="229324"/>
                  </a:lnTo>
                  <a:lnTo>
                    <a:pt x="4658" y="183104"/>
                  </a:lnTo>
                  <a:lnTo>
                    <a:pt x="18020" y="140057"/>
                  </a:lnTo>
                  <a:lnTo>
                    <a:pt x="39162" y="101102"/>
                  </a:lnTo>
                  <a:lnTo>
                    <a:pt x="67164" y="67163"/>
                  </a:lnTo>
                  <a:lnTo>
                    <a:pt x="101103" y="39162"/>
                  </a:lnTo>
                  <a:lnTo>
                    <a:pt x="140057" y="18020"/>
                  </a:lnTo>
                  <a:lnTo>
                    <a:pt x="183105" y="4658"/>
                  </a:lnTo>
                  <a:lnTo>
                    <a:pt x="229325" y="0"/>
                  </a:lnTo>
                  <a:lnTo>
                    <a:pt x="1976117" y="0"/>
                  </a:lnTo>
                  <a:lnTo>
                    <a:pt x="2022337" y="4658"/>
                  </a:lnTo>
                  <a:lnTo>
                    <a:pt x="2065384" y="18020"/>
                  </a:lnTo>
                  <a:lnTo>
                    <a:pt x="2104339" y="39162"/>
                  </a:lnTo>
                  <a:lnTo>
                    <a:pt x="2138277" y="67164"/>
                  </a:lnTo>
                  <a:lnTo>
                    <a:pt x="2166279" y="101103"/>
                  </a:lnTo>
                  <a:lnTo>
                    <a:pt x="2187421" y="140057"/>
                  </a:lnTo>
                  <a:lnTo>
                    <a:pt x="2200783" y="183105"/>
                  </a:lnTo>
                  <a:lnTo>
                    <a:pt x="2205441" y="229324"/>
                  </a:lnTo>
                  <a:lnTo>
                    <a:pt x="2205441" y="535027"/>
                  </a:lnTo>
                  <a:lnTo>
                    <a:pt x="2200783" y="581247"/>
                  </a:lnTo>
                  <a:lnTo>
                    <a:pt x="2187421" y="624295"/>
                  </a:lnTo>
                  <a:lnTo>
                    <a:pt x="2166279" y="663249"/>
                  </a:lnTo>
                  <a:lnTo>
                    <a:pt x="2138278" y="697188"/>
                  </a:lnTo>
                  <a:lnTo>
                    <a:pt x="2104339" y="725190"/>
                  </a:lnTo>
                  <a:lnTo>
                    <a:pt x="2065385" y="746332"/>
                  </a:lnTo>
                  <a:lnTo>
                    <a:pt x="2022337" y="759694"/>
                  </a:lnTo>
                  <a:lnTo>
                    <a:pt x="1999462" y="761999"/>
                  </a:lnTo>
                </a:path>
              </a:pathLst>
            </a:custGeom>
            <a:ln w="19064">
              <a:solidFill>
                <a:srgbClr val="00D4A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6544201" y="7395464"/>
            <a:ext cx="638810" cy="605155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88265">
              <a:lnSpc>
                <a:spcPct val="100000"/>
              </a:lnSpc>
              <a:spcBef>
                <a:spcPts val="259"/>
              </a:spcBef>
            </a:pPr>
            <a:r>
              <a:rPr dirty="0" sz="2400" spc="-25" b="1">
                <a:solidFill>
                  <a:srgbClr val="00D4AA"/>
                </a:solidFill>
                <a:latin typeface="Calibri"/>
                <a:cs typeface="Calibri"/>
              </a:rPr>
              <a:t>10+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1200" spc="-10">
                <a:solidFill>
                  <a:srgbClr val="8B8FA2"/>
                </a:solidFill>
                <a:latin typeface="Calibri"/>
                <a:cs typeface="Calibri"/>
              </a:rPr>
              <a:t>Industries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221899" y="7398136"/>
            <a:ext cx="2225040" cy="781685"/>
            <a:chOff x="8221899" y="7398136"/>
            <a:chExt cx="2225040" cy="781685"/>
          </a:xfrm>
        </p:grpSpPr>
        <p:sp>
          <p:nvSpPr>
            <p:cNvPr id="19" name="object 19"/>
            <p:cNvSpPr/>
            <p:nvPr/>
          </p:nvSpPr>
          <p:spPr>
            <a:xfrm>
              <a:off x="8231266" y="7407668"/>
              <a:ext cx="2205990" cy="764540"/>
            </a:xfrm>
            <a:custGeom>
              <a:avLst/>
              <a:gdLst/>
              <a:ahLst/>
              <a:cxnLst/>
              <a:rect l="l" t="t" r="r" b="b"/>
              <a:pathLst>
                <a:path w="2205990" h="764540">
                  <a:moveTo>
                    <a:pt x="1976437" y="764476"/>
                  </a:moveTo>
                  <a:lnTo>
                    <a:pt x="229361" y="764476"/>
                  </a:lnTo>
                  <a:lnTo>
                    <a:pt x="183134" y="759817"/>
                  </a:lnTo>
                  <a:lnTo>
                    <a:pt x="140079" y="746453"/>
                  </a:lnTo>
                  <a:lnTo>
                    <a:pt x="101119" y="725307"/>
                  </a:lnTo>
                  <a:lnTo>
                    <a:pt x="67175" y="697301"/>
                  </a:lnTo>
                  <a:lnTo>
                    <a:pt x="39168" y="663357"/>
                  </a:lnTo>
                  <a:lnTo>
                    <a:pt x="18023" y="624396"/>
                  </a:lnTo>
                  <a:lnTo>
                    <a:pt x="4659" y="581341"/>
                  </a:lnTo>
                  <a:lnTo>
                    <a:pt x="0" y="535114"/>
                  </a:lnTo>
                  <a:lnTo>
                    <a:pt x="0" y="229361"/>
                  </a:lnTo>
                  <a:lnTo>
                    <a:pt x="4659" y="183134"/>
                  </a:lnTo>
                  <a:lnTo>
                    <a:pt x="18023" y="140079"/>
                  </a:lnTo>
                  <a:lnTo>
                    <a:pt x="39168" y="101119"/>
                  </a:lnTo>
                  <a:lnTo>
                    <a:pt x="67175" y="67175"/>
                  </a:lnTo>
                  <a:lnTo>
                    <a:pt x="101119" y="39168"/>
                  </a:lnTo>
                  <a:lnTo>
                    <a:pt x="140079" y="18023"/>
                  </a:lnTo>
                  <a:lnTo>
                    <a:pt x="183134" y="4659"/>
                  </a:lnTo>
                  <a:lnTo>
                    <a:pt x="229361" y="0"/>
                  </a:lnTo>
                  <a:lnTo>
                    <a:pt x="1976437" y="0"/>
                  </a:lnTo>
                  <a:lnTo>
                    <a:pt x="2022664" y="4659"/>
                  </a:lnTo>
                  <a:lnTo>
                    <a:pt x="2065719" y="18023"/>
                  </a:lnTo>
                  <a:lnTo>
                    <a:pt x="2104679" y="39168"/>
                  </a:lnTo>
                  <a:lnTo>
                    <a:pt x="2138624" y="67175"/>
                  </a:lnTo>
                  <a:lnTo>
                    <a:pt x="2166630" y="101119"/>
                  </a:lnTo>
                  <a:lnTo>
                    <a:pt x="2187776" y="140079"/>
                  </a:lnTo>
                  <a:lnTo>
                    <a:pt x="2201139" y="183134"/>
                  </a:lnTo>
                  <a:lnTo>
                    <a:pt x="2205799" y="229361"/>
                  </a:lnTo>
                  <a:lnTo>
                    <a:pt x="2205799" y="535114"/>
                  </a:lnTo>
                  <a:lnTo>
                    <a:pt x="2201139" y="581341"/>
                  </a:lnTo>
                  <a:lnTo>
                    <a:pt x="2187776" y="624396"/>
                  </a:lnTo>
                  <a:lnTo>
                    <a:pt x="2166630" y="663357"/>
                  </a:lnTo>
                  <a:lnTo>
                    <a:pt x="2138624" y="697301"/>
                  </a:lnTo>
                  <a:lnTo>
                    <a:pt x="2104679" y="725307"/>
                  </a:lnTo>
                  <a:lnTo>
                    <a:pt x="2065719" y="746453"/>
                  </a:lnTo>
                  <a:lnTo>
                    <a:pt x="2022664" y="759817"/>
                  </a:lnTo>
                  <a:lnTo>
                    <a:pt x="1976437" y="764476"/>
                  </a:lnTo>
                  <a:close/>
                </a:path>
              </a:pathLst>
            </a:custGeom>
            <a:solidFill>
              <a:srgbClr val="1313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8231432" y="7407668"/>
              <a:ext cx="2205990" cy="762000"/>
            </a:xfrm>
            <a:custGeom>
              <a:avLst/>
              <a:gdLst/>
              <a:ahLst/>
              <a:cxnLst/>
              <a:rect l="l" t="t" r="r" b="b"/>
              <a:pathLst>
                <a:path w="2205990" h="762000">
                  <a:moveTo>
                    <a:pt x="205979" y="761999"/>
                  </a:moveTo>
                  <a:lnTo>
                    <a:pt x="140056" y="746332"/>
                  </a:lnTo>
                  <a:lnTo>
                    <a:pt x="101102" y="725189"/>
                  </a:lnTo>
                  <a:lnTo>
                    <a:pt x="67163" y="697188"/>
                  </a:lnTo>
                  <a:lnTo>
                    <a:pt x="39162" y="663249"/>
                  </a:lnTo>
                  <a:lnTo>
                    <a:pt x="18020" y="624295"/>
                  </a:lnTo>
                  <a:lnTo>
                    <a:pt x="4658" y="581247"/>
                  </a:lnTo>
                  <a:lnTo>
                    <a:pt x="0" y="535027"/>
                  </a:lnTo>
                  <a:lnTo>
                    <a:pt x="0" y="229324"/>
                  </a:lnTo>
                  <a:lnTo>
                    <a:pt x="4658" y="183105"/>
                  </a:lnTo>
                  <a:lnTo>
                    <a:pt x="18020" y="140057"/>
                  </a:lnTo>
                  <a:lnTo>
                    <a:pt x="39162" y="101103"/>
                  </a:lnTo>
                  <a:lnTo>
                    <a:pt x="67164" y="67164"/>
                  </a:lnTo>
                  <a:lnTo>
                    <a:pt x="101102" y="39162"/>
                  </a:lnTo>
                  <a:lnTo>
                    <a:pt x="140057" y="18020"/>
                  </a:lnTo>
                  <a:lnTo>
                    <a:pt x="183104" y="4658"/>
                  </a:lnTo>
                  <a:lnTo>
                    <a:pt x="229324" y="0"/>
                  </a:lnTo>
                  <a:lnTo>
                    <a:pt x="1976116" y="0"/>
                  </a:lnTo>
                  <a:lnTo>
                    <a:pt x="2022336" y="4658"/>
                  </a:lnTo>
                  <a:lnTo>
                    <a:pt x="2065384" y="18019"/>
                  </a:lnTo>
                  <a:lnTo>
                    <a:pt x="2104338" y="39162"/>
                  </a:lnTo>
                  <a:lnTo>
                    <a:pt x="2138277" y="67163"/>
                  </a:lnTo>
                  <a:lnTo>
                    <a:pt x="2166279" y="101102"/>
                  </a:lnTo>
                  <a:lnTo>
                    <a:pt x="2187421" y="140057"/>
                  </a:lnTo>
                  <a:lnTo>
                    <a:pt x="2200783" y="183104"/>
                  </a:lnTo>
                  <a:lnTo>
                    <a:pt x="2205442" y="229324"/>
                  </a:lnTo>
                  <a:lnTo>
                    <a:pt x="2205442" y="535027"/>
                  </a:lnTo>
                  <a:lnTo>
                    <a:pt x="2200783" y="581247"/>
                  </a:lnTo>
                  <a:lnTo>
                    <a:pt x="2187421" y="624295"/>
                  </a:lnTo>
                  <a:lnTo>
                    <a:pt x="2166279" y="663249"/>
                  </a:lnTo>
                  <a:lnTo>
                    <a:pt x="2138277" y="697188"/>
                  </a:lnTo>
                  <a:lnTo>
                    <a:pt x="2104338" y="725190"/>
                  </a:lnTo>
                  <a:lnTo>
                    <a:pt x="2065384" y="746332"/>
                  </a:lnTo>
                  <a:lnTo>
                    <a:pt x="2022336" y="759694"/>
                  </a:lnTo>
                  <a:lnTo>
                    <a:pt x="1999462" y="761999"/>
                  </a:lnTo>
                </a:path>
              </a:pathLst>
            </a:custGeom>
            <a:ln w="19064">
              <a:solidFill>
                <a:srgbClr val="00D4A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8850857" y="7395464"/>
            <a:ext cx="966469" cy="605155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59"/>
              </a:spcBef>
            </a:pPr>
            <a:r>
              <a:rPr dirty="0" sz="2400" spc="-10" b="1">
                <a:solidFill>
                  <a:srgbClr val="00D4AA"/>
                </a:solidFill>
                <a:latin typeface="Calibri"/>
                <a:cs typeface="Calibri"/>
              </a:rPr>
              <a:t>$200B+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80"/>
              </a:spcBef>
            </a:pPr>
            <a:r>
              <a:rPr dirty="0" sz="1200" spc="-25">
                <a:solidFill>
                  <a:srgbClr val="8B8FA2"/>
                </a:solidFill>
                <a:latin typeface="Calibri"/>
                <a:cs typeface="Calibri"/>
              </a:rPr>
              <a:t>TAM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530550" y="4170926"/>
            <a:ext cx="829310" cy="570230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170180" marR="5080" indent="-158115">
              <a:lnSpc>
                <a:spcPts val="2110"/>
              </a:lnSpc>
              <a:spcBef>
                <a:spcPts val="220"/>
              </a:spcBef>
            </a:pPr>
            <a:r>
              <a:rPr dirty="0" sz="1800" spc="-10">
                <a:solidFill>
                  <a:srgbClr val="00D4AA"/>
                </a:solidFill>
                <a:latin typeface="Calibri"/>
                <a:cs typeface="Calibri"/>
              </a:rPr>
              <a:t>Business Brain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3284987" y="1456676"/>
            <a:ext cx="1320800" cy="1320800"/>
            <a:chOff x="13284987" y="1456676"/>
            <a:chExt cx="1320800" cy="1320800"/>
          </a:xfrm>
        </p:grpSpPr>
        <p:sp>
          <p:nvSpPr>
            <p:cNvPr id="24" name="object 24"/>
            <p:cNvSpPr/>
            <p:nvPr/>
          </p:nvSpPr>
          <p:spPr>
            <a:xfrm>
              <a:off x="13294520" y="1466208"/>
              <a:ext cx="1301750" cy="1301750"/>
            </a:xfrm>
            <a:custGeom>
              <a:avLst/>
              <a:gdLst/>
              <a:ahLst/>
              <a:cxnLst/>
              <a:rect l="l" t="t" r="r" b="b"/>
              <a:pathLst>
                <a:path w="1301750" h="1301750">
                  <a:moveTo>
                    <a:pt x="650816" y="1301631"/>
                  </a:moveTo>
                  <a:lnTo>
                    <a:pt x="602250" y="1299846"/>
                  </a:lnTo>
                  <a:lnTo>
                    <a:pt x="554653" y="1294574"/>
                  </a:lnTo>
                  <a:lnTo>
                    <a:pt x="508150" y="1285941"/>
                  </a:lnTo>
                  <a:lnTo>
                    <a:pt x="462867" y="1274073"/>
                  </a:lnTo>
                  <a:lnTo>
                    <a:pt x="418931" y="1259096"/>
                  </a:lnTo>
                  <a:lnTo>
                    <a:pt x="376467" y="1241136"/>
                  </a:lnTo>
                  <a:lnTo>
                    <a:pt x="335601" y="1220318"/>
                  </a:lnTo>
                  <a:lnTo>
                    <a:pt x="296459" y="1196770"/>
                  </a:lnTo>
                  <a:lnTo>
                    <a:pt x="259166" y="1170616"/>
                  </a:lnTo>
                  <a:lnTo>
                    <a:pt x="223850" y="1141982"/>
                  </a:lnTo>
                  <a:lnTo>
                    <a:pt x="190635" y="1110995"/>
                  </a:lnTo>
                  <a:lnTo>
                    <a:pt x="159648" y="1077781"/>
                  </a:lnTo>
                  <a:lnTo>
                    <a:pt x="131015" y="1042464"/>
                  </a:lnTo>
                  <a:lnTo>
                    <a:pt x="104861" y="1005172"/>
                  </a:lnTo>
                  <a:lnTo>
                    <a:pt x="81312" y="966030"/>
                  </a:lnTo>
                  <a:lnTo>
                    <a:pt x="60495" y="925164"/>
                  </a:lnTo>
                  <a:lnTo>
                    <a:pt x="42535" y="882700"/>
                  </a:lnTo>
                  <a:lnTo>
                    <a:pt x="27558" y="838764"/>
                  </a:lnTo>
                  <a:lnTo>
                    <a:pt x="15690" y="793481"/>
                  </a:lnTo>
                  <a:lnTo>
                    <a:pt x="7057" y="746978"/>
                  </a:lnTo>
                  <a:lnTo>
                    <a:pt x="1785" y="699381"/>
                  </a:lnTo>
                  <a:lnTo>
                    <a:pt x="0" y="650815"/>
                  </a:lnTo>
                  <a:lnTo>
                    <a:pt x="1785" y="602250"/>
                  </a:lnTo>
                  <a:lnTo>
                    <a:pt x="7057" y="554652"/>
                  </a:lnTo>
                  <a:lnTo>
                    <a:pt x="15690" y="508149"/>
                  </a:lnTo>
                  <a:lnTo>
                    <a:pt x="27558" y="462867"/>
                  </a:lnTo>
                  <a:lnTo>
                    <a:pt x="42535" y="418931"/>
                  </a:lnTo>
                  <a:lnTo>
                    <a:pt x="60495" y="376467"/>
                  </a:lnTo>
                  <a:lnTo>
                    <a:pt x="81312" y="335600"/>
                  </a:lnTo>
                  <a:lnTo>
                    <a:pt x="104861" y="296458"/>
                  </a:lnTo>
                  <a:lnTo>
                    <a:pt x="131015" y="259166"/>
                  </a:lnTo>
                  <a:lnTo>
                    <a:pt x="159648" y="223850"/>
                  </a:lnTo>
                  <a:lnTo>
                    <a:pt x="190635" y="190635"/>
                  </a:lnTo>
                  <a:lnTo>
                    <a:pt x="223850" y="159648"/>
                  </a:lnTo>
                  <a:lnTo>
                    <a:pt x="259166" y="131015"/>
                  </a:lnTo>
                  <a:lnTo>
                    <a:pt x="296459" y="104861"/>
                  </a:lnTo>
                  <a:lnTo>
                    <a:pt x="335601" y="81312"/>
                  </a:lnTo>
                  <a:lnTo>
                    <a:pt x="376467" y="60495"/>
                  </a:lnTo>
                  <a:lnTo>
                    <a:pt x="418931" y="42535"/>
                  </a:lnTo>
                  <a:lnTo>
                    <a:pt x="462867" y="27558"/>
                  </a:lnTo>
                  <a:lnTo>
                    <a:pt x="508150" y="15690"/>
                  </a:lnTo>
                  <a:lnTo>
                    <a:pt x="554653" y="7057"/>
                  </a:lnTo>
                  <a:lnTo>
                    <a:pt x="602250" y="1785"/>
                  </a:lnTo>
                  <a:lnTo>
                    <a:pt x="650816" y="0"/>
                  </a:lnTo>
                  <a:lnTo>
                    <a:pt x="699382" y="1785"/>
                  </a:lnTo>
                  <a:lnTo>
                    <a:pt x="746979" y="7057"/>
                  </a:lnTo>
                  <a:lnTo>
                    <a:pt x="793482" y="15690"/>
                  </a:lnTo>
                  <a:lnTo>
                    <a:pt x="838764" y="27558"/>
                  </a:lnTo>
                  <a:lnTo>
                    <a:pt x="882700" y="42535"/>
                  </a:lnTo>
                  <a:lnTo>
                    <a:pt x="925164" y="60495"/>
                  </a:lnTo>
                  <a:lnTo>
                    <a:pt x="966030" y="81312"/>
                  </a:lnTo>
                  <a:lnTo>
                    <a:pt x="1005172" y="104861"/>
                  </a:lnTo>
                  <a:lnTo>
                    <a:pt x="1042464" y="131015"/>
                  </a:lnTo>
                  <a:lnTo>
                    <a:pt x="1077781" y="159648"/>
                  </a:lnTo>
                  <a:lnTo>
                    <a:pt x="1110995" y="190635"/>
                  </a:lnTo>
                  <a:lnTo>
                    <a:pt x="1141982" y="223850"/>
                  </a:lnTo>
                  <a:lnTo>
                    <a:pt x="1170616" y="259166"/>
                  </a:lnTo>
                  <a:lnTo>
                    <a:pt x="1196770" y="296458"/>
                  </a:lnTo>
                  <a:lnTo>
                    <a:pt x="1220318" y="335600"/>
                  </a:lnTo>
                  <a:lnTo>
                    <a:pt x="1241136" y="376467"/>
                  </a:lnTo>
                  <a:lnTo>
                    <a:pt x="1259096" y="418931"/>
                  </a:lnTo>
                  <a:lnTo>
                    <a:pt x="1274073" y="462867"/>
                  </a:lnTo>
                  <a:lnTo>
                    <a:pt x="1285941" y="508149"/>
                  </a:lnTo>
                  <a:lnTo>
                    <a:pt x="1294574" y="554652"/>
                  </a:lnTo>
                  <a:lnTo>
                    <a:pt x="1299846" y="602250"/>
                  </a:lnTo>
                  <a:lnTo>
                    <a:pt x="1301631" y="650815"/>
                  </a:lnTo>
                  <a:lnTo>
                    <a:pt x="1299846" y="699381"/>
                  </a:lnTo>
                  <a:lnTo>
                    <a:pt x="1294574" y="746978"/>
                  </a:lnTo>
                  <a:lnTo>
                    <a:pt x="1285941" y="793481"/>
                  </a:lnTo>
                  <a:lnTo>
                    <a:pt x="1274073" y="838764"/>
                  </a:lnTo>
                  <a:lnTo>
                    <a:pt x="1259096" y="882700"/>
                  </a:lnTo>
                  <a:lnTo>
                    <a:pt x="1241136" y="925164"/>
                  </a:lnTo>
                  <a:lnTo>
                    <a:pt x="1220318" y="966030"/>
                  </a:lnTo>
                  <a:lnTo>
                    <a:pt x="1196770" y="1005172"/>
                  </a:lnTo>
                  <a:lnTo>
                    <a:pt x="1170616" y="1042464"/>
                  </a:lnTo>
                  <a:lnTo>
                    <a:pt x="1141982" y="1077781"/>
                  </a:lnTo>
                  <a:lnTo>
                    <a:pt x="1110995" y="1110995"/>
                  </a:lnTo>
                  <a:lnTo>
                    <a:pt x="1077781" y="1141982"/>
                  </a:lnTo>
                  <a:lnTo>
                    <a:pt x="1042464" y="1170616"/>
                  </a:lnTo>
                  <a:lnTo>
                    <a:pt x="1005172" y="1196770"/>
                  </a:lnTo>
                  <a:lnTo>
                    <a:pt x="966030" y="1220318"/>
                  </a:lnTo>
                  <a:lnTo>
                    <a:pt x="925164" y="1241136"/>
                  </a:lnTo>
                  <a:lnTo>
                    <a:pt x="882700" y="1259096"/>
                  </a:lnTo>
                  <a:lnTo>
                    <a:pt x="838764" y="1274073"/>
                  </a:lnTo>
                  <a:lnTo>
                    <a:pt x="793482" y="1285941"/>
                  </a:lnTo>
                  <a:lnTo>
                    <a:pt x="746979" y="1294574"/>
                  </a:lnTo>
                  <a:lnTo>
                    <a:pt x="699382" y="1299846"/>
                  </a:lnTo>
                  <a:lnTo>
                    <a:pt x="650816" y="1301631"/>
                  </a:lnTo>
                  <a:close/>
                </a:path>
              </a:pathLst>
            </a:custGeom>
            <a:solidFill>
              <a:srgbClr val="1313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3294519" y="1466208"/>
              <a:ext cx="1301750" cy="1301750"/>
            </a:xfrm>
            <a:custGeom>
              <a:avLst/>
              <a:gdLst/>
              <a:ahLst/>
              <a:cxnLst/>
              <a:rect l="l" t="t" r="r" b="b"/>
              <a:pathLst>
                <a:path w="1301750" h="1301750">
                  <a:moveTo>
                    <a:pt x="0" y="650750"/>
                  </a:moveTo>
                  <a:lnTo>
                    <a:pt x="1785" y="602189"/>
                  </a:lnTo>
                  <a:lnTo>
                    <a:pt x="7056" y="554597"/>
                  </a:lnTo>
                  <a:lnTo>
                    <a:pt x="15688" y="508099"/>
                  </a:lnTo>
                  <a:lnTo>
                    <a:pt x="27555" y="462821"/>
                  </a:lnTo>
                  <a:lnTo>
                    <a:pt x="42531" y="418889"/>
                  </a:lnTo>
                  <a:lnTo>
                    <a:pt x="60489" y="376429"/>
                  </a:lnTo>
                  <a:lnTo>
                    <a:pt x="81304" y="335567"/>
                  </a:lnTo>
                  <a:lnTo>
                    <a:pt x="104851" y="296429"/>
                  </a:lnTo>
                  <a:lnTo>
                    <a:pt x="131002" y="259141"/>
                  </a:lnTo>
                  <a:lnTo>
                    <a:pt x="159632" y="223828"/>
                  </a:lnTo>
                  <a:lnTo>
                    <a:pt x="190616" y="190617"/>
                  </a:lnTo>
                  <a:lnTo>
                    <a:pt x="223828" y="159633"/>
                  </a:lnTo>
                  <a:lnTo>
                    <a:pt x="259140" y="131002"/>
                  </a:lnTo>
                  <a:lnTo>
                    <a:pt x="296429" y="104851"/>
                  </a:lnTo>
                  <a:lnTo>
                    <a:pt x="335567" y="81304"/>
                  </a:lnTo>
                  <a:lnTo>
                    <a:pt x="376429" y="60489"/>
                  </a:lnTo>
                  <a:lnTo>
                    <a:pt x="418889" y="42531"/>
                  </a:lnTo>
                  <a:lnTo>
                    <a:pt x="462821" y="27555"/>
                  </a:lnTo>
                  <a:lnTo>
                    <a:pt x="508099" y="15689"/>
                  </a:lnTo>
                  <a:lnTo>
                    <a:pt x="554597" y="7056"/>
                  </a:lnTo>
                  <a:lnTo>
                    <a:pt x="602189" y="1785"/>
                  </a:lnTo>
                  <a:lnTo>
                    <a:pt x="650750" y="0"/>
                  </a:lnTo>
                  <a:lnTo>
                    <a:pt x="699311" y="1785"/>
                  </a:lnTo>
                  <a:lnTo>
                    <a:pt x="746904" y="7056"/>
                  </a:lnTo>
                  <a:lnTo>
                    <a:pt x="793402" y="15688"/>
                  </a:lnTo>
                  <a:lnTo>
                    <a:pt x="838680" y="27555"/>
                  </a:lnTo>
                  <a:lnTo>
                    <a:pt x="882612" y="42531"/>
                  </a:lnTo>
                  <a:lnTo>
                    <a:pt x="925072" y="60489"/>
                  </a:lnTo>
                  <a:lnTo>
                    <a:pt x="965934" y="81304"/>
                  </a:lnTo>
                  <a:lnTo>
                    <a:pt x="1005072" y="104850"/>
                  </a:lnTo>
                  <a:lnTo>
                    <a:pt x="1042360" y="131002"/>
                  </a:lnTo>
                  <a:lnTo>
                    <a:pt x="1077673" y="159632"/>
                  </a:lnTo>
                  <a:lnTo>
                    <a:pt x="1110884" y="190616"/>
                  </a:lnTo>
                  <a:lnTo>
                    <a:pt x="1141868" y="223827"/>
                  </a:lnTo>
                  <a:lnTo>
                    <a:pt x="1170499" y="259140"/>
                  </a:lnTo>
                  <a:lnTo>
                    <a:pt x="1196650" y="296429"/>
                  </a:lnTo>
                  <a:lnTo>
                    <a:pt x="1220197" y="335567"/>
                  </a:lnTo>
                  <a:lnTo>
                    <a:pt x="1241012" y="376429"/>
                  </a:lnTo>
                  <a:lnTo>
                    <a:pt x="1258970" y="418889"/>
                  </a:lnTo>
                  <a:lnTo>
                    <a:pt x="1273946" y="462821"/>
                  </a:lnTo>
                  <a:lnTo>
                    <a:pt x="1285813" y="508099"/>
                  </a:lnTo>
                  <a:lnTo>
                    <a:pt x="1294445" y="554597"/>
                  </a:lnTo>
                  <a:lnTo>
                    <a:pt x="1299716" y="602189"/>
                  </a:lnTo>
                  <a:lnTo>
                    <a:pt x="1301502" y="650750"/>
                  </a:lnTo>
                  <a:lnTo>
                    <a:pt x="1299716" y="699311"/>
                  </a:lnTo>
                  <a:lnTo>
                    <a:pt x="1294445" y="746904"/>
                  </a:lnTo>
                  <a:lnTo>
                    <a:pt x="1285813" y="793402"/>
                  </a:lnTo>
                  <a:lnTo>
                    <a:pt x="1273946" y="838680"/>
                  </a:lnTo>
                  <a:lnTo>
                    <a:pt x="1258970" y="882612"/>
                  </a:lnTo>
                  <a:lnTo>
                    <a:pt x="1241012" y="925072"/>
                  </a:lnTo>
                  <a:lnTo>
                    <a:pt x="1220197" y="965934"/>
                  </a:lnTo>
                  <a:lnTo>
                    <a:pt x="1196650" y="1005072"/>
                  </a:lnTo>
                  <a:lnTo>
                    <a:pt x="1170499" y="1042361"/>
                  </a:lnTo>
                  <a:lnTo>
                    <a:pt x="1141868" y="1077673"/>
                  </a:lnTo>
                  <a:lnTo>
                    <a:pt x="1110884" y="1110885"/>
                  </a:lnTo>
                  <a:lnTo>
                    <a:pt x="1077673" y="1141869"/>
                  </a:lnTo>
                  <a:lnTo>
                    <a:pt x="1042360" y="1170499"/>
                  </a:lnTo>
                  <a:lnTo>
                    <a:pt x="1005072" y="1196650"/>
                  </a:lnTo>
                  <a:lnTo>
                    <a:pt x="965934" y="1220197"/>
                  </a:lnTo>
                  <a:lnTo>
                    <a:pt x="925072" y="1241012"/>
                  </a:lnTo>
                  <a:lnTo>
                    <a:pt x="882612" y="1258970"/>
                  </a:lnTo>
                  <a:lnTo>
                    <a:pt x="838680" y="1273946"/>
                  </a:lnTo>
                  <a:lnTo>
                    <a:pt x="793402" y="1285813"/>
                  </a:lnTo>
                  <a:lnTo>
                    <a:pt x="746904" y="1294445"/>
                  </a:lnTo>
                  <a:lnTo>
                    <a:pt x="699311" y="1299716"/>
                  </a:lnTo>
                  <a:lnTo>
                    <a:pt x="650750" y="1301501"/>
                  </a:lnTo>
                  <a:lnTo>
                    <a:pt x="602189" y="1299716"/>
                  </a:lnTo>
                  <a:lnTo>
                    <a:pt x="554597" y="1294445"/>
                  </a:lnTo>
                  <a:lnTo>
                    <a:pt x="508098" y="1285812"/>
                  </a:lnTo>
                  <a:lnTo>
                    <a:pt x="462820" y="1273946"/>
                  </a:lnTo>
                  <a:lnTo>
                    <a:pt x="418889" y="1258970"/>
                  </a:lnTo>
                  <a:lnTo>
                    <a:pt x="376429" y="1241012"/>
                  </a:lnTo>
                  <a:lnTo>
                    <a:pt x="335567" y="1220196"/>
                  </a:lnTo>
                  <a:lnTo>
                    <a:pt x="296429" y="1196650"/>
                  </a:lnTo>
                  <a:lnTo>
                    <a:pt x="259140" y="1170499"/>
                  </a:lnTo>
                  <a:lnTo>
                    <a:pt x="223828" y="1141868"/>
                  </a:lnTo>
                  <a:lnTo>
                    <a:pt x="190616" y="1110884"/>
                  </a:lnTo>
                  <a:lnTo>
                    <a:pt x="159632" y="1077673"/>
                  </a:lnTo>
                  <a:lnTo>
                    <a:pt x="131002" y="1042360"/>
                  </a:lnTo>
                  <a:lnTo>
                    <a:pt x="104850" y="1005072"/>
                  </a:lnTo>
                  <a:lnTo>
                    <a:pt x="81304" y="965934"/>
                  </a:lnTo>
                  <a:lnTo>
                    <a:pt x="60489" y="925072"/>
                  </a:lnTo>
                  <a:lnTo>
                    <a:pt x="42531" y="882612"/>
                  </a:lnTo>
                  <a:lnTo>
                    <a:pt x="27555" y="838680"/>
                  </a:lnTo>
                  <a:lnTo>
                    <a:pt x="15688" y="793402"/>
                  </a:lnTo>
                  <a:lnTo>
                    <a:pt x="7056" y="746904"/>
                  </a:lnTo>
                  <a:lnTo>
                    <a:pt x="1785" y="699311"/>
                  </a:lnTo>
                  <a:lnTo>
                    <a:pt x="0" y="650750"/>
                  </a:lnTo>
                </a:path>
              </a:pathLst>
            </a:custGeom>
            <a:ln w="19064">
              <a:solidFill>
                <a:srgbClr val="00D4A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13693767" y="1887804"/>
            <a:ext cx="541655" cy="4083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500" spc="-25">
                <a:solidFill>
                  <a:srgbClr val="FFFAF0"/>
                </a:solidFill>
                <a:latin typeface="Calibri"/>
                <a:cs typeface="Calibri"/>
              </a:rPr>
              <a:t>SDR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5557075" y="2918875"/>
            <a:ext cx="681355" cy="4083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500" spc="-10">
                <a:solidFill>
                  <a:srgbClr val="FFFAF0"/>
                </a:solidFill>
                <a:latin typeface="Calibri"/>
                <a:cs typeface="Calibri"/>
              </a:rPr>
              <a:t>Sales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5434366" y="5423654"/>
            <a:ext cx="927100" cy="358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-10">
                <a:solidFill>
                  <a:srgbClr val="FFFAF0"/>
                </a:solidFill>
                <a:latin typeface="Calibri"/>
                <a:cs typeface="Calibri"/>
              </a:rPr>
              <a:t>Support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820874" y="6630748"/>
            <a:ext cx="287020" cy="3422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50" spc="-25">
                <a:solidFill>
                  <a:srgbClr val="FFFAF0"/>
                </a:solidFill>
                <a:latin typeface="Calibri"/>
                <a:cs typeface="Calibri"/>
              </a:rPr>
              <a:t>CS</a:t>
            </a:r>
            <a:endParaRPr sz="205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1351731" y="5065433"/>
            <a:ext cx="1320800" cy="1320800"/>
            <a:chOff x="11351731" y="5065433"/>
            <a:chExt cx="1320800" cy="1320800"/>
          </a:xfrm>
        </p:grpSpPr>
        <p:sp>
          <p:nvSpPr>
            <p:cNvPr id="31" name="object 31"/>
            <p:cNvSpPr/>
            <p:nvPr/>
          </p:nvSpPr>
          <p:spPr>
            <a:xfrm>
              <a:off x="11361264" y="5074965"/>
              <a:ext cx="1301750" cy="1301750"/>
            </a:xfrm>
            <a:custGeom>
              <a:avLst/>
              <a:gdLst/>
              <a:ahLst/>
              <a:cxnLst/>
              <a:rect l="l" t="t" r="r" b="b"/>
              <a:pathLst>
                <a:path w="1301750" h="1301750">
                  <a:moveTo>
                    <a:pt x="650815" y="1301631"/>
                  </a:moveTo>
                  <a:lnTo>
                    <a:pt x="602249" y="1299845"/>
                  </a:lnTo>
                  <a:lnTo>
                    <a:pt x="554652" y="1294573"/>
                  </a:lnTo>
                  <a:lnTo>
                    <a:pt x="508149" y="1285940"/>
                  </a:lnTo>
                  <a:lnTo>
                    <a:pt x="462867" y="1274072"/>
                  </a:lnTo>
                  <a:lnTo>
                    <a:pt x="418930" y="1259095"/>
                  </a:lnTo>
                  <a:lnTo>
                    <a:pt x="376466" y="1241135"/>
                  </a:lnTo>
                  <a:lnTo>
                    <a:pt x="335600" y="1220318"/>
                  </a:lnTo>
                  <a:lnTo>
                    <a:pt x="296458" y="1196770"/>
                  </a:lnTo>
                  <a:lnTo>
                    <a:pt x="259166" y="1170616"/>
                  </a:lnTo>
                  <a:lnTo>
                    <a:pt x="223850" y="1141982"/>
                  </a:lnTo>
                  <a:lnTo>
                    <a:pt x="190635" y="1110995"/>
                  </a:lnTo>
                  <a:lnTo>
                    <a:pt x="159648" y="1077781"/>
                  </a:lnTo>
                  <a:lnTo>
                    <a:pt x="131015" y="1042464"/>
                  </a:lnTo>
                  <a:lnTo>
                    <a:pt x="104861" y="1005172"/>
                  </a:lnTo>
                  <a:lnTo>
                    <a:pt x="81312" y="966030"/>
                  </a:lnTo>
                  <a:lnTo>
                    <a:pt x="60495" y="925164"/>
                  </a:lnTo>
                  <a:lnTo>
                    <a:pt x="42535" y="882700"/>
                  </a:lnTo>
                  <a:lnTo>
                    <a:pt x="27558" y="838764"/>
                  </a:lnTo>
                  <a:lnTo>
                    <a:pt x="15690" y="793481"/>
                  </a:lnTo>
                  <a:lnTo>
                    <a:pt x="7057" y="746978"/>
                  </a:lnTo>
                  <a:lnTo>
                    <a:pt x="1785" y="699381"/>
                  </a:lnTo>
                  <a:lnTo>
                    <a:pt x="0" y="650815"/>
                  </a:lnTo>
                  <a:lnTo>
                    <a:pt x="1785" y="602249"/>
                  </a:lnTo>
                  <a:lnTo>
                    <a:pt x="7057" y="554652"/>
                  </a:lnTo>
                  <a:lnTo>
                    <a:pt x="15690" y="508149"/>
                  </a:lnTo>
                  <a:lnTo>
                    <a:pt x="27558" y="462867"/>
                  </a:lnTo>
                  <a:lnTo>
                    <a:pt x="42535" y="418931"/>
                  </a:lnTo>
                  <a:lnTo>
                    <a:pt x="60495" y="376466"/>
                  </a:lnTo>
                  <a:lnTo>
                    <a:pt x="81312" y="335600"/>
                  </a:lnTo>
                  <a:lnTo>
                    <a:pt x="104861" y="296458"/>
                  </a:lnTo>
                  <a:lnTo>
                    <a:pt x="131015" y="259166"/>
                  </a:lnTo>
                  <a:lnTo>
                    <a:pt x="159648" y="223850"/>
                  </a:lnTo>
                  <a:lnTo>
                    <a:pt x="190635" y="190635"/>
                  </a:lnTo>
                  <a:lnTo>
                    <a:pt x="223850" y="159648"/>
                  </a:lnTo>
                  <a:lnTo>
                    <a:pt x="259166" y="131015"/>
                  </a:lnTo>
                  <a:lnTo>
                    <a:pt x="296458" y="104861"/>
                  </a:lnTo>
                  <a:lnTo>
                    <a:pt x="335600" y="81312"/>
                  </a:lnTo>
                  <a:lnTo>
                    <a:pt x="376466" y="60495"/>
                  </a:lnTo>
                  <a:lnTo>
                    <a:pt x="418930" y="42535"/>
                  </a:lnTo>
                  <a:lnTo>
                    <a:pt x="462867" y="27558"/>
                  </a:lnTo>
                  <a:lnTo>
                    <a:pt x="508149" y="15690"/>
                  </a:lnTo>
                  <a:lnTo>
                    <a:pt x="554652" y="7057"/>
                  </a:lnTo>
                  <a:lnTo>
                    <a:pt x="602249" y="1785"/>
                  </a:lnTo>
                  <a:lnTo>
                    <a:pt x="650815" y="0"/>
                  </a:lnTo>
                  <a:lnTo>
                    <a:pt x="699381" y="1785"/>
                  </a:lnTo>
                  <a:lnTo>
                    <a:pt x="746978" y="7057"/>
                  </a:lnTo>
                  <a:lnTo>
                    <a:pt x="793481" y="15690"/>
                  </a:lnTo>
                  <a:lnTo>
                    <a:pt x="838764" y="27558"/>
                  </a:lnTo>
                  <a:lnTo>
                    <a:pt x="882700" y="42535"/>
                  </a:lnTo>
                  <a:lnTo>
                    <a:pt x="925164" y="60495"/>
                  </a:lnTo>
                  <a:lnTo>
                    <a:pt x="966030" y="81312"/>
                  </a:lnTo>
                  <a:lnTo>
                    <a:pt x="1005172" y="104861"/>
                  </a:lnTo>
                  <a:lnTo>
                    <a:pt x="1042465" y="131015"/>
                  </a:lnTo>
                  <a:lnTo>
                    <a:pt x="1077781" y="159648"/>
                  </a:lnTo>
                  <a:lnTo>
                    <a:pt x="1110996" y="190635"/>
                  </a:lnTo>
                  <a:lnTo>
                    <a:pt x="1141983" y="223850"/>
                  </a:lnTo>
                  <a:lnTo>
                    <a:pt x="1170616" y="259166"/>
                  </a:lnTo>
                  <a:lnTo>
                    <a:pt x="1196770" y="296458"/>
                  </a:lnTo>
                  <a:lnTo>
                    <a:pt x="1220319" y="335600"/>
                  </a:lnTo>
                  <a:lnTo>
                    <a:pt x="1241136" y="376466"/>
                  </a:lnTo>
                  <a:lnTo>
                    <a:pt x="1259096" y="418931"/>
                  </a:lnTo>
                  <a:lnTo>
                    <a:pt x="1274073" y="462867"/>
                  </a:lnTo>
                  <a:lnTo>
                    <a:pt x="1285941" y="508149"/>
                  </a:lnTo>
                  <a:lnTo>
                    <a:pt x="1294574" y="554652"/>
                  </a:lnTo>
                  <a:lnTo>
                    <a:pt x="1299846" y="602249"/>
                  </a:lnTo>
                  <a:lnTo>
                    <a:pt x="1301632" y="650815"/>
                  </a:lnTo>
                  <a:lnTo>
                    <a:pt x="1299846" y="699381"/>
                  </a:lnTo>
                  <a:lnTo>
                    <a:pt x="1294574" y="746978"/>
                  </a:lnTo>
                  <a:lnTo>
                    <a:pt x="1285941" y="793481"/>
                  </a:lnTo>
                  <a:lnTo>
                    <a:pt x="1274073" y="838764"/>
                  </a:lnTo>
                  <a:lnTo>
                    <a:pt x="1259096" y="882700"/>
                  </a:lnTo>
                  <a:lnTo>
                    <a:pt x="1241136" y="925164"/>
                  </a:lnTo>
                  <a:lnTo>
                    <a:pt x="1220319" y="966030"/>
                  </a:lnTo>
                  <a:lnTo>
                    <a:pt x="1196770" y="1005172"/>
                  </a:lnTo>
                  <a:lnTo>
                    <a:pt x="1170616" y="1042464"/>
                  </a:lnTo>
                  <a:lnTo>
                    <a:pt x="1141983" y="1077781"/>
                  </a:lnTo>
                  <a:lnTo>
                    <a:pt x="1110996" y="1110995"/>
                  </a:lnTo>
                  <a:lnTo>
                    <a:pt x="1077781" y="1141982"/>
                  </a:lnTo>
                  <a:lnTo>
                    <a:pt x="1042465" y="1170616"/>
                  </a:lnTo>
                  <a:lnTo>
                    <a:pt x="1005172" y="1196770"/>
                  </a:lnTo>
                  <a:lnTo>
                    <a:pt x="966030" y="1220318"/>
                  </a:lnTo>
                  <a:lnTo>
                    <a:pt x="925164" y="1241135"/>
                  </a:lnTo>
                  <a:lnTo>
                    <a:pt x="882700" y="1259095"/>
                  </a:lnTo>
                  <a:lnTo>
                    <a:pt x="838764" y="1274072"/>
                  </a:lnTo>
                  <a:lnTo>
                    <a:pt x="793481" y="1285940"/>
                  </a:lnTo>
                  <a:lnTo>
                    <a:pt x="746978" y="1294573"/>
                  </a:lnTo>
                  <a:lnTo>
                    <a:pt x="699381" y="1299845"/>
                  </a:lnTo>
                  <a:lnTo>
                    <a:pt x="650815" y="1301631"/>
                  </a:lnTo>
                  <a:close/>
                </a:path>
              </a:pathLst>
            </a:custGeom>
            <a:solidFill>
              <a:srgbClr val="1313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1361264" y="5074965"/>
              <a:ext cx="1301750" cy="1301750"/>
            </a:xfrm>
            <a:custGeom>
              <a:avLst/>
              <a:gdLst/>
              <a:ahLst/>
              <a:cxnLst/>
              <a:rect l="l" t="t" r="r" b="b"/>
              <a:pathLst>
                <a:path w="1301750" h="1301750">
                  <a:moveTo>
                    <a:pt x="0" y="650750"/>
                  </a:moveTo>
                  <a:lnTo>
                    <a:pt x="1785" y="602189"/>
                  </a:lnTo>
                  <a:lnTo>
                    <a:pt x="7056" y="554597"/>
                  </a:lnTo>
                  <a:lnTo>
                    <a:pt x="15688" y="508099"/>
                  </a:lnTo>
                  <a:lnTo>
                    <a:pt x="27555" y="462821"/>
                  </a:lnTo>
                  <a:lnTo>
                    <a:pt x="42531" y="418889"/>
                  </a:lnTo>
                  <a:lnTo>
                    <a:pt x="60489" y="376429"/>
                  </a:lnTo>
                  <a:lnTo>
                    <a:pt x="81304" y="335567"/>
                  </a:lnTo>
                  <a:lnTo>
                    <a:pt x="104850" y="296429"/>
                  </a:lnTo>
                  <a:lnTo>
                    <a:pt x="131002" y="259140"/>
                  </a:lnTo>
                  <a:lnTo>
                    <a:pt x="159632" y="223828"/>
                  </a:lnTo>
                  <a:lnTo>
                    <a:pt x="190616" y="190616"/>
                  </a:lnTo>
                  <a:lnTo>
                    <a:pt x="223827" y="159632"/>
                  </a:lnTo>
                  <a:lnTo>
                    <a:pt x="259140" y="131002"/>
                  </a:lnTo>
                  <a:lnTo>
                    <a:pt x="296429" y="104850"/>
                  </a:lnTo>
                  <a:lnTo>
                    <a:pt x="335567" y="81304"/>
                  </a:lnTo>
                  <a:lnTo>
                    <a:pt x="376429" y="60489"/>
                  </a:lnTo>
                  <a:lnTo>
                    <a:pt x="418889" y="42531"/>
                  </a:lnTo>
                  <a:lnTo>
                    <a:pt x="462821" y="27555"/>
                  </a:lnTo>
                  <a:lnTo>
                    <a:pt x="508099" y="15688"/>
                  </a:lnTo>
                  <a:lnTo>
                    <a:pt x="554597" y="7056"/>
                  </a:lnTo>
                  <a:lnTo>
                    <a:pt x="602189" y="1785"/>
                  </a:lnTo>
                  <a:lnTo>
                    <a:pt x="650750" y="0"/>
                  </a:lnTo>
                  <a:lnTo>
                    <a:pt x="699311" y="1785"/>
                  </a:lnTo>
                  <a:lnTo>
                    <a:pt x="746904" y="7056"/>
                  </a:lnTo>
                  <a:lnTo>
                    <a:pt x="793402" y="15688"/>
                  </a:lnTo>
                  <a:lnTo>
                    <a:pt x="838680" y="27555"/>
                  </a:lnTo>
                  <a:lnTo>
                    <a:pt x="882612" y="42530"/>
                  </a:lnTo>
                  <a:lnTo>
                    <a:pt x="925072" y="60489"/>
                  </a:lnTo>
                  <a:lnTo>
                    <a:pt x="965934" y="81304"/>
                  </a:lnTo>
                  <a:lnTo>
                    <a:pt x="1005072" y="104850"/>
                  </a:lnTo>
                  <a:lnTo>
                    <a:pt x="1042360" y="131001"/>
                  </a:lnTo>
                  <a:lnTo>
                    <a:pt x="1077673" y="159632"/>
                  </a:lnTo>
                  <a:lnTo>
                    <a:pt x="1110885" y="190616"/>
                  </a:lnTo>
                  <a:lnTo>
                    <a:pt x="1141869" y="223827"/>
                  </a:lnTo>
                  <a:lnTo>
                    <a:pt x="1170499" y="259140"/>
                  </a:lnTo>
                  <a:lnTo>
                    <a:pt x="1196651" y="296428"/>
                  </a:lnTo>
                  <a:lnTo>
                    <a:pt x="1220197" y="335567"/>
                  </a:lnTo>
                  <a:lnTo>
                    <a:pt x="1241012" y="376429"/>
                  </a:lnTo>
                  <a:lnTo>
                    <a:pt x="1258971" y="418888"/>
                  </a:lnTo>
                  <a:lnTo>
                    <a:pt x="1273946" y="462820"/>
                  </a:lnTo>
                  <a:lnTo>
                    <a:pt x="1285813" y="508098"/>
                  </a:lnTo>
                  <a:lnTo>
                    <a:pt x="1294445" y="554597"/>
                  </a:lnTo>
                  <a:lnTo>
                    <a:pt x="1299717" y="602189"/>
                  </a:lnTo>
                  <a:lnTo>
                    <a:pt x="1301502" y="650750"/>
                  </a:lnTo>
                  <a:lnTo>
                    <a:pt x="1299717" y="699311"/>
                  </a:lnTo>
                  <a:lnTo>
                    <a:pt x="1294445" y="746904"/>
                  </a:lnTo>
                  <a:lnTo>
                    <a:pt x="1285813" y="793402"/>
                  </a:lnTo>
                  <a:lnTo>
                    <a:pt x="1273946" y="838680"/>
                  </a:lnTo>
                  <a:lnTo>
                    <a:pt x="1258971" y="882612"/>
                  </a:lnTo>
                  <a:lnTo>
                    <a:pt x="1241012" y="925072"/>
                  </a:lnTo>
                  <a:lnTo>
                    <a:pt x="1220197" y="965934"/>
                  </a:lnTo>
                  <a:lnTo>
                    <a:pt x="1196651" y="1005072"/>
                  </a:lnTo>
                  <a:lnTo>
                    <a:pt x="1170499" y="1042361"/>
                  </a:lnTo>
                  <a:lnTo>
                    <a:pt x="1141869" y="1077674"/>
                  </a:lnTo>
                  <a:lnTo>
                    <a:pt x="1110885" y="1110885"/>
                  </a:lnTo>
                  <a:lnTo>
                    <a:pt x="1077673" y="1141869"/>
                  </a:lnTo>
                  <a:lnTo>
                    <a:pt x="1042360" y="1170499"/>
                  </a:lnTo>
                  <a:lnTo>
                    <a:pt x="1005072" y="1196651"/>
                  </a:lnTo>
                  <a:lnTo>
                    <a:pt x="965934" y="1220197"/>
                  </a:lnTo>
                  <a:lnTo>
                    <a:pt x="925072" y="1241012"/>
                  </a:lnTo>
                  <a:lnTo>
                    <a:pt x="882612" y="1258970"/>
                  </a:lnTo>
                  <a:lnTo>
                    <a:pt x="838680" y="1273946"/>
                  </a:lnTo>
                  <a:lnTo>
                    <a:pt x="793402" y="1285812"/>
                  </a:lnTo>
                  <a:lnTo>
                    <a:pt x="746904" y="1294444"/>
                  </a:lnTo>
                  <a:lnTo>
                    <a:pt x="699311" y="1299716"/>
                  </a:lnTo>
                  <a:lnTo>
                    <a:pt x="650750" y="1301501"/>
                  </a:lnTo>
                  <a:lnTo>
                    <a:pt x="602189" y="1299716"/>
                  </a:lnTo>
                  <a:lnTo>
                    <a:pt x="554597" y="1294444"/>
                  </a:lnTo>
                  <a:lnTo>
                    <a:pt x="508099" y="1285812"/>
                  </a:lnTo>
                  <a:lnTo>
                    <a:pt x="462821" y="1273945"/>
                  </a:lnTo>
                  <a:lnTo>
                    <a:pt x="418889" y="1258970"/>
                  </a:lnTo>
                  <a:lnTo>
                    <a:pt x="376429" y="1241012"/>
                  </a:lnTo>
                  <a:lnTo>
                    <a:pt x="335567" y="1220196"/>
                  </a:lnTo>
                  <a:lnTo>
                    <a:pt x="296429" y="1196650"/>
                  </a:lnTo>
                  <a:lnTo>
                    <a:pt x="259140" y="1170499"/>
                  </a:lnTo>
                  <a:lnTo>
                    <a:pt x="223827" y="1141868"/>
                  </a:lnTo>
                  <a:lnTo>
                    <a:pt x="190616" y="1110884"/>
                  </a:lnTo>
                  <a:lnTo>
                    <a:pt x="159632" y="1077673"/>
                  </a:lnTo>
                  <a:lnTo>
                    <a:pt x="131002" y="1042360"/>
                  </a:lnTo>
                  <a:lnTo>
                    <a:pt x="104850" y="1005072"/>
                  </a:lnTo>
                  <a:lnTo>
                    <a:pt x="81304" y="965934"/>
                  </a:lnTo>
                  <a:lnTo>
                    <a:pt x="60489" y="925072"/>
                  </a:lnTo>
                  <a:lnTo>
                    <a:pt x="42531" y="882612"/>
                  </a:lnTo>
                  <a:lnTo>
                    <a:pt x="27555" y="838680"/>
                  </a:lnTo>
                  <a:lnTo>
                    <a:pt x="15688" y="793402"/>
                  </a:lnTo>
                  <a:lnTo>
                    <a:pt x="7056" y="746904"/>
                  </a:lnTo>
                  <a:lnTo>
                    <a:pt x="1785" y="699311"/>
                  </a:lnTo>
                  <a:lnTo>
                    <a:pt x="0" y="650750"/>
                  </a:lnTo>
                </a:path>
              </a:pathLst>
            </a:custGeom>
            <a:ln w="19064">
              <a:solidFill>
                <a:srgbClr val="00D4A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11614137" y="5489549"/>
            <a:ext cx="795655" cy="358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-10">
                <a:solidFill>
                  <a:srgbClr val="FFFAF0"/>
                </a:solidFill>
                <a:latin typeface="Calibri"/>
                <a:cs typeface="Calibri"/>
              </a:rPr>
              <a:t>Collect</a:t>
            </a:r>
            <a:endParaRPr sz="215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1351731" y="2487747"/>
            <a:ext cx="1320800" cy="1320800"/>
            <a:chOff x="11351731" y="2487747"/>
            <a:chExt cx="1320800" cy="1320800"/>
          </a:xfrm>
        </p:grpSpPr>
        <p:sp>
          <p:nvSpPr>
            <p:cNvPr id="35" name="object 35"/>
            <p:cNvSpPr/>
            <p:nvPr/>
          </p:nvSpPr>
          <p:spPr>
            <a:xfrm>
              <a:off x="11361264" y="2497279"/>
              <a:ext cx="1301750" cy="1301750"/>
            </a:xfrm>
            <a:custGeom>
              <a:avLst/>
              <a:gdLst/>
              <a:ahLst/>
              <a:cxnLst/>
              <a:rect l="l" t="t" r="r" b="b"/>
              <a:pathLst>
                <a:path w="1301750" h="1301750">
                  <a:moveTo>
                    <a:pt x="650815" y="1301631"/>
                  </a:moveTo>
                  <a:lnTo>
                    <a:pt x="602249" y="1299846"/>
                  </a:lnTo>
                  <a:lnTo>
                    <a:pt x="554652" y="1294573"/>
                  </a:lnTo>
                  <a:lnTo>
                    <a:pt x="508149" y="1285940"/>
                  </a:lnTo>
                  <a:lnTo>
                    <a:pt x="462867" y="1274072"/>
                  </a:lnTo>
                  <a:lnTo>
                    <a:pt x="418930" y="1259096"/>
                  </a:lnTo>
                  <a:lnTo>
                    <a:pt x="376466" y="1241135"/>
                  </a:lnTo>
                  <a:lnTo>
                    <a:pt x="335600" y="1220318"/>
                  </a:lnTo>
                  <a:lnTo>
                    <a:pt x="296458" y="1196770"/>
                  </a:lnTo>
                  <a:lnTo>
                    <a:pt x="259166" y="1170616"/>
                  </a:lnTo>
                  <a:lnTo>
                    <a:pt x="223850" y="1141982"/>
                  </a:lnTo>
                  <a:lnTo>
                    <a:pt x="190635" y="1110995"/>
                  </a:lnTo>
                  <a:lnTo>
                    <a:pt x="159648" y="1077781"/>
                  </a:lnTo>
                  <a:lnTo>
                    <a:pt x="131015" y="1042464"/>
                  </a:lnTo>
                  <a:lnTo>
                    <a:pt x="104861" y="1005172"/>
                  </a:lnTo>
                  <a:lnTo>
                    <a:pt x="81312" y="966030"/>
                  </a:lnTo>
                  <a:lnTo>
                    <a:pt x="60495" y="925164"/>
                  </a:lnTo>
                  <a:lnTo>
                    <a:pt x="42535" y="882700"/>
                  </a:lnTo>
                  <a:lnTo>
                    <a:pt x="27558" y="838764"/>
                  </a:lnTo>
                  <a:lnTo>
                    <a:pt x="15690" y="793481"/>
                  </a:lnTo>
                  <a:lnTo>
                    <a:pt x="7057" y="746978"/>
                  </a:lnTo>
                  <a:lnTo>
                    <a:pt x="1785" y="699381"/>
                  </a:lnTo>
                  <a:lnTo>
                    <a:pt x="0" y="650815"/>
                  </a:lnTo>
                  <a:lnTo>
                    <a:pt x="1785" y="602249"/>
                  </a:lnTo>
                  <a:lnTo>
                    <a:pt x="7057" y="554652"/>
                  </a:lnTo>
                  <a:lnTo>
                    <a:pt x="15690" y="508149"/>
                  </a:lnTo>
                  <a:lnTo>
                    <a:pt x="27558" y="462867"/>
                  </a:lnTo>
                  <a:lnTo>
                    <a:pt x="42535" y="418931"/>
                  </a:lnTo>
                  <a:lnTo>
                    <a:pt x="60495" y="376466"/>
                  </a:lnTo>
                  <a:lnTo>
                    <a:pt x="81312" y="335600"/>
                  </a:lnTo>
                  <a:lnTo>
                    <a:pt x="104861" y="296458"/>
                  </a:lnTo>
                  <a:lnTo>
                    <a:pt x="131015" y="259166"/>
                  </a:lnTo>
                  <a:lnTo>
                    <a:pt x="159648" y="223850"/>
                  </a:lnTo>
                  <a:lnTo>
                    <a:pt x="190635" y="190635"/>
                  </a:lnTo>
                  <a:lnTo>
                    <a:pt x="223850" y="159648"/>
                  </a:lnTo>
                  <a:lnTo>
                    <a:pt x="259166" y="131015"/>
                  </a:lnTo>
                  <a:lnTo>
                    <a:pt x="296458" y="104861"/>
                  </a:lnTo>
                  <a:lnTo>
                    <a:pt x="335600" y="81312"/>
                  </a:lnTo>
                  <a:lnTo>
                    <a:pt x="376466" y="60495"/>
                  </a:lnTo>
                  <a:lnTo>
                    <a:pt x="418930" y="42535"/>
                  </a:lnTo>
                  <a:lnTo>
                    <a:pt x="462867" y="27558"/>
                  </a:lnTo>
                  <a:lnTo>
                    <a:pt x="508149" y="15690"/>
                  </a:lnTo>
                  <a:lnTo>
                    <a:pt x="554652" y="7057"/>
                  </a:lnTo>
                  <a:lnTo>
                    <a:pt x="602249" y="1785"/>
                  </a:lnTo>
                  <a:lnTo>
                    <a:pt x="650815" y="0"/>
                  </a:lnTo>
                  <a:lnTo>
                    <a:pt x="699381" y="1785"/>
                  </a:lnTo>
                  <a:lnTo>
                    <a:pt x="746978" y="7057"/>
                  </a:lnTo>
                  <a:lnTo>
                    <a:pt x="793481" y="15690"/>
                  </a:lnTo>
                  <a:lnTo>
                    <a:pt x="838764" y="27558"/>
                  </a:lnTo>
                  <a:lnTo>
                    <a:pt x="882700" y="42535"/>
                  </a:lnTo>
                  <a:lnTo>
                    <a:pt x="925164" y="60495"/>
                  </a:lnTo>
                  <a:lnTo>
                    <a:pt x="966030" y="81312"/>
                  </a:lnTo>
                  <a:lnTo>
                    <a:pt x="1005172" y="104861"/>
                  </a:lnTo>
                  <a:lnTo>
                    <a:pt x="1042465" y="131015"/>
                  </a:lnTo>
                  <a:lnTo>
                    <a:pt x="1077781" y="159648"/>
                  </a:lnTo>
                  <a:lnTo>
                    <a:pt x="1110996" y="190635"/>
                  </a:lnTo>
                  <a:lnTo>
                    <a:pt x="1141983" y="223850"/>
                  </a:lnTo>
                  <a:lnTo>
                    <a:pt x="1170616" y="259166"/>
                  </a:lnTo>
                  <a:lnTo>
                    <a:pt x="1196770" y="296458"/>
                  </a:lnTo>
                  <a:lnTo>
                    <a:pt x="1220319" y="335600"/>
                  </a:lnTo>
                  <a:lnTo>
                    <a:pt x="1241136" y="376466"/>
                  </a:lnTo>
                  <a:lnTo>
                    <a:pt x="1259096" y="418931"/>
                  </a:lnTo>
                  <a:lnTo>
                    <a:pt x="1274073" y="462867"/>
                  </a:lnTo>
                  <a:lnTo>
                    <a:pt x="1285941" y="508149"/>
                  </a:lnTo>
                  <a:lnTo>
                    <a:pt x="1294574" y="554652"/>
                  </a:lnTo>
                  <a:lnTo>
                    <a:pt x="1299846" y="602249"/>
                  </a:lnTo>
                  <a:lnTo>
                    <a:pt x="1301632" y="650815"/>
                  </a:lnTo>
                  <a:lnTo>
                    <a:pt x="1299846" y="699381"/>
                  </a:lnTo>
                  <a:lnTo>
                    <a:pt x="1294574" y="746978"/>
                  </a:lnTo>
                  <a:lnTo>
                    <a:pt x="1285941" y="793481"/>
                  </a:lnTo>
                  <a:lnTo>
                    <a:pt x="1274073" y="838764"/>
                  </a:lnTo>
                  <a:lnTo>
                    <a:pt x="1259096" y="882700"/>
                  </a:lnTo>
                  <a:lnTo>
                    <a:pt x="1241136" y="925164"/>
                  </a:lnTo>
                  <a:lnTo>
                    <a:pt x="1220319" y="966030"/>
                  </a:lnTo>
                  <a:lnTo>
                    <a:pt x="1196770" y="1005172"/>
                  </a:lnTo>
                  <a:lnTo>
                    <a:pt x="1170616" y="1042464"/>
                  </a:lnTo>
                  <a:lnTo>
                    <a:pt x="1141983" y="1077781"/>
                  </a:lnTo>
                  <a:lnTo>
                    <a:pt x="1110996" y="1110995"/>
                  </a:lnTo>
                  <a:lnTo>
                    <a:pt x="1077781" y="1141982"/>
                  </a:lnTo>
                  <a:lnTo>
                    <a:pt x="1042465" y="1170616"/>
                  </a:lnTo>
                  <a:lnTo>
                    <a:pt x="1005172" y="1196770"/>
                  </a:lnTo>
                  <a:lnTo>
                    <a:pt x="966030" y="1220318"/>
                  </a:lnTo>
                  <a:lnTo>
                    <a:pt x="925164" y="1241135"/>
                  </a:lnTo>
                  <a:lnTo>
                    <a:pt x="882700" y="1259096"/>
                  </a:lnTo>
                  <a:lnTo>
                    <a:pt x="838764" y="1274072"/>
                  </a:lnTo>
                  <a:lnTo>
                    <a:pt x="793481" y="1285940"/>
                  </a:lnTo>
                  <a:lnTo>
                    <a:pt x="746978" y="1294573"/>
                  </a:lnTo>
                  <a:lnTo>
                    <a:pt x="699381" y="1299846"/>
                  </a:lnTo>
                  <a:lnTo>
                    <a:pt x="650815" y="1301631"/>
                  </a:lnTo>
                  <a:close/>
                </a:path>
              </a:pathLst>
            </a:custGeom>
            <a:solidFill>
              <a:srgbClr val="1313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11361264" y="2497279"/>
              <a:ext cx="1301750" cy="1301750"/>
            </a:xfrm>
            <a:custGeom>
              <a:avLst/>
              <a:gdLst/>
              <a:ahLst/>
              <a:cxnLst/>
              <a:rect l="l" t="t" r="r" b="b"/>
              <a:pathLst>
                <a:path w="1301750" h="1301750">
                  <a:moveTo>
                    <a:pt x="0" y="650750"/>
                  </a:moveTo>
                  <a:lnTo>
                    <a:pt x="1785" y="602189"/>
                  </a:lnTo>
                  <a:lnTo>
                    <a:pt x="7056" y="554597"/>
                  </a:lnTo>
                  <a:lnTo>
                    <a:pt x="15688" y="508099"/>
                  </a:lnTo>
                  <a:lnTo>
                    <a:pt x="27555" y="462821"/>
                  </a:lnTo>
                  <a:lnTo>
                    <a:pt x="42531" y="418889"/>
                  </a:lnTo>
                  <a:lnTo>
                    <a:pt x="60489" y="376429"/>
                  </a:lnTo>
                  <a:lnTo>
                    <a:pt x="81304" y="335567"/>
                  </a:lnTo>
                  <a:lnTo>
                    <a:pt x="104850" y="296429"/>
                  </a:lnTo>
                  <a:lnTo>
                    <a:pt x="131002" y="259140"/>
                  </a:lnTo>
                  <a:lnTo>
                    <a:pt x="159632" y="223828"/>
                  </a:lnTo>
                  <a:lnTo>
                    <a:pt x="190616" y="190616"/>
                  </a:lnTo>
                  <a:lnTo>
                    <a:pt x="223827" y="159632"/>
                  </a:lnTo>
                  <a:lnTo>
                    <a:pt x="259140" y="131002"/>
                  </a:lnTo>
                  <a:lnTo>
                    <a:pt x="296429" y="104850"/>
                  </a:lnTo>
                  <a:lnTo>
                    <a:pt x="335567" y="81304"/>
                  </a:lnTo>
                  <a:lnTo>
                    <a:pt x="376429" y="60489"/>
                  </a:lnTo>
                  <a:lnTo>
                    <a:pt x="418889" y="42531"/>
                  </a:lnTo>
                  <a:lnTo>
                    <a:pt x="462821" y="27555"/>
                  </a:lnTo>
                  <a:lnTo>
                    <a:pt x="508099" y="15688"/>
                  </a:lnTo>
                  <a:lnTo>
                    <a:pt x="554597" y="7056"/>
                  </a:lnTo>
                  <a:lnTo>
                    <a:pt x="602189" y="1785"/>
                  </a:lnTo>
                  <a:lnTo>
                    <a:pt x="650750" y="0"/>
                  </a:lnTo>
                  <a:lnTo>
                    <a:pt x="699311" y="1785"/>
                  </a:lnTo>
                  <a:lnTo>
                    <a:pt x="746904" y="7056"/>
                  </a:lnTo>
                  <a:lnTo>
                    <a:pt x="793402" y="15688"/>
                  </a:lnTo>
                  <a:lnTo>
                    <a:pt x="838680" y="27555"/>
                  </a:lnTo>
                  <a:lnTo>
                    <a:pt x="882612" y="42530"/>
                  </a:lnTo>
                  <a:lnTo>
                    <a:pt x="925072" y="60489"/>
                  </a:lnTo>
                  <a:lnTo>
                    <a:pt x="965934" y="81304"/>
                  </a:lnTo>
                  <a:lnTo>
                    <a:pt x="1005072" y="104850"/>
                  </a:lnTo>
                  <a:lnTo>
                    <a:pt x="1042360" y="131001"/>
                  </a:lnTo>
                  <a:lnTo>
                    <a:pt x="1077673" y="159632"/>
                  </a:lnTo>
                  <a:lnTo>
                    <a:pt x="1110885" y="190616"/>
                  </a:lnTo>
                  <a:lnTo>
                    <a:pt x="1141869" y="223827"/>
                  </a:lnTo>
                  <a:lnTo>
                    <a:pt x="1170499" y="259140"/>
                  </a:lnTo>
                  <a:lnTo>
                    <a:pt x="1196651" y="296428"/>
                  </a:lnTo>
                  <a:lnTo>
                    <a:pt x="1220197" y="335567"/>
                  </a:lnTo>
                  <a:lnTo>
                    <a:pt x="1241012" y="376429"/>
                  </a:lnTo>
                  <a:lnTo>
                    <a:pt x="1258971" y="418888"/>
                  </a:lnTo>
                  <a:lnTo>
                    <a:pt x="1273946" y="462820"/>
                  </a:lnTo>
                  <a:lnTo>
                    <a:pt x="1285813" y="508098"/>
                  </a:lnTo>
                  <a:lnTo>
                    <a:pt x="1294445" y="554597"/>
                  </a:lnTo>
                  <a:lnTo>
                    <a:pt x="1299717" y="602189"/>
                  </a:lnTo>
                  <a:lnTo>
                    <a:pt x="1301502" y="650750"/>
                  </a:lnTo>
                  <a:lnTo>
                    <a:pt x="1299717" y="699311"/>
                  </a:lnTo>
                  <a:lnTo>
                    <a:pt x="1294445" y="746904"/>
                  </a:lnTo>
                  <a:lnTo>
                    <a:pt x="1285813" y="793402"/>
                  </a:lnTo>
                  <a:lnTo>
                    <a:pt x="1273946" y="838680"/>
                  </a:lnTo>
                  <a:lnTo>
                    <a:pt x="1258971" y="882612"/>
                  </a:lnTo>
                  <a:lnTo>
                    <a:pt x="1241012" y="925072"/>
                  </a:lnTo>
                  <a:lnTo>
                    <a:pt x="1220197" y="965934"/>
                  </a:lnTo>
                  <a:lnTo>
                    <a:pt x="1196651" y="1005072"/>
                  </a:lnTo>
                  <a:lnTo>
                    <a:pt x="1170499" y="1042361"/>
                  </a:lnTo>
                  <a:lnTo>
                    <a:pt x="1141869" y="1077674"/>
                  </a:lnTo>
                  <a:lnTo>
                    <a:pt x="1110885" y="1110885"/>
                  </a:lnTo>
                  <a:lnTo>
                    <a:pt x="1077673" y="1141869"/>
                  </a:lnTo>
                  <a:lnTo>
                    <a:pt x="1042360" y="1170499"/>
                  </a:lnTo>
                  <a:lnTo>
                    <a:pt x="1005072" y="1196651"/>
                  </a:lnTo>
                  <a:lnTo>
                    <a:pt x="965934" y="1220197"/>
                  </a:lnTo>
                  <a:lnTo>
                    <a:pt x="925072" y="1241012"/>
                  </a:lnTo>
                  <a:lnTo>
                    <a:pt x="882612" y="1258970"/>
                  </a:lnTo>
                  <a:lnTo>
                    <a:pt x="838680" y="1273946"/>
                  </a:lnTo>
                  <a:lnTo>
                    <a:pt x="793402" y="1285812"/>
                  </a:lnTo>
                  <a:lnTo>
                    <a:pt x="746904" y="1294445"/>
                  </a:lnTo>
                  <a:lnTo>
                    <a:pt x="699311" y="1299716"/>
                  </a:lnTo>
                  <a:lnTo>
                    <a:pt x="650750" y="1301501"/>
                  </a:lnTo>
                  <a:lnTo>
                    <a:pt x="602189" y="1299716"/>
                  </a:lnTo>
                  <a:lnTo>
                    <a:pt x="554597" y="1294445"/>
                  </a:lnTo>
                  <a:lnTo>
                    <a:pt x="508099" y="1285812"/>
                  </a:lnTo>
                  <a:lnTo>
                    <a:pt x="462821" y="1273946"/>
                  </a:lnTo>
                  <a:lnTo>
                    <a:pt x="418889" y="1258970"/>
                  </a:lnTo>
                  <a:lnTo>
                    <a:pt x="376429" y="1241012"/>
                  </a:lnTo>
                  <a:lnTo>
                    <a:pt x="335567" y="1220197"/>
                  </a:lnTo>
                  <a:lnTo>
                    <a:pt x="296429" y="1196650"/>
                  </a:lnTo>
                  <a:lnTo>
                    <a:pt x="259140" y="1170499"/>
                  </a:lnTo>
                  <a:lnTo>
                    <a:pt x="223827" y="1141868"/>
                  </a:lnTo>
                  <a:lnTo>
                    <a:pt x="190616" y="1110884"/>
                  </a:lnTo>
                  <a:lnTo>
                    <a:pt x="159632" y="1077673"/>
                  </a:lnTo>
                  <a:lnTo>
                    <a:pt x="131002" y="1042360"/>
                  </a:lnTo>
                  <a:lnTo>
                    <a:pt x="104850" y="1005072"/>
                  </a:lnTo>
                  <a:lnTo>
                    <a:pt x="81304" y="965934"/>
                  </a:lnTo>
                  <a:lnTo>
                    <a:pt x="60489" y="925072"/>
                  </a:lnTo>
                  <a:lnTo>
                    <a:pt x="42531" y="882612"/>
                  </a:lnTo>
                  <a:lnTo>
                    <a:pt x="27555" y="838680"/>
                  </a:lnTo>
                  <a:lnTo>
                    <a:pt x="15688" y="793402"/>
                  </a:lnTo>
                  <a:lnTo>
                    <a:pt x="7056" y="746904"/>
                  </a:lnTo>
                  <a:lnTo>
                    <a:pt x="1785" y="699311"/>
                  </a:lnTo>
                  <a:lnTo>
                    <a:pt x="0" y="650750"/>
                  </a:lnTo>
                </a:path>
              </a:pathLst>
            </a:custGeom>
            <a:ln w="19064">
              <a:solidFill>
                <a:srgbClr val="00D4A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11486443" y="2888382"/>
            <a:ext cx="1089660" cy="4083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500" spc="-10">
                <a:solidFill>
                  <a:srgbClr val="FFFAF0"/>
                </a:solidFill>
                <a:latin typeface="Calibri"/>
                <a:cs typeface="Calibri"/>
              </a:rPr>
              <a:t>Account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02347" y="9613055"/>
            <a:ext cx="368109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>
                <a:solidFill>
                  <a:srgbClr val="6A6F82"/>
                </a:solidFill>
                <a:latin typeface="Calibri"/>
                <a:cs typeface="Calibri"/>
              </a:rPr>
              <a:t>Internal</a:t>
            </a:r>
            <a:r>
              <a:rPr dirty="0" sz="1350" spc="-25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6A6F82"/>
                </a:solidFill>
                <a:latin typeface="Calibri"/>
                <a:cs typeface="Calibri"/>
              </a:rPr>
              <a:t>Product</a:t>
            </a:r>
            <a:r>
              <a:rPr dirty="0" sz="1350" spc="-25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6A6F82"/>
                </a:solidFill>
                <a:latin typeface="Calibri"/>
                <a:cs typeface="Calibri"/>
              </a:rPr>
              <a:t>Proposal</a:t>
            </a:r>
            <a:r>
              <a:rPr dirty="0" sz="1350" spc="-25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6A6F82"/>
                </a:solidFill>
                <a:latin typeface="Calibri"/>
                <a:cs typeface="Calibri"/>
              </a:rPr>
              <a:t>·</a:t>
            </a:r>
            <a:r>
              <a:rPr dirty="0" sz="1350" spc="-25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6A6F82"/>
                </a:solidFill>
                <a:latin typeface="Calibri"/>
                <a:cs typeface="Calibri"/>
              </a:rPr>
              <a:t>Version</a:t>
            </a:r>
            <a:r>
              <a:rPr dirty="0" sz="1350" spc="-25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6A6F82"/>
                </a:solidFill>
                <a:latin typeface="Calibri"/>
                <a:cs typeface="Calibri"/>
              </a:rPr>
              <a:t>1.0</a:t>
            </a:r>
            <a:r>
              <a:rPr dirty="0" sz="1350" spc="-25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6A6F82"/>
                </a:solidFill>
                <a:latin typeface="Calibri"/>
                <a:cs typeface="Calibri"/>
              </a:rPr>
              <a:t>·</a:t>
            </a:r>
            <a:r>
              <a:rPr dirty="0" sz="1350" spc="-25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6A6F82"/>
                </a:solidFill>
                <a:latin typeface="Calibri"/>
                <a:cs typeface="Calibri"/>
              </a:rPr>
              <a:t>Confidential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7249167" y="9613055"/>
            <a:ext cx="516890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6A6F82"/>
                </a:solidFill>
                <a:latin typeface="Calibri"/>
                <a:cs typeface="Calibri"/>
              </a:rPr>
              <a:t>01</a:t>
            </a:r>
            <a:r>
              <a:rPr dirty="0" sz="1350" spc="-20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6A6F82"/>
                </a:solidFill>
                <a:latin typeface="Calibri"/>
                <a:cs typeface="Calibri"/>
              </a:rPr>
              <a:t>/</a:t>
            </a:r>
            <a:r>
              <a:rPr dirty="0" sz="1350" spc="-15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350" spc="-35">
                <a:solidFill>
                  <a:srgbClr val="6A6F82"/>
                </a:solidFill>
                <a:latin typeface="Calibri"/>
                <a:cs typeface="Calibri"/>
              </a:rPr>
              <a:t>16</a:t>
            </a:r>
            <a:endParaRPr sz="1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667714" y="0"/>
            <a:ext cx="5490845" cy="4800600"/>
          </a:xfrm>
          <a:custGeom>
            <a:avLst/>
            <a:gdLst/>
            <a:ahLst/>
            <a:cxnLst/>
            <a:rect l="l" t="t" r="r" b="b"/>
            <a:pathLst>
              <a:path w="5490844" h="4800600">
                <a:moveTo>
                  <a:pt x="3264366" y="4762499"/>
                </a:moveTo>
                <a:lnTo>
                  <a:pt x="2226411" y="4762499"/>
                </a:lnTo>
                <a:lnTo>
                  <a:pt x="1825660" y="4648199"/>
                </a:lnTo>
                <a:lnTo>
                  <a:pt x="1740071" y="4622799"/>
                </a:lnTo>
                <a:lnTo>
                  <a:pt x="1697790" y="4597399"/>
                </a:lnTo>
                <a:lnTo>
                  <a:pt x="1655860" y="4584699"/>
                </a:lnTo>
                <a:lnTo>
                  <a:pt x="1614289" y="4559299"/>
                </a:lnTo>
                <a:lnTo>
                  <a:pt x="1573082" y="4546599"/>
                </a:lnTo>
                <a:lnTo>
                  <a:pt x="1532247" y="4521199"/>
                </a:lnTo>
                <a:lnTo>
                  <a:pt x="1491792" y="4508499"/>
                </a:lnTo>
                <a:lnTo>
                  <a:pt x="1412043" y="4457699"/>
                </a:lnTo>
                <a:lnTo>
                  <a:pt x="1372764" y="4444999"/>
                </a:lnTo>
                <a:lnTo>
                  <a:pt x="1295430" y="4394199"/>
                </a:lnTo>
                <a:lnTo>
                  <a:pt x="1219774" y="4343399"/>
                </a:lnTo>
                <a:lnTo>
                  <a:pt x="1145850" y="4292599"/>
                </a:lnTo>
                <a:lnTo>
                  <a:pt x="1073713" y="4241799"/>
                </a:lnTo>
                <a:lnTo>
                  <a:pt x="1038332" y="4216399"/>
                </a:lnTo>
                <a:lnTo>
                  <a:pt x="1003418" y="4178299"/>
                </a:lnTo>
                <a:lnTo>
                  <a:pt x="968978" y="4152899"/>
                </a:lnTo>
                <a:lnTo>
                  <a:pt x="935018" y="4127499"/>
                </a:lnTo>
                <a:lnTo>
                  <a:pt x="901546" y="4089399"/>
                </a:lnTo>
                <a:lnTo>
                  <a:pt x="868569" y="4063999"/>
                </a:lnTo>
                <a:lnTo>
                  <a:pt x="836092" y="4038599"/>
                </a:lnTo>
                <a:lnTo>
                  <a:pt x="804124" y="4000499"/>
                </a:lnTo>
                <a:lnTo>
                  <a:pt x="772670" y="3975099"/>
                </a:lnTo>
                <a:lnTo>
                  <a:pt x="741738" y="3936999"/>
                </a:lnTo>
                <a:lnTo>
                  <a:pt x="711334" y="3911599"/>
                </a:lnTo>
                <a:lnTo>
                  <a:pt x="681466" y="3873499"/>
                </a:lnTo>
                <a:lnTo>
                  <a:pt x="652140" y="3835399"/>
                </a:lnTo>
                <a:lnTo>
                  <a:pt x="623362" y="3797299"/>
                </a:lnTo>
                <a:lnTo>
                  <a:pt x="595140" y="3771899"/>
                </a:lnTo>
                <a:lnTo>
                  <a:pt x="567480" y="3733799"/>
                </a:lnTo>
                <a:lnTo>
                  <a:pt x="540390" y="3695699"/>
                </a:lnTo>
                <a:lnTo>
                  <a:pt x="513875" y="3657599"/>
                </a:lnTo>
                <a:lnTo>
                  <a:pt x="487944" y="3619499"/>
                </a:lnTo>
                <a:lnTo>
                  <a:pt x="462602" y="3581399"/>
                </a:lnTo>
                <a:lnTo>
                  <a:pt x="437857" y="3543299"/>
                </a:lnTo>
                <a:lnTo>
                  <a:pt x="413714" y="3517899"/>
                </a:lnTo>
                <a:lnTo>
                  <a:pt x="390182" y="3467099"/>
                </a:lnTo>
                <a:lnTo>
                  <a:pt x="367267" y="3428999"/>
                </a:lnTo>
                <a:lnTo>
                  <a:pt x="344976" y="3390899"/>
                </a:lnTo>
                <a:lnTo>
                  <a:pt x="323314" y="3352799"/>
                </a:lnTo>
                <a:lnTo>
                  <a:pt x="302291" y="3314699"/>
                </a:lnTo>
                <a:lnTo>
                  <a:pt x="281911" y="3276599"/>
                </a:lnTo>
                <a:lnTo>
                  <a:pt x="262182" y="3238499"/>
                </a:lnTo>
                <a:lnTo>
                  <a:pt x="243111" y="3187699"/>
                </a:lnTo>
                <a:lnTo>
                  <a:pt x="224705" y="3149599"/>
                </a:lnTo>
                <a:lnTo>
                  <a:pt x="206969" y="3111499"/>
                </a:lnTo>
                <a:lnTo>
                  <a:pt x="189912" y="3060699"/>
                </a:lnTo>
                <a:lnTo>
                  <a:pt x="173540" y="3022599"/>
                </a:lnTo>
                <a:lnTo>
                  <a:pt x="157860" y="2984499"/>
                </a:lnTo>
                <a:lnTo>
                  <a:pt x="142878" y="2933699"/>
                </a:lnTo>
                <a:lnTo>
                  <a:pt x="128601" y="2895599"/>
                </a:lnTo>
                <a:lnTo>
                  <a:pt x="115037" y="2844799"/>
                </a:lnTo>
                <a:lnTo>
                  <a:pt x="102192" y="2806699"/>
                </a:lnTo>
                <a:lnTo>
                  <a:pt x="90072" y="2755899"/>
                </a:lnTo>
                <a:lnTo>
                  <a:pt x="78685" y="2717799"/>
                </a:lnTo>
                <a:lnTo>
                  <a:pt x="68037" y="2666999"/>
                </a:lnTo>
                <a:lnTo>
                  <a:pt x="58136" y="2628899"/>
                </a:lnTo>
                <a:lnTo>
                  <a:pt x="48988" y="2578099"/>
                </a:lnTo>
                <a:lnTo>
                  <a:pt x="40599" y="2539999"/>
                </a:lnTo>
                <a:lnTo>
                  <a:pt x="32977" y="2489199"/>
                </a:lnTo>
                <a:lnTo>
                  <a:pt x="26128" y="2438399"/>
                </a:lnTo>
                <a:lnTo>
                  <a:pt x="20060" y="2400299"/>
                </a:lnTo>
                <a:lnTo>
                  <a:pt x="14779" y="2349499"/>
                </a:lnTo>
                <a:lnTo>
                  <a:pt x="10291" y="2298699"/>
                </a:lnTo>
                <a:lnTo>
                  <a:pt x="6604" y="2247899"/>
                </a:lnTo>
                <a:lnTo>
                  <a:pt x="3725" y="2209799"/>
                </a:lnTo>
                <a:lnTo>
                  <a:pt x="1660" y="2158999"/>
                </a:lnTo>
                <a:lnTo>
                  <a:pt x="416" y="2108199"/>
                </a:lnTo>
                <a:lnTo>
                  <a:pt x="0" y="2057399"/>
                </a:lnTo>
                <a:lnTo>
                  <a:pt x="416" y="2019299"/>
                </a:lnTo>
                <a:lnTo>
                  <a:pt x="1660" y="1968499"/>
                </a:lnTo>
                <a:lnTo>
                  <a:pt x="3725" y="1917699"/>
                </a:lnTo>
                <a:lnTo>
                  <a:pt x="6604" y="1866899"/>
                </a:lnTo>
                <a:lnTo>
                  <a:pt x="10290" y="1816099"/>
                </a:lnTo>
                <a:lnTo>
                  <a:pt x="14778" y="1777999"/>
                </a:lnTo>
                <a:lnTo>
                  <a:pt x="20059" y="1727199"/>
                </a:lnTo>
                <a:lnTo>
                  <a:pt x="26126" y="1676399"/>
                </a:lnTo>
                <a:lnTo>
                  <a:pt x="32975" y="1638299"/>
                </a:lnTo>
                <a:lnTo>
                  <a:pt x="40596" y="1587499"/>
                </a:lnTo>
                <a:lnTo>
                  <a:pt x="48984" y="1536699"/>
                </a:lnTo>
                <a:lnTo>
                  <a:pt x="58132" y="1498599"/>
                </a:lnTo>
                <a:lnTo>
                  <a:pt x="68033" y="1447799"/>
                </a:lnTo>
                <a:lnTo>
                  <a:pt x="78680" y="1409699"/>
                </a:lnTo>
                <a:lnTo>
                  <a:pt x="90066" y="1358899"/>
                </a:lnTo>
                <a:lnTo>
                  <a:pt x="102185" y="1320799"/>
                </a:lnTo>
                <a:lnTo>
                  <a:pt x="115029" y="1269999"/>
                </a:lnTo>
                <a:lnTo>
                  <a:pt x="128593" y="1231899"/>
                </a:lnTo>
                <a:lnTo>
                  <a:pt x="142869" y="1181099"/>
                </a:lnTo>
                <a:lnTo>
                  <a:pt x="157850" y="1142999"/>
                </a:lnTo>
                <a:lnTo>
                  <a:pt x="173529" y="1104899"/>
                </a:lnTo>
                <a:lnTo>
                  <a:pt x="189900" y="1054099"/>
                </a:lnTo>
                <a:lnTo>
                  <a:pt x="206956" y="1015999"/>
                </a:lnTo>
                <a:lnTo>
                  <a:pt x="224691" y="977899"/>
                </a:lnTo>
                <a:lnTo>
                  <a:pt x="243096" y="927099"/>
                </a:lnTo>
                <a:lnTo>
                  <a:pt x="262166" y="888999"/>
                </a:lnTo>
                <a:lnTo>
                  <a:pt x="281894" y="850899"/>
                </a:lnTo>
                <a:lnTo>
                  <a:pt x="302273" y="812799"/>
                </a:lnTo>
                <a:lnTo>
                  <a:pt x="323296" y="761999"/>
                </a:lnTo>
                <a:lnTo>
                  <a:pt x="344956" y="723899"/>
                </a:lnTo>
                <a:lnTo>
                  <a:pt x="367246" y="685799"/>
                </a:lnTo>
                <a:lnTo>
                  <a:pt x="390160" y="647699"/>
                </a:lnTo>
                <a:lnTo>
                  <a:pt x="413691" y="609599"/>
                </a:lnTo>
                <a:lnTo>
                  <a:pt x="437833" y="571499"/>
                </a:lnTo>
                <a:lnTo>
                  <a:pt x="462577" y="533399"/>
                </a:lnTo>
                <a:lnTo>
                  <a:pt x="487918" y="495299"/>
                </a:lnTo>
                <a:lnTo>
                  <a:pt x="513848" y="457199"/>
                </a:lnTo>
                <a:lnTo>
                  <a:pt x="540362" y="431799"/>
                </a:lnTo>
                <a:lnTo>
                  <a:pt x="567451" y="393699"/>
                </a:lnTo>
                <a:lnTo>
                  <a:pt x="595110" y="355599"/>
                </a:lnTo>
                <a:lnTo>
                  <a:pt x="623331" y="317499"/>
                </a:lnTo>
                <a:lnTo>
                  <a:pt x="652108" y="279399"/>
                </a:lnTo>
                <a:lnTo>
                  <a:pt x="681433" y="253999"/>
                </a:lnTo>
                <a:lnTo>
                  <a:pt x="711301" y="215899"/>
                </a:lnTo>
                <a:lnTo>
                  <a:pt x="741704" y="190499"/>
                </a:lnTo>
                <a:lnTo>
                  <a:pt x="772635" y="152399"/>
                </a:lnTo>
                <a:lnTo>
                  <a:pt x="804088" y="114299"/>
                </a:lnTo>
                <a:lnTo>
                  <a:pt x="836056" y="88899"/>
                </a:lnTo>
                <a:lnTo>
                  <a:pt x="868531" y="63499"/>
                </a:lnTo>
                <a:lnTo>
                  <a:pt x="901508" y="25399"/>
                </a:lnTo>
                <a:lnTo>
                  <a:pt x="934980" y="0"/>
                </a:lnTo>
                <a:lnTo>
                  <a:pt x="4555759" y="0"/>
                </a:lnTo>
                <a:lnTo>
                  <a:pt x="4589229" y="25399"/>
                </a:lnTo>
                <a:lnTo>
                  <a:pt x="4622204" y="63499"/>
                </a:lnTo>
                <a:lnTo>
                  <a:pt x="4654679" y="88899"/>
                </a:lnTo>
                <a:lnTo>
                  <a:pt x="4686645" y="114299"/>
                </a:lnTo>
                <a:lnTo>
                  <a:pt x="4718096" y="152399"/>
                </a:lnTo>
                <a:lnTo>
                  <a:pt x="4749026" y="190499"/>
                </a:lnTo>
                <a:lnTo>
                  <a:pt x="4779427" y="215899"/>
                </a:lnTo>
                <a:lnTo>
                  <a:pt x="4809293" y="253999"/>
                </a:lnTo>
                <a:lnTo>
                  <a:pt x="4838617" y="279399"/>
                </a:lnTo>
                <a:lnTo>
                  <a:pt x="4867393" y="317499"/>
                </a:lnTo>
                <a:lnTo>
                  <a:pt x="4895612" y="355599"/>
                </a:lnTo>
                <a:lnTo>
                  <a:pt x="4923269" y="393699"/>
                </a:lnTo>
                <a:lnTo>
                  <a:pt x="4950357" y="431799"/>
                </a:lnTo>
                <a:lnTo>
                  <a:pt x="4976869" y="457199"/>
                </a:lnTo>
                <a:lnTo>
                  <a:pt x="5002798" y="495299"/>
                </a:lnTo>
                <a:lnTo>
                  <a:pt x="5028138" y="533399"/>
                </a:lnTo>
                <a:lnTo>
                  <a:pt x="5052881" y="571499"/>
                </a:lnTo>
                <a:lnTo>
                  <a:pt x="5077021" y="609599"/>
                </a:lnTo>
                <a:lnTo>
                  <a:pt x="5100550" y="647699"/>
                </a:lnTo>
                <a:lnTo>
                  <a:pt x="5123463" y="685799"/>
                </a:lnTo>
                <a:lnTo>
                  <a:pt x="5145752" y="723899"/>
                </a:lnTo>
                <a:lnTo>
                  <a:pt x="5167411" y="761999"/>
                </a:lnTo>
                <a:lnTo>
                  <a:pt x="5188433" y="812799"/>
                </a:lnTo>
                <a:lnTo>
                  <a:pt x="5208810" y="850899"/>
                </a:lnTo>
                <a:lnTo>
                  <a:pt x="5228537" y="888999"/>
                </a:lnTo>
                <a:lnTo>
                  <a:pt x="5247606" y="927099"/>
                </a:lnTo>
                <a:lnTo>
                  <a:pt x="5266010" y="977899"/>
                </a:lnTo>
                <a:lnTo>
                  <a:pt x="5283743" y="1015999"/>
                </a:lnTo>
                <a:lnTo>
                  <a:pt x="5300798" y="1054099"/>
                </a:lnTo>
                <a:lnTo>
                  <a:pt x="5317168" y="1104899"/>
                </a:lnTo>
                <a:lnTo>
                  <a:pt x="5332847" y="1142999"/>
                </a:lnTo>
                <a:lnTo>
                  <a:pt x="5347827" y="1181099"/>
                </a:lnTo>
                <a:lnTo>
                  <a:pt x="5362101" y="1231899"/>
                </a:lnTo>
                <a:lnTo>
                  <a:pt x="5375664" y="1269999"/>
                </a:lnTo>
                <a:lnTo>
                  <a:pt x="5388508" y="1320799"/>
                </a:lnTo>
                <a:lnTo>
                  <a:pt x="5400626" y="1358899"/>
                </a:lnTo>
                <a:lnTo>
                  <a:pt x="5412011" y="1409699"/>
                </a:lnTo>
                <a:lnTo>
                  <a:pt x="5422657" y="1447799"/>
                </a:lnTo>
                <a:lnTo>
                  <a:pt x="5432558" y="1498599"/>
                </a:lnTo>
                <a:lnTo>
                  <a:pt x="5441705" y="1536699"/>
                </a:lnTo>
                <a:lnTo>
                  <a:pt x="5450092" y="1587499"/>
                </a:lnTo>
                <a:lnTo>
                  <a:pt x="5457713" y="1638299"/>
                </a:lnTo>
                <a:lnTo>
                  <a:pt x="5464561" y="1676399"/>
                </a:lnTo>
                <a:lnTo>
                  <a:pt x="5470628" y="1727199"/>
                </a:lnTo>
                <a:lnTo>
                  <a:pt x="5475909" y="1777999"/>
                </a:lnTo>
                <a:lnTo>
                  <a:pt x="5480396" y="1816099"/>
                </a:lnTo>
                <a:lnTo>
                  <a:pt x="5484082" y="1866899"/>
                </a:lnTo>
                <a:lnTo>
                  <a:pt x="5486961" y="1917699"/>
                </a:lnTo>
                <a:lnTo>
                  <a:pt x="5489026" y="1968499"/>
                </a:lnTo>
                <a:lnTo>
                  <a:pt x="5490270" y="2019299"/>
                </a:lnTo>
                <a:lnTo>
                  <a:pt x="5490686" y="2057399"/>
                </a:lnTo>
                <a:lnTo>
                  <a:pt x="5490270" y="2108199"/>
                </a:lnTo>
                <a:lnTo>
                  <a:pt x="5489026" y="2158999"/>
                </a:lnTo>
                <a:lnTo>
                  <a:pt x="5486961" y="2209799"/>
                </a:lnTo>
                <a:lnTo>
                  <a:pt x="5484081" y="2247899"/>
                </a:lnTo>
                <a:lnTo>
                  <a:pt x="5480395" y="2298699"/>
                </a:lnTo>
                <a:lnTo>
                  <a:pt x="5475908" y="2349499"/>
                </a:lnTo>
                <a:lnTo>
                  <a:pt x="5470627" y="2400299"/>
                </a:lnTo>
                <a:lnTo>
                  <a:pt x="5464559" y="2438399"/>
                </a:lnTo>
                <a:lnTo>
                  <a:pt x="5457711" y="2489199"/>
                </a:lnTo>
                <a:lnTo>
                  <a:pt x="5450089" y="2539999"/>
                </a:lnTo>
                <a:lnTo>
                  <a:pt x="5441701" y="2578099"/>
                </a:lnTo>
                <a:lnTo>
                  <a:pt x="5432553" y="2628899"/>
                </a:lnTo>
                <a:lnTo>
                  <a:pt x="5422653" y="2666999"/>
                </a:lnTo>
                <a:lnTo>
                  <a:pt x="5412006" y="2717799"/>
                </a:lnTo>
                <a:lnTo>
                  <a:pt x="5400620" y="2755899"/>
                </a:lnTo>
                <a:lnTo>
                  <a:pt x="5388501" y="2806699"/>
                </a:lnTo>
                <a:lnTo>
                  <a:pt x="5375656" y="2844799"/>
                </a:lnTo>
                <a:lnTo>
                  <a:pt x="5362093" y="2895599"/>
                </a:lnTo>
                <a:lnTo>
                  <a:pt x="5347817" y="2933699"/>
                </a:lnTo>
                <a:lnTo>
                  <a:pt x="5332837" y="2984499"/>
                </a:lnTo>
                <a:lnTo>
                  <a:pt x="5317157" y="3022599"/>
                </a:lnTo>
                <a:lnTo>
                  <a:pt x="5300786" y="3060699"/>
                </a:lnTo>
                <a:lnTo>
                  <a:pt x="5283730" y="3111499"/>
                </a:lnTo>
                <a:lnTo>
                  <a:pt x="5265996" y="3149599"/>
                </a:lnTo>
                <a:lnTo>
                  <a:pt x="5247591" y="3187699"/>
                </a:lnTo>
                <a:lnTo>
                  <a:pt x="5228521" y="3238499"/>
                </a:lnTo>
                <a:lnTo>
                  <a:pt x="5208793" y="3276599"/>
                </a:lnTo>
                <a:lnTo>
                  <a:pt x="5188415" y="3314699"/>
                </a:lnTo>
                <a:lnTo>
                  <a:pt x="5167392" y="3352799"/>
                </a:lnTo>
                <a:lnTo>
                  <a:pt x="5145733" y="3390899"/>
                </a:lnTo>
                <a:lnTo>
                  <a:pt x="5123442" y="3428999"/>
                </a:lnTo>
                <a:lnTo>
                  <a:pt x="5100529" y="3467099"/>
                </a:lnTo>
                <a:lnTo>
                  <a:pt x="5076998" y="3517899"/>
                </a:lnTo>
                <a:lnTo>
                  <a:pt x="5052857" y="3555999"/>
                </a:lnTo>
                <a:lnTo>
                  <a:pt x="5028113" y="3581399"/>
                </a:lnTo>
                <a:lnTo>
                  <a:pt x="5002773" y="3619499"/>
                </a:lnTo>
                <a:lnTo>
                  <a:pt x="4976843" y="3657599"/>
                </a:lnTo>
                <a:lnTo>
                  <a:pt x="4950330" y="3695699"/>
                </a:lnTo>
                <a:lnTo>
                  <a:pt x="4923241" y="3733799"/>
                </a:lnTo>
                <a:lnTo>
                  <a:pt x="4895583" y="3771899"/>
                </a:lnTo>
                <a:lnTo>
                  <a:pt x="4867362" y="3797299"/>
                </a:lnTo>
                <a:lnTo>
                  <a:pt x="4838586" y="3835399"/>
                </a:lnTo>
                <a:lnTo>
                  <a:pt x="4809261" y="3873499"/>
                </a:lnTo>
                <a:lnTo>
                  <a:pt x="4779394" y="3911599"/>
                </a:lnTo>
                <a:lnTo>
                  <a:pt x="4748992" y="3936999"/>
                </a:lnTo>
                <a:lnTo>
                  <a:pt x="4718061" y="3975099"/>
                </a:lnTo>
                <a:lnTo>
                  <a:pt x="4686609" y="4000499"/>
                </a:lnTo>
                <a:lnTo>
                  <a:pt x="4654642" y="4038599"/>
                </a:lnTo>
                <a:lnTo>
                  <a:pt x="4622167" y="4063999"/>
                </a:lnTo>
                <a:lnTo>
                  <a:pt x="4589191" y="4089399"/>
                </a:lnTo>
                <a:lnTo>
                  <a:pt x="4555721" y="4127499"/>
                </a:lnTo>
                <a:lnTo>
                  <a:pt x="4521763" y="4152899"/>
                </a:lnTo>
                <a:lnTo>
                  <a:pt x="4487324" y="4178299"/>
                </a:lnTo>
                <a:lnTo>
                  <a:pt x="4452412" y="4216399"/>
                </a:lnTo>
                <a:lnTo>
                  <a:pt x="4417032" y="4241799"/>
                </a:lnTo>
                <a:lnTo>
                  <a:pt x="4344898" y="4292599"/>
                </a:lnTo>
                <a:lnTo>
                  <a:pt x="4270977" y="4343399"/>
                </a:lnTo>
                <a:lnTo>
                  <a:pt x="4195324" y="4394199"/>
                </a:lnTo>
                <a:lnTo>
                  <a:pt x="4117993" y="4444999"/>
                </a:lnTo>
                <a:lnTo>
                  <a:pt x="4078715" y="4457699"/>
                </a:lnTo>
                <a:lnTo>
                  <a:pt x="3998969" y="4508499"/>
                </a:lnTo>
                <a:lnTo>
                  <a:pt x="3958514" y="4521199"/>
                </a:lnTo>
                <a:lnTo>
                  <a:pt x="3917681" y="4546599"/>
                </a:lnTo>
                <a:lnTo>
                  <a:pt x="3876475" y="4559299"/>
                </a:lnTo>
                <a:lnTo>
                  <a:pt x="3834905" y="4584699"/>
                </a:lnTo>
                <a:lnTo>
                  <a:pt x="3792976" y="4597399"/>
                </a:lnTo>
                <a:lnTo>
                  <a:pt x="3750696" y="4622799"/>
                </a:lnTo>
                <a:lnTo>
                  <a:pt x="3665109" y="4648199"/>
                </a:lnTo>
                <a:lnTo>
                  <a:pt x="3264366" y="4762499"/>
                </a:lnTo>
                <a:close/>
              </a:path>
              <a:path w="5490844" h="4800600">
                <a:moveTo>
                  <a:pt x="3172170" y="4775199"/>
                </a:moveTo>
                <a:lnTo>
                  <a:pt x="2318609" y="4775199"/>
                </a:lnTo>
                <a:lnTo>
                  <a:pt x="2272378" y="4762499"/>
                </a:lnTo>
                <a:lnTo>
                  <a:pt x="3218399" y="4762499"/>
                </a:lnTo>
                <a:lnTo>
                  <a:pt x="3172170" y="4775199"/>
                </a:lnTo>
                <a:close/>
              </a:path>
              <a:path w="5490844" h="4800600">
                <a:moveTo>
                  <a:pt x="3078948" y="4787899"/>
                </a:moveTo>
                <a:lnTo>
                  <a:pt x="2411831" y="4787899"/>
                </a:lnTo>
                <a:lnTo>
                  <a:pt x="2365095" y="4775199"/>
                </a:lnTo>
                <a:lnTo>
                  <a:pt x="3125684" y="4775199"/>
                </a:lnTo>
                <a:lnTo>
                  <a:pt x="3078948" y="4787899"/>
                </a:lnTo>
                <a:close/>
              </a:path>
              <a:path w="5490844" h="4800600">
                <a:moveTo>
                  <a:pt x="2984757" y="4800599"/>
                </a:moveTo>
                <a:lnTo>
                  <a:pt x="2506023" y="4800599"/>
                </a:lnTo>
                <a:lnTo>
                  <a:pt x="2458809" y="4787899"/>
                </a:lnTo>
                <a:lnTo>
                  <a:pt x="3031971" y="4787899"/>
                </a:lnTo>
                <a:lnTo>
                  <a:pt x="2984757" y="4800599"/>
                </a:lnTo>
                <a:close/>
              </a:path>
            </a:pathLst>
          </a:custGeom>
          <a:solidFill>
            <a:srgbClr val="8B5CF5">
              <a:alpha val="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23607" y="562794"/>
            <a:ext cx="343535" cy="20955"/>
          </a:xfrm>
          <a:custGeom>
            <a:avLst/>
            <a:gdLst/>
            <a:ahLst/>
            <a:cxnLst/>
            <a:rect l="l" t="t" r="r" b="b"/>
            <a:pathLst>
              <a:path w="343534" h="20954">
                <a:moveTo>
                  <a:pt x="343163" y="20593"/>
                </a:moveTo>
                <a:lnTo>
                  <a:pt x="0" y="20593"/>
                </a:lnTo>
                <a:lnTo>
                  <a:pt x="0" y="0"/>
                </a:lnTo>
                <a:lnTo>
                  <a:pt x="343163" y="0"/>
                </a:lnTo>
                <a:lnTo>
                  <a:pt x="343163" y="20593"/>
                </a:lnTo>
                <a:close/>
              </a:path>
            </a:pathLst>
          </a:custGeom>
          <a:solidFill>
            <a:srgbClr val="00D4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41602" y="475256"/>
            <a:ext cx="116078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00D4AA"/>
                </a:solidFill>
                <a:latin typeface="Calibri"/>
                <a:cs typeface="Calibri"/>
              </a:rPr>
              <a:t>THE</a:t>
            </a:r>
            <a:r>
              <a:rPr dirty="0" sz="1500" spc="-35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00D4AA"/>
                </a:solidFill>
                <a:latin typeface="Calibri"/>
                <a:cs typeface="Calibri"/>
              </a:rPr>
              <a:t>PROBLEM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Businesses</a:t>
            </a:r>
            <a:r>
              <a:rPr dirty="0" spc="-100"/>
              <a:t> </a:t>
            </a:r>
            <a:r>
              <a:rPr dirty="0"/>
              <a:t>drown</a:t>
            </a:r>
            <a:r>
              <a:rPr dirty="0" spc="-100"/>
              <a:t> </a:t>
            </a:r>
            <a:r>
              <a:rPr dirty="0"/>
              <a:t>in</a:t>
            </a:r>
            <a:r>
              <a:rPr dirty="0" spc="-95"/>
              <a:t> </a:t>
            </a:r>
            <a:r>
              <a:rPr dirty="0"/>
              <a:t>software.</a:t>
            </a:r>
            <a:r>
              <a:rPr dirty="0" spc="-100"/>
              <a:t> </a:t>
            </a:r>
            <a:r>
              <a:rPr dirty="0"/>
              <a:t>Work</a:t>
            </a:r>
            <a:r>
              <a:rPr dirty="0" spc="-100"/>
              <a:t> </a:t>
            </a:r>
            <a:r>
              <a:rPr dirty="0"/>
              <a:t>still</a:t>
            </a:r>
            <a:r>
              <a:rPr dirty="0" spc="-95"/>
              <a:t> </a:t>
            </a:r>
            <a:r>
              <a:rPr dirty="0"/>
              <a:t>doesn't</a:t>
            </a:r>
            <a:r>
              <a:rPr dirty="0" spc="-100"/>
              <a:t> </a:t>
            </a:r>
            <a:r>
              <a:rPr dirty="0"/>
              <a:t>get</a:t>
            </a:r>
            <a:r>
              <a:rPr dirty="0" spc="-95"/>
              <a:t> </a:t>
            </a:r>
            <a:r>
              <a:rPr dirty="0" spc="-25"/>
              <a:t>do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672038" y="2044705"/>
            <a:ext cx="8265159" cy="2771775"/>
            <a:chOff x="672038" y="2044705"/>
            <a:chExt cx="8265159" cy="2771775"/>
          </a:xfrm>
        </p:grpSpPr>
        <p:sp>
          <p:nvSpPr>
            <p:cNvPr id="7" name="object 7"/>
            <p:cNvSpPr/>
            <p:nvPr/>
          </p:nvSpPr>
          <p:spPr>
            <a:xfrm>
              <a:off x="681570" y="2054238"/>
              <a:ext cx="8246109" cy="2755265"/>
            </a:xfrm>
            <a:custGeom>
              <a:avLst/>
              <a:gdLst/>
              <a:ahLst/>
              <a:cxnLst/>
              <a:rect l="l" t="t" r="r" b="b"/>
              <a:pathLst>
                <a:path w="8246109" h="2755265">
                  <a:moveTo>
                    <a:pt x="8107775" y="2754820"/>
                  </a:moveTo>
                  <a:lnTo>
                    <a:pt x="137731" y="2754820"/>
                  </a:lnTo>
                  <a:lnTo>
                    <a:pt x="94183" y="2747838"/>
                  </a:lnTo>
                  <a:lnTo>
                    <a:pt x="56372" y="2728298"/>
                  </a:lnTo>
                  <a:lnTo>
                    <a:pt x="26563" y="2698475"/>
                  </a:lnTo>
                  <a:lnTo>
                    <a:pt x="7018" y="2660646"/>
                  </a:lnTo>
                  <a:lnTo>
                    <a:pt x="0" y="2617088"/>
                  </a:lnTo>
                  <a:lnTo>
                    <a:pt x="0" y="137731"/>
                  </a:lnTo>
                  <a:lnTo>
                    <a:pt x="7018" y="94183"/>
                  </a:lnTo>
                  <a:lnTo>
                    <a:pt x="26563" y="56372"/>
                  </a:lnTo>
                  <a:lnTo>
                    <a:pt x="56372" y="26563"/>
                  </a:lnTo>
                  <a:lnTo>
                    <a:pt x="94183" y="7018"/>
                  </a:lnTo>
                  <a:lnTo>
                    <a:pt x="137731" y="0"/>
                  </a:lnTo>
                  <a:lnTo>
                    <a:pt x="8107775" y="0"/>
                  </a:lnTo>
                  <a:lnTo>
                    <a:pt x="8151323" y="7018"/>
                  </a:lnTo>
                  <a:lnTo>
                    <a:pt x="8189133" y="26563"/>
                  </a:lnTo>
                  <a:lnTo>
                    <a:pt x="8218943" y="56372"/>
                  </a:lnTo>
                  <a:lnTo>
                    <a:pt x="8238488" y="94183"/>
                  </a:lnTo>
                  <a:lnTo>
                    <a:pt x="8245506" y="137731"/>
                  </a:lnTo>
                  <a:lnTo>
                    <a:pt x="8245506" y="2617088"/>
                  </a:lnTo>
                  <a:lnTo>
                    <a:pt x="8238483" y="2660646"/>
                  </a:lnTo>
                  <a:lnTo>
                    <a:pt x="8218916" y="2698475"/>
                  </a:lnTo>
                  <a:lnTo>
                    <a:pt x="8189054" y="2728298"/>
                  </a:lnTo>
                  <a:lnTo>
                    <a:pt x="8151097" y="2747838"/>
                  </a:lnTo>
                  <a:lnTo>
                    <a:pt x="8107775" y="2754820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81570" y="2054238"/>
              <a:ext cx="8246109" cy="2752725"/>
            </a:xfrm>
            <a:custGeom>
              <a:avLst/>
              <a:gdLst/>
              <a:ahLst/>
              <a:cxnLst/>
              <a:rect l="l" t="t" r="r" b="b"/>
              <a:pathLst>
                <a:path w="8246109" h="2752725">
                  <a:moveTo>
                    <a:pt x="124668" y="2752672"/>
                  </a:moveTo>
                  <a:lnTo>
                    <a:pt x="56379" y="2728305"/>
                  </a:lnTo>
                  <a:lnTo>
                    <a:pt x="26553" y="2698455"/>
                  </a:lnTo>
                  <a:lnTo>
                    <a:pt x="7009" y="2660594"/>
                  </a:lnTo>
                  <a:lnTo>
                    <a:pt x="0" y="2617023"/>
                  </a:lnTo>
                  <a:lnTo>
                    <a:pt x="2" y="137714"/>
                  </a:lnTo>
                  <a:lnTo>
                    <a:pt x="7036" y="94147"/>
                  </a:lnTo>
                  <a:lnTo>
                    <a:pt x="26605" y="56330"/>
                  </a:lnTo>
                  <a:lnTo>
                    <a:pt x="56438" y="26529"/>
                  </a:lnTo>
                  <a:lnTo>
                    <a:pt x="94262" y="7005"/>
                  </a:lnTo>
                  <a:lnTo>
                    <a:pt x="137811" y="0"/>
                  </a:lnTo>
                  <a:lnTo>
                    <a:pt x="8107655" y="0"/>
                  </a:lnTo>
                  <a:lnTo>
                    <a:pt x="8151228" y="6968"/>
                  </a:lnTo>
                  <a:lnTo>
                    <a:pt x="8189072" y="26502"/>
                  </a:lnTo>
                  <a:lnTo>
                    <a:pt x="8218917" y="56321"/>
                  </a:lnTo>
                  <a:lnTo>
                    <a:pt x="8238485" y="94161"/>
                  </a:lnTo>
                  <a:lnTo>
                    <a:pt x="8245506" y="137728"/>
                  </a:lnTo>
                  <a:lnTo>
                    <a:pt x="8245383" y="2617089"/>
                  </a:lnTo>
                  <a:lnTo>
                    <a:pt x="8238490" y="2660634"/>
                  </a:lnTo>
                  <a:lnTo>
                    <a:pt x="8218916" y="2698475"/>
                  </a:lnTo>
                  <a:lnTo>
                    <a:pt x="8189066" y="2728292"/>
                  </a:lnTo>
                  <a:lnTo>
                    <a:pt x="8151256" y="2747837"/>
                  </a:lnTo>
                  <a:lnTo>
                    <a:pt x="8120764" y="2752638"/>
                  </a:lnTo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86333" y="2059009"/>
              <a:ext cx="55244" cy="2745740"/>
            </a:xfrm>
            <a:custGeom>
              <a:avLst/>
              <a:gdLst/>
              <a:ahLst/>
              <a:cxnLst/>
              <a:rect l="l" t="t" r="r" b="b"/>
              <a:pathLst>
                <a:path w="55245" h="2745740">
                  <a:moveTo>
                    <a:pt x="54911" y="2745366"/>
                  </a:moveTo>
                  <a:lnTo>
                    <a:pt x="0" y="2745366"/>
                  </a:lnTo>
                  <a:lnTo>
                    <a:pt x="0" y="0"/>
                  </a:lnTo>
                  <a:lnTo>
                    <a:pt x="54911" y="0"/>
                  </a:lnTo>
                  <a:lnTo>
                    <a:pt x="54911" y="2745366"/>
                  </a:lnTo>
                  <a:close/>
                </a:path>
              </a:pathLst>
            </a:custGeom>
            <a:solidFill>
              <a:srgbClr val="00D4A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970975" y="2110659"/>
            <a:ext cx="7307580" cy="996315"/>
          </a:xfrm>
          <a:prstGeom prst="rect">
            <a:avLst/>
          </a:prstGeom>
        </p:spPr>
        <p:txBody>
          <a:bodyPr wrap="square" lIns="0" tIns="1206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dirty="0" sz="1950" b="1">
                <a:solidFill>
                  <a:srgbClr val="00426F"/>
                </a:solidFill>
                <a:latin typeface="Calibri"/>
                <a:cs typeface="Calibri"/>
              </a:rPr>
              <a:t>Tool</a:t>
            </a:r>
            <a:r>
              <a:rPr dirty="0" sz="1950" spc="-40" b="1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950" b="1">
                <a:solidFill>
                  <a:srgbClr val="00426F"/>
                </a:solidFill>
                <a:latin typeface="Calibri"/>
                <a:cs typeface="Calibri"/>
              </a:rPr>
              <a:t>sprawl</a:t>
            </a:r>
            <a:r>
              <a:rPr dirty="0" sz="1950" spc="-40" b="1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950" b="1">
                <a:solidFill>
                  <a:srgbClr val="00426F"/>
                </a:solidFill>
                <a:latin typeface="Calibri"/>
                <a:cs typeface="Calibri"/>
              </a:rPr>
              <a:t>is</a:t>
            </a:r>
            <a:r>
              <a:rPr dirty="0" sz="1950" spc="-40" b="1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950" b="1">
                <a:solidFill>
                  <a:srgbClr val="00426F"/>
                </a:solidFill>
                <a:latin typeface="Calibri"/>
                <a:cs typeface="Calibri"/>
              </a:rPr>
              <a:t>suffocating</a:t>
            </a:r>
            <a:r>
              <a:rPr dirty="0" sz="1950" spc="-40" b="1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950" spc="-10" b="1">
                <a:solidFill>
                  <a:srgbClr val="00426F"/>
                </a:solidFill>
                <a:latin typeface="Calibri"/>
                <a:cs typeface="Calibri"/>
              </a:rPr>
              <a:t>teams</a:t>
            </a:r>
            <a:endParaRPr sz="1950">
              <a:latin typeface="Calibri"/>
              <a:cs typeface="Calibri"/>
            </a:endParaRPr>
          </a:p>
          <a:p>
            <a:pPr marL="12700" marR="5080">
              <a:lnSpc>
                <a:spcPct val="100800"/>
              </a:lnSpc>
              <a:spcBef>
                <a:spcPts val="695"/>
              </a:spcBef>
            </a:pP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CRM,</a:t>
            </a:r>
            <a:r>
              <a:rPr dirty="0" sz="1550" spc="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helpdesk,</a:t>
            </a:r>
            <a:r>
              <a:rPr dirty="0" sz="1550" spc="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email,</a:t>
            </a:r>
            <a:r>
              <a:rPr dirty="0" sz="1550" spc="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dialers,</a:t>
            </a:r>
            <a:r>
              <a:rPr dirty="0" sz="1550" spc="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knowledge</a:t>
            </a:r>
            <a:r>
              <a:rPr dirty="0" sz="1550" spc="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bases</a:t>
            </a:r>
            <a:r>
              <a:rPr dirty="0" sz="1550" spc="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—</a:t>
            </a:r>
            <a:r>
              <a:rPr dirty="0" sz="1550" spc="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employees</a:t>
            </a:r>
            <a:r>
              <a:rPr dirty="0" sz="1550" spc="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still</a:t>
            </a:r>
            <a:r>
              <a:rPr dirty="0" sz="1550" spc="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search</a:t>
            </a:r>
            <a:r>
              <a:rPr dirty="0" sz="1550" spc="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manually</a:t>
            </a:r>
            <a:r>
              <a:rPr dirty="0" sz="1550" spc="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 spc="-10">
                <a:solidFill>
                  <a:srgbClr val="8B8FA2"/>
                </a:solidFill>
                <a:latin typeface="Calibri"/>
                <a:cs typeface="Calibri"/>
              </a:rPr>
              <a:t>across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disconnected</a:t>
            </a:r>
            <a:r>
              <a:rPr dirty="0" sz="1550" spc="6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 spc="-10">
                <a:solidFill>
                  <a:srgbClr val="8B8FA2"/>
                </a:solidFill>
                <a:latin typeface="Calibri"/>
                <a:cs typeface="Calibri"/>
              </a:rPr>
              <a:t>systems.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319871" y="2044705"/>
            <a:ext cx="8265159" cy="2771775"/>
            <a:chOff x="9319871" y="2044705"/>
            <a:chExt cx="8265159" cy="2771775"/>
          </a:xfrm>
        </p:grpSpPr>
        <p:sp>
          <p:nvSpPr>
            <p:cNvPr id="12" name="object 12"/>
            <p:cNvSpPr/>
            <p:nvPr/>
          </p:nvSpPr>
          <p:spPr>
            <a:xfrm>
              <a:off x="9329403" y="2054238"/>
              <a:ext cx="8246109" cy="2755265"/>
            </a:xfrm>
            <a:custGeom>
              <a:avLst/>
              <a:gdLst/>
              <a:ahLst/>
              <a:cxnLst/>
              <a:rect l="l" t="t" r="r" b="b"/>
              <a:pathLst>
                <a:path w="8246109" h="2755265">
                  <a:moveTo>
                    <a:pt x="8107775" y="2754820"/>
                  </a:moveTo>
                  <a:lnTo>
                    <a:pt x="137731" y="2754820"/>
                  </a:lnTo>
                  <a:lnTo>
                    <a:pt x="94183" y="2747838"/>
                  </a:lnTo>
                  <a:lnTo>
                    <a:pt x="56372" y="2728298"/>
                  </a:lnTo>
                  <a:lnTo>
                    <a:pt x="26563" y="2698475"/>
                  </a:lnTo>
                  <a:lnTo>
                    <a:pt x="7018" y="2660646"/>
                  </a:lnTo>
                  <a:lnTo>
                    <a:pt x="0" y="2617088"/>
                  </a:lnTo>
                  <a:lnTo>
                    <a:pt x="0" y="137731"/>
                  </a:lnTo>
                  <a:lnTo>
                    <a:pt x="7018" y="94183"/>
                  </a:lnTo>
                  <a:lnTo>
                    <a:pt x="26563" y="56372"/>
                  </a:lnTo>
                  <a:lnTo>
                    <a:pt x="56372" y="26563"/>
                  </a:lnTo>
                  <a:lnTo>
                    <a:pt x="94183" y="7018"/>
                  </a:lnTo>
                  <a:lnTo>
                    <a:pt x="137731" y="0"/>
                  </a:lnTo>
                  <a:lnTo>
                    <a:pt x="8107775" y="0"/>
                  </a:lnTo>
                  <a:lnTo>
                    <a:pt x="8151323" y="7018"/>
                  </a:lnTo>
                  <a:lnTo>
                    <a:pt x="8189133" y="26563"/>
                  </a:lnTo>
                  <a:lnTo>
                    <a:pt x="8218943" y="56372"/>
                  </a:lnTo>
                  <a:lnTo>
                    <a:pt x="8238488" y="94183"/>
                  </a:lnTo>
                  <a:lnTo>
                    <a:pt x="8245506" y="137731"/>
                  </a:lnTo>
                  <a:lnTo>
                    <a:pt x="8245506" y="2617088"/>
                  </a:lnTo>
                  <a:lnTo>
                    <a:pt x="8238483" y="2660646"/>
                  </a:lnTo>
                  <a:lnTo>
                    <a:pt x="8218916" y="2698475"/>
                  </a:lnTo>
                  <a:lnTo>
                    <a:pt x="8189054" y="2728298"/>
                  </a:lnTo>
                  <a:lnTo>
                    <a:pt x="8151097" y="2747838"/>
                  </a:lnTo>
                  <a:lnTo>
                    <a:pt x="8107775" y="2754820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9329403" y="2054238"/>
              <a:ext cx="8246109" cy="2752725"/>
            </a:xfrm>
            <a:custGeom>
              <a:avLst/>
              <a:gdLst/>
              <a:ahLst/>
              <a:cxnLst/>
              <a:rect l="l" t="t" r="r" b="b"/>
              <a:pathLst>
                <a:path w="8246109" h="2752725">
                  <a:moveTo>
                    <a:pt x="124668" y="2752672"/>
                  </a:moveTo>
                  <a:lnTo>
                    <a:pt x="56379" y="2728305"/>
                  </a:lnTo>
                  <a:lnTo>
                    <a:pt x="26553" y="2698455"/>
                  </a:lnTo>
                  <a:lnTo>
                    <a:pt x="7009" y="2660594"/>
                  </a:lnTo>
                  <a:lnTo>
                    <a:pt x="0" y="2617023"/>
                  </a:lnTo>
                  <a:lnTo>
                    <a:pt x="2" y="137714"/>
                  </a:lnTo>
                  <a:lnTo>
                    <a:pt x="7036" y="94147"/>
                  </a:lnTo>
                  <a:lnTo>
                    <a:pt x="26605" y="56330"/>
                  </a:lnTo>
                  <a:lnTo>
                    <a:pt x="56437" y="26529"/>
                  </a:lnTo>
                  <a:lnTo>
                    <a:pt x="94262" y="7005"/>
                  </a:lnTo>
                  <a:lnTo>
                    <a:pt x="137811" y="0"/>
                  </a:lnTo>
                  <a:lnTo>
                    <a:pt x="8107655" y="0"/>
                  </a:lnTo>
                  <a:lnTo>
                    <a:pt x="8151228" y="6968"/>
                  </a:lnTo>
                  <a:lnTo>
                    <a:pt x="8189072" y="26502"/>
                  </a:lnTo>
                  <a:lnTo>
                    <a:pt x="8218917" y="56321"/>
                  </a:lnTo>
                  <a:lnTo>
                    <a:pt x="8238485" y="94161"/>
                  </a:lnTo>
                  <a:lnTo>
                    <a:pt x="8245506" y="137728"/>
                  </a:lnTo>
                  <a:lnTo>
                    <a:pt x="8245383" y="2617089"/>
                  </a:lnTo>
                  <a:lnTo>
                    <a:pt x="8238490" y="2660635"/>
                  </a:lnTo>
                  <a:lnTo>
                    <a:pt x="8218916" y="2698475"/>
                  </a:lnTo>
                  <a:lnTo>
                    <a:pt x="8189065" y="2728292"/>
                  </a:lnTo>
                  <a:lnTo>
                    <a:pt x="8151256" y="2747837"/>
                  </a:lnTo>
                  <a:lnTo>
                    <a:pt x="8120764" y="2752638"/>
                  </a:lnTo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9334175" y="2059009"/>
              <a:ext cx="55244" cy="2745740"/>
            </a:xfrm>
            <a:custGeom>
              <a:avLst/>
              <a:gdLst/>
              <a:ahLst/>
              <a:cxnLst/>
              <a:rect l="l" t="t" r="r" b="b"/>
              <a:pathLst>
                <a:path w="55245" h="2745740">
                  <a:moveTo>
                    <a:pt x="54911" y="2745366"/>
                  </a:moveTo>
                  <a:lnTo>
                    <a:pt x="0" y="2745366"/>
                  </a:lnTo>
                  <a:lnTo>
                    <a:pt x="0" y="0"/>
                  </a:lnTo>
                  <a:lnTo>
                    <a:pt x="54911" y="0"/>
                  </a:lnTo>
                  <a:lnTo>
                    <a:pt x="54911" y="2745366"/>
                  </a:lnTo>
                  <a:close/>
                </a:path>
              </a:pathLst>
            </a:custGeom>
            <a:solidFill>
              <a:srgbClr val="00D4A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9618808" y="2110659"/>
            <a:ext cx="7110095" cy="996315"/>
          </a:xfrm>
          <a:prstGeom prst="rect">
            <a:avLst/>
          </a:prstGeom>
        </p:spPr>
        <p:txBody>
          <a:bodyPr wrap="square" lIns="0" tIns="1206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dirty="0" sz="1950" b="1">
                <a:solidFill>
                  <a:srgbClr val="00426F"/>
                </a:solidFill>
                <a:latin typeface="Calibri"/>
                <a:cs typeface="Calibri"/>
              </a:rPr>
              <a:t>Revenue</a:t>
            </a:r>
            <a:r>
              <a:rPr dirty="0" sz="1950" spc="-60" b="1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950" b="1">
                <a:solidFill>
                  <a:srgbClr val="00426F"/>
                </a:solidFill>
                <a:latin typeface="Calibri"/>
                <a:cs typeface="Calibri"/>
              </a:rPr>
              <a:t>leaks</a:t>
            </a:r>
            <a:r>
              <a:rPr dirty="0" sz="1950" spc="-55" b="1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950" b="1">
                <a:solidFill>
                  <a:srgbClr val="00426F"/>
                </a:solidFill>
                <a:latin typeface="Calibri"/>
                <a:cs typeface="Calibri"/>
              </a:rPr>
              <a:t>from</a:t>
            </a:r>
            <a:r>
              <a:rPr dirty="0" sz="1950" spc="-55" b="1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950" b="1">
                <a:solidFill>
                  <a:srgbClr val="00426F"/>
                </a:solidFill>
                <a:latin typeface="Calibri"/>
                <a:cs typeface="Calibri"/>
              </a:rPr>
              <a:t>every</a:t>
            </a:r>
            <a:r>
              <a:rPr dirty="0" sz="1950" spc="-55" b="1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950" spc="-25" b="1">
                <a:solidFill>
                  <a:srgbClr val="00426F"/>
                </a:solidFill>
                <a:latin typeface="Calibri"/>
                <a:cs typeface="Calibri"/>
              </a:rPr>
              <a:t>gap</a:t>
            </a:r>
            <a:endParaRPr sz="1950">
              <a:latin typeface="Calibri"/>
              <a:cs typeface="Calibri"/>
            </a:endParaRPr>
          </a:p>
          <a:p>
            <a:pPr marL="12700" marR="5080">
              <a:lnSpc>
                <a:spcPct val="100800"/>
              </a:lnSpc>
              <a:spcBef>
                <a:spcPts val="695"/>
              </a:spcBef>
            </a:pP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Leads</a:t>
            </a:r>
            <a:r>
              <a:rPr dirty="0" sz="1550" spc="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go</a:t>
            </a:r>
            <a:r>
              <a:rPr dirty="0" sz="1550" spc="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stale,</a:t>
            </a:r>
            <a:r>
              <a:rPr dirty="0" sz="1550" spc="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customers</a:t>
            </a:r>
            <a:r>
              <a:rPr dirty="0" sz="1550" spc="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churn,</a:t>
            </a:r>
            <a:r>
              <a:rPr dirty="0" sz="1550" spc="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invoices</a:t>
            </a:r>
            <a:r>
              <a:rPr dirty="0" sz="1550" spc="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unpaid,</a:t>
            </a:r>
            <a:r>
              <a:rPr dirty="0" sz="1550" spc="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renewals</a:t>
            </a:r>
            <a:r>
              <a:rPr dirty="0" sz="1550" spc="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missed.</a:t>
            </a:r>
            <a:r>
              <a:rPr dirty="0" sz="1550" spc="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Each</a:t>
            </a:r>
            <a:r>
              <a:rPr dirty="0" sz="1550" spc="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gap</a:t>
            </a:r>
            <a:r>
              <a:rPr dirty="0" sz="1550" spc="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is</a:t>
            </a:r>
            <a:r>
              <a:rPr dirty="0" sz="1550" spc="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small</a:t>
            </a:r>
            <a:r>
              <a:rPr dirty="0" sz="1550" spc="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 spc="-50">
                <a:solidFill>
                  <a:srgbClr val="8B8FA2"/>
                </a:solidFill>
                <a:latin typeface="Calibri"/>
                <a:cs typeface="Calibri"/>
              </a:rPr>
              <a:t>—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collectively</a:t>
            </a:r>
            <a:r>
              <a:rPr dirty="0" sz="1550" spc="6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 spc="-10">
                <a:solidFill>
                  <a:srgbClr val="8B8FA2"/>
                </a:solidFill>
                <a:latin typeface="Calibri"/>
                <a:cs typeface="Calibri"/>
              </a:rPr>
              <a:t>catastrophic.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72038" y="5201852"/>
            <a:ext cx="8265159" cy="2771775"/>
            <a:chOff x="672038" y="5201852"/>
            <a:chExt cx="8265159" cy="2771775"/>
          </a:xfrm>
        </p:grpSpPr>
        <p:sp>
          <p:nvSpPr>
            <p:cNvPr id="17" name="object 17"/>
            <p:cNvSpPr/>
            <p:nvPr/>
          </p:nvSpPr>
          <p:spPr>
            <a:xfrm>
              <a:off x="681570" y="5211385"/>
              <a:ext cx="8246109" cy="2755265"/>
            </a:xfrm>
            <a:custGeom>
              <a:avLst/>
              <a:gdLst/>
              <a:ahLst/>
              <a:cxnLst/>
              <a:rect l="l" t="t" r="r" b="b"/>
              <a:pathLst>
                <a:path w="8246109" h="2755265">
                  <a:moveTo>
                    <a:pt x="8107775" y="2754820"/>
                  </a:moveTo>
                  <a:lnTo>
                    <a:pt x="137731" y="2754820"/>
                  </a:lnTo>
                  <a:lnTo>
                    <a:pt x="94183" y="2747838"/>
                  </a:lnTo>
                  <a:lnTo>
                    <a:pt x="56372" y="2728298"/>
                  </a:lnTo>
                  <a:lnTo>
                    <a:pt x="26563" y="2698475"/>
                  </a:lnTo>
                  <a:lnTo>
                    <a:pt x="7018" y="2660646"/>
                  </a:lnTo>
                  <a:lnTo>
                    <a:pt x="0" y="2617088"/>
                  </a:lnTo>
                  <a:lnTo>
                    <a:pt x="0" y="137731"/>
                  </a:lnTo>
                  <a:lnTo>
                    <a:pt x="7018" y="94183"/>
                  </a:lnTo>
                  <a:lnTo>
                    <a:pt x="26563" y="56372"/>
                  </a:lnTo>
                  <a:lnTo>
                    <a:pt x="56372" y="26563"/>
                  </a:lnTo>
                  <a:lnTo>
                    <a:pt x="94183" y="7018"/>
                  </a:lnTo>
                  <a:lnTo>
                    <a:pt x="137731" y="0"/>
                  </a:lnTo>
                  <a:lnTo>
                    <a:pt x="8107775" y="0"/>
                  </a:lnTo>
                  <a:lnTo>
                    <a:pt x="8151323" y="7018"/>
                  </a:lnTo>
                  <a:lnTo>
                    <a:pt x="8189133" y="26563"/>
                  </a:lnTo>
                  <a:lnTo>
                    <a:pt x="8218943" y="56372"/>
                  </a:lnTo>
                  <a:lnTo>
                    <a:pt x="8238488" y="94183"/>
                  </a:lnTo>
                  <a:lnTo>
                    <a:pt x="8245506" y="137731"/>
                  </a:lnTo>
                  <a:lnTo>
                    <a:pt x="8245506" y="2617088"/>
                  </a:lnTo>
                  <a:lnTo>
                    <a:pt x="8238483" y="2660646"/>
                  </a:lnTo>
                  <a:lnTo>
                    <a:pt x="8218915" y="2698475"/>
                  </a:lnTo>
                  <a:lnTo>
                    <a:pt x="8189054" y="2728298"/>
                  </a:lnTo>
                  <a:lnTo>
                    <a:pt x="8151096" y="2747838"/>
                  </a:lnTo>
                  <a:lnTo>
                    <a:pt x="8107775" y="2754820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81570" y="5211384"/>
              <a:ext cx="8246109" cy="2752725"/>
            </a:xfrm>
            <a:custGeom>
              <a:avLst/>
              <a:gdLst/>
              <a:ahLst/>
              <a:cxnLst/>
              <a:rect l="l" t="t" r="r" b="b"/>
              <a:pathLst>
                <a:path w="8246109" h="2752725">
                  <a:moveTo>
                    <a:pt x="124668" y="2752672"/>
                  </a:moveTo>
                  <a:lnTo>
                    <a:pt x="56379" y="2728305"/>
                  </a:lnTo>
                  <a:lnTo>
                    <a:pt x="26553" y="2698455"/>
                  </a:lnTo>
                  <a:lnTo>
                    <a:pt x="7009" y="2660594"/>
                  </a:lnTo>
                  <a:lnTo>
                    <a:pt x="0" y="2617023"/>
                  </a:lnTo>
                  <a:lnTo>
                    <a:pt x="2" y="137714"/>
                  </a:lnTo>
                  <a:lnTo>
                    <a:pt x="7036" y="94147"/>
                  </a:lnTo>
                  <a:lnTo>
                    <a:pt x="26605" y="56330"/>
                  </a:lnTo>
                  <a:lnTo>
                    <a:pt x="56438" y="26529"/>
                  </a:lnTo>
                  <a:lnTo>
                    <a:pt x="94262" y="7005"/>
                  </a:lnTo>
                  <a:lnTo>
                    <a:pt x="137811" y="0"/>
                  </a:lnTo>
                  <a:lnTo>
                    <a:pt x="8107655" y="0"/>
                  </a:lnTo>
                  <a:lnTo>
                    <a:pt x="8151228" y="6968"/>
                  </a:lnTo>
                  <a:lnTo>
                    <a:pt x="8189072" y="26502"/>
                  </a:lnTo>
                  <a:lnTo>
                    <a:pt x="8218917" y="56321"/>
                  </a:lnTo>
                  <a:lnTo>
                    <a:pt x="8238485" y="94161"/>
                  </a:lnTo>
                  <a:lnTo>
                    <a:pt x="8245506" y="137727"/>
                  </a:lnTo>
                  <a:lnTo>
                    <a:pt x="8245383" y="2617089"/>
                  </a:lnTo>
                  <a:lnTo>
                    <a:pt x="8238490" y="2660634"/>
                  </a:lnTo>
                  <a:lnTo>
                    <a:pt x="8218916" y="2698475"/>
                  </a:lnTo>
                  <a:lnTo>
                    <a:pt x="8189066" y="2728292"/>
                  </a:lnTo>
                  <a:lnTo>
                    <a:pt x="8151256" y="2747837"/>
                  </a:lnTo>
                  <a:lnTo>
                    <a:pt x="8120764" y="2752638"/>
                  </a:lnTo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86333" y="5216156"/>
              <a:ext cx="55244" cy="2745740"/>
            </a:xfrm>
            <a:custGeom>
              <a:avLst/>
              <a:gdLst/>
              <a:ahLst/>
              <a:cxnLst/>
              <a:rect l="l" t="t" r="r" b="b"/>
              <a:pathLst>
                <a:path w="55245" h="2745740">
                  <a:moveTo>
                    <a:pt x="54911" y="2745366"/>
                  </a:moveTo>
                  <a:lnTo>
                    <a:pt x="0" y="2745366"/>
                  </a:lnTo>
                  <a:lnTo>
                    <a:pt x="0" y="0"/>
                  </a:lnTo>
                  <a:lnTo>
                    <a:pt x="54911" y="0"/>
                  </a:lnTo>
                  <a:lnTo>
                    <a:pt x="54911" y="2745366"/>
                  </a:lnTo>
                  <a:close/>
                </a:path>
              </a:pathLst>
            </a:custGeom>
            <a:solidFill>
              <a:srgbClr val="00D4A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970975" y="5267807"/>
            <a:ext cx="7264400" cy="996315"/>
          </a:xfrm>
          <a:prstGeom prst="rect">
            <a:avLst/>
          </a:prstGeom>
        </p:spPr>
        <p:txBody>
          <a:bodyPr wrap="square" lIns="0" tIns="1206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dirty="0" sz="1950" b="1">
                <a:solidFill>
                  <a:srgbClr val="00426F"/>
                </a:solidFill>
                <a:latin typeface="Calibri"/>
                <a:cs typeface="Calibri"/>
              </a:rPr>
              <a:t>Existing</a:t>
            </a:r>
            <a:r>
              <a:rPr dirty="0" sz="1950" spc="-40" b="1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950" b="1">
                <a:solidFill>
                  <a:srgbClr val="00426F"/>
                </a:solidFill>
                <a:latin typeface="Calibri"/>
                <a:cs typeface="Calibri"/>
              </a:rPr>
              <a:t>AI</a:t>
            </a:r>
            <a:r>
              <a:rPr dirty="0" sz="1950" spc="-35" b="1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950" b="1">
                <a:solidFill>
                  <a:srgbClr val="00426F"/>
                </a:solidFill>
                <a:latin typeface="Calibri"/>
                <a:cs typeface="Calibri"/>
              </a:rPr>
              <a:t>is</a:t>
            </a:r>
            <a:r>
              <a:rPr dirty="0" sz="1950" spc="-40" b="1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950" spc="-10" b="1">
                <a:solidFill>
                  <a:srgbClr val="00426F"/>
                </a:solidFill>
                <a:latin typeface="Calibri"/>
                <a:cs typeface="Calibri"/>
              </a:rPr>
              <a:t>single-</a:t>
            </a:r>
            <a:r>
              <a:rPr dirty="0" sz="1950" b="1">
                <a:solidFill>
                  <a:srgbClr val="00426F"/>
                </a:solidFill>
                <a:latin typeface="Calibri"/>
                <a:cs typeface="Calibri"/>
              </a:rPr>
              <a:t>purpose</a:t>
            </a:r>
            <a:r>
              <a:rPr dirty="0" sz="1950" spc="-35" b="1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950" b="1">
                <a:solidFill>
                  <a:srgbClr val="00426F"/>
                </a:solidFill>
                <a:latin typeface="Calibri"/>
                <a:cs typeface="Calibri"/>
              </a:rPr>
              <a:t>and</a:t>
            </a:r>
            <a:r>
              <a:rPr dirty="0" sz="1950" spc="-40" b="1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950" spc="-20" b="1">
                <a:solidFill>
                  <a:srgbClr val="00426F"/>
                </a:solidFill>
                <a:latin typeface="Calibri"/>
                <a:cs typeface="Calibri"/>
              </a:rPr>
              <a:t>dumb</a:t>
            </a:r>
            <a:endParaRPr sz="1950">
              <a:latin typeface="Calibri"/>
              <a:cs typeface="Calibri"/>
            </a:endParaRPr>
          </a:p>
          <a:p>
            <a:pPr marL="12700" marR="5080">
              <a:lnSpc>
                <a:spcPct val="100800"/>
              </a:lnSpc>
              <a:spcBef>
                <a:spcPts val="695"/>
              </a:spcBef>
            </a:pP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Chatbot</a:t>
            </a:r>
            <a:r>
              <a:rPr dirty="0" sz="1550" spc="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knows</a:t>
            </a:r>
            <a:r>
              <a:rPr dirty="0" sz="1550" spc="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nothing</a:t>
            </a:r>
            <a:r>
              <a:rPr dirty="0" sz="1550" spc="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about</a:t>
            </a:r>
            <a:r>
              <a:rPr dirty="0" sz="1550" spc="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products.</a:t>
            </a:r>
            <a:r>
              <a:rPr dirty="0" sz="1550" spc="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SDR</a:t>
            </a:r>
            <a:r>
              <a:rPr dirty="0" sz="1550" spc="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bot</a:t>
            </a:r>
            <a:r>
              <a:rPr dirty="0" sz="1550" spc="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can't</a:t>
            </a:r>
            <a:r>
              <a:rPr dirty="0" sz="1550" spc="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handle</a:t>
            </a:r>
            <a:r>
              <a:rPr dirty="0" sz="1550" spc="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support.</a:t>
            </a:r>
            <a:r>
              <a:rPr dirty="0" sz="1550" spc="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No</a:t>
            </a:r>
            <a:r>
              <a:rPr dirty="0" sz="1550" spc="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shared</a:t>
            </a:r>
            <a:r>
              <a:rPr dirty="0" sz="1550" spc="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 spc="-10">
                <a:solidFill>
                  <a:srgbClr val="8B8FA2"/>
                </a:solidFill>
                <a:latin typeface="Calibri"/>
                <a:cs typeface="Calibri"/>
              </a:rPr>
              <a:t>context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across</a:t>
            </a:r>
            <a:r>
              <a:rPr dirty="0" sz="1550" spc="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the</a:t>
            </a:r>
            <a:r>
              <a:rPr dirty="0" sz="1550" spc="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customer</a:t>
            </a:r>
            <a:r>
              <a:rPr dirty="0" sz="1550" spc="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 spc="-10">
                <a:solidFill>
                  <a:srgbClr val="8B8FA2"/>
                </a:solidFill>
                <a:latin typeface="Calibri"/>
                <a:cs typeface="Calibri"/>
              </a:rPr>
              <a:t>lifecycle.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9319871" y="5201852"/>
            <a:ext cx="8265159" cy="2771775"/>
            <a:chOff x="9319871" y="5201852"/>
            <a:chExt cx="8265159" cy="2771775"/>
          </a:xfrm>
        </p:grpSpPr>
        <p:sp>
          <p:nvSpPr>
            <p:cNvPr id="22" name="object 22"/>
            <p:cNvSpPr/>
            <p:nvPr/>
          </p:nvSpPr>
          <p:spPr>
            <a:xfrm>
              <a:off x="9329403" y="5211385"/>
              <a:ext cx="8246109" cy="2755265"/>
            </a:xfrm>
            <a:custGeom>
              <a:avLst/>
              <a:gdLst/>
              <a:ahLst/>
              <a:cxnLst/>
              <a:rect l="l" t="t" r="r" b="b"/>
              <a:pathLst>
                <a:path w="8246109" h="2755265">
                  <a:moveTo>
                    <a:pt x="8107775" y="2754820"/>
                  </a:moveTo>
                  <a:lnTo>
                    <a:pt x="137731" y="2754820"/>
                  </a:lnTo>
                  <a:lnTo>
                    <a:pt x="94183" y="2747838"/>
                  </a:lnTo>
                  <a:lnTo>
                    <a:pt x="56372" y="2728298"/>
                  </a:lnTo>
                  <a:lnTo>
                    <a:pt x="26563" y="2698475"/>
                  </a:lnTo>
                  <a:lnTo>
                    <a:pt x="7018" y="2660646"/>
                  </a:lnTo>
                  <a:lnTo>
                    <a:pt x="0" y="2617088"/>
                  </a:lnTo>
                  <a:lnTo>
                    <a:pt x="0" y="137731"/>
                  </a:lnTo>
                  <a:lnTo>
                    <a:pt x="7018" y="94183"/>
                  </a:lnTo>
                  <a:lnTo>
                    <a:pt x="26563" y="56372"/>
                  </a:lnTo>
                  <a:lnTo>
                    <a:pt x="56372" y="26563"/>
                  </a:lnTo>
                  <a:lnTo>
                    <a:pt x="94183" y="7018"/>
                  </a:lnTo>
                  <a:lnTo>
                    <a:pt x="137731" y="0"/>
                  </a:lnTo>
                  <a:lnTo>
                    <a:pt x="8107775" y="0"/>
                  </a:lnTo>
                  <a:lnTo>
                    <a:pt x="8151323" y="7018"/>
                  </a:lnTo>
                  <a:lnTo>
                    <a:pt x="8189133" y="26563"/>
                  </a:lnTo>
                  <a:lnTo>
                    <a:pt x="8218943" y="56372"/>
                  </a:lnTo>
                  <a:lnTo>
                    <a:pt x="8238488" y="94183"/>
                  </a:lnTo>
                  <a:lnTo>
                    <a:pt x="8245506" y="137731"/>
                  </a:lnTo>
                  <a:lnTo>
                    <a:pt x="8245506" y="2617088"/>
                  </a:lnTo>
                  <a:lnTo>
                    <a:pt x="8238483" y="2660646"/>
                  </a:lnTo>
                  <a:lnTo>
                    <a:pt x="8218915" y="2698475"/>
                  </a:lnTo>
                  <a:lnTo>
                    <a:pt x="8189054" y="2728298"/>
                  </a:lnTo>
                  <a:lnTo>
                    <a:pt x="8151096" y="2747838"/>
                  </a:lnTo>
                  <a:lnTo>
                    <a:pt x="8107775" y="2754820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9329403" y="5211384"/>
              <a:ext cx="8246109" cy="2752725"/>
            </a:xfrm>
            <a:custGeom>
              <a:avLst/>
              <a:gdLst/>
              <a:ahLst/>
              <a:cxnLst/>
              <a:rect l="l" t="t" r="r" b="b"/>
              <a:pathLst>
                <a:path w="8246109" h="2752725">
                  <a:moveTo>
                    <a:pt x="124668" y="2752672"/>
                  </a:moveTo>
                  <a:lnTo>
                    <a:pt x="56379" y="2728305"/>
                  </a:lnTo>
                  <a:lnTo>
                    <a:pt x="26553" y="2698455"/>
                  </a:lnTo>
                  <a:lnTo>
                    <a:pt x="7009" y="2660594"/>
                  </a:lnTo>
                  <a:lnTo>
                    <a:pt x="0" y="2617023"/>
                  </a:lnTo>
                  <a:lnTo>
                    <a:pt x="2" y="137714"/>
                  </a:lnTo>
                  <a:lnTo>
                    <a:pt x="7036" y="94147"/>
                  </a:lnTo>
                  <a:lnTo>
                    <a:pt x="26605" y="56330"/>
                  </a:lnTo>
                  <a:lnTo>
                    <a:pt x="56437" y="26529"/>
                  </a:lnTo>
                  <a:lnTo>
                    <a:pt x="94262" y="7005"/>
                  </a:lnTo>
                  <a:lnTo>
                    <a:pt x="137811" y="0"/>
                  </a:lnTo>
                  <a:lnTo>
                    <a:pt x="8107655" y="0"/>
                  </a:lnTo>
                  <a:lnTo>
                    <a:pt x="8151228" y="6968"/>
                  </a:lnTo>
                  <a:lnTo>
                    <a:pt x="8189072" y="26502"/>
                  </a:lnTo>
                  <a:lnTo>
                    <a:pt x="8218917" y="56321"/>
                  </a:lnTo>
                  <a:lnTo>
                    <a:pt x="8238485" y="94161"/>
                  </a:lnTo>
                  <a:lnTo>
                    <a:pt x="8245506" y="137727"/>
                  </a:lnTo>
                  <a:lnTo>
                    <a:pt x="8245383" y="2617089"/>
                  </a:lnTo>
                  <a:lnTo>
                    <a:pt x="8238490" y="2660635"/>
                  </a:lnTo>
                  <a:lnTo>
                    <a:pt x="8218916" y="2698475"/>
                  </a:lnTo>
                  <a:lnTo>
                    <a:pt x="8189065" y="2728292"/>
                  </a:lnTo>
                  <a:lnTo>
                    <a:pt x="8151256" y="2747837"/>
                  </a:lnTo>
                  <a:lnTo>
                    <a:pt x="8120764" y="2752638"/>
                  </a:lnTo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9334175" y="5216156"/>
              <a:ext cx="55244" cy="2745740"/>
            </a:xfrm>
            <a:custGeom>
              <a:avLst/>
              <a:gdLst/>
              <a:ahLst/>
              <a:cxnLst/>
              <a:rect l="l" t="t" r="r" b="b"/>
              <a:pathLst>
                <a:path w="55245" h="2745740">
                  <a:moveTo>
                    <a:pt x="54911" y="2745366"/>
                  </a:moveTo>
                  <a:lnTo>
                    <a:pt x="0" y="2745366"/>
                  </a:lnTo>
                  <a:lnTo>
                    <a:pt x="0" y="0"/>
                  </a:lnTo>
                  <a:lnTo>
                    <a:pt x="54911" y="0"/>
                  </a:lnTo>
                  <a:lnTo>
                    <a:pt x="54911" y="2745366"/>
                  </a:lnTo>
                  <a:close/>
                </a:path>
              </a:pathLst>
            </a:custGeom>
            <a:solidFill>
              <a:srgbClr val="00D4A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9618808" y="5267807"/>
            <a:ext cx="7258050" cy="996315"/>
          </a:xfrm>
          <a:prstGeom prst="rect">
            <a:avLst/>
          </a:prstGeom>
        </p:spPr>
        <p:txBody>
          <a:bodyPr wrap="square" lIns="0" tIns="1206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dirty="0" sz="1950" b="1">
                <a:solidFill>
                  <a:srgbClr val="00426F"/>
                </a:solidFill>
                <a:latin typeface="Calibri"/>
                <a:cs typeface="Calibri"/>
              </a:rPr>
              <a:t>Scale</a:t>
            </a:r>
            <a:r>
              <a:rPr dirty="0" sz="1950" spc="-55" b="1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950" b="1">
                <a:solidFill>
                  <a:srgbClr val="00426F"/>
                </a:solidFill>
                <a:latin typeface="Calibri"/>
                <a:cs typeface="Calibri"/>
              </a:rPr>
              <a:t>=</a:t>
            </a:r>
            <a:r>
              <a:rPr dirty="0" sz="1950" spc="-50" b="1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950" b="1">
                <a:solidFill>
                  <a:srgbClr val="00426F"/>
                </a:solidFill>
                <a:latin typeface="Calibri"/>
                <a:cs typeface="Calibri"/>
              </a:rPr>
              <a:t>headcount</a:t>
            </a:r>
            <a:r>
              <a:rPr dirty="0" sz="1950" spc="-50" b="1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950" b="1">
                <a:solidFill>
                  <a:srgbClr val="00426F"/>
                </a:solidFill>
                <a:latin typeface="Calibri"/>
                <a:cs typeface="Calibri"/>
              </a:rPr>
              <a:t>(until</a:t>
            </a:r>
            <a:r>
              <a:rPr dirty="0" sz="1950" spc="-50" b="1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950" spc="-20" b="1">
                <a:solidFill>
                  <a:srgbClr val="00426F"/>
                </a:solidFill>
                <a:latin typeface="Calibri"/>
                <a:cs typeface="Calibri"/>
              </a:rPr>
              <a:t>now)</a:t>
            </a:r>
            <a:endParaRPr sz="1950">
              <a:latin typeface="Calibri"/>
              <a:cs typeface="Calibri"/>
            </a:endParaRPr>
          </a:p>
          <a:p>
            <a:pPr marL="12700" marR="5080">
              <a:lnSpc>
                <a:spcPct val="100800"/>
              </a:lnSpc>
              <a:spcBef>
                <a:spcPts val="695"/>
              </a:spcBef>
            </a:pP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Every</a:t>
            </a:r>
            <a:r>
              <a:rPr dirty="0" sz="1550" spc="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new</a:t>
            </a:r>
            <a:r>
              <a:rPr dirty="0" sz="1550" spc="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market</a:t>
            </a:r>
            <a:r>
              <a:rPr dirty="0" sz="1550" spc="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requires</a:t>
            </a:r>
            <a:r>
              <a:rPr dirty="0" sz="1550" spc="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more</a:t>
            </a:r>
            <a:r>
              <a:rPr dirty="0" sz="1550" spc="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hires.</a:t>
            </a:r>
            <a:r>
              <a:rPr dirty="0" sz="1550" spc="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No</a:t>
            </a:r>
            <a:r>
              <a:rPr dirty="0" sz="1550" spc="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compound</a:t>
            </a:r>
            <a:r>
              <a:rPr dirty="0" sz="1550" spc="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return</a:t>
            </a:r>
            <a:r>
              <a:rPr dirty="0" sz="1550" spc="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—</a:t>
            </a:r>
            <a:r>
              <a:rPr dirty="0" sz="1550" spc="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only</a:t>
            </a:r>
            <a:r>
              <a:rPr dirty="0" sz="1550" spc="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linear</a:t>
            </a:r>
            <a:r>
              <a:rPr dirty="0" sz="1550" spc="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cost.</a:t>
            </a:r>
            <a:r>
              <a:rPr dirty="0" sz="1550" spc="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 spc="-10">
                <a:solidFill>
                  <a:srgbClr val="8B8FA2"/>
                </a:solidFill>
                <a:latin typeface="Calibri"/>
                <a:cs typeface="Calibri"/>
              </a:rPr>
              <a:t>Revenue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growth</a:t>
            </a:r>
            <a:r>
              <a:rPr dirty="0" sz="1550" spc="2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is</a:t>
            </a:r>
            <a:r>
              <a:rPr dirty="0" sz="1550" spc="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capped</a:t>
            </a:r>
            <a:r>
              <a:rPr dirty="0" sz="1550" spc="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by</a:t>
            </a:r>
            <a:r>
              <a:rPr dirty="0" sz="1550" spc="2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8B8FA2"/>
                </a:solidFill>
                <a:latin typeface="Calibri"/>
                <a:cs typeface="Calibri"/>
              </a:rPr>
              <a:t>team</a:t>
            </a:r>
            <a:r>
              <a:rPr dirty="0" sz="1550" spc="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50" spc="-10">
                <a:solidFill>
                  <a:srgbClr val="8B8FA2"/>
                </a:solidFill>
                <a:latin typeface="Calibri"/>
                <a:cs typeface="Calibri"/>
              </a:rPr>
              <a:t>capacity.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58562" y="8344704"/>
            <a:ext cx="16939895" cy="1219835"/>
            <a:chOff x="658562" y="8344704"/>
            <a:chExt cx="16939895" cy="1219835"/>
          </a:xfrm>
        </p:grpSpPr>
        <p:sp>
          <p:nvSpPr>
            <p:cNvPr id="27" name="object 27"/>
            <p:cNvSpPr/>
            <p:nvPr/>
          </p:nvSpPr>
          <p:spPr>
            <a:xfrm>
              <a:off x="676808" y="8363769"/>
              <a:ext cx="16903065" cy="1186180"/>
            </a:xfrm>
            <a:custGeom>
              <a:avLst/>
              <a:gdLst/>
              <a:ahLst/>
              <a:cxnLst/>
              <a:rect l="l" t="t" r="r" b="b"/>
              <a:pathLst>
                <a:path w="16903065" h="1186179">
                  <a:moveTo>
                    <a:pt x="16843627" y="1185767"/>
                  </a:moveTo>
                  <a:lnTo>
                    <a:pt x="59245" y="1185767"/>
                  </a:lnTo>
                  <a:lnTo>
                    <a:pt x="36231" y="1181117"/>
                  </a:lnTo>
                  <a:lnTo>
                    <a:pt x="17388" y="1168431"/>
                  </a:lnTo>
                  <a:lnTo>
                    <a:pt x="4676" y="1149601"/>
                  </a:lnTo>
                  <a:lnTo>
                    <a:pt x="0" y="1126521"/>
                  </a:lnTo>
                  <a:lnTo>
                    <a:pt x="0" y="59245"/>
                  </a:lnTo>
                  <a:lnTo>
                    <a:pt x="4662" y="36205"/>
                  </a:lnTo>
                  <a:lnTo>
                    <a:pt x="17371" y="17371"/>
                  </a:lnTo>
                  <a:lnTo>
                    <a:pt x="36205" y="4662"/>
                  </a:lnTo>
                  <a:lnTo>
                    <a:pt x="59245" y="0"/>
                  </a:lnTo>
                  <a:lnTo>
                    <a:pt x="16843627" y="0"/>
                  </a:lnTo>
                  <a:lnTo>
                    <a:pt x="16866707" y="4662"/>
                  </a:lnTo>
                  <a:lnTo>
                    <a:pt x="16885537" y="17371"/>
                  </a:lnTo>
                  <a:lnTo>
                    <a:pt x="16898223" y="36205"/>
                  </a:lnTo>
                  <a:lnTo>
                    <a:pt x="16902873" y="59245"/>
                  </a:lnTo>
                  <a:lnTo>
                    <a:pt x="16902873" y="1126521"/>
                  </a:lnTo>
                  <a:lnTo>
                    <a:pt x="16898210" y="1149601"/>
                  </a:lnTo>
                  <a:lnTo>
                    <a:pt x="16885502" y="1168431"/>
                  </a:lnTo>
                  <a:lnTo>
                    <a:pt x="16866668" y="1181117"/>
                  </a:lnTo>
                  <a:lnTo>
                    <a:pt x="16843627" y="1185767"/>
                  </a:lnTo>
                  <a:close/>
                </a:path>
              </a:pathLst>
            </a:custGeom>
            <a:solidFill>
              <a:srgbClr val="2921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77627" y="8363769"/>
              <a:ext cx="16901160" cy="1181100"/>
            </a:xfrm>
            <a:custGeom>
              <a:avLst/>
              <a:gdLst/>
              <a:ahLst/>
              <a:cxnLst/>
              <a:rect l="l" t="t" r="r" b="b"/>
              <a:pathLst>
                <a:path w="16901160" h="1181100">
                  <a:moveTo>
                    <a:pt x="36237" y="1181054"/>
                  </a:moveTo>
                  <a:lnTo>
                    <a:pt x="17353" y="1168263"/>
                  </a:lnTo>
                  <a:lnTo>
                    <a:pt x="4667" y="1149441"/>
                  </a:lnTo>
                  <a:lnTo>
                    <a:pt x="0" y="1126407"/>
                  </a:lnTo>
                  <a:lnTo>
                    <a:pt x="0" y="59239"/>
                  </a:lnTo>
                  <a:lnTo>
                    <a:pt x="17369" y="17369"/>
                  </a:lnTo>
                  <a:lnTo>
                    <a:pt x="59239" y="0"/>
                  </a:lnTo>
                  <a:lnTo>
                    <a:pt x="16841917" y="0"/>
                  </a:lnTo>
                  <a:lnTo>
                    <a:pt x="16864996" y="4661"/>
                  </a:lnTo>
                  <a:lnTo>
                    <a:pt x="16883824" y="17369"/>
                  </a:lnTo>
                  <a:lnTo>
                    <a:pt x="16896508" y="36201"/>
                  </a:lnTo>
                  <a:lnTo>
                    <a:pt x="16901157" y="59239"/>
                  </a:lnTo>
                  <a:lnTo>
                    <a:pt x="16901157" y="1126407"/>
                  </a:lnTo>
                  <a:lnTo>
                    <a:pt x="16896495" y="1149485"/>
                  </a:lnTo>
                  <a:lnTo>
                    <a:pt x="16883788" y="1168313"/>
                  </a:lnTo>
                  <a:lnTo>
                    <a:pt x="16864956" y="1181099"/>
                  </a:lnTo>
                </a:path>
              </a:pathLst>
            </a:custGeom>
            <a:ln w="38129">
              <a:solidFill>
                <a:srgbClr val="FF444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4358776" y="8583555"/>
            <a:ext cx="9538970" cy="567055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1254760" marR="5080" indent="-1242695">
              <a:lnSpc>
                <a:spcPts val="2100"/>
              </a:lnSpc>
              <a:spcBef>
                <a:spcPts val="220"/>
              </a:spcBef>
            </a:pPr>
            <a:r>
              <a:rPr dirty="0" sz="1800" i="1">
                <a:solidFill>
                  <a:srgbClr val="F5C441"/>
                </a:solidFill>
                <a:latin typeface="Georgia"/>
                <a:cs typeface="Georgia"/>
              </a:rPr>
              <a:t>"The</a:t>
            </a:r>
            <a:r>
              <a:rPr dirty="0" sz="1800" spc="-45" i="1">
                <a:solidFill>
                  <a:srgbClr val="F5C441"/>
                </a:solidFill>
                <a:latin typeface="Georgia"/>
                <a:cs typeface="Georgia"/>
              </a:rPr>
              <a:t> </a:t>
            </a:r>
            <a:r>
              <a:rPr dirty="0" sz="1800" i="1">
                <a:solidFill>
                  <a:srgbClr val="F5C441"/>
                </a:solidFill>
                <a:latin typeface="Georgia"/>
                <a:cs typeface="Georgia"/>
              </a:rPr>
              <a:t>core</a:t>
            </a:r>
            <a:r>
              <a:rPr dirty="0" sz="1800" spc="-40" i="1">
                <a:solidFill>
                  <a:srgbClr val="F5C441"/>
                </a:solidFill>
                <a:latin typeface="Georgia"/>
                <a:cs typeface="Georgia"/>
              </a:rPr>
              <a:t> </a:t>
            </a:r>
            <a:r>
              <a:rPr dirty="0" sz="1800" i="1">
                <a:solidFill>
                  <a:srgbClr val="F5C441"/>
                </a:solidFill>
                <a:latin typeface="Georgia"/>
                <a:cs typeface="Georgia"/>
              </a:rPr>
              <a:t>gap:</a:t>
            </a:r>
            <a:r>
              <a:rPr dirty="0" sz="1800" spc="-40" i="1">
                <a:solidFill>
                  <a:srgbClr val="F5C441"/>
                </a:solidFill>
                <a:latin typeface="Georgia"/>
                <a:cs typeface="Georgia"/>
              </a:rPr>
              <a:t> </a:t>
            </a:r>
            <a:r>
              <a:rPr dirty="0" sz="1800" i="1">
                <a:solidFill>
                  <a:srgbClr val="F5C441"/>
                </a:solidFill>
                <a:latin typeface="Georgia"/>
                <a:cs typeface="Georgia"/>
              </a:rPr>
              <a:t>no</a:t>
            </a:r>
            <a:r>
              <a:rPr dirty="0" sz="1800" spc="-40" i="1">
                <a:solidFill>
                  <a:srgbClr val="F5C441"/>
                </a:solidFill>
                <a:latin typeface="Georgia"/>
                <a:cs typeface="Georgia"/>
              </a:rPr>
              <a:t> </a:t>
            </a:r>
            <a:r>
              <a:rPr dirty="0" sz="1800" i="1">
                <a:solidFill>
                  <a:srgbClr val="F5C441"/>
                </a:solidFill>
                <a:latin typeface="Georgia"/>
                <a:cs typeface="Georgia"/>
              </a:rPr>
              <a:t>platform</a:t>
            </a:r>
            <a:r>
              <a:rPr dirty="0" sz="1800" spc="-40" i="1">
                <a:solidFill>
                  <a:srgbClr val="F5C441"/>
                </a:solidFill>
                <a:latin typeface="Georgia"/>
                <a:cs typeface="Georgia"/>
              </a:rPr>
              <a:t> </a:t>
            </a:r>
            <a:r>
              <a:rPr dirty="0" sz="1800" i="1">
                <a:solidFill>
                  <a:srgbClr val="F5C441"/>
                </a:solidFill>
                <a:latin typeface="Georgia"/>
                <a:cs typeface="Georgia"/>
              </a:rPr>
              <a:t>combines</a:t>
            </a:r>
            <a:r>
              <a:rPr dirty="0" sz="1800" spc="-45" i="1">
                <a:solidFill>
                  <a:srgbClr val="F5C441"/>
                </a:solidFill>
                <a:latin typeface="Georgia"/>
                <a:cs typeface="Georgia"/>
              </a:rPr>
              <a:t> </a:t>
            </a:r>
            <a:r>
              <a:rPr dirty="0" sz="1800" i="1">
                <a:solidFill>
                  <a:srgbClr val="F5C441"/>
                </a:solidFill>
                <a:latin typeface="Georgia"/>
                <a:cs typeface="Georgia"/>
              </a:rPr>
              <a:t>business</a:t>
            </a:r>
            <a:r>
              <a:rPr dirty="0" sz="1800" spc="-40" i="1">
                <a:solidFill>
                  <a:srgbClr val="F5C441"/>
                </a:solidFill>
                <a:latin typeface="Georgia"/>
                <a:cs typeface="Georgia"/>
              </a:rPr>
              <a:t> </a:t>
            </a:r>
            <a:r>
              <a:rPr dirty="0" sz="1800" spc="-10" i="1">
                <a:solidFill>
                  <a:srgbClr val="F5C441"/>
                </a:solidFill>
                <a:latin typeface="Georgia"/>
                <a:cs typeface="Georgia"/>
              </a:rPr>
              <a:t>understanding,</a:t>
            </a:r>
            <a:r>
              <a:rPr dirty="0" sz="1800" spc="-40" i="1">
                <a:solidFill>
                  <a:srgbClr val="F5C441"/>
                </a:solidFill>
                <a:latin typeface="Georgia"/>
                <a:cs typeface="Georgia"/>
              </a:rPr>
              <a:t> </a:t>
            </a:r>
            <a:r>
              <a:rPr dirty="0" sz="1800" i="1">
                <a:solidFill>
                  <a:srgbClr val="F5C441"/>
                </a:solidFill>
                <a:latin typeface="Georgia"/>
                <a:cs typeface="Georgia"/>
              </a:rPr>
              <a:t>autonomous</a:t>
            </a:r>
            <a:r>
              <a:rPr dirty="0" sz="1800" spc="-40" i="1">
                <a:solidFill>
                  <a:srgbClr val="F5C441"/>
                </a:solidFill>
                <a:latin typeface="Georgia"/>
                <a:cs typeface="Georgia"/>
              </a:rPr>
              <a:t> </a:t>
            </a:r>
            <a:r>
              <a:rPr dirty="0" sz="1800" spc="-20" i="1">
                <a:solidFill>
                  <a:srgbClr val="F5C441"/>
                </a:solidFill>
                <a:latin typeface="Georgia"/>
                <a:cs typeface="Georgia"/>
              </a:rPr>
              <a:t>decision-</a:t>
            </a:r>
            <a:r>
              <a:rPr dirty="0" sz="1800" spc="-10" i="1">
                <a:solidFill>
                  <a:srgbClr val="F5C441"/>
                </a:solidFill>
                <a:latin typeface="Georgia"/>
                <a:cs typeface="Georgia"/>
              </a:rPr>
              <a:t>making, </a:t>
            </a:r>
            <a:r>
              <a:rPr dirty="0" sz="1800" i="1">
                <a:solidFill>
                  <a:srgbClr val="F5C441"/>
                </a:solidFill>
                <a:latin typeface="Georgia"/>
                <a:cs typeface="Georgia"/>
              </a:rPr>
              <a:t>and</a:t>
            </a:r>
            <a:r>
              <a:rPr dirty="0" sz="1800" spc="-45" i="1">
                <a:solidFill>
                  <a:srgbClr val="F5C441"/>
                </a:solidFill>
                <a:latin typeface="Georgia"/>
                <a:cs typeface="Georgia"/>
              </a:rPr>
              <a:t> </a:t>
            </a:r>
            <a:r>
              <a:rPr dirty="0" sz="1800" spc="-20" i="1">
                <a:solidFill>
                  <a:srgbClr val="F5C441"/>
                </a:solidFill>
                <a:latin typeface="Georgia"/>
                <a:cs typeface="Georgia"/>
              </a:rPr>
              <a:t>multi-</a:t>
            </a:r>
            <a:r>
              <a:rPr dirty="0" sz="1800" i="1">
                <a:solidFill>
                  <a:srgbClr val="F5C441"/>
                </a:solidFill>
                <a:latin typeface="Georgia"/>
                <a:cs typeface="Georgia"/>
              </a:rPr>
              <a:t>channel</a:t>
            </a:r>
            <a:r>
              <a:rPr dirty="0" sz="1800" spc="-45" i="1">
                <a:solidFill>
                  <a:srgbClr val="F5C441"/>
                </a:solidFill>
                <a:latin typeface="Georgia"/>
                <a:cs typeface="Georgia"/>
              </a:rPr>
              <a:t> </a:t>
            </a:r>
            <a:r>
              <a:rPr dirty="0" sz="1800" i="1">
                <a:solidFill>
                  <a:srgbClr val="F5C441"/>
                </a:solidFill>
                <a:latin typeface="Georgia"/>
                <a:cs typeface="Georgia"/>
              </a:rPr>
              <a:t>execution</a:t>
            </a:r>
            <a:r>
              <a:rPr dirty="0" sz="1800" spc="-45" i="1">
                <a:solidFill>
                  <a:srgbClr val="F5C441"/>
                </a:solidFill>
                <a:latin typeface="Georgia"/>
                <a:cs typeface="Georgia"/>
              </a:rPr>
              <a:t> </a:t>
            </a:r>
            <a:r>
              <a:rPr dirty="0" sz="1800" i="1">
                <a:solidFill>
                  <a:srgbClr val="F5C441"/>
                </a:solidFill>
                <a:latin typeface="Georgia"/>
                <a:cs typeface="Georgia"/>
              </a:rPr>
              <a:t>into</a:t>
            </a:r>
            <a:r>
              <a:rPr dirty="0" sz="1800" spc="-40" i="1">
                <a:solidFill>
                  <a:srgbClr val="F5C441"/>
                </a:solidFill>
                <a:latin typeface="Georgia"/>
                <a:cs typeface="Georgia"/>
              </a:rPr>
              <a:t> </a:t>
            </a:r>
            <a:r>
              <a:rPr dirty="0" sz="1800" i="1">
                <a:solidFill>
                  <a:srgbClr val="F5C441"/>
                </a:solidFill>
                <a:latin typeface="Georgia"/>
                <a:cs typeface="Georgia"/>
              </a:rPr>
              <a:t>one</a:t>
            </a:r>
            <a:r>
              <a:rPr dirty="0" sz="1800" spc="-45" i="1">
                <a:solidFill>
                  <a:srgbClr val="F5C441"/>
                </a:solidFill>
                <a:latin typeface="Georgia"/>
                <a:cs typeface="Georgia"/>
              </a:rPr>
              <a:t> </a:t>
            </a:r>
            <a:r>
              <a:rPr dirty="0" sz="1800" spc="-10" i="1">
                <a:solidFill>
                  <a:srgbClr val="F5C441"/>
                </a:solidFill>
                <a:latin typeface="Georgia"/>
                <a:cs typeface="Georgia"/>
              </a:rPr>
              <a:t>continuously</a:t>
            </a:r>
            <a:r>
              <a:rPr dirty="0" sz="1800" spc="-45" i="1">
                <a:solidFill>
                  <a:srgbClr val="F5C441"/>
                </a:solidFill>
                <a:latin typeface="Georgia"/>
                <a:cs typeface="Georgia"/>
              </a:rPr>
              <a:t> </a:t>
            </a:r>
            <a:r>
              <a:rPr dirty="0" sz="1800" i="1">
                <a:solidFill>
                  <a:srgbClr val="F5C441"/>
                </a:solidFill>
                <a:latin typeface="Georgia"/>
                <a:cs typeface="Georgia"/>
              </a:rPr>
              <a:t>learning</a:t>
            </a:r>
            <a:r>
              <a:rPr dirty="0" sz="1800" spc="-45" i="1">
                <a:solidFill>
                  <a:srgbClr val="F5C441"/>
                </a:solidFill>
                <a:latin typeface="Georgia"/>
                <a:cs typeface="Georgia"/>
              </a:rPr>
              <a:t> </a:t>
            </a:r>
            <a:r>
              <a:rPr dirty="0" sz="1800" spc="-10" i="1">
                <a:solidFill>
                  <a:srgbClr val="F5C441"/>
                </a:solidFill>
                <a:latin typeface="Georgia"/>
                <a:cs typeface="Georgia"/>
              </a:rPr>
              <a:t>system."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7249167" y="9655941"/>
            <a:ext cx="516890" cy="1974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85"/>
              </a:lnSpc>
            </a:pPr>
            <a:r>
              <a:rPr dirty="0" sz="1350">
                <a:solidFill>
                  <a:srgbClr val="6A6F82"/>
                </a:solidFill>
                <a:latin typeface="Calibri"/>
                <a:cs typeface="Calibri"/>
              </a:rPr>
              <a:t>02</a:t>
            </a:r>
            <a:r>
              <a:rPr dirty="0" sz="1350" spc="-20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6A6F82"/>
                </a:solidFill>
                <a:latin typeface="Calibri"/>
                <a:cs typeface="Calibri"/>
              </a:rPr>
              <a:t>/</a:t>
            </a:r>
            <a:r>
              <a:rPr dirty="0" sz="1350" spc="-15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350" spc="-35">
                <a:solidFill>
                  <a:srgbClr val="6A6F82"/>
                </a:solidFill>
                <a:latin typeface="Calibri"/>
                <a:cs typeface="Calibri"/>
              </a:rPr>
              <a:t>16</a:t>
            </a:r>
            <a:endParaRPr sz="1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984490"/>
            <a:ext cx="2270125" cy="4114800"/>
          </a:xfrm>
          <a:custGeom>
            <a:avLst/>
            <a:gdLst/>
            <a:ahLst/>
            <a:cxnLst/>
            <a:rect l="l" t="t" r="r" b="b"/>
            <a:pathLst>
              <a:path w="2270125" h="4114800">
                <a:moveTo>
                  <a:pt x="355609" y="12699"/>
                </a:moveTo>
                <a:lnTo>
                  <a:pt x="65674" y="12699"/>
                </a:lnTo>
                <a:lnTo>
                  <a:pt x="113712" y="0"/>
                </a:lnTo>
                <a:lnTo>
                  <a:pt x="307571" y="0"/>
                </a:lnTo>
                <a:lnTo>
                  <a:pt x="355609" y="12699"/>
                </a:lnTo>
                <a:close/>
              </a:path>
              <a:path w="2270125" h="4114800">
                <a:moveTo>
                  <a:pt x="403347" y="4114799"/>
                </a:moveTo>
                <a:lnTo>
                  <a:pt x="17936" y="4114799"/>
                </a:lnTo>
                <a:lnTo>
                  <a:pt x="0" y="4109996"/>
                </a:lnTo>
                <a:lnTo>
                  <a:pt x="0" y="12699"/>
                </a:lnTo>
                <a:lnTo>
                  <a:pt x="450771" y="12699"/>
                </a:lnTo>
                <a:lnTo>
                  <a:pt x="497870" y="25399"/>
                </a:lnTo>
                <a:lnTo>
                  <a:pt x="544631" y="25399"/>
                </a:lnTo>
                <a:lnTo>
                  <a:pt x="682764" y="63499"/>
                </a:lnTo>
                <a:lnTo>
                  <a:pt x="728050" y="63499"/>
                </a:lnTo>
                <a:lnTo>
                  <a:pt x="817410" y="88899"/>
                </a:lnTo>
                <a:lnTo>
                  <a:pt x="861460" y="114299"/>
                </a:lnTo>
                <a:lnTo>
                  <a:pt x="990941" y="152399"/>
                </a:lnTo>
                <a:lnTo>
                  <a:pt x="1033170" y="177799"/>
                </a:lnTo>
                <a:lnTo>
                  <a:pt x="1074912" y="190499"/>
                </a:lnTo>
                <a:lnTo>
                  <a:pt x="1116157" y="215899"/>
                </a:lnTo>
                <a:lnTo>
                  <a:pt x="1156890" y="228599"/>
                </a:lnTo>
                <a:lnTo>
                  <a:pt x="1197101" y="253999"/>
                </a:lnTo>
                <a:lnTo>
                  <a:pt x="1275902" y="304799"/>
                </a:lnTo>
                <a:lnTo>
                  <a:pt x="1314468" y="317499"/>
                </a:lnTo>
                <a:lnTo>
                  <a:pt x="1352462" y="342899"/>
                </a:lnTo>
                <a:lnTo>
                  <a:pt x="1389871" y="368299"/>
                </a:lnTo>
                <a:lnTo>
                  <a:pt x="1426682" y="406399"/>
                </a:lnTo>
                <a:lnTo>
                  <a:pt x="1462884" y="431799"/>
                </a:lnTo>
                <a:lnTo>
                  <a:pt x="1498463" y="457199"/>
                </a:lnTo>
                <a:lnTo>
                  <a:pt x="1533408" y="482599"/>
                </a:lnTo>
                <a:lnTo>
                  <a:pt x="1567707" y="507999"/>
                </a:lnTo>
                <a:lnTo>
                  <a:pt x="1601346" y="546099"/>
                </a:lnTo>
                <a:lnTo>
                  <a:pt x="1634313" y="571499"/>
                </a:lnTo>
                <a:lnTo>
                  <a:pt x="1666597" y="609599"/>
                </a:lnTo>
                <a:lnTo>
                  <a:pt x="1698185" y="634999"/>
                </a:lnTo>
                <a:lnTo>
                  <a:pt x="1729064" y="673099"/>
                </a:lnTo>
                <a:lnTo>
                  <a:pt x="1759221" y="711199"/>
                </a:lnTo>
                <a:lnTo>
                  <a:pt x="1788646" y="736599"/>
                </a:lnTo>
                <a:lnTo>
                  <a:pt x="1817325" y="774699"/>
                </a:lnTo>
                <a:lnTo>
                  <a:pt x="1845246" y="812799"/>
                </a:lnTo>
                <a:lnTo>
                  <a:pt x="1872397" y="850899"/>
                </a:lnTo>
                <a:lnTo>
                  <a:pt x="1898764" y="888999"/>
                </a:lnTo>
                <a:lnTo>
                  <a:pt x="1924337" y="914399"/>
                </a:lnTo>
                <a:lnTo>
                  <a:pt x="1949102" y="952499"/>
                </a:lnTo>
                <a:lnTo>
                  <a:pt x="1973048" y="990599"/>
                </a:lnTo>
                <a:lnTo>
                  <a:pt x="1996161" y="1041399"/>
                </a:lnTo>
                <a:lnTo>
                  <a:pt x="2018430" y="1079499"/>
                </a:lnTo>
                <a:lnTo>
                  <a:pt x="2039841" y="1117599"/>
                </a:lnTo>
                <a:lnTo>
                  <a:pt x="2060384" y="1155699"/>
                </a:lnTo>
                <a:lnTo>
                  <a:pt x="2080045" y="1193799"/>
                </a:lnTo>
                <a:lnTo>
                  <a:pt x="2098812" y="1244599"/>
                </a:lnTo>
                <a:lnTo>
                  <a:pt x="2116672" y="1282699"/>
                </a:lnTo>
                <a:lnTo>
                  <a:pt x="2133614" y="1320799"/>
                </a:lnTo>
                <a:lnTo>
                  <a:pt x="2149625" y="1371599"/>
                </a:lnTo>
                <a:lnTo>
                  <a:pt x="2164693" y="1409699"/>
                </a:lnTo>
                <a:lnTo>
                  <a:pt x="2178805" y="1460499"/>
                </a:lnTo>
                <a:lnTo>
                  <a:pt x="2191948" y="1498599"/>
                </a:lnTo>
                <a:lnTo>
                  <a:pt x="2204111" y="1549399"/>
                </a:lnTo>
                <a:lnTo>
                  <a:pt x="2215282" y="1587499"/>
                </a:lnTo>
                <a:lnTo>
                  <a:pt x="2225447" y="1638299"/>
                </a:lnTo>
                <a:lnTo>
                  <a:pt x="2234595" y="1676399"/>
                </a:lnTo>
                <a:lnTo>
                  <a:pt x="2242712" y="1727199"/>
                </a:lnTo>
                <a:lnTo>
                  <a:pt x="2249788" y="1777999"/>
                </a:lnTo>
                <a:lnTo>
                  <a:pt x="2255808" y="1816099"/>
                </a:lnTo>
                <a:lnTo>
                  <a:pt x="2260762" y="1866899"/>
                </a:lnTo>
                <a:lnTo>
                  <a:pt x="2264637" y="1917699"/>
                </a:lnTo>
                <a:lnTo>
                  <a:pt x="2267420" y="1968499"/>
                </a:lnTo>
                <a:lnTo>
                  <a:pt x="2269098" y="2019299"/>
                </a:lnTo>
                <a:lnTo>
                  <a:pt x="2269661" y="2057399"/>
                </a:lnTo>
                <a:lnTo>
                  <a:pt x="2269098" y="2108199"/>
                </a:lnTo>
                <a:lnTo>
                  <a:pt x="2267420" y="2158999"/>
                </a:lnTo>
                <a:lnTo>
                  <a:pt x="2264637" y="2209799"/>
                </a:lnTo>
                <a:lnTo>
                  <a:pt x="2260762" y="2260599"/>
                </a:lnTo>
                <a:lnTo>
                  <a:pt x="2255808" y="2298699"/>
                </a:lnTo>
                <a:lnTo>
                  <a:pt x="2249788" y="2349499"/>
                </a:lnTo>
                <a:lnTo>
                  <a:pt x="2242712" y="2400299"/>
                </a:lnTo>
                <a:lnTo>
                  <a:pt x="2234595" y="2438399"/>
                </a:lnTo>
                <a:lnTo>
                  <a:pt x="2225447" y="2489199"/>
                </a:lnTo>
                <a:lnTo>
                  <a:pt x="2215282" y="2539999"/>
                </a:lnTo>
                <a:lnTo>
                  <a:pt x="2204111" y="2578099"/>
                </a:lnTo>
                <a:lnTo>
                  <a:pt x="2191948" y="2628899"/>
                </a:lnTo>
                <a:lnTo>
                  <a:pt x="2178805" y="2666999"/>
                </a:lnTo>
                <a:lnTo>
                  <a:pt x="2164693" y="2717799"/>
                </a:lnTo>
                <a:lnTo>
                  <a:pt x="2149625" y="2755899"/>
                </a:lnTo>
                <a:lnTo>
                  <a:pt x="2133614" y="2793999"/>
                </a:lnTo>
                <a:lnTo>
                  <a:pt x="2116672" y="2844799"/>
                </a:lnTo>
                <a:lnTo>
                  <a:pt x="2098812" y="2882899"/>
                </a:lnTo>
                <a:lnTo>
                  <a:pt x="2080045" y="2920999"/>
                </a:lnTo>
                <a:lnTo>
                  <a:pt x="2060384" y="2971799"/>
                </a:lnTo>
                <a:lnTo>
                  <a:pt x="2039841" y="3009899"/>
                </a:lnTo>
                <a:lnTo>
                  <a:pt x="2018430" y="3047999"/>
                </a:lnTo>
                <a:lnTo>
                  <a:pt x="1996161" y="3086099"/>
                </a:lnTo>
                <a:lnTo>
                  <a:pt x="1973048" y="3124199"/>
                </a:lnTo>
                <a:lnTo>
                  <a:pt x="1949102" y="3162299"/>
                </a:lnTo>
                <a:lnTo>
                  <a:pt x="1924337" y="3200399"/>
                </a:lnTo>
                <a:lnTo>
                  <a:pt x="1898764" y="3238499"/>
                </a:lnTo>
                <a:lnTo>
                  <a:pt x="1872397" y="3276599"/>
                </a:lnTo>
                <a:lnTo>
                  <a:pt x="1845246" y="3314699"/>
                </a:lnTo>
                <a:lnTo>
                  <a:pt x="1817325" y="3352799"/>
                </a:lnTo>
                <a:lnTo>
                  <a:pt x="1788646" y="3390899"/>
                </a:lnTo>
                <a:lnTo>
                  <a:pt x="1759221" y="3416299"/>
                </a:lnTo>
                <a:lnTo>
                  <a:pt x="1729064" y="3454399"/>
                </a:lnTo>
                <a:lnTo>
                  <a:pt x="1698185" y="3479799"/>
                </a:lnTo>
                <a:lnTo>
                  <a:pt x="1666597" y="3517899"/>
                </a:lnTo>
                <a:lnTo>
                  <a:pt x="1634313" y="3555999"/>
                </a:lnTo>
                <a:lnTo>
                  <a:pt x="1601346" y="3581399"/>
                </a:lnTo>
                <a:lnTo>
                  <a:pt x="1567707" y="3606799"/>
                </a:lnTo>
                <a:lnTo>
                  <a:pt x="1533408" y="3644899"/>
                </a:lnTo>
                <a:lnTo>
                  <a:pt x="1498463" y="3670299"/>
                </a:lnTo>
                <a:lnTo>
                  <a:pt x="1462884" y="3695699"/>
                </a:lnTo>
                <a:lnTo>
                  <a:pt x="1426682" y="3721099"/>
                </a:lnTo>
                <a:lnTo>
                  <a:pt x="1389871" y="3746499"/>
                </a:lnTo>
                <a:lnTo>
                  <a:pt x="1352462" y="3771899"/>
                </a:lnTo>
                <a:lnTo>
                  <a:pt x="1275902" y="3822699"/>
                </a:lnTo>
                <a:lnTo>
                  <a:pt x="1197101" y="3873499"/>
                </a:lnTo>
                <a:lnTo>
                  <a:pt x="1156890" y="3886199"/>
                </a:lnTo>
                <a:lnTo>
                  <a:pt x="1074912" y="3936999"/>
                </a:lnTo>
                <a:lnTo>
                  <a:pt x="990941" y="3962399"/>
                </a:lnTo>
                <a:lnTo>
                  <a:pt x="948238" y="3987799"/>
                </a:lnTo>
                <a:lnTo>
                  <a:pt x="905074" y="4000499"/>
                </a:lnTo>
                <a:lnTo>
                  <a:pt x="591042" y="4089399"/>
                </a:lnTo>
                <a:lnTo>
                  <a:pt x="544631" y="4089399"/>
                </a:lnTo>
                <a:lnTo>
                  <a:pt x="497870" y="4102099"/>
                </a:lnTo>
                <a:lnTo>
                  <a:pt x="450771" y="4102099"/>
                </a:lnTo>
                <a:lnTo>
                  <a:pt x="403347" y="4114799"/>
                </a:lnTo>
                <a:close/>
              </a:path>
            </a:pathLst>
          </a:custGeom>
          <a:solidFill>
            <a:srgbClr val="00D4AA">
              <a:alpha val="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23607" y="562794"/>
            <a:ext cx="343535" cy="20955"/>
          </a:xfrm>
          <a:custGeom>
            <a:avLst/>
            <a:gdLst/>
            <a:ahLst/>
            <a:cxnLst/>
            <a:rect l="l" t="t" r="r" b="b"/>
            <a:pathLst>
              <a:path w="343534" h="20954">
                <a:moveTo>
                  <a:pt x="343163" y="20593"/>
                </a:moveTo>
                <a:lnTo>
                  <a:pt x="0" y="20593"/>
                </a:lnTo>
                <a:lnTo>
                  <a:pt x="0" y="0"/>
                </a:lnTo>
                <a:lnTo>
                  <a:pt x="343163" y="0"/>
                </a:lnTo>
                <a:lnTo>
                  <a:pt x="343163" y="20593"/>
                </a:lnTo>
                <a:close/>
              </a:path>
            </a:pathLst>
          </a:custGeom>
          <a:solidFill>
            <a:srgbClr val="1A4D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41602" y="475256"/>
            <a:ext cx="119189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094E53"/>
                </a:solidFill>
                <a:latin typeface="Calibri"/>
                <a:cs typeface="Calibri"/>
              </a:rPr>
              <a:t>MARKET</a:t>
            </a:r>
            <a:r>
              <a:rPr dirty="0" sz="1500" spc="-80" b="1">
                <a:solidFill>
                  <a:srgbClr val="094E53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094E53"/>
                </a:solidFill>
                <a:latin typeface="Calibri"/>
                <a:cs typeface="Calibri"/>
              </a:rPr>
              <a:t>SHIFT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1D31"/>
                </a:solidFill>
              </a:rPr>
              <a:t>Every</a:t>
            </a:r>
            <a:r>
              <a:rPr dirty="0" spc="-114">
                <a:solidFill>
                  <a:srgbClr val="001D31"/>
                </a:solidFill>
              </a:rPr>
              <a:t> </a:t>
            </a:r>
            <a:r>
              <a:rPr dirty="0">
                <a:solidFill>
                  <a:srgbClr val="001D31"/>
                </a:solidFill>
              </a:rPr>
              <a:t>15</a:t>
            </a:r>
            <a:r>
              <a:rPr dirty="0" spc="-100">
                <a:solidFill>
                  <a:srgbClr val="001D31"/>
                </a:solidFill>
              </a:rPr>
              <a:t> </a:t>
            </a:r>
            <a:r>
              <a:rPr dirty="0">
                <a:solidFill>
                  <a:srgbClr val="001D31"/>
                </a:solidFill>
              </a:rPr>
              <a:t>years,</a:t>
            </a:r>
            <a:r>
              <a:rPr dirty="0" spc="-100">
                <a:solidFill>
                  <a:srgbClr val="001D31"/>
                </a:solidFill>
              </a:rPr>
              <a:t> </a:t>
            </a:r>
            <a:r>
              <a:rPr dirty="0">
                <a:solidFill>
                  <a:srgbClr val="001D31"/>
                </a:solidFill>
              </a:rPr>
              <a:t>the</a:t>
            </a:r>
            <a:r>
              <a:rPr dirty="0" spc="-95">
                <a:solidFill>
                  <a:srgbClr val="001D31"/>
                </a:solidFill>
              </a:rPr>
              <a:t> </a:t>
            </a:r>
            <a:r>
              <a:rPr dirty="0">
                <a:solidFill>
                  <a:srgbClr val="001D31"/>
                </a:solidFill>
              </a:rPr>
              <a:t>software</a:t>
            </a:r>
            <a:r>
              <a:rPr dirty="0" spc="-100">
                <a:solidFill>
                  <a:srgbClr val="001D31"/>
                </a:solidFill>
              </a:rPr>
              <a:t> </a:t>
            </a:r>
            <a:r>
              <a:rPr dirty="0">
                <a:solidFill>
                  <a:srgbClr val="001D31"/>
                </a:solidFill>
              </a:rPr>
              <a:t>category</a:t>
            </a:r>
            <a:r>
              <a:rPr dirty="0" spc="-114">
                <a:solidFill>
                  <a:srgbClr val="001D31"/>
                </a:solidFill>
              </a:rPr>
              <a:t> </a:t>
            </a:r>
            <a:r>
              <a:rPr dirty="0">
                <a:solidFill>
                  <a:srgbClr val="001D31"/>
                </a:solidFill>
              </a:rPr>
              <a:t>gets</a:t>
            </a:r>
            <a:r>
              <a:rPr dirty="0" spc="-95">
                <a:solidFill>
                  <a:srgbClr val="001D31"/>
                </a:solidFill>
              </a:rPr>
              <a:t> </a:t>
            </a:r>
            <a:r>
              <a:rPr dirty="0" spc="-10">
                <a:solidFill>
                  <a:srgbClr val="001D31"/>
                </a:solidFill>
              </a:rPr>
              <a:t>reinvented.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383200" y="2030410"/>
            <a:ext cx="4171950" cy="3900804"/>
            <a:chOff x="383200" y="2030410"/>
            <a:chExt cx="4171950" cy="3900804"/>
          </a:xfrm>
        </p:grpSpPr>
        <p:sp>
          <p:nvSpPr>
            <p:cNvPr id="7" name="object 7"/>
            <p:cNvSpPr/>
            <p:nvPr/>
          </p:nvSpPr>
          <p:spPr>
            <a:xfrm>
              <a:off x="402269" y="2049475"/>
              <a:ext cx="4137660" cy="3861435"/>
            </a:xfrm>
            <a:custGeom>
              <a:avLst/>
              <a:gdLst/>
              <a:ahLst/>
              <a:cxnLst/>
              <a:rect l="l" t="t" r="r" b="b"/>
              <a:pathLst>
                <a:path w="4137660" h="3861435">
                  <a:moveTo>
                    <a:pt x="3955245" y="3861273"/>
                  </a:moveTo>
                  <a:lnTo>
                    <a:pt x="181843" y="3861273"/>
                  </a:lnTo>
                  <a:lnTo>
                    <a:pt x="148876" y="3857476"/>
                  </a:lnTo>
                  <a:lnTo>
                    <a:pt x="108218" y="3842943"/>
                  </a:lnTo>
                  <a:lnTo>
                    <a:pt x="72352" y="3820140"/>
                  </a:lnTo>
                  <a:lnTo>
                    <a:pt x="42437" y="3790225"/>
                  </a:lnTo>
                  <a:lnTo>
                    <a:pt x="19634" y="3754359"/>
                  </a:lnTo>
                  <a:lnTo>
                    <a:pt x="5101" y="3713701"/>
                  </a:lnTo>
                  <a:lnTo>
                    <a:pt x="0" y="3669410"/>
                  </a:lnTo>
                  <a:lnTo>
                    <a:pt x="0" y="193167"/>
                  </a:lnTo>
                  <a:lnTo>
                    <a:pt x="5101" y="148876"/>
                  </a:lnTo>
                  <a:lnTo>
                    <a:pt x="19634" y="108218"/>
                  </a:lnTo>
                  <a:lnTo>
                    <a:pt x="42437" y="72352"/>
                  </a:lnTo>
                  <a:lnTo>
                    <a:pt x="72352" y="42437"/>
                  </a:lnTo>
                  <a:lnTo>
                    <a:pt x="108218" y="19634"/>
                  </a:lnTo>
                  <a:lnTo>
                    <a:pt x="148876" y="5101"/>
                  </a:lnTo>
                  <a:lnTo>
                    <a:pt x="193166" y="0"/>
                  </a:lnTo>
                  <a:lnTo>
                    <a:pt x="3943921" y="0"/>
                  </a:lnTo>
                  <a:lnTo>
                    <a:pt x="3988211" y="5101"/>
                  </a:lnTo>
                  <a:lnTo>
                    <a:pt x="4028870" y="19634"/>
                  </a:lnTo>
                  <a:lnTo>
                    <a:pt x="4064736" y="42437"/>
                  </a:lnTo>
                  <a:lnTo>
                    <a:pt x="4094650" y="72352"/>
                  </a:lnTo>
                  <a:lnTo>
                    <a:pt x="4117454" y="108218"/>
                  </a:lnTo>
                  <a:lnTo>
                    <a:pt x="4131986" y="148876"/>
                  </a:lnTo>
                  <a:lnTo>
                    <a:pt x="4137078" y="193167"/>
                  </a:lnTo>
                  <a:lnTo>
                    <a:pt x="4137078" y="3669410"/>
                  </a:lnTo>
                  <a:lnTo>
                    <a:pt x="4131986" y="3713701"/>
                  </a:lnTo>
                  <a:lnTo>
                    <a:pt x="4117454" y="3754359"/>
                  </a:lnTo>
                  <a:lnTo>
                    <a:pt x="4094650" y="3790225"/>
                  </a:lnTo>
                  <a:lnTo>
                    <a:pt x="4064736" y="3820140"/>
                  </a:lnTo>
                  <a:lnTo>
                    <a:pt x="4028870" y="3842943"/>
                  </a:lnTo>
                  <a:lnTo>
                    <a:pt x="3988211" y="3857476"/>
                  </a:lnTo>
                  <a:lnTo>
                    <a:pt x="3955245" y="3861273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02265" y="2049475"/>
              <a:ext cx="4133850" cy="3862704"/>
            </a:xfrm>
            <a:custGeom>
              <a:avLst/>
              <a:gdLst/>
              <a:ahLst/>
              <a:cxnLst/>
              <a:rect l="l" t="t" r="r" b="b"/>
              <a:pathLst>
                <a:path w="4133850" h="3862704">
                  <a:moveTo>
                    <a:pt x="4133816" y="3697521"/>
                  </a:moveTo>
                  <a:lnTo>
                    <a:pt x="4117452" y="3754368"/>
                  </a:lnTo>
                  <a:lnTo>
                    <a:pt x="4094630" y="3790250"/>
                  </a:lnTo>
                  <a:lnTo>
                    <a:pt x="4064692" y="3820170"/>
                  </a:lnTo>
                  <a:lnTo>
                    <a:pt x="4028801" y="3842969"/>
                  </a:lnTo>
                  <a:lnTo>
                    <a:pt x="3988123" y="3857486"/>
                  </a:lnTo>
                  <a:lnTo>
                    <a:pt x="3943826" y="3862577"/>
                  </a:lnTo>
                  <a:lnTo>
                    <a:pt x="193160" y="3862576"/>
                  </a:lnTo>
                  <a:lnTo>
                    <a:pt x="148859" y="3857468"/>
                  </a:lnTo>
                  <a:lnTo>
                    <a:pt x="108195" y="3842926"/>
                  </a:lnTo>
                  <a:lnTo>
                    <a:pt x="72328" y="3820112"/>
                  </a:lnTo>
                  <a:lnTo>
                    <a:pt x="42417" y="3790187"/>
                  </a:lnTo>
                  <a:lnTo>
                    <a:pt x="19621" y="3754312"/>
                  </a:lnTo>
                  <a:lnTo>
                    <a:pt x="5100" y="3713650"/>
                  </a:lnTo>
                  <a:lnTo>
                    <a:pt x="4" y="3669360"/>
                  </a:lnTo>
                  <a:lnTo>
                    <a:pt x="0" y="193203"/>
                  </a:lnTo>
                  <a:lnTo>
                    <a:pt x="5093" y="148910"/>
                  </a:lnTo>
                  <a:lnTo>
                    <a:pt x="19620" y="108246"/>
                  </a:lnTo>
                  <a:lnTo>
                    <a:pt x="42421" y="72372"/>
                  </a:lnTo>
                  <a:lnTo>
                    <a:pt x="72336" y="42450"/>
                  </a:lnTo>
                  <a:lnTo>
                    <a:pt x="108207" y="19639"/>
                  </a:lnTo>
                  <a:lnTo>
                    <a:pt x="148872" y="5102"/>
                  </a:lnTo>
                  <a:lnTo>
                    <a:pt x="193166" y="0"/>
                  </a:lnTo>
                  <a:lnTo>
                    <a:pt x="3943826" y="0"/>
                  </a:lnTo>
                  <a:lnTo>
                    <a:pt x="3988140" y="5074"/>
                  </a:lnTo>
                  <a:lnTo>
                    <a:pt x="4028820" y="19600"/>
                  </a:lnTo>
                  <a:lnTo>
                    <a:pt x="4064709" y="42406"/>
                  </a:lnTo>
                  <a:lnTo>
                    <a:pt x="4094643" y="72334"/>
                  </a:lnTo>
                  <a:lnTo>
                    <a:pt x="4117458" y="108220"/>
                  </a:lnTo>
                  <a:lnTo>
                    <a:pt x="4131993" y="148902"/>
                  </a:lnTo>
                  <a:lnTo>
                    <a:pt x="4133747" y="165064"/>
                  </a:lnTo>
                </a:path>
              </a:pathLst>
            </a:custGeom>
            <a:ln w="38129">
              <a:solidFill>
                <a:srgbClr val="FFFA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696445" y="2915532"/>
            <a:ext cx="94297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0" b="1">
                <a:solidFill>
                  <a:srgbClr val="001D31"/>
                </a:solidFill>
                <a:latin typeface="Calibri"/>
                <a:cs typeface="Calibri"/>
              </a:rPr>
              <a:t>1990s–2000s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6445" y="3384391"/>
            <a:ext cx="1870710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solidFill>
                  <a:srgbClr val="001D31"/>
                </a:solidFill>
                <a:latin typeface="Calibri"/>
                <a:cs typeface="Calibri"/>
              </a:rPr>
              <a:t>Record</a:t>
            </a:r>
            <a:r>
              <a:rPr dirty="0" sz="2100" spc="-30" b="1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001D31"/>
                </a:solidFill>
                <a:latin typeface="Calibri"/>
                <a:cs typeface="Calibri"/>
              </a:rPr>
              <a:t>&amp;</a:t>
            </a:r>
            <a:r>
              <a:rPr dirty="0" sz="2100" spc="-25" b="1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2100" spc="-10" b="1">
                <a:solidFill>
                  <a:srgbClr val="001D31"/>
                </a:solidFill>
                <a:latin typeface="Calibri"/>
                <a:cs typeface="Calibri"/>
              </a:rPr>
              <a:t>Report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6445" y="3941127"/>
            <a:ext cx="318135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001D31"/>
                </a:solidFill>
                <a:latin typeface="Calibri"/>
                <a:cs typeface="Calibri"/>
              </a:rPr>
              <a:t>SaaS</a:t>
            </a:r>
            <a:r>
              <a:rPr dirty="0" sz="1500" spc="-3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01D31"/>
                </a:solidFill>
                <a:latin typeface="Calibri"/>
                <a:cs typeface="Calibri"/>
              </a:rPr>
              <a:t>digitized</a:t>
            </a:r>
            <a:r>
              <a:rPr dirty="0" sz="1500" spc="-2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01D31"/>
                </a:solidFill>
                <a:latin typeface="Calibri"/>
                <a:cs typeface="Calibri"/>
              </a:rPr>
              <a:t>paper.</a:t>
            </a:r>
            <a:r>
              <a:rPr dirty="0" sz="1500" spc="-3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001D31"/>
                </a:solidFill>
                <a:latin typeface="Calibri"/>
                <a:cs typeface="Calibri"/>
              </a:rPr>
              <a:t>Visibility,</a:t>
            </a:r>
            <a:r>
              <a:rPr dirty="0" sz="1500" spc="-2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01D31"/>
                </a:solidFill>
                <a:latin typeface="Calibri"/>
                <a:cs typeface="Calibri"/>
              </a:rPr>
              <a:t>no</a:t>
            </a:r>
            <a:r>
              <a:rPr dirty="0" sz="1500" spc="-3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001D31"/>
                </a:solidFill>
                <a:latin typeface="Calibri"/>
                <a:cs typeface="Calibri"/>
              </a:rPr>
              <a:t>action.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775749" y="2030410"/>
            <a:ext cx="4171950" cy="3900804"/>
            <a:chOff x="4775749" y="2030410"/>
            <a:chExt cx="4171950" cy="3900804"/>
          </a:xfrm>
        </p:grpSpPr>
        <p:sp>
          <p:nvSpPr>
            <p:cNvPr id="13" name="object 13"/>
            <p:cNvSpPr/>
            <p:nvPr/>
          </p:nvSpPr>
          <p:spPr>
            <a:xfrm>
              <a:off x="4794818" y="2049475"/>
              <a:ext cx="4137660" cy="3861435"/>
            </a:xfrm>
            <a:custGeom>
              <a:avLst/>
              <a:gdLst/>
              <a:ahLst/>
              <a:cxnLst/>
              <a:rect l="l" t="t" r="r" b="b"/>
              <a:pathLst>
                <a:path w="4137659" h="3861435">
                  <a:moveTo>
                    <a:pt x="3955244" y="3861273"/>
                  </a:moveTo>
                  <a:lnTo>
                    <a:pt x="181843" y="3861273"/>
                  </a:lnTo>
                  <a:lnTo>
                    <a:pt x="148876" y="3857476"/>
                  </a:lnTo>
                  <a:lnTo>
                    <a:pt x="108218" y="3842943"/>
                  </a:lnTo>
                  <a:lnTo>
                    <a:pt x="72352" y="3820140"/>
                  </a:lnTo>
                  <a:lnTo>
                    <a:pt x="42437" y="3790225"/>
                  </a:lnTo>
                  <a:lnTo>
                    <a:pt x="19634" y="3754359"/>
                  </a:lnTo>
                  <a:lnTo>
                    <a:pt x="5101" y="3713701"/>
                  </a:lnTo>
                  <a:lnTo>
                    <a:pt x="0" y="3669410"/>
                  </a:lnTo>
                  <a:lnTo>
                    <a:pt x="0" y="193167"/>
                  </a:lnTo>
                  <a:lnTo>
                    <a:pt x="5101" y="148876"/>
                  </a:lnTo>
                  <a:lnTo>
                    <a:pt x="19634" y="108218"/>
                  </a:lnTo>
                  <a:lnTo>
                    <a:pt x="42437" y="72352"/>
                  </a:lnTo>
                  <a:lnTo>
                    <a:pt x="72352" y="42437"/>
                  </a:lnTo>
                  <a:lnTo>
                    <a:pt x="108218" y="19634"/>
                  </a:lnTo>
                  <a:lnTo>
                    <a:pt x="148876" y="5101"/>
                  </a:lnTo>
                  <a:lnTo>
                    <a:pt x="193167" y="0"/>
                  </a:lnTo>
                  <a:lnTo>
                    <a:pt x="3943921" y="0"/>
                  </a:lnTo>
                  <a:lnTo>
                    <a:pt x="3988211" y="5101"/>
                  </a:lnTo>
                  <a:lnTo>
                    <a:pt x="4028869" y="19634"/>
                  </a:lnTo>
                  <a:lnTo>
                    <a:pt x="4064735" y="42437"/>
                  </a:lnTo>
                  <a:lnTo>
                    <a:pt x="4094650" y="72352"/>
                  </a:lnTo>
                  <a:lnTo>
                    <a:pt x="4117453" y="108218"/>
                  </a:lnTo>
                  <a:lnTo>
                    <a:pt x="4131986" y="148876"/>
                  </a:lnTo>
                  <a:lnTo>
                    <a:pt x="4137078" y="193167"/>
                  </a:lnTo>
                  <a:lnTo>
                    <a:pt x="4137078" y="3669410"/>
                  </a:lnTo>
                  <a:lnTo>
                    <a:pt x="4131986" y="3713701"/>
                  </a:lnTo>
                  <a:lnTo>
                    <a:pt x="4117453" y="3754359"/>
                  </a:lnTo>
                  <a:lnTo>
                    <a:pt x="4094650" y="3790225"/>
                  </a:lnTo>
                  <a:lnTo>
                    <a:pt x="4064735" y="3820140"/>
                  </a:lnTo>
                  <a:lnTo>
                    <a:pt x="4028869" y="3842943"/>
                  </a:lnTo>
                  <a:lnTo>
                    <a:pt x="3988211" y="3857476"/>
                  </a:lnTo>
                  <a:lnTo>
                    <a:pt x="3955244" y="3861273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794814" y="2049475"/>
              <a:ext cx="4133850" cy="3862704"/>
            </a:xfrm>
            <a:custGeom>
              <a:avLst/>
              <a:gdLst/>
              <a:ahLst/>
              <a:cxnLst/>
              <a:rect l="l" t="t" r="r" b="b"/>
              <a:pathLst>
                <a:path w="4133850" h="3862704">
                  <a:moveTo>
                    <a:pt x="4133816" y="3697519"/>
                  </a:moveTo>
                  <a:lnTo>
                    <a:pt x="4117451" y="3754368"/>
                  </a:lnTo>
                  <a:lnTo>
                    <a:pt x="4094629" y="3790249"/>
                  </a:lnTo>
                  <a:lnTo>
                    <a:pt x="4064691" y="3820170"/>
                  </a:lnTo>
                  <a:lnTo>
                    <a:pt x="4028801" y="3842969"/>
                  </a:lnTo>
                  <a:lnTo>
                    <a:pt x="3988123" y="3857486"/>
                  </a:lnTo>
                  <a:lnTo>
                    <a:pt x="3943826" y="3862577"/>
                  </a:lnTo>
                  <a:lnTo>
                    <a:pt x="193160" y="3862576"/>
                  </a:lnTo>
                  <a:lnTo>
                    <a:pt x="148859" y="3857468"/>
                  </a:lnTo>
                  <a:lnTo>
                    <a:pt x="108195" y="3842926"/>
                  </a:lnTo>
                  <a:lnTo>
                    <a:pt x="72328" y="3820112"/>
                  </a:lnTo>
                  <a:lnTo>
                    <a:pt x="42417" y="3790186"/>
                  </a:lnTo>
                  <a:lnTo>
                    <a:pt x="19621" y="3754312"/>
                  </a:lnTo>
                  <a:lnTo>
                    <a:pt x="5100" y="3713650"/>
                  </a:lnTo>
                  <a:lnTo>
                    <a:pt x="4" y="3669360"/>
                  </a:lnTo>
                  <a:lnTo>
                    <a:pt x="0" y="193203"/>
                  </a:lnTo>
                  <a:lnTo>
                    <a:pt x="5093" y="148910"/>
                  </a:lnTo>
                  <a:lnTo>
                    <a:pt x="19620" y="108246"/>
                  </a:lnTo>
                  <a:lnTo>
                    <a:pt x="42421" y="72372"/>
                  </a:lnTo>
                  <a:lnTo>
                    <a:pt x="72336" y="42450"/>
                  </a:lnTo>
                  <a:lnTo>
                    <a:pt x="108207" y="19639"/>
                  </a:lnTo>
                  <a:lnTo>
                    <a:pt x="148872" y="5102"/>
                  </a:lnTo>
                  <a:lnTo>
                    <a:pt x="193166" y="0"/>
                  </a:lnTo>
                  <a:lnTo>
                    <a:pt x="3943826" y="0"/>
                  </a:lnTo>
                  <a:lnTo>
                    <a:pt x="3988140" y="5074"/>
                  </a:lnTo>
                  <a:lnTo>
                    <a:pt x="4028820" y="19600"/>
                  </a:lnTo>
                  <a:lnTo>
                    <a:pt x="4064709" y="42407"/>
                  </a:lnTo>
                  <a:lnTo>
                    <a:pt x="4094642" y="72334"/>
                  </a:lnTo>
                  <a:lnTo>
                    <a:pt x="4117458" y="108220"/>
                  </a:lnTo>
                  <a:lnTo>
                    <a:pt x="4131993" y="148902"/>
                  </a:lnTo>
                  <a:lnTo>
                    <a:pt x="4133747" y="165065"/>
                  </a:lnTo>
                </a:path>
              </a:pathLst>
            </a:custGeom>
            <a:ln w="38129">
              <a:solidFill>
                <a:srgbClr val="FFFA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5088994" y="3360578"/>
            <a:ext cx="2225675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solidFill>
                  <a:srgbClr val="001D31"/>
                </a:solidFill>
                <a:latin typeface="Calibri"/>
                <a:cs typeface="Calibri"/>
              </a:rPr>
              <a:t>Automate</a:t>
            </a:r>
            <a:r>
              <a:rPr dirty="0" sz="2100" spc="-45" b="1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001D31"/>
                </a:solidFill>
                <a:latin typeface="Calibri"/>
                <a:cs typeface="Calibri"/>
              </a:rPr>
              <a:t>&amp;</a:t>
            </a:r>
            <a:r>
              <a:rPr dirty="0" sz="2100" spc="-45" b="1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2100" spc="-10" b="1">
                <a:solidFill>
                  <a:srgbClr val="001D31"/>
                </a:solidFill>
                <a:latin typeface="Calibri"/>
                <a:cs typeface="Calibri"/>
              </a:rPr>
              <a:t>Trigger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88994" y="3914399"/>
            <a:ext cx="3505835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001D31"/>
                </a:solidFill>
                <a:latin typeface="Calibri"/>
                <a:cs typeface="Calibri"/>
              </a:rPr>
              <a:t>Workflows</a:t>
            </a:r>
            <a:r>
              <a:rPr dirty="0" sz="1500" spc="-4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01D31"/>
                </a:solidFill>
                <a:latin typeface="Calibri"/>
                <a:cs typeface="Calibri"/>
              </a:rPr>
              <a:t>and</a:t>
            </a:r>
            <a:r>
              <a:rPr dirty="0" sz="1500" spc="-4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01D31"/>
                </a:solidFill>
                <a:latin typeface="Calibri"/>
                <a:cs typeface="Calibri"/>
              </a:rPr>
              <a:t>rules.</a:t>
            </a:r>
            <a:r>
              <a:rPr dirty="0" sz="1500" spc="-4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01D31"/>
                </a:solidFill>
                <a:latin typeface="Calibri"/>
                <a:cs typeface="Calibri"/>
              </a:rPr>
              <a:t>Reduced</a:t>
            </a:r>
            <a:r>
              <a:rPr dirty="0" sz="1500" spc="-4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01D31"/>
                </a:solidFill>
                <a:latin typeface="Calibri"/>
                <a:cs typeface="Calibri"/>
              </a:rPr>
              <a:t>repetition</a:t>
            </a:r>
            <a:r>
              <a:rPr dirty="0" sz="1500" spc="-4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001D31"/>
                </a:solidFill>
                <a:latin typeface="Calibri"/>
                <a:cs typeface="Calibri"/>
              </a:rPr>
              <a:t>but </a:t>
            </a:r>
            <a:r>
              <a:rPr dirty="0" sz="1500" spc="-10">
                <a:solidFill>
                  <a:srgbClr val="001D31"/>
                </a:solidFill>
                <a:latin typeface="Calibri"/>
                <a:cs typeface="Calibri"/>
              </a:rPr>
              <a:t>human-maintained.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9168307" y="2030410"/>
            <a:ext cx="4171950" cy="3900804"/>
            <a:chOff x="9168307" y="2030410"/>
            <a:chExt cx="4171950" cy="3900804"/>
          </a:xfrm>
        </p:grpSpPr>
        <p:sp>
          <p:nvSpPr>
            <p:cNvPr id="18" name="object 18"/>
            <p:cNvSpPr/>
            <p:nvPr/>
          </p:nvSpPr>
          <p:spPr>
            <a:xfrm>
              <a:off x="9187376" y="2049475"/>
              <a:ext cx="4137660" cy="3861435"/>
            </a:xfrm>
            <a:custGeom>
              <a:avLst/>
              <a:gdLst/>
              <a:ahLst/>
              <a:cxnLst/>
              <a:rect l="l" t="t" r="r" b="b"/>
              <a:pathLst>
                <a:path w="4137659" h="3861435">
                  <a:moveTo>
                    <a:pt x="3955246" y="3861273"/>
                  </a:moveTo>
                  <a:lnTo>
                    <a:pt x="181843" y="3861273"/>
                  </a:lnTo>
                  <a:lnTo>
                    <a:pt x="148876" y="3857476"/>
                  </a:lnTo>
                  <a:lnTo>
                    <a:pt x="108218" y="3842943"/>
                  </a:lnTo>
                  <a:lnTo>
                    <a:pt x="72352" y="3820140"/>
                  </a:lnTo>
                  <a:lnTo>
                    <a:pt x="42437" y="3790225"/>
                  </a:lnTo>
                  <a:lnTo>
                    <a:pt x="19634" y="3754359"/>
                  </a:lnTo>
                  <a:lnTo>
                    <a:pt x="5102" y="3713701"/>
                  </a:lnTo>
                  <a:lnTo>
                    <a:pt x="0" y="3669410"/>
                  </a:lnTo>
                  <a:lnTo>
                    <a:pt x="0" y="193167"/>
                  </a:lnTo>
                  <a:lnTo>
                    <a:pt x="5102" y="148876"/>
                  </a:lnTo>
                  <a:lnTo>
                    <a:pt x="19634" y="108218"/>
                  </a:lnTo>
                  <a:lnTo>
                    <a:pt x="42437" y="72352"/>
                  </a:lnTo>
                  <a:lnTo>
                    <a:pt x="72352" y="42437"/>
                  </a:lnTo>
                  <a:lnTo>
                    <a:pt x="108218" y="19634"/>
                  </a:lnTo>
                  <a:lnTo>
                    <a:pt x="148876" y="5101"/>
                  </a:lnTo>
                  <a:lnTo>
                    <a:pt x="193167" y="0"/>
                  </a:lnTo>
                  <a:lnTo>
                    <a:pt x="3943922" y="0"/>
                  </a:lnTo>
                  <a:lnTo>
                    <a:pt x="3988212" y="5101"/>
                  </a:lnTo>
                  <a:lnTo>
                    <a:pt x="4028870" y="19634"/>
                  </a:lnTo>
                  <a:lnTo>
                    <a:pt x="4064736" y="42437"/>
                  </a:lnTo>
                  <a:lnTo>
                    <a:pt x="4094651" y="72352"/>
                  </a:lnTo>
                  <a:lnTo>
                    <a:pt x="4117454" y="108218"/>
                  </a:lnTo>
                  <a:lnTo>
                    <a:pt x="4131987" y="148876"/>
                  </a:lnTo>
                  <a:lnTo>
                    <a:pt x="4137078" y="193167"/>
                  </a:lnTo>
                  <a:lnTo>
                    <a:pt x="4137078" y="3669410"/>
                  </a:lnTo>
                  <a:lnTo>
                    <a:pt x="4131987" y="3713701"/>
                  </a:lnTo>
                  <a:lnTo>
                    <a:pt x="4117454" y="3754359"/>
                  </a:lnTo>
                  <a:lnTo>
                    <a:pt x="4094651" y="3790225"/>
                  </a:lnTo>
                  <a:lnTo>
                    <a:pt x="4064736" y="3820140"/>
                  </a:lnTo>
                  <a:lnTo>
                    <a:pt x="4028870" y="3842943"/>
                  </a:lnTo>
                  <a:lnTo>
                    <a:pt x="3988212" y="3857476"/>
                  </a:lnTo>
                  <a:lnTo>
                    <a:pt x="3955246" y="3861273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9187371" y="2049475"/>
              <a:ext cx="4133850" cy="3862704"/>
            </a:xfrm>
            <a:custGeom>
              <a:avLst/>
              <a:gdLst/>
              <a:ahLst/>
              <a:cxnLst/>
              <a:rect l="l" t="t" r="r" b="b"/>
              <a:pathLst>
                <a:path w="4133850" h="3862704">
                  <a:moveTo>
                    <a:pt x="4133816" y="3697519"/>
                  </a:moveTo>
                  <a:lnTo>
                    <a:pt x="4117452" y="3754369"/>
                  </a:lnTo>
                  <a:lnTo>
                    <a:pt x="4094630" y="3790250"/>
                  </a:lnTo>
                  <a:lnTo>
                    <a:pt x="4064692" y="3820171"/>
                  </a:lnTo>
                  <a:lnTo>
                    <a:pt x="4028801" y="3842969"/>
                  </a:lnTo>
                  <a:lnTo>
                    <a:pt x="3988123" y="3857486"/>
                  </a:lnTo>
                  <a:lnTo>
                    <a:pt x="3943826" y="3862577"/>
                  </a:lnTo>
                  <a:lnTo>
                    <a:pt x="193159" y="3862576"/>
                  </a:lnTo>
                  <a:lnTo>
                    <a:pt x="148859" y="3857468"/>
                  </a:lnTo>
                  <a:lnTo>
                    <a:pt x="108195" y="3842926"/>
                  </a:lnTo>
                  <a:lnTo>
                    <a:pt x="72328" y="3820112"/>
                  </a:lnTo>
                  <a:lnTo>
                    <a:pt x="42417" y="3790186"/>
                  </a:lnTo>
                  <a:lnTo>
                    <a:pt x="19621" y="3754312"/>
                  </a:lnTo>
                  <a:lnTo>
                    <a:pt x="5100" y="3713650"/>
                  </a:lnTo>
                  <a:lnTo>
                    <a:pt x="4" y="3669360"/>
                  </a:lnTo>
                  <a:lnTo>
                    <a:pt x="0" y="193203"/>
                  </a:lnTo>
                  <a:lnTo>
                    <a:pt x="5093" y="148910"/>
                  </a:lnTo>
                  <a:lnTo>
                    <a:pt x="19620" y="108246"/>
                  </a:lnTo>
                  <a:lnTo>
                    <a:pt x="42421" y="72372"/>
                  </a:lnTo>
                  <a:lnTo>
                    <a:pt x="72336" y="42450"/>
                  </a:lnTo>
                  <a:lnTo>
                    <a:pt x="108206" y="19639"/>
                  </a:lnTo>
                  <a:lnTo>
                    <a:pt x="148872" y="5102"/>
                  </a:lnTo>
                  <a:lnTo>
                    <a:pt x="193166" y="0"/>
                  </a:lnTo>
                  <a:lnTo>
                    <a:pt x="3943826" y="0"/>
                  </a:lnTo>
                  <a:lnTo>
                    <a:pt x="3988140" y="5074"/>
                  </a:lnTo>
                  <a:lnTo>
                    <a:pt x="4028820" y="19600"/>
                  </a:lnTo>
                  <a:lnTo>
                    <a:pt x="4064709" y="42406"/>
                  </a:lnTo>
                  <a:lnTo>
                    <a:pt x="4094643" y="72333"/>
                  </a:lnTo>
                  <a:lnTo>
                    <a:pt x="4117459" y="108220"/>
                  </a:lnTo>
                  <a:lnTo>
                    <a:pt x="4131994" y="148902"/>
                  </a:lnTo>
                  <a:lnTo>
                    <a:pt x="4133747" y="165066"/>
                  </a:lnTo>
                </a:path>
              </a:pathLst>
            </a:custGeom>
            <a:ln w="38129">
              <a:solidFill>
                <a:srgbClr val="FFFA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696445" y="2200242"/>
            <a:ext cx="9720580" cy="8489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04995" algn="l"/>
                <a:tab pos="8797290" algn="l"/>
              </a:tabLst>
            </a:pPr>
            <a:r>
              <a:rPr dirty="0" sz="5400" spc="-25" b="1">
                <a:solidFill>
                  <a:srgbClr val="001D31"/>
                </a:solidFill>
                <a:latin typeface="Georgia"/>
                <a:cs typeface="Georgia"/>
              </a:rPr>
              <a:t>01</a:t>
            </a:r>
            <a:r>
              <a:rPr dirty="0" sz="5400" b="1">
                <a:solidFill>
                  <a:srgbClr val="001D31"/>
                </a:solidFill>
                <a:latin typeface="Georgia"/>
                <a:cs typeface="Georgia"/>
              </a:rPr>
              <a:t>	</a:t>
            </a:r>
            <a:r>
              <a:rPr dirty="0" sz="5400" spc="-25" b="1">
                <a:solidFill>
                  <a:srgbClr val="001D31"/>
                </a:solidFill>
                <a:latin typeface="Georgia"/>
                <a:cs typeface="Georgia"/>
              </a:rPr>
              <a:t>02</a:t>
            </a:r>
            <a:r>
              <a:rPr dirty="0" sz="5400" b="1">
                <a:solidFill>
                  <a:srgbClr val="001D31"/>
                </a:solidFill>
                <a:latin typeface="Georgia"/>
                <a:cs typeface="Georgia"/>
              </a:rPr>
              <a:t>	</a:t>
            </a:r>
            <a:r>
              <a:rPr dirty="0" sz="5400" spc="-25" b="1">
                <a:solidFill>
                  <a:srgbClr val="001D31"/>
                </a:solidFill>
                <a:latin typeface="Georgia"/>
                <a:cs typeface="Georgia"/>
              </a:rPr>
              <a:t>03</a:t>
            </a:r>
            <a:endParaRPr sz="54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088994" y="2896482"/>
            <a:ext cx="4751070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04995" algn="l"/>
              </a:tabLst>
            </a:pPr>
            <a:r>
              <a:rPr dirty="0" sz="1350" spc="-10" b="1">
                <a:solidFill>
                  <a:srgbClr val="001D31"/>
                </a:solidFill>
                <a:latin typeface="Calibri"/>
                <a:cs typeface="Calibri"/>
              </a:rPr>
              <a:t>2010s</a:t>
            </a:r>
            <a:r>
              <a:rPr dirty="0" sz="1350" b="1">
                <a:solidFill>
                  <a:srgbClr val="001D31"/>
                </a:solidFill>
                <a:latin typeface="Calibri"/>
                <a:cs typeface="Calibri"/>
              </a:rPr>
              <a:t>	</a:t>
            </a:r>
            <a:r>
              <a:rPr dirty="0" baseline="2057" sz="2025" spc="-37" b="1">
                <a:solidFill>
                  <a:srgbClr val="001D31"/>
                </a:solidFill>
                <a:latin typeface="Calibri"/>
                <a:cs typeface="Calibri"/>
              </a:rPr>
              <a:t>Now</a:t>
            </a:r>
            <a:endParaRPr baseline="2057" sz="2025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481543" y="3351053"/>
            <a:ext cx="2510155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solidFill>
                  <a:srgbClr val="001D31"/>
                </a:solidFill>
                <a:latin typeface="Calibri"/>
                <a:cs typeface="Calibri"/>
              </a:rPr>
              <a:t>Understand</a:t>
            </a:r>
            <a:r>
              <a:rPr dirty="0" sz="2100" spc="-45" b="1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001D31"/>
                </a:solidFill>
                <a:latin typeface="Calibri"/>
                <a:cs typeface="Calibri"/>
              </a:rPr>
              <a:t>&amp;</a:t>
            </a:r>
            <a:r>
              <a:rPr dirty="0" sz="2100" spc="-45" b="1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2100" spc="-10" b="1">
                <a:solidFill>
                  <a:srgbClr val="001D31"/>
                </a:solidFill>
                <a:latin typeface="Calibri"/>
                <a:cs typeface="Calibri"/>
              </a:rPr>
              <a:t>Execute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481543" y="3941127"/>
            <a:ext cx="3517265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001D31"/>
                </a:solidFill>
                <a:latin typeface="Calibri"/>
                <a:cs typeface="Calibri"/>
              </a:rPr>
              <a:t>AI</a:t>
            </a:r>
            <a:r>
              <a:rPr dirty="0" sz="1500" spc="-3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01D31"/>
                </a:solidFill>
                <a:latin typeface="Calibri"/>
                <a:cs typeface="Calibri"/>
              </a:rPr>
              <a:t>reads</a:t>
            </a:r>
            <a:r>
              <a:rPr dirty="0" sz="1500" spc="-3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01D31"/>
                </a:solidFill>
                <a:latin typeface="Calibri"/>
                <a:cs typeface="Calibri"/>
              </a:rPr>
              <a:t>context</a:t>
            </a:r>
            <a:r>
              <a:rPr dirty="0" sz="1500" spc="-3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01D31"/>
                </a:solidFill>
                <a:latin typeface="Calibri"/>
                <a:cs typeface="Calibri"/>
              </a:rPr>
              <a:t>and</a:t>
            </a:r>
            <a:r>
              <a:rPr dirty="0" sz="1500" spc="-3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001D31"/>
                </a:solidFill>
                <a:latin typeface="Calibri"/>
                <a:cs typeface="Calibri"/>
              </a:rPr>
              <a:t>completes</a:t>
            </a:r>
            <a:r>
              <a:rPr dirty="0" sz="1500" spc="-3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01D31"/>
                </a:solidFill>
                <a:latin typeface="Calibri"/>
                <a:cs typeface="Calibri"/>
              </a:rPr>
              <a:t>work</a:t>
            </a:r>
            <a:r>
              <a:rPr dirty="0" sz="1500" spc="-3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001D31"/>
                </a:solidFill>
                <a:latin typeface="Calibri"/>
                <a:cs typeface="Calibri"/>
              </a:rPr>
              <a:t>end-</a:t>
            </a:r>
            <a:r>
              <a:rPr dirty="0" sz="1500" spc="-25">
                <a:solidFill>
                  <a:srgbClr val="001D31"/>
                </a:solidFill>
                <a:latin typeface="Calibri"/>
                <a:cs typeface="Calibri"/>
              </a:rPr>
              <a:t>to-</a:t>
            </a:r>
            <a:r>
              <a:rPr dirty="0" sz="1500" spc="-20">
                <a:solidFill>
                  <a:srgbClr val="001D31"/>
                </a:solidFill>
                <a:latin typeface="Calibri"/>
                <a:cs typeface="Calibri"/>
              </a:rPr>
              <a:t>end.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3560857" y="2030410"/>
            <a:ext cx="4171950" cy="3900804"/>
            <a:chOff x="13560857" y="2030410"/>
            <a:chExt cx="4171950" cy="3900804"/>
          </a:xfrm>
        </p:grpSpPr>
        <p:sp>
          <p:nvSpPr>
            <p:cNvPr id="25" name="object 25"/>
            <p:cNvSpPr/>
            <p:nvPr/>
          </p:nvSpPr>
          <p:spPr>
            <a:xfrm>
              <a:off x="13579925" y="2049475"/>
              <a:ext cx="4137660" cy="3861435"/>
            </a:xfrm>
            <a:custGeom>
              <a:avLst/>
              <a:gdLst/>
              <a:ahLst/>
              <a:cxnLst/>
              <a:rect l="l" t="t" r="r" b="b"/>
              <a:pathLst>
                <a:path w="4137659" h="3861435">
                  <a:moveTo>
                    <a:pt x="3955245" y="3861273"/>
                  </a:moveTo>
                  <a:lnTo>
                    <a:pt x="181843" y="3861273"/>
                  </a:lnTo>
                  <a:lnTo>
                    <a:pt x="148876" y="3857476"/>
                  </a:lnTo>
                  <a:lnTo>
                    <a:pt x="108218" y="3842943"/>
                  </a:lnTo>
                  <a:lnTo>
                    <a:pt x="72352" y="3820140"/>
                  </a:lnTo>
                  <a:lnTo>
                    <a:pt x="42437" y="3790225"/>
                  </a:lnTo>
                  <a:lnTo>
                    <a:pt x="19634" y="3754359"/>
                  </a:lnTo>
                  <a:lnTo>
                    <a:pt x="5101" y="3713701"/>
                  </a:lnTo>
                  <a:lnTo>
                    <a:pt x="0" y="3669410"/>
                  </a:lnTo>
                  <a:lnTo>
                    <a:pt x="0" y="193167"/>
                  </a:lnTo>
                  <a:lnTo>
                    <a:pt x="5101" y="148876"/>
                  </a:lnTo>
                  <a:lnTo>
                    <a:pt x="19634" y="108218"/>
                  </a:lnTo>
                  <a:lnTo>
                    <a:pt x="42437" y="72352"/>
                  </a:lnTo>
                  <a:lnTo>
                    <a:pt x="72352" y="42437"/>
                  </a:lnTo>
                  <a:lnTo>
                    <a:pt x="108218" y="19634"/>
                  </a:lnTo>
                  <a:lnTo>
                    <a:pt x="148876" y="5101"/>
                  </a:lnTo>
                  <a:lnTo>
                    <a:pt x="193167" y="0"/>
                  </a:lnTo>
                  <a:lnTo>
                    <a:pt x="3943921" y="0"/>
                  </a:lnTo>
                  <a:lnTo>
                    <a:pt x="3988211" y="5101"/>
                  </a:lnTo>
                  <a:lnTo>
                    <a:pt x="4028870" y="19634"/>
                  </a:lnTo>
                  <a:lnTo>
                    <a:pt x="4064736" y="42437"/>
                  </a:lnTo>
                  <a:lnTo>
                    <a:pt x="4094650" y="72352"/>
                  </a:lnTo>
                  <a:lnTo>
                    <a:pt x="4117454" y="108218"/>
                  </a:lnTo>
                  <a:lnTo>
                    <a:pt x="4131986" y="148876"/>
                  </a:lnTo>
                  <a:lnTo>
                    <a:pt x="4137078" y="193167"/>
                  </a:lnTo>
                  <a:lnTo>
                    <a:pt x="4137078" y="3669410"/>
                  </a:lnTo>
                  <a:lnTo>
                    <a:pt x="4131986" y="3713701"/>
                  </a:lnTo>
                  <a:lnTo>
                    <a:pt x="4117454" y="3754359"/>
                  </a:lnTo>
                  <a:lnTo>
                    <a:pt x="4094650" y="3790225"/>
                  </a:lnTo>
                  <a:lnTo>
                    <a:pt x="4064736" y="3820140"/>
                  </a:lnTo>
                  <a:lnTo>
                    <a:pt x="4028870" y="3842943"/>
                  </a:lnTo>
                  <a:lnTo>
                    <a:pt x="3988211" y="3857476"/>
                  </a:lnTo>
                  <a:lnTo>
                    <a:pt x="3955245" y="3861273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3579922" y="2049475"/>
              <a:ext cx="4133850" cy="3862704"/>
            </a:xfrm>
            <a:custGeom>
              <a:avLst/>
              <a:gdLst/>
              <a:ahLst/>
              <a:cxnLst/>
              <a:rect l="l" t="t" r="r" b="b"/>
              <a:pathLst>
                <a:path w="4133850" h="3862704">
                  <a:moveTo>
                    <a:pt x="4133816" y="3697520"/>
                  </a:moveTo>
                  <a:lnTo>
                    <a:pt x="4117452" y="3754368"/>
                  </a:lnTo>
                  <a:lnTo>
                    <a:pt x="4094629" y="3790250"/>
                  </a:lnTo>
                  <a:lnTo>
                    <a:pt x="4064691" y="3820170"/>
                  </a:lnTo>
                  <a:lnTo>
                    <a:pt x="4028801" y="3842969"/>
                  </a:lnTo>
                  <a:lnTo>
                    <a:pt x="3988123" y="3857486"/>
                  </a:lnTo>
                  <a:lnTo>
                    <a:pt x="3943826" y="3862577"/>
                  </a:lnTo>
                  <a:lnTo>
                    <a:pt x="193159" y="3862576"/>
                  </a:lnTo>
                  <a:lnTo>
                    <a:pt x="148859" y="3857468"/>
                  </a:lnTo>
                  <a:lnTo>
                    <a:pt x="108195" y="3842926"/>
                  </a:lnTo>
                  <a:lnTo>
                    <a:pt x="72328" y="3820111"/>
                  </a:lnTo>
                  <a:lnTo>
                    <a:pt x="42417" y="3790186"/>
                  </a:lnTo>
                  <a:lnTo>
                    <a:pt x="19621" y="3754312"/>
                  </a:lnTo>
                  <a:lnTo>
                    <a:pt x="5100" y="3713650"/>
                  </a:lnTo>
                  <a:lnTo>
                    <a:pt x="4" y="3669360"/>
                  </a:lnTo>
                  <a:lnTo>
                    <a:pt x="0" y="193203"/>
                  </a:lnTo>
                  <a:lnTo>
                    <a:pt x="5093" y="148910"/>
                  </a:lnTo>
                  <a:lnTo>
                    <a:pt x="19620" y="108246"/>
                  </a:lnTo>
                  <a:lnTo>
                    <a:pt x="42421" y="72372"/>
                  </a:lnTo>
                  <a:lnTo>
                    <a:pt x="72336" y="42450"/>
                  </a:lnTo>
                  <a:lnTo>
                    <a:pt x="108206" y="19639"/>
                  </a:lnTo>
                  <a:lnTo>
                    <a:pt x="148872" y="5102"/>
                  </a:lnTo>
                  <a:lnTo>
                    <a:pt x="193166" y="0"/>
                  </a:lnTo>
                  <a:lnTo>
                    <a:pt x="3943826" y="0"/>
                  </a:lnTo>
                  <a:lnTo>
                    <a:pt x="3988139" y="5074"/>
                  </a:lnTo>
                  <a:lnTo>
                    <a:pt x="4028820" y="19600"/>
                  </a:lnTo>
                  <a:lnTo>
                    <a:pt x="4064709" y="42406"/>
                  </a:lnTo>
                  <a:lnTo>
                    <a:pt x="4094643" y="72334"/>
                  </a:lnTo>
                  <a:lnTo>
                    <a:pt x="4117458" y="108220"/>
                  </a:lnTo>
                  <a:lnTo>
                    <a:pt x="4131993" y="148902"/>
                  </a:lnTo>
                  <a:lnTo>
                    <a:pt x="4133747" y="165065"/>
                  </a:lnTo>
                </a:path>
              </a:pathLst>
            </a:custGeom>
            <a:ln w="38129">
              <a:solidFill>
                <a:srgbClr val="FFFA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13874101" y="2190717"/>
            <a:ext cx="952500" cy="8489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400" spc="-25" b="1">
                <a:solidFill>
                  <a:srgbClr val="001D31"/>
                </a:solidFill>
                <a:latin typeface="Georgia"/>
                <a:cs typeface="Georgia"/>
              </a:rPr>
              <a:t>04</a:t>
            </a:r>
            <a:endParaRPr sz="54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874101" y="2886957"/>
            <a:ext cx="100393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001D31"/>
                </a:solidFill>
                <a:latin typeface="Calibri"/>
                <a:cs typeface="Calibri"/>
              </a:rPr>
              <a:t>Next</a:t>
            </a:r>
            <a:r>
              <a:rPr dirty="0" sz="1350" spc="-25" b="1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001D31"/>
                </a:solidFill>
                <a:latin typeface="Calibri"/>
                <a:cs typeface="Calibri"/>
              </a:rPr>
              <a:t>10</a:t>
            </a:r>
            <a:r>
              <a:rPr dirty="0" sz="1350" spc="-25" b="1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 spc="-10" b="1">
                <a:solidFill>
                  <a:srgbClr val="001D31"/>
                </a:solidFill>
                <a:latin typeface="Calibri"/>
                <a:cs typeface="Calibri"/>
              </a:rPr>
              <a:t>Years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874101" y="3370103"/>
            <a:ext cx="2700655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solidFill>
                  <a:srgbClr val="001D31"/>
                </a:solidFill>
                <a:latin typeface="Calibri"/>
                <a:cs typeface="Calibri"/>
              </a:rPr>
              <a:t>Autonomous</a:t>
            </a:r>
            <a:r>
              <a:rPr dirty="0" sz="2100" spc="-75" b="1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2100" spc="-10" b="1">
                <a:solidFill>
                  <a:srgbClr val="001D31"/>
                </a:solidFill>
                <a:latin typeface="Calibri"/>
                <a:cs typeface="Calibri"/>
              </a:rPr>
              <a:t>Workforce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874101" y="3941127"/>
            <a:ext cx="3420745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001D31"/>
                </a:solidFill>
                <a:latin typeface="Calibri"/>
                <a:cs typeface="Calibri"/>
              </a:rPr>
              <a:t>Organizations </a:t>
            </a:r>
            <a:r>
              <a:rPr dirty="0" sz="1500">
                <a:solidFill>
                  <a:srgbClr val="001D31"/>
                </a:solidFill>
                <a:latin typeface="Calibri"/>
                <a:cs typeface="Calibri"/>
              </a:rPr>
              <a:t>deploy</a:t>
            </a:r>
            <a:r>
              <a:rPr dirty="0" sz="1500" spc="-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01D31"/>
                </a:solidFill>
                <a:latin typeface="Calibri"/>
                <a:cs typeface="Calibri"/>
              </a:rPr>
              <a:t>AI</a:t>
            </a:r>
            <a:r>
              <a:rPr dirty="0" sz="1500" spc="-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001D31"/>
                </a:solidFill>
                <a:latin typeface="Calibri"/>
                <a:cs typeface="Calibri"/>
              </a:rPr>
              <a:t>employees</a:t>
            </a:r>
            <a:r>
              <a:rPr dirty="0" sz="1500" spc="-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01D31"/>
                </a:solidFill>
                <a:latin typeface="Calibri"/>
                <a:cs typeface="Calibri"/>
              </a:rPr>
              <a:t>at</a:t>
            </a:r>
            <a:r>
              <a:rPr dirty="0" sz="1500" spc="-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001D31"/>
                </a:solidFill>
                <a:latin typeface="Calibri"/>
                <a:cs typeface="Calibri"/>
              </a:rPr>
              <a:t>scale. </a:t>
            </a:r>
            <a:r>
              <a:rPr dirty="0" sz="1500">
                <a:solidFill>
                  <a:srgbClr val="001D31"/>
                </a:solidFill>
                <a:latin typeface="Calibri"/>
                <a:cs typeface="Calibri"/>
              </a:rPr>
              <a:t>Revenue</a:t>
            </a:r>
            <a:r>
              <a:rPr dirty="0" sz="1500" spc="-6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001D31"/>
                </a:solidFill>
                <a:latin typeface="Calibri"/>
                <a:cs typeface="Calibri"/>
              </a:rPr>
              <a:t>compounds.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865265" y="6708758"/>
            <a:ext cx="14389100" cy="3689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50" i="1">
                <a:solidFill>
                  <a:srgbClr val="8B8FA2"/>
                </a:solidFill>
                <a:latin typeface="Georgia"/>
                <a:cs typeface="Georgia"/>
              </a:rPr>
              <a:t>Follei</a:t>
            </a:r>
            <a:r>
              <a:rPr dirty="0" sz="2250" spc="-60" i="1">
                <a:solidFill>
                  <a:srgbClr val="8B8FA2"/>
                </a:solidFill>
                <a:latin typeface="Georgia"/>
                <a:cs typeface="Georgia"/>
              </a:rPr>
              <a:t> </a:t>
            </a:r>
            <a:r>
              <a:rPr dirty="0" sz="2250" i="1">
                <a:solidFill>
                  <a:srgbClr val="8B8FA2"/>
                </a:solidFill>
                <a:latin typeface="Georgia"/>
                <a:cs typeface="Georgia"/>
              </a:rPr>
              <a:t>is</a:t>
            </a:r>
            <a:r>
              <a:rPr dirty="0" sz="2250" spc="-55" i="1">
                <a:solidFill>
                  <a:srgbClr val="8B8FA2"/>
                </a:solidFill>
                <a:latin typeface="Georgia"/>
                <a:cs typeface="Georgia"/>
              </a:rPr>
              <a:t> </a:t>
            </a:r>
            <a:r>
              <a:rPr dirty="0" sz="2250" i="1">
                <a:solidFill>
                  <a:srgbClr val="8B8FA2"/>
                </a:solidFill>
                <a:latin typeface="Georgia"/>
                <a:cs typeface="Georgia"/>
              </a:rPr>
              <a:t>not</a:t>
            </a:r>
            <a:r>
              <a:rPr dirty="0" sz="2250" spc="-60" i="1">
                <a:solidFill>
                  <a:srgbClr val="8B8FA2"/>
                </a:solidFill>
                <a:latin typeface="Georgia"/>
                <a:cs typeface="Georgia"/>
              </a:rPr>
              <a:t> </a:t>
            </a:r>
            <a:r>
              <a:rPr dirty="0" sz="2250" i="1">
                <a:solidFill>
                  <a:srgbClr val="8B8FA2"/>
                </a:solidFill>
                <a:latin typeface="Georgia"/>
                <a:cs typeface="Georgia"/>
              </a:rPr>
              <a:t>building</a:t>
            </a:r>
            <a:r>
              <a:rPr dirty="0" sz="2250" spc="-55" i="1">
                <a:solidFill>
                  <a:srgbClr val="8B8FA2"/>
                </a:solidFill>
                <a:latin typeface="Georgia"/>
                <a:cs typeface="Georgia"/>
              </a:rPr>
              <a:t> </a:t>
            </a:r>
            <a:r>
              <a:rPr dirty="0" sz="2250" i="1">
                <a:solidFill>
                  <a:srgbClr val="8B8FA2"/>
                </a:solidFill>
                <a:latin typeface="Georgia"/>
                <a:cs typeface="Georgia"/>
              </a:rPr>
              <a:t>a</a:t>
            </a:r>
            <a:r>
              <a:rPr dirty="0" sz="2250" spc="-60" i="1">
                <a:solidFill>
                  <a:srgbClr val="8B8FA2"/>
                </a:solidFill>
                <a:latin typeface="Georgia"/>
                <a:cs typeface="Georgia"/>
              </a:rPr>
              <a:t> </a:t>
            </a:r>
            <a:r>
              <a:rPr dirty="0" sz="2250" i="1">
                <a:solidFill>
                  <a:srgbClr val="8B8FA2"/>
                </a:solidFill>
                <a:latin typeface="Georgia"/>
                <a:cs typeface="Georgia"/>
              </a:rPr>
              <a:t>better</a:t>
            </a:r>
            <a:r>
              <a:rPr dirty="0" sz="2250" spc="-55" i="1">
                <a:solidFill>
                  <a:srgbClr val="8B8FA2"/>
                </a:solidFill>
                <a:latin typeface="Georgia"/>
                <a:cs typeface="Georgia"/>
              </a:rPr>
              <a:t> </a:t>
            </a:r>
            <a:r>
              <a:rPr dirty="0" sz="2250" i="1">
                <a:solidFill>
                  <a:srgbClr val="8B8FA2"/>
                </a:solidFill>
                <a:latin typeface="Georgia"/>
                <a:cs typeface="Georgia"/>
              </a:rPr>
              <a:t>chatbot.</a:t>
            </a:r>
            <a:r>
              <a:rPr dirty="0" sz="2250" spc="-55" i="1">
                <a:solidFill>
                  <a:srgbClr val="8B8FA2"/>
                </a:solidFill>
                <a:latin typeface="Georgia"/>
                <a:cs typeface="Georgia"/>
              </a:rPr>
              <a:t> </a:t>
            </a:r>
            <a:r>
              <a:rPr dirty="0" sz="2250" i="1">
                <a:solidFill>
                  <a:srgbClr val="8B8FA2"/>
                </a:solidFill>
                <a:latin typeface="Georgia"/>
                <a:cs typeface="Georgia"/>
              </a:rPr>
              <a:t>Follei</a:t>
            </a:r>
            <a:r>
              <a:rPr dirty="0" sz="2250" spc="-60" i="1">
                <a:solidFill>
                  <a:srgbClr val="8B8FA2"/>
                </a:solidFill>
                <a:latin typeface="Georgia"/>
                <a:cs typeface="Georgia"/>
              </a:rPr>
              <a:t> </a:t>
            </a:r>
            <a:r>
              <a:rPr dirty="0" sz="2250" i="1">
                <a:solidFill>
                  <a:srgbClr val="8B8FA2"/>
                </a:solidFill>
                <a:latin typeface="Georgia"/>
                <a:cs typeface="Georgia"/>
              </a:rPr>
              <a:t>is</a:t>
            </a:r>
            <a:r>
              <a:rPr dirty="0" sz="2250" spc="-55" i="1">
                <a:solidFill>
                  <a:srgbClr val="8B8FA2"/>
                </a:solidFill>
                <a:latin typeface="Georgia"/>
                <a:cs typeface="Georgia"/>
              </a:rPr>
              <a:t> </a:t>
            </a:r>
            <a:r>
              <a:rPr dirty="0" sz="2250" i="1">
                <a:solidFill>
                  <a:srgbClr val="8B8FA2"/>
                </a:solidFill>
                <a:latin typeface="Georgia"/>
                <a:cs typeface="Georgia"/>
              </a:rPr>
              <a:t>building</a:t>
            </a:r>
            <a:r>
              <a:rPr dirty="0" sz="2250" spc="-60" i="1">
                <a:solidFill>
                  <a:srgbClr val="8B8FA2"/>
                </a:solidFill>
                <a:latin typeface="Georgia"/>
                <a:cs typeface="Georgia"/>
              </a:rPr>
              <a:t> </a:t>
            </a:r>
            <a:r>
              <a:rPr dirty="0" sz="2250" i="1">
                <a:solidFill>
                  <a:srgbClr val="8B8FA2"/>
                </a:solidFill>
                <a:latin typeface="Georgia"/>
                <a:cs typeface="Georgia"/>
              </a:rPr>
              <a:t>the</a:t>
            </a:r>
            <a:r>
              <a:rPr dirty="0" sz="2250" spc="-55" i="1">
                <a:solidFill>
                  <a:srgbClr val="8B8FA2"/>
                </a:solidFill>
                <a:latin typeface="Georgia"/>
                <a:cs typeface="Georgia"/>
              </a:rPr>
              <a:t> </a:t>
            </a:r>
            <a:r>
              <a:rPr dirty="0" sz="2250" i="1">
                <a:solidFill>
                  <a:srgbClr val="8B8FA2"/>
                </a:solidFill>
                <a:latin typeface="Georgia"/>
                <a:cs typeface="Georgia"/>
              </a:rPr>
              <a:t>operating</a:t>
            </a:r>
            <a:r>
              <a:rPr dirty="0" sz="2250" spc="-60" i="1">
                <a:solidFill>
                  <a:srgbClr val="8B8FA2"/>
                </a:solidFill>
                <a:latin typeface="Georgia"/>
                <a:cs typeface="Georgia"/>
              </a:rPr>
              <a:t> </a:t>
            </a:r>
            <a:r>
              <a:rPr dirty="0" sz="2250" i="1">
                <a:solidFill>
                  <a:srgbClr val="8B8FA2"/>
                </a:solidFill>
                <a:latin typeface="Georgia"/>
                <a:cs typeface="Georgia"/>
              </a:rPr>
              <a:t>system</a:t>
            </a:r>
            <a:r>
              <a:rPr dirty="0" sz="2250" spc="-55" i="1">
                <a:solidFill>
                  <a:srgbClr val="8B8FA2"/>
                </a:solidFill>
                <a:latin typeface="Georgia"/>
                <a:cs typeface="Georgia"/>
              </a:rPr>
              <a:t> </a:t>
            </a:r>
            <a:r>
              <a:rPr dirty="0" sz="2250" i="1">
                <a:solidFill>
                  <a:srgbClr val="8B8FA2"/>
                </a:solidFill>
                <a:latin typeface="Georgia"/>
                <a:cs typeface="Georgia"/>
              </a:rPr>
              <a:t>for</a:t>
            </a:r>
            <a:r>
              <a:rPr dirty="0" sz="2250" spc="-55" i="1">
                <a:solidFill>
                  <a:srgbClr val="8B8FA2"/>
                </a:solidFill>
                <a:latin typeface="Georgia"/>
                <a:cs typeface="Georgia"/>
              </a:rPr>
              <a:t> </a:t>
            </a:r>
            <a:r>
              <a:rPr dirty="0" sz="2250" i="1">
                <a:solidFill>
                  <a:srgbClr val="8B8FA2"/>
                </a:solidFill>
                <a:latin typeface="Georgia"/>
                <a:cs typeface="Georgia"/>
              </a:rPr>
              <a:t>autonomous</a:t>
            </a:r>
            <a:r>
              <a:rPr dirty="0" sz="2250" spc="-60" i="1">
                <a:solidFill>
                  <a:srgbClr val="8B8FA2"/>
                </a:solidFill>
                <a:latin typeface="Georgia"/>
                <a:cs typeface="Georgia"/>
              </a:rPr>
              <a:t> </a:t>
            </a:r>
            <a:r>
              <a:rPr dirty="0" sz="2250" i="1">
                <a:solidFill>
                  <a:srgbClr val="8B8FA2"/>
                </a:solidFill>
                <a:latin typeface="Georgia"/>
                <a:cs typeface="Georgia"/>
              </a:rPr>
              <a:t>business</a:t>
            </a:r>
            <a:r>
              <a:rPr dirty="0" sz="2250" spc="-55" i="1">
                <a:solidFill>
                  <a:srgbClr val="8B8FA2"/>
                </a:solidFill>
                <a:latin typeface="Georgia"/>
                <a:cs typeface="Georgia"/>
              </a:rPr>
              <a:t> </a:t>
            </a:r>
            <a:r>
              <a:rPr dirty="0" sz="2250" spc="-10" i="1">
                <a:solidFill>
                  <a:srgbClr val="8B8FA2"/>
                </a:solidFill>
                <a:latin typeface="Georgia"/>
                <a:cs typeface="Georgia"/>
              </a:rPr>
              <a:t>execution.</a:t>
            </a:r>
            <a:endParaRPr sz="2250">
              <a:latin typeface="Georgia"/>
              <a:cs typeface="Georgi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059009" y="7236741"/>
            <a:ext cx="13383894" cy="206375"/>
            <a:chOff x="2059009" y="7236741"/>
            <a:chExt cx="13383894" cy="206375"/>
          </a:xfrm>
        </p:grpSpPr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59009" y="7236741"/>
              <a:ext cx="205930" cy="20593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2264911" y="7319104"/>
              <a:ext cx="4187190" cy="41275"/>
            </a:xfrm>
            <a:custGeom>
              <a:avLst/>
              <a:gdLst/>
              <a:ahLst/>
              <a:cxnLst/>
              <a:rect l="l" t="t" r="r" b="b"/>
              <a:pathLst>
                <a:path w="4187190" h="41275">
                  <a:moveTo>
                    <a:pt x="4186660" y="41176"/>
                  </a:moveTo>
                  <a:lnTo>
                    <a:pt x="0" y="41176"/>
                  </a:lnTo>
                  <a:lnTo>
                    <a:pt x="0" y="0"/>
                  </a:lnTo>
                  <a:lnTo>
                    <a:pt x="4186660" y="0"/>
                  </a:lnTo>
                  <a:lnTo>
                    <a:pt x="4186660" y="41176"/>
                  </a:lnTo>
                  <a:close/>
                </a:path>
              </a:pathLst>
            </a:custGeom>
            <a:solidFill>
              <a:srgbClr val="6A6F8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1558" y="7236741"/>
              <a:ext cx="205930" cy="20593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657460" y="7319104"/>
              <a:ext cx="4187190" cy="41275"/>
            </a:xfrm>
            <a:custGeom>
              <a:avLst/>
              <a:gdLst/>
              <a:ahLst/>
              <a:cxnLst/>
              <a:rect l="l" t="t" r="r" b="b"/>
              <a:pathLst>
                <a:path w="4187190" h="41275">
                  <a:moveTo>
                    <a:pt x="4186660" y="41176"/>
                  </a:moveTo>
                  <a:lnTo>
                    <a:pt x="0" y="41176"/>
                  </a:lnTo>
                  <a:lnTo>
                    <a:pt x="0" y="0"/>
                  </a:lnTo>
                  <a:lnTo>
                    <a:pt x="4186660" y="0"/>
                  </a:lnTo>
                  <a:lnTo>
                    <a:pt x="4186660" y="41176"/>
                  </a:lnTo>
                  <a:close/>
                </a:path>
              </a:pathLst>
            </a:custGeom>
            <a:solidFill>
              <a:srgbClr val="6A6F8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44106" y="7236741"/>
              <a:ext cx="205930" cy="20593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1050008" y="7319104"/>
              <a:ext cx="4187190" cy="41275"/>
            </a:xfrm>
            <a:custGeom>
              <a:avLst/>
              <a:gdLst/>
              <a:ahLst/>
              <a:cxnLst/>
              <a:rect l="l" t="t" r="r" b="b"/>
              <a:pathLst>
                <a:path w="4187190" h="41275">
                  <a:moveTo>
                    <a:pt x="4186660" y="41176"/>
                  </a:moveTo>
                  <a:lnTo>
                    <a:pt x="0" y="41176"/>
                  </a:lnTo>
                  <a:lnTo>
                    <a:pt x="0" y="0"/>
                  </a:lnTo>
                  <a:lnTo>
                    <a:pt x="4186660" y="0"/>
                  </a:lnTo>
                  <a:lnTo>
                    <a:pt x="4186660" y="41176"/>
                  </a:lnTo>
                  <a:close/>
                </a:path>
              </a:pathLst>
            </a:custGeom>
            <a:solidFill>
              <a:srgbClr val="6A6F8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236665" y="7236741"/>
              <a:ext cx="205930" cy="205930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17249167" y="9655941"/>
            <a:ext cx="516890" cy="1974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85"/>
              </a:lnSpc>
            </a:pPr>
            <a:r>
              <a:rPr dirty="0" sz="1350">
                <a:solidFill>
                  <a:srgbClr val="6A6F82"/>
                </a:solidFill>
                <a:latin typeface="Calibri"/>
                <a:cs typeface="Calibri"/>
              </a:rPr>
              <a:t>03</a:t>
            </a:r>
            <a:r>
              <a:rPr dirty="0" sz="1350" spc="-20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6A6F82"/>
                </a:solidFill>
                <a:latin typeface="Calibri"/>
                <a:cs typeface="Calibri"/>
              </a:rPr>
              <a:t>/</a:t>
            </a:r>
            <a:r>
              <a:rPr dirty="0" sz="1350" spc="-15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350" spc="-35">
                <a:solidFill>
                  <a:srgbClr val="6A6F82"/>
                </a:solidFill>
                <a:latin typeface="Calibri"/>
                <a:cs typeface="Calibri"/>
              </a:rPr>
              <a:t>16</a:t>
            </a:r>
            <a:endParaRPr sz="1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726724" y="0"/>
            <a:ext cx="4561840" cy="4804410"/>
          </a:xfrm>
          <a:custGeom>
            <a:avLst/>
            <a:gdLst/>
            <a:ahLst/>
            <a:cxnLst/>
            <a:rect l="l" t="t" r="r" b="b"/>
            <a:pathLst>
              <a:path w="4561840" h="4804410">
                <a:moveTo>
                  <a:pt x="3264366" y="4766252"/>
                </a:moveTo>
                <a:lnTo>
                  <a:pt x="2226411" y="4766252"/>
                </a:lnTo>
                <a:lnTo>
                  <a:pt x="1825660" y="4651952"/>
                </a:lnTo>
                <a:lnTo>
                  <a:pt x="1740071" y="4626552"/>
                </a:lnTo>
                <a:lnTo>
                  <a:pt x="1697790" y="4601152"/>
                </a:lnTo>
                <a:lnTo>
                  <a:pt x="1655860" y="4588452"/>
                </a:lnTo>
                <a:lnTo>
                  <a:pt x="1614288" y="4563052"/>
                </a:lnTo>
                <a:lnTo>
                  <a:pt x="1573082" y="4550352"/>
                </a:lnTo>
                <a:lnTo>
                  <a:pt x="1532247" y="4524952"/>
                </a:lnTo>
                <a:lnTo>
                  <a:pt x="1491791" y="4512252"/>
                </a:lnTo>
                <a:lnTo>
                  <a:pt x="1412043" y="4461452"/>
                </a:lnTo>
                <a:lnTo>
                  <a:pt x="1372763" y="4448752"/>
                </a:lnTo>
                <a:lnTo>
                  <a:pt x="1295429" y="4397952"/>
                </a:lnTo>
                <a:lnTo>
                  <a:pt x="1219773" y="4347152"/>
                </a:lnTo>
                <a:lnTo>
                  <a:pt x="1145850" y="4296352"/>
                </a:lnTo>
                <a:lnTo>
                  <a:pt x="1073713" y="4245552"/>
                </a:lnTo>
                <a:lnTo>
                  <a:pt x="1038332" y="4220152"/>
                </a:lnTo>
                <a:lnTo>
                  <a:pt x="1003418" y="4182052"/>
                </a:lnTo>
                <a:lnTo>
                  <a:pt x="968977" y="4156652"/>
                </a:lnTo>
                <a:lnTo>
                  <a:pt x="935018" y="4131252"/>
                </a:lnTo>
                <a:lnTo>
                  <a:pt x="901546" y="4093152"/>
                </a:lnTo>
                <a:lnTo>
                  <a:pt x="868569" y="4067752"/>
                </a:lnTo>
                <a:lnTo>
                  <a:pt x="836092" y="4042352"/>
                </a:lnTo>
                <a:lnTo>
                  <a:pt x="804124" y="4004252"/>
                </a:lnTo>
                <a:lnTo>
                  <a:pt x="772670" y="3978852"/>
                </a:lnTo>
                <a:lnTo>
                  <a:pt x="741738" y="3940752"/>
                </a:lnTo>
                <a:lnTo>
                  <a:pt x="711334" y="3915352"/>
                </a:lnTo>
                <a:lnTo>
                  <a:pt x="681466" y="3877252"/>
                </a:lnTo>
                <a:lnTo>
                  <a:pt x="652139" y="3839152"/>
                </a:lnTo>
                <a:lnTo>
                  <a:pt x="623362" y="3801052"/>
                </a:lnTo>
                <a:lnTo>
                  <a:pt x="595140" y="3775652"/>
                </a:lnTo>
                <a:lnTo>
                  <a:pt x="567480" y="3737552"/>
                </a:lnTo>
                <a:lnTo>
                  <a:pt x="540390" y="3699452"/>
                </a:lnTo>
                <a:lnTo>
                  <a:pt x="513875" y="3661352"/>
                </a:lnTo>
                <a:lnTo>
                  <a:pt x="487944" y="3623252"/>
                </a:lnTo>
                <a:lnTo>
                  <a:pt x="462602" y="3585152"/>
                </a:lnTo>
                <a:lnTo>
                  <a:pt x="437856" y="3547052"/>
                </a:lnTo>
                <a:lnTo>
                  <a:pt x="413714" y="3521652"/>
                </a:lnTo>
                <a:lnTo>
                  <a:pt x="390182" y="3470852"/>
                </a:lnTo>
                <a:lnTo>
                  <a:pt x="367267" y="3432752"/>
                </a:lnTo>
                <a:lnTo>
                  <a:pt x="344975" y="3394652"/>
                </a:lnTo>
                <a:lnTo>
                  <a:pt x="323314" y="3356552"/>
                </a:lnTo>
                <a:lnTo>
                  <a:pt x="302291" y="3318452"/>
                </a:lnTo>
                <a:lnTo>
                  <a:pt x="281911" y="3280352"/>
                </a:lnTo>
                <a:lnTo>
                  <a:pt x="262182" y="3242252"/>
                </a:lnTo>
                <a:lnTo>
                  <a:pt x="243111" y="3191452"/>
                </a:lnTo>
                <a:lnTo>
                  <a:pt x="224705" y="3153352"/>
                </a:lnTo>
                <a:lnTo>
                  <a:pt x="206969" y="3115252"/>
                </a:lnTo>
                <a:lnTo>
                  <a:pt x="189912" y="3064452"/>
                </a:lnTo>
                <a:lnTo>
                  <a:pt x="173540" y="3026352"/>
                </a:lnTo>
                <a:lnTo>
                  <a:pt x="157860" y="2988252"/>
                </a:lnTo>
                <a:lnTo>
                  <a:pt x="142878" y="2937452"/>
                </a:lnTo>
                <a:lnTo>
                  <a:pt x="128601" y="2899352"/>
                </a:lnTo>
                <a:lnTo>
                  <a:pt x="115037" y="2848552"/>
                </a:lnTo>
                <a:lnTo>
                  <a:pt x="102192" y="2810452"/>
                </a:lnTo>
                <a:lnTo>
                  <a:pt x="90072" y="2759652"/>
                </a:lnTo>
                <a:lnTo>
                  <a:pt x="78685" y="2721552"/>
                </a:lnTo>
                <a:lnTo>
                  <a:pt x="68037" y="2670752"/>
                </a:lnTo>
                <a:lnTo>
                  <a:pt x="58136" y="2632652"/>
                </a:lnTo>
                <a:lnTo>
                  <a:pt x="48988" y="2581852"/>
                </a:lnTo>
                <a:lnTo>
                  <a:pt x="40599" y="2543752"/>
                </a:lnTo>
                <a:lnTo>
                  <a:pt x="32977" y="2492952"/>
                </a:lnTo>
                <a:lnTo>
                  <a:pt x="26128" y="2442152"/>
                </a:lnTo>
                <a:lnTo>
                  <a:pt x="20060" y="2404052"/>
                </a:lnTo>
                <a:lnTo>
                  <a:pt x="14779" y="2353252"/>
                </a:lnTo>
                <a:lnTo>
                  <a:pt x="10291" y="2302452"/>
                </a:lnTo>
                <a:lnTo>
                  <a:pt x="6604" y="2251652"/>
                </a:lnTo>
                <a:lnTo>
                  <a:pt x="3725" y="2213552"/>
                </a:lnTo>
                <a:lnTo>
                  <a:pt x="1660" y="2162752"/>
                </a:lnTo>
                <a:lnTo>
                  <a:pt x="416" y="2111952"/>
                </a:lnTo>
                <a:lnTo>
                  <a:pt x="0" y="2061152"/>
                </a:lnTo>
                <a:lnTo>
                  <a:pt x="416" y="2023052"/>
                </a:lnTo>
                <a:lnTo>
                  <a:pt x="1660" y="1972252"/>
                </a:lnTo>
                <a:lnTo>
                  <a:pt x="3725" y="1921452"/>
                </a:lnTo>
                <a:lnTo>
                  <a:pt x="6604" y="1870652"/>
                </a:lnTo>
                <a:lnTo>
                  <a:pt x="10290" y="1819852"/>
                </a:lnTo>
                <a:lnTo>
                  <a:pt x="14778" y="1781752"/>
                </a:lnTo>
                <a:lnTo>
                  <a:pt x="20059" y="1730952"/>
                </a:lnTo>
                <a:lnTo>
                  <a:pt x="26126" y="1680152"/>
                </a:lnTo>
                <a:lnTo>
                  <a:pt x="32975" y="1642052"/>
                </a:lnTo>
                <a:lnTo>
                  <a:pt x="40596" y="1591252"/>
                </a:lnTo>
                <a:lnTo>
                  <a:pt x="48984" y="1540452"/>
                </a:lnTo>
                <a:lnTo>
                  <a:pt x="58132" y="1502352"/>
                </a:lnTo>
                <a:lnTo>
                  <a:pt x="68033" y="1451552"/>
                </a:lnTo>
                <a:lnTo>
                  <a:pt x="78680" y="1413452"/>
                </a:lnTo>
                <a:lnTo>
                  <a:pt x="90066" y="1362652"/>
                </a:lnTo>
                <a:lnTo>
                  <a:pt x="102185" y="1324552"/>
                </a:lnTo>
                <a:lnTo>
                  <a:pt x="115029" y="1273752"/>
                </a:lnTo>
                <a:lnTo>
                  <a:pt x="128593" y="1235652"/>
                </a:lnTo>
                <a:lnTo>
                  <a:pt x="142869" y="1184852"/>
                </a:lnTo>
                <a:lnTo>
                  <a:pt x="157850" y="1146752"/>
                </a:lnTo>
                <a:lnTo>
                  <a:pt x="173529" y="1108652"/>
                </a:lnTo>
                <a:lnTo>
                  <a:pt x="189900" y="1057852"/>
                </a:lnTo>
                <a:lnTo>
                  <a:pt x="206956" y="1019752"/>
                </a:lnTo>
                <a:lnTo>
                  <a:pt x="224691" y="981652"/>
                </a:lnTo>
                <a:lnTo>
                  <a:pt x="243096" y="930852"/>
                </a:lnTo>
                <a:lnTo>
                  <a:pt x="262166" y="892752"/>
                </a:lnTo>
                <a:lnTo>
                  <a:pt x="281894" y="854652"/>
                </a:lnTo>
                <a:lnTo>
                  <a:pt x="302273" y="816552"/>
                </a:lnTo>
                <a:lnTo>
                  <a:pt x="323296" y="765752"/>
                </a:lnTo>
                <a:lnTo>
                  <a:pt x="344956" y="727652"/>
                </a:lnTo>
                <a:lnTo>
                  <a:pt x="367246" y="689552"/>
                </a:lnTo>
                <a:lnTo>
                  <a:pt x="390160" y="651452"/>
                </a:lnTo>
                <a:lnTo>
                  <a:pt x="413691" y="613352"/>
                </a:lnTo>
                <a:lnTo>
                  <a:pt x="437833" y="575252"/>
                </a:lnTo>
                <a:lnTo>
                  <a:pt x="462577" y="537152"/>
                </a:lnTo>
                <a:lnTo>
                  <a:pt x="487918" y="499052"/>
                </a:lnTo>
                <a:lnTo>
                  <a:pt x="513848" y="460952"/>
                </a:lnTo>
                <a:lnTo>
                  <a:pt x="540362" y="435552"/>
                </a:lnTo>
                <a:lnTo>
                  <a:pt x="567451" y="397452"/>
                </a:lnTo>
                <a:lnTo>
                  <a:pt x="595110" y="359352"/>
                </a:lnTo>
                <a:lnTo>
                  <a:pt x="623331" y="321252"/>
                </a:lnTo>
                <a:lnTo>
                  <a:pt x="652108" y="283152"/>
                </a:lnTo>
                <a:lnTo>
                  <a:pt x="681433" y="257752"/>
                </a:lnTo>
                <a:lnTo>
                  <a:pt x="711301" y="219652"/>
                </a:lnTo>
                <a:lnTo>
                  <a:pt x="741704" y="194252"/>
                </a:lnTo>
                <a:lnTo>
                  <a:pt x="772635" y="156152"/>
                </a:lnTo>
                <a:lnTo>
                  <a:pt x="804088" y="118052"/>
                </a:lnTo>
                <a:lnTo>
                  <a:pt x="836056" y="92652"/>
                </a:lnTo>
                <a:lnTo>
                  <a:pt x="868531" y="67252"/>
                </a:lnTo>
                <a:lnTo>
                  <a:pt x="901508" y="29152"/>
                </a:lnTo>
                <a:lnTo>
                  <a:pt x="934980" y="3752"/>
                </a:lnTo>
                <a:lnTo>
                  <a:pt x="939997" y="0"/>
                </a:lnTo>
                <a:lnTo>
                  <a:pt x="4550742" y="0"/>
                </a:lnTo>
                <a:lnTo>
                  <a:pt x="4555759" y="3752"/>
                </a:lnTo>
                <a:lnTo>
                  <a:pt x="4561275" y="7938"/>
                </a:lnTo>
                <a:lnTo>
                  <a:pt x="4561275" y="4124929"/>
                </a:lnTo>
                <a:lnTo>
                  <a:pt x="4555721" y="4131252"/>
                </a:lnTo>
                <a:lnTo>
                  <a:pt x="4521763" y="4156652"/>
                </a:lnTo>
                <a:lnTo>
                  <a:pt x="4487324" y="4182052"/>
                </a:lnTo>
                <a:lnTo>
                  <a:pt x="4452411" y="4220152"/>
                </a:lnTo>
                <a:lnTo>
                  <a:pt x="4417031" y="4245552"/>
                </a:lnTo>
                <a:lnTo>
                  <a:pt x="4344898" y="4296352"/>
                </a:lnTo>
                <a:lnTo>
                  <a:pt x="4270977" y="4347152"/>
                </a:lnTo>
                <a:lnTo>
                  <a:pt x="4195324" y="4397952"/>
                </a:lnTo>
                <a:lnTo>
                  <a:pt x="4117992" y="4448752"/>
                </a:lnTo>
                <a:lnTo>
                  <a:pt x="4078715" y="4461452"/>
                </a:lnTo>
                <a:lnTo>
                  <a:pt x="3998968" y="4512252"/>
                </a:lnTo>
                <a:lnTo>
                  <a:pt x="3958514" y="4524952"/>
                </a:lnTo>
                <a:lnTo>
                  <a:pt x="3917680" y="4550352"/>
                </a:lnTo>
                <a:lnTo>
                  <a:pt x="3876475" y="4563052"/>
                </a:lnTo>
                <a:lnTo>
                  <a:pt x="3834905" y="4588452"/>
                </a:lnTo>
                <a:lnTo>
                  <a:pt x="3792976" y="4601152"/>
                </a:lnTo>
                <a:lnTo>
                  <a:pt x="3750696" y="4626552"/>
                </a:lnTo>
                <a:lnTo>
                  <a:pt x="3665109" y="4651952"/>
                </a:lnTo>
                <a:lnTo>
                  <a:pt x="3264366" y="4766252"/>
                </a:lnTo>
                <a:close/>
              </a:path>
              <a:path w="4561840" h="4804410">
                <a:moveTo>
                  <a:pt x="3172169" y="4778952"/>
                </a:moveTo>
                <a:lnTo>
                  <a:pt x="2318608" y="4778952"/>
                </a:lnTo>
                <a:lnTo>
                  <a:pt x="2272378" y="4766252"/>
                </a:lnTo>
                <a:lnTo>
                  <a:pt x="3218399" y="4766252"/>
                </a:lnTo>
                <a:lnTo>
                  <a:pt x="3172169" y="4778952"/>
                </a:lnTo>
                <a:close/>
              </a:path>
              <a:path w="4561840" h="4804410">
                <a:moveTo>
                  <a:pt x="3078948" y="4791652"/>
                </a:moveTo>
                <a:lnTo>
                  <a:pt x="2411830" y="4791652"/>
                </a:lnTo>
                <a:lnTo>
                  <a:pt x="2365095" y="4778952"/>
                </a:lnTo>
                <a:lnTo>
                  <a:pt x="3125683" y="4778952"/>
                </a:lnTo>
                <a:lnTo>
                  <a:pt x="3078948" y="4791652"/>
                </a:lnTo>
                <a:close/>
              </a:path>
              <a:path w="4561840" h="4804410">
                <a:moveTo>
                  <a:pt x="2984757" y="4804352"/>
                </a:moveTo>
                <a:lnTo>
                  <a:pt x="2506023" y="4804352"/>
                </a:lnTo>
                <a:lnTo>
                  <a:pt x="2458809" y="4791652"/>
                </a:lnTo>
                <a:lnTo>
                  <a:pt x="3031970" y="4791652"/>
                </a:lnTo>
                <a:lnTo>
                  <a:pt x="2984757" y="4804352"/>
                </a:lnTo>
                <a:close/>
              </a:path>
            </a:pathLst>
          </a:custGeom>
          <a:solidFill>
            <a:srgbClr val="00D4AA">
              <a:alpha val="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23607" y="562794"/>
            <a:ext cx="343535" cy="20955"/>
          </a:xfrm>
          <a:custGeom>
            <a:avLst/>
            <a:gdLst/>
            <a:ahLst/>
            <a:cxnLst/>
            <a:rect l="l" t="t" r="r" b="b"/>
            <a:pathLst>
              <a:path w="343534" h="20954">
                <a:moveTo>
                  <a:pt x="343163" y="20593"/>
                </a:moveTo>
                <a:lnTo>
                  <a:pt x="0" y="20593"/>
                </a:lnTo>
                <a:lnTo>
                  <a:pt x="0" y="0"/>
                </a:lnTo>
                <a:lnTo>
                  <a:pt x="343163" y="0"/>
                </a:lnTo>
                <a:lnTo>
                  <a:pt x="343163" y="20593"/>
                </a:lnTo>
                <a:close/>
              </a:path>
            </a:pathLst>
          </a:custGeom>
          <a:solidFill>
            <a:srgbClr val="0042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41602" y="475256"/>
            <a:ext cx="119951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001D31"/>
                </a:solidFill>
                <a:latin typeface="Calibri"/>
                <a:cs typeface="Calibri"/>
              </a:rPr>
              <a:t>THE</a:t>
            </a:r>
            <a:r>
              <a:rPr dirty="0" sz="1500" spc="-35" b="1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001D31"/>
                </a:solidFill>
                <a:latin typeface="Calibri"/>
                <a:cs typeface="Calibri"/>
              </a:rPr>
              <a:t>SOLUTION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902347" y="825204"/>
            <a:ext cx="14564994" cy="1370330"/>
          </a:xfrm>
          <a:prstGeom prst="rect"/>
        </p:spPr>
        <p:txBody>
          <a:bodyPr wrap="square" lIns="0" tIns="647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>
                <a:solidFill>
                  <a:srgbClr val="001D31"/>
                </a:solidFill>
              </a:rPr>
              <a:t>Six</a:t>
            </a:r>
            <a:r>
              <a:rPr dirty="0" spc="-75">
                <a:solidFill>
                  <a:srgbClr val="001D31"/>
                </a:solidFill>
              </a:rPr>
              <a:t> </a:t>
            </a:r>
            <a:r>
              <a:rPr dirty="0">
                <a:solidFill>
                  <a:srgbClr val="001D31"/>
                </a:solidFill>
              </a:rPr>
              <a:t>AI</a:t>
            </a:r>
            <a:r>
              <a:rPr dirty="0" spc="-70">
                <a:solidFill>
                  <a:srgbClr val="001D31"/>
                </a:solidFill>
              </a:rPr>
              <a:t> </a:t>
            </a:r>
            <a:r>
              <a:rPr dirty="0">
                <a:solidFill>
                  <a:srgbClr val="001D31"/>
                </a:solidFill>
              </a:rPr>
              <a:t>workers.</a:t>
            </a:r>
            <a:r>
              <a:rPr dirty="0" spc="-70">
                <a:solidFill>
                  <a:srgbClr val="001D31"/>
                </a:solidFill>
              </a:rPr>
              <a:t> </a:t>
            </a:r>
            <a:r>
              <a:rPr dirty="0">
                <a:solidFill>
                  <a:srgbClr val="001D31"/>
                </a:solidFill>
              </a:rPr>
              <a:t>One</a:t>
            </a:r>
            <a:r>
              <a:rPr dirty="0" spc="-70">
                <a:solidFill>
                  <a:srgbClr val="001D31"/>
                </a:solidFill>
              </a:rPr>
              <a:t> </a:t>
            </a:r>
            <a:r>
              <a:rPr dirty="0" spc="-10">
                <a:solidFill>
                  <a:srgbClr val="001D31"/>
                </a:solidFill>
              </a:rPr>
              <a:t>platform.</a:t>
            </a:r>
          </a:p>
          <a:p>
            <a:pPr marL="12700" marR="5080">
              <a:lnSpc>
                <a:spcPts val="2100"/>
              </a:lnSpc>
              <a:spcBef>
                <a:spcPts val="275"/>
              </a:spcBef>
            </a:pPr>
            <a:r>
              <a:rPr dirty="0" sz="1800" b="0">
                <a:solidFill>
                  <a:srgbClr val="8B8FA2"/>
                </a:solidFill>
                <a:latin typeface="Calibri"/>
                <a:cs typeface="Calibri"/>
              </a:rPr>
              <a:t>Each</a:t>
            </a:r>
            <a:r>
              <a:rPr dirty="0" sz="1800" spc="-45" b="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8B8FA2"/>
                </a:solidFill>
                <a:latin typeface="Calibri"/>
                <a:cs typeface="Calibri"/>
              </a:rPr>
              <a:t>worker</a:t>
            </a:r>
            <a:r>
              <a:rPr dirty="0" sz="1800" spc="-40" b="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8B8FA2"/>
                </a:solidFill>
                <a:latin typeface="Calibri"/>
                <a:cs typeface="Calibri"/>
              </a:rPr>
              <a:t>is</a:t>
            </a:r>
            <a:r>
              <a:rPr dirty="0" sz="1800" spc="-40" b="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8B8FA2"/>
                </a:solidFill>
                <a:latin typeface="Calibri"/>
                <a:cs typeface="Calibri"/>
              </a:rPr>
              <a:t>trained</a:t>
            </a:r>
            <a:r>
              <a:rPr dirty="0" sz="1800" spc="-45" b="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8B8FA2"/>
                </a:solidFill>
                <a:latin typeface="Calibri"/>
                <a:cs typeface="Calibri"/>
              </a:rPr>
              <a:t>on</a:t>
            </a:r>
            <a:r>
              <a:rPr dirty="0" sz="1800" spc="-40" b="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8B8FA2"/>
                </a:solidFill>
                <a:latin typeface="Calibri"/>
                <a:cs typeface="Calibri"/>
              </a:rPr>
              <a:t>your</a:t>
            </a:r>
            <a:r>
              <a:rPr dirty="0" sz="1800" spc="-40" b="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8B8FA2"/>
                </a:solidFill>
                <a:latin typeface="Calibri"/>
                <a:cs typeface="Calibri"/>
              </a:rPr>
              <a:t>business</a:t>
            </a:r>
            <a:r>
              <a:rPr dirty="0" sz="1800" spc="-40" b="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800" spc="-10" b="0">
                <a:solidFill>
                  <a:srgbClr val="8B8FA2"/>
                </a:solidFill>
                <a:latin typeface="Calibri"/>
                <a:cs typeface="Calibri"/>
              </a:rPr>
              <a:t>knowledge,</a:t>
            </a:r>
            <a:r>
              <a:rPr dirty="0" sz="1800" spc="-45" b="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8B8FA2"/>
                </a:solidFill>
                <a:latin typeface="Calibri"/>
                <a:cs typeface="Calibri"/>
              </a:rPr>
              <a:t>guided</a:t>
            </a:r>
            <a:r>
              <a:rPr dirty="0" sz="1800" spc="-40" b="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8B8FA2"/>
                </a:solidFill>
                <a:latin typeface="Calibri"/>
                <a:cs typeface="Calibri"/>
              </a:rPr>
              <a:t>by</a:t>
            </a:r>
            <a:r>
              <a:rPr dirty="0" sz="1800" spc="-40" b="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800" spc="-10" b="0">
                <a:solidFill>
                  <a:srgbClr val="8B8FA2"/>
                </a:solidFill>
                <a:latin typeface="Calibri"/>
                <a:cs typeface="Calibri"/>
              </a:rPr>
              <a:t>real-</a:t>
            </a:r>
            <a:r>
              <a:rPr dirty="0" sz="1800" b="0">
                <a:solidFill>
                  <a:srgbClr val="8B8FA2"/>
                </a:solidFill>
                <a:latin typeface="Calibri"/>
                <a:cs typeface="Calibri"/>
              </a:rPr>
              <a:t>time</a:t>
            </a:r>
            <a:r>
              <a:rPr dirty="0" sz="1800" spc="-45" b="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800" spc="-10" b="0">
                <a:solidFill>
                  <a:srgbClr val="8B8FA2"/>
                </a:solidFill>
                <a:latin typeface="Calibri"/>
                <a:cs typeface="Calibri"/>
              </a:rPr>
              <a:t>intelligence</a:t>
            </a:r>
            <a:r>
              <a:rPr dirty="0" sz="1800" spc="-40" b="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8B8FA2"/>
                </a:solidFill>
                <a:latin typeface="Calibri"/>
                <a:cs typeface="Calibri"/>
              </a:rPr>
              <a:t>scores,</a:t>
            </a:r>
            <a:r>
              <a:rPr dirty="0" sz="1800" spc="-40" b="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8B8FA2"/>
                </a:solidFill>
                <a:latin typeface="Calibri"/>
                <a:cs typeface="Calibri"/>
              </a:rPr>
              <a:t>and</a:t>
            </a:r>
            <a:r>
              <a:rPr dirty="0" sz="1800" spc="-40" b="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8B8FA2"/>
                </a:solidFill>
                <a:latin typeface="Calibri"/>
                <a:cs typeface="Calibri"/>
              </a:rPr>
              <a:t>capable</a:t>
            </a:r>
            <a:r>
              <a:rPr dirty="0" sz="1800" spc="-45" b="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8B8FA2"/>
                </a:solidFill>
                <a:latin typeface="Calibri"/>
                <a:cs typeface="Calibri"/>
              </a:rPr>
              <a:t>of</a:t>
            </a:r>
            <a:r>
              <a:rPr dirty="0" sz="1800" spc="-40" b="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800" spc="-10" b="0">
                <a:solidFill>
                  <a:srgbClr val="8B8FA2"/>
                </a:solidFill>
                <a:latin typeface="Calibri"/>
                <a:cs typeface="Calibri"/>
              </a:rPr>
              <a:t>multi-</a:t>
            </a:r>
            <a:r>
              <a:rPr dirty="0" sz="1800" b="0">
                <a:solidFill>
                  <a:srgbClr val="8B8FA2"/>
                </a:solidFill>
                <a:latin typeface="Calibri"/>
                <a:cs typeface="Calibri"/>
              </a:rPr>
              <a:t>step</a:t>
            </a:r>
            <a:r>
              <a:rPr dirty="0" sz="1800" spc="-40" b="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800" spc="-10" b="0">
                <a:solidFill>
                  <a:srgbClr val="8B8FA2"/>
                </a:solidFill>
                <a:latin typeface="Calibri"/>
                <a:cs typeface="Calibri"/>
              </a:rPr>
              <a:t>autonomous</a:t>
            </a:r>
            <a:r>
              <a:rPr dirty="0" sz="1800" spc="-40" b="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8B8FA2"/>
                </a:solidFill>
                <a:latin typeface="Calibri"/>
                <a:cs typeface="Calibri"/>
              </a:rPr>
              <a:t>execution</a:t>
            </a:r>
            <a:r>
              <a:rPr dirty="0" sz="1800" spc="-45" b="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8B8FA2"/>
                </a:solidFill>
                <a:latin typeface="Calibri"/>
                <a:cs typeface="Calibri"/>
              </a:rPr>
              <a:t>—</a:t>
            </a:r>
            <a:r>
              <a:rPr dirty="0" sz="1800" spc="-40" b="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8B8FA2"/>
                </a:solidFill>
                <a:latin typeface="Calibri"/>
                <a:cs typeface="Calibri"/>
              </a:rPr>
              <a:t>not</a:t>
            </a:r>
            <a:r>
              <a:rPr dirty="0" sz="1800" spc="-40" b="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800" spc="-10" b="0">
                <a:solidFill>
                  <a:srgbClr val="8B8FA2"/>
                </a:solidFill>
                <a:latin typeface="Calibri"/>
                <a:cs typeface="Calibri"/>
              </a:rPr>
              <a:t>scripted responses.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97189" y="2318934"/>
            <a:ext cx="5657215" cy="3255010"/>
            <a:chOff x="397189" y="2318934"/>
            <a:chExt cx="5657215" cy="3255010"/>
          </a:xfrm>
        </p:grpSpPr>
        <p:sp>
          <p:nvSpPr>
            <p:cNvPr id="7" name="object 7"/>
            <p:cNvSpPr/>
            <p:nvPr/>
          </p:nvSpPr>
          <p:spPr>
            <a:xfrm>
              <a:off x="407031" y="2328776"/>
              <a:ext cx="5633720" cy="3235325"/>
            </a:xfrm>
            <a:custGeom>
              <a:avLst/>
              <a:gdLst/>
              <a:ahLst/>
              <a:cxnLst/>
              <a:rect l="l" t="t" r="r" b="b"/>
              <a:pathLst>
                <a:path w="5633720" h="3235325">
                  <a:moveTo>
                    <a:pt x="5475731" y="3235309"/>
                  </a:moveTo>
                  <a:lnTo>
                    <a:pt x="161734" y="3235309"/>
                  </a:lnTo>
                  <a:lnTo>
                    <a:pt x="118731" y="3229518"/>
                  </a:lnTo>
                  <a:lnTo>
                    <a:pt x="80094" y="3213227"/>
                  </a:lnTo>
                  <a:lnTo>
                    <a:pt x="47363" y="3187934"/>
                  </a:lnTo>
                  <a:lnTo>
                    <a:pt x="22076" y="3155188"/>
                  </a:lnTo>
                  <a:lnTo>
                    <a:pt x="5775" y="3116536"/>
                  </a:lnTo>
                  <a:lnTo>
                    <a:pt x="0" y="3073527"/>
                  </a:lnTo>
                  <a:lnTo>
                    <a:pt x="0" y="161734"/>
                  </a:lnTo>
                  <a:lnTo>
                    <a:pt x="5775" y="118731"/>
                  </a:lnTo>
                  <a:lnTo>
                    <a:pt x="22076" y="80094"/>
                  </a:lnTo>
                  <a:lnTo>
                    <a:pt x="47363" y="47363"/>
                  </a:lnTo>
                  <a:lnTo>
                    <a:pt x="80094" y="22076"/>
                  </a:lnTo>
                  <a:lnTo>
                    <a:pt x="118731" y="5775"/>
                  </a:lnTo>
                  <a:lnTo>
                    <a:pt x="161734" y="0"/>
                  </a:lnTo>
                  <a:lnTo>
                    <a:pt x="5475731" y="0"/>
                  </a:lnTo>
                  <a:lnTo>
                    <a:pt x="5518734" y="5775"/>
                  </a:lnTo>
                  <a:lnTo>
                    <a:pt x="5557371" y="22076"/>
                  </a:lnTo>
                  <a:lnTo>
                    <a:pt x="5590103" y="47363"/>
                  </a:lnTo>
                  <a:lnTo>
                    <a:pt x="5615389" y="80094"/>
                  </a:lnTo>
                  <a:lnTo>
                    <a:pt x="5631690" y="118731"/>
                  </a:lnTo>
                  <a:lnTo>
                    <a:pt x="5633244" y="130298"/>
                  </a:lnTo>
                  <a:lnTo>
                    <a:pt x="5633244" y="3104952"/>
                  </a:lnTo>
                  <a:lnTo>
                    <a:pt x="5615373" y="3155188"/>
                  </a:lnTo>
                  <a:lnTo>
                    <a:pt x="5590057" y="3187934"/>
                  </a:lnTo>
                  <a:lnTo>
                    <a:pt x="5557271" y="3213227"/>
                  </a:lnTo>
                  <a:lnTo>
                    <a:pt x="5518656" y="3229518"/>
                  </a:lnTo>
                  <a:lnTo>
                    <a:pt x="5518488" y="3229518"/>
                  </a:lnTo>
                  <a:lnTo>
                    <a:pt x="5475731" y="3235309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07031" y="2328777"/>
              <a:ext cx="5637530" cy="3235325"/>
            </a:xfrm>
            <a:custGeom>
              <a:avLst/>
              <a:gdLst/>
              <a:ahLst/>
              <a:cxnLst/>
              <a:rect l="l" t="t" r="r" b="b"/>
              <a:pathLst>
                <a:path w="5637530" h="3235325">
                  <a:moveTo>
                    <a:pt x="1" y="161722"/>
                  </a:moveTo>
                  <a:lnTo>
                    <a:pt x="5786" y="118707"/>
                  </a:lnTo>
                  <a:lnTo>
                    <a:pt x="22100" y="80064"/>
                  </a:lnTo>
                  <a:lnTo>
                    <a:pt x="47400" y="47334"/>
                  </a:lnTo>
                  <a:lnTo>
                    <a:pt x="80144" y="22055"/>
                  </a:lnTo>
                  <a:lnTo>
                    <a:pt x="118787" y="5768"/>
                  </a:lnTo>
                  <a:lnTo>
                    <a:pt x="161790" y="0"/>
                  </a:lnTo>
                  <a:lnTo>
                    <a:pt x="5475650" y="0"/>
                  </a:lnTo>
                  <a:lnTo>
                    <a:pt x="5518664" y="5746"/>
                  </a:lnTo>
                  <a:lnTo>
                    <a:pt x="5557319" y="22036"/>
                  </a:lnTo>
                  <a:lnTo>
                    <a:pt x="5590071" y="47321"/>
                  </a:lnTo>
                  <a:lnTo>
                    <a:pt x="5615375" y="80062"/>
                  </a:lnTo>
                  <a:lnTo>
                    <a:pt x="5631688" y="118717"/>
                  </a:lnTo>
                  <a:lnTo>
                    <a:pt x="5637465" y="161730"/>
                  </a:lnTo>
                  <a:lnTo>
                    <a:pt x="5637475" y="3073459"/>
                  </a:lnTo>
                  <a:lnTo>
                    <a:pt x="5631706" y="3116491"/>
                  </a:lnTo>
                  <a:lnTo>
                    <a:pt x="5615397" y="3155156"/>
                  </a:lnTo>
                  <a:lnTo>
                    <a:pt x="5590090" y="3187908"/>
                  </a:lnTo>
                  <a:lnTo>
                    <a:pt x="5557330" y="3213201"/>
                  </a:lnTo>
                  <a:lnTo>
                    <a:pt x="5518652" y="3229518"/>
                  </a:lnTo>
                  <a:lnTo>
                    <a:pt x="5475730" y="3235250"/>
                  </a:lnTo>
                  <a:lnTo>
                    <a:pt x="161778" y="3235267"/>
                  </a:lnTo>
                  <a:lnTo>
                    <a:pt x="118750" y="3229526"/>
                  </a:lnTo>
                  <a:lnTo>
                    <a:pt x="80090" y="3213223"/>
                  </a:lnTo>
                  <a:lnTo>
                    <a:pt x="47345" y="3187910"/>
                  </a:lnTo>
                  <a:lnTo>
                    <a:pt x="22056" y="3155139"/>
                  </a:lnTo>
                  <a:lnTo>
                    <a:pt x="5766" y="3116464"/>
                  </a:lnTo>
                  <a:lnTo>
                    <a:pt x="0" y="3073447"/>
                  </a:lnTo>
                  <a:lnTo>
                    <a:pt x="1" y="161722"/>
                  </a:lnTo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11803" y="2333539"/>
              <a:ext cx="55244" cy="3226435"/>
            </a:xfrm>
            <a:custGeom>
              <a:avLst/>
              <a:gdLst/>
              <a:ahLst/>
              <a:cxnLst/>
              <a:rect l="l" t="t" r="r" b="b"/>
              <a:pathLst>
                <a:path w="55245" h="3226435">
                  <a:moveTo>
                    <a:pt x="54911" y="3225843"/>
                  </a:moveTo>
                  <a:lnTo>
                    <a:pt x="0" y="3225843"/>
                  </a:lnTo>
                  <a:lnTo>
                    <a:pt x="0" y="0"/>
                  </a:lnTo>
                  <a:lnTo>
                    <a:pt x="54911" y="0"/>
                  </a:lnTo>
                  <a:lnTo>
                    <a:pt x="54911" y="3225843"/>
                  </a:lnTo>
                  <a:close/>
                </a:path>
              </a:pathLst>
            </a:custGeom>
            <a:solidFill>
              <a:srgbClr val="00D4A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696445" y="2473943"/>
            <a:ext cx="4836160" cy="955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solidFill>
                  <a:srgbClr val="001D31"/>
                </a:solidFill>
                <a:latin typeface="Calibri"/>
                <a:cs typeface="Calibri"/>
              </a:rPr>
              <a:t>SDR</a:t>
            </a:r>
            <a:r>
              <a:rPr dirty="0" sz="2100" spc="-40" b="1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2100" spc="-10" b="1">
                <a:solidFill>
                  <a:srgbClr val="001D31"/>
                </a:solidFill>
                <a:latin typeface="Calibri"/>
                <a:cs typeface="Calibri"/>
              </a:rPr>
              <a:t>Worker</a:t>
            </a:r>
            <a:endParaRPr sz="21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195"/>
              </a:spcBef>
            </a:pP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Qualifies</a:t>
            </a:r>
            <a:r>
              <a:rPr dirty="0" sz="150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leads,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runs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discovery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conversations,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books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meetings.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Starts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at</a:t>
            </a:r>
            <a:r>
              <a:rPr dirty="0" sz="1500" spc="-2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the</a:t>
            </a:r>
            <a:r>
              <a:rPr dirty="0" sz="1500" spc="-2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top</a:t>
            </a:r>
            <a:r>
              <a:rPr dirty="0" sz="1500" spc="-2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of</a:t>
            </a:r>
            <a:r>
              <a:rPr dirty="0" sz="1500" spc="-2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funnel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and</a:t>
            </a:r>
            <a:r>
              <a:rPr dirty="0" sz="1500" spc="-2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never</a:t>
            </a:r>
            <a:r>
              <a:rPr dirty="0" sz="1500" spc="-2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lets</a:t>
            </a:r>
            <a:r>
              <a:rPr dirty="0" sz="1500" spc="-2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a</a:t>
            </a:r>
            <a:r>
              <a:rPr dirty="0" sz="1500" spc="-2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lead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go</a:t>
            </a:r>
            <a:r>
              <a:rPr dirty="0" sz="1500" spc="-2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cold.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03091" y="4309306"/>
            <a:ext cx="1400810" cy="331470"/>
            <a:chOff x="603091" y="4309306"/>
            <a:chExt cx="1400810" cy="331470"/>
          </a:xfrm>
        </p:grpSpPr>
        <p:sp>
          <p:nvSpPr>
            <p:cNvPr id="12" name="object 12"/>
            <p:cNvSpPr/>
            <p:nvPr/>
          </p:nvSpPr>
          <p:spPr>
            <a:xfrm>
              <a:off x="612933" y="4319149"/>
              <a:ext cx="1382395" cy="311785"/>
            </a:xfrm>
            <a:custGeom>
              <a:avLst/>
              <a:gdLst/>
              <a:ahLst/>
              <a:cxnLst/>
              <a:rect l="l" t="t" r="r" b="b"/>
              <a:pathLst>
                <a:path w="1382395" h="311785">
                  <a:moveTo>
                    <a:pt x="1288732" y="311467"/>
                  </a:moveTo>
                  <a:lnTo>
                    <a:pt x="93440" y="311467"/>
                  </a:lnTo>
                  <a:lnTo>
                    <a:pt x="57060" y="304167"/>
                  </a:lnTo>
                  <a:lnTo>
                    <a:pt x="27360" y="284142"/>
                  </a:lnTo>
                  <a:lnTo>
                    <a:pt x="7340" y="254420"/>
                  </a:lnTo>
                  <a:lnTo>
                    <a:pt x="0" y="218027"/>
                  </a:lnTo>
                  <a:lnTo>
                    <a:pt x="0" y="93440"/>
                  </a:lnTo>
                  <a:lnTo>
                    <a:pt x="7340" y="57060"/>
                  </a:lnTo>
                  <a:lnTo>
                    <a:pt x="27360" y="27360"/>
                  </a:lnTo>
                  <a:lnTo>
                    <a:pt x="57060" y="7340"/>
                  </a:lnTo>
                  <a:lnTo>
                    <a:pt x="93440" y="0"/>
                  </a:lnTo>
                  <a:lnTo>
                    <a:pt x="1288732" y="0"/>
                  </a:lnTo>
                  <a:lnTo>
                    <a:pt x="1325111" y="7340"/>
                  </a:lnTo>
                  <a:lnTo>
                    <a:pt x="1354812" y="27360"/>
                  </a:lnTo>
                  <a:lnTo>
                    <a:pt x="1374832" y="57060"/>
                  </a:lnTo>
                  <a:lnTo>
                    <a:pt x="1382172" y="93440"/>
                  </a:lnTo>
                  <a:lnTo>
                    <a:pt x="1382172" y="218027"/>
                  </a:lnTo>
                  <a:lnTo>
                    <a:pt x="1374823" y="254420"/>
                  </a:lnTo>
                  <a:lnTo>
                    <a:pt x="1354759" y="284142"/>
                  </a:lnTo>
                  <a:lnTo>
                    <a:pt x="1325052" y="304167"/>
                  </a:lnTo>
                  <a:lnTo>
                    <a:pt x="1324912" y="304167"/>
                  </a:lnTo>
                  <a:lnTo>
                    <a:pt x="1288732" y="311467"/>
                  </a:lnTo>
                  <a:close/>
                </a:path>
              </a:pathLst>
            </a:custGeom>
            <a:solidFill>
              <a:srgbClr val="0029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12933" y="4319149"/>
              <a:ext cx="1381125" cy="311785"/>
            </a:xfrm>
            <a:custGeom>
              <a:avLst/>
              <a:gdLst/>
              <a:ahLst/>
              <a:cxnLst/>
              <a:rect l="l" t="t" r="r" b="b"/>
              <a:pathLst>
                <a:path w="1381125" h="311785">
                  <a:moveTo>
                    <a:pt x="1381057" y="223202"/>
                  </a:moveTo>
                  <a:lnTo>
                    <a:pt x="1354771" y="284134"/>
                  </a:lnTo>
                  <a:lnTo>
                    <a:pt x="1288662" y="311467"/>
                  </a:lnTo>
                  <a:lnTo>
                    <a:pt x="93468" y="311473"/>
                  </a:lnTo>
                  <a:lnTo>
                    <a:pt x="57074" y="304176"/>
                  </a:lnTo>
                  <a:lnTo>
                    <a:pt x="27361" y="284144"/>
                  </a:lnTo>
                  <a:lnTo>
                    <a:pt x="7337" y="254406"/>
                  </a:lnTo>
                  <a:lnTo>
                    <a:pt x="0" y="218007"/>
                  </a:lnTo>
                  <a:lnTo>
                    <a:pt x="1" y="93423"/>
                  </a:lnTo>
                  <a:lnTo>
                    <a:pt x="27389" y="27340"/>
                  </a:lnTo>
                  <a:lnTo>
                    <a:pt x="93475" y="0"/>
                  </a:lnTo>
                  <a:lnTo>
                    <a:pt x="1288662" y="0"/>
                  </a:lnTo>
                  <a:lnTo>
                    <a:pt x="1325061" y="7306"/>
                  </a:lnTo>
                  <a:lnTo>
                    <a:pt x="1354787" y="27323"/>
                  </a:lnTo>
                  <a:lnTo>
                    <a:pt x="1374828" y="57040"/>
                  </a:lnTo>
                  <a:lnTo>
                    <a:pt x="1381051" y="88262"/>
                  </a:lnTo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120159" y="4318746"/>
            <a:ext cx="36766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B8FA2"/>
                </a:solidFill>
                <a:latin typeface="Calibri"/>
                <a:cs typeface="Calibri"/>
              </a:rPr>
              <a:t>Voice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113032" y="4309306"/>
            <a:ext cx="1400810" cy="331470"/>
            <a:chOff x="2113032" y="4309306"/>
            <a:chExt cx="1400810" cy="331470"/>
          </a:xfrm>
        </p:grpSpPr>
        <p:sp>
          <p:nvSpPr>
            <p:cNvPr id="16" name="object 16"/>
            <p:cNvSpPr/>
            <p:nvPr/>
          </p:nvSpPr>
          <p:spPr>
            <a:xfrm>
              <a:off x="2122874" y="4319149"/>
              <a:ext cx="1382395" cy="311785"/>
            </a:xfrm>
            <a:custGeom>
              <a:avLst/>
              <a:gdLst/>
              <a:ahLst/>
              <a:cxnLst/>
              <a:rect l="l" t="t" r="r" b="b"/>
              <a:pathLst>
                <a:path w="1382395" h="311785">
                  <a:moveTo>
                    <a:pt x="1288732" y="311467"/>
                  </a:moveTo>
                  <a:lnTo>
                    <a:pt x="93440" y="311467"/>
                  </a:lnTo>
                  <a:lnTo>
                    <a:pt x="57060" y="304167"/>
                  </a:lnTo>
                  <a:lnTo>
                    <a:pt x="27360" y="284142"/>
                  </a:lnTo>
                  <a:lnTo>
                    <a:pt x="7340" y="254420"/>
                  </a:lnTo>
                  <a:lnTo>
                    <a:pt x="0" y="218027"/>
                  </a:lnTo>
                  <a:lnTo>
                    <a:pt x="0" y="93440"/>
                  </a:lnTo>
                  <a:lnTo>
                    <a:pt x="7340" y="57060"/>
                  </a:lnTo>
                  <a:lnTo>
                    <a:pt x="27360" y="27360"/>
                  </a:lnTo>
                  <a:lnTo>
                    <a:pt x="57060" y="7340"/>
                  </a:lnTo>
                  <a:lnTo>
                    <a:pt x="93440" y="0"/>
                  </a:lnTo>
                  <a:lnTo>
                    <a:pt x="1288732" y="0"/>
                  </a:lnTo>
                  <a:lnTo>
                    <a:pt x="1325111" y="7340"/>
                  </a:lnTo>
                  <a:lnTo>
                    <a:pt x="1354812" y="27360"/>
                  </a:lnTo>
                  <a:lnTo>
                    <a:pt x="1374832" y="57060"/>
                  </a:lnTo>
                  <a:lnTo>
                    <a:pt x="1382172" y="93440"/>
                  </a:lnTo>
                  <a:lnTo>
                    <a:pt x="1382172" y="218027"/>
                  </a:lnTo>
                  <a:lnTo>
                    <a:pt x="1374823" y="254420"/>
                  </a:lnTo>
                  <a:lnTo>
                    <a:pt x="1354759" y="284142"/>
                  </a:lnTo>
                  <a:lnTo>
                    <a:pt x="1325052" y="304167"/>
                  </a:lnTo>
                  <a:lnTo>
                    <a:pt x="1324912" y="304167"/>
                  </a:lnTo>
                  <a:lnTo>
                    <a:pt x="1288732" y="311467"/>
                  </a:lnTo>
                  <a:close/>
                </a:path>
              </a:pathLst>
            </a:custGeom>
            <a:solidFill>
              <a:srgbClr val="0029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122874" y="4319149"/>
              <a:ext cx="1381125" cy="311785"/>
            </a:xfrm>
            <a:custGeom>
              <a:avLst/>
              <a:gdLst/>
              <a:ahLst/>
              <a:cxnLst/>
              <a:rect l="l" t="t" r="r" b="b"/>
              <a:pathLst>
                <a:path w="1381125" h="311785">
                  <a:moveTo>
                    <a:pt x="1381057" y="223202"/>
                  </a:moveTo>
                  <a:lnTo>
                    <a:pt x="1354771" y="284134"/>
                  </a:lnTo>
                  <a:lnTo>
                    <a:pt x="1288662" y="311467"/>
                  </a:lnTo>
                  <a:lnTo>
                    <a:pt x="93468" y="311473"/>
                  </a:lnTo>
                  <a:lnTo>
                    <a:pt x="57074" y="304176"/>
                  </a:lnTo>
                  <a:lnTo>
                    <a:pt x="27361" y="284144"/>
                  </a:lnTo>
                  <a:lnTo>
                    <a:pt x="7337" y="254406"/>
                  </a:lnTo>
                  <a:lnTo>
                    <a:pt x="0" y="218007"/>
                  </a:lnTo>
                  <a:lnTo>
                    <a:pt x="1" y="93423"/>
                  </a:lnTo>
                  <a:lnTo>
                    <a:pt x="27389" y="27340"/>
                  </a:lnTo>
                  <a:lnTo>
                    <a:pt x="93475" y="0"/>
                  </a:lnTo>
                  <a:lnTo>
                    <a:pt x="1288662" y="0"/>
                  </a:lnTo>
                  <a:lnTo>
                    <a:pt x="1325061" y="7306"/>
                  </a:lnTo>
                  <a:lnTo>
                    <a:pt x="1354787" y="27323"/>
                  </a:lnTo>
                  <a:lnTo>
                    <a:pt x="1374828" y="57040"/>
                  </a:lnTo>
                  <a:lnTo>
                    <a:pt x="1381051" y="88262"/>
                  </a:lnTo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2477402" y="4318746"/>
            <a:ext cx="67310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B8FA2"/>
                </a:solidFill>
                <a:latin typeface="Calibri"/>
                <a:cs typeface="Calibri"/>
              </a:rPr>
              <a:t>WhatsApp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623283" y="4309616"/>
            <a:ext cx="1400175" cy="330835"/>
            <a:chOff x="3623283" y="4309616"/>
            <a:chExt cx="1400175" cy="330835"/>
          </a:xfrm>
        </p:grpSpPr>
        <p:sp>
          <p:nvSpPr>
            <p:cNvPr id="20" name="object 20"/>
            <p:cNvSpPr/>
            <p:nvPr/>
          </p:nvSpPr>
          <p:spPr>
            <a:xfrm>
              <a:off x="3632815" y="4319149"/>
              <a:ext cx="1382395" cy="311785"/>
            </a:xfrm>
            <a:custGeom>
              <a:avLst/>
              <a:gdLst/>
              <a:ahLst/>
              <a:cxnLst/>
              <a:rect l="l" t="t" r="r" b="b"/>
              <a:pathLst>
                <a:path w="1382395" h="311785">
                  <a:moveTo>
                    <a:pt x="1288732" y="311467"/>
                  </a:moveTo>
                  <a:lnTo>
                    <a:pt x="93440" y="311467"/>
                  </a:lnTo>
                  <a:lnTo>
                    <a:pt x="57060" y="304167"/>
                  </a:lnTo>
                  <a:lnTo>
                    <a:pt x="27360" y="284142"/>
                  </a:lnTo>
                  <a:lnTo>
                    <a:pt x="7340" y="254420"/>
                  </a:lnTo>
                  <a:lnTo>
                    <a:pt x="0" y="218027"/>
                  </a:lnTo>
                  <a:lnTo>
                    <a:pt x="0" y="93440"/>
                  </a:lnTo>
                  <a:lnTo>
                    <a:pt x="7340" y="57060"/>
                  </a:lnTo>
                  <a:lnTo>
                    <a:pt x="27360" y="27360"/>
                  </a:lnTo>
                  <a:lnTo>
                    <a:pt x="57060" y="7340"/>
                  </a:lnTo>
                  <a:lnTo>
                    <a:pt x="93440" y="0"/>
                  </a:lnTo>
                  <a:lnTo>
                    <a:pt x="1288732" y="0"/>
                  </a:lnTo>
                  <a:lnTo>
                    <a:pt x="1325111" y="7340"/>
                  </a:lnTo>
                  <a:lnTo>
                    <a:pt x="1354812" y="27360"/>
                  </a:lnTo>
                  <a:lnTo>
                    <a:pt x="1374832" y="57060"/>
                  </a:lnTo>
                  <a:lnTo>
                    <a:pt x="1382172" y="93440"/>
                  </a:lnTo>
                  <a:lnTo>
                    <a:pt x="1382172" y="218027"/>
                  </a:lnTo>
                  <a:lnTo>
                    <a:pt x="1374823" y="254420"/>
                  </a:lnTo>
                  <a:lnTo>
                    <a:pt x="1354759" y="284142"/>
                  </a:lnTo>
                  <a:lnTo>
                    <a:pt x="1325052" y="304167"/>
                  </a:lnTo>
                  <a:lnTo>
                    <a:pt x="1324912" y="304167"/>
                  </a:lnTo>
                  <a:lnTo>
                    <a:pt x="1288732" y="311467"/>
                  </a:lnTo>
                  <a:close/>
                </a:path>
              </a:pathLst>
            </a:custGeom>
            <a:solidFill>
              <a:srgbClr val="0029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632815" y="4319149"/>
              <a:ext cx="1381125" cy="311785"/>
            </a:xfrm>
            <a:custGeom>
              <a:avLst/>
              <a:gdLst/>
              <a:ahLst/>
              <a:cxnLst/>
              <a:rect l="l" t="t" r="r" b="b"/>
              <a:pathLst>
                <a:path w="1381125" h="311785">
                  <a:moveTo>
                    <a:pt x="1381057" y="223202"/>
                  </a:moveTo>
                  <a:lnTo>
                    <a:pt x="1354771" y="284134"/>
                  </a:lnTo>
                  <a:lnTo>
                    <a:pt x="1288662" y="311467"/>
                  </a:lnTo>
                  <a:lnTo>
                    <a:pt x="93468" y="311473"/>
                  </a:lnTo>
                  <a:lnTo>
                    <a:pt x="57074" y="304176"/>
                  </a:lnTo>
                  <a:lnTo>
                    <a:pt x="27361" y="284144"/>
                  </a:lnTo>
                  <a:lnTo>
                    <a:pt x="7337" y="254406"/>
                  </a:lnTo>
                  <a:lnTo>
                    <a:pt x="0" y="218007"/>
                  </a:lnTo>
                  <a:lnTo>
                    <a:pt x="1" y="93423"/>
                  </a:lnTo>
                  <a:lnTo>
                    <a:pt x="27389" y="27340"/>
                  </a:lnTo>
                  <a:lnTo>
                    <a:pt x="93475" y="0"/>
                  </a:lnTo>
                  <a:lnTo>
                    <a:pt x="1288662" y="0"/>
                  </a:lnTo>
                  <a:lnTo>
                    <a:pt x="1325061" y="7306"/>
                  </a:lnTo>
                  <a:lnTo>
                    <a:pt x="1354787" y="27323"/>
                  </a:lnTo>
                  <a:lnTo>
                    <a:pt x="1374828" y="57040"/>
                  </a:lnTo>
                  <a:lnTo>
                    <a:pt x="1381051" y="88262"/>
                  </a:lnTo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4141520" y="4318746"/>
            <a:ext cx="36512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B8FA2"/>
                </a:solidFill>
                <a:latin typeface="Calibri"/>
                <a:cs typeface="Calibri"/>
              </a:rPr>
              <a:t>Email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299689" y="2318934"/>
            <a:ext cx="5657215" cy="3255010"/>
            <a:chOff x="6299689" y="2318934"/>
            <a:chExt cx="5657215" cy="3255010"/>
          </a:xfrm>
        </p:grpSpPr>
        <p:sp>
          <p:nvSpPr>
            <p:cNvPr id="24" name="object 24"/>
            <p:cNvSpPr/>
            <p:nvPr/>
          </p:nvSpPr>
          <p:spPr>
            <a:xfrm>
              <a:off x="6309531" y="2328776"/>
              <a:ext cx="5633720" cy="3235325"/>
            </a:xfrm>
            <a:custGeom>
              <a:avLst/>
              <a:gdLst/>
              <a:ahLst/>
              <a:cxnLst/>
              <a:rect l="l" t="t" r="r" b="b"/>
              <a:pathLst>
                <a:path w="5633720" h="3235325">
                  <a:moveTo>
                    <a:pt x="5475732" y="3235309"/>
                  </a:moveTo>
                  <a:lnTo>
                    <a:pt x="161734" y="3235309"/>
                  </a:lnTo>
                  <a:lnTo>
                    <a:pt x="118731" y="3229518"/>
                  </a:lnTo>
                  <a:lnTo>
                    <a:pt x="80094" y="3213227"/>
                  </a:lnTo>
                  <a:lnTo>
                    <a:pt x="47363" y="3187934"/>
                  </a:lnTo>
                  <a:lnTo>
                    <a:pt x="22076" y="3155188"/>
                  </a:lnTo>
                  <a:lnTo>
                    <a:pt x="5775" y="3116536"/>
                  </a:lnTo>
                  <a:lnTo>
                    <a:pt x="0" y="3073527"/>
                  </a:lnTo>
                  <a:lnTo>
                    <a:pt x="0" y="161734"/>
                  </a:lnTo>
                  <a:lnTo>
                    <a:pt x="5775" y="118731"/>
                  </a:lnTo>
                  <a:lnTo>
                    <a:pt x="22076" y="80094"/>
                  </a:lnTo>
                  <a:lnTo>
                    <a:pt x="47363" y="47363"/>
                  </a:lnTo>
                  <a:lnTo>
                    <a:pt x="80094" y="22076"/>
                  </a:lnTo>
                  <a:lnTo>
                    <a:pt x="118731" y="5775"/>
                  </a:lnTo>
                  <a:lnTo>
                    <a:pt x="161734" y="0"/>
                  </a:lnTo>
                  <a:lnTo>
                    <a:pt x="5475732" y="0"/>
                  </a:lnTo>
                  <a:lnTo>
                    <a:pt x="5518734" y="5775"/>
                  </a:lnTo>
                  <a:lnTo>
                    <a:pt x="5557372" y="22076"/>
                  </a:lnTo>
                  <a:lnTo>
                    <a:pt x="5590103" y="47363"/>
                  </a:lnTo>
                  <a:lnTo>
                    <a:pt x="5615389" y="80094"/>
                  </a:lnTo>
                  <a:lnTo>
                    <a:pt x="5631690" y="118731"/>
                  </a:lnTo>
                  <a:lnTo>
                    <a:pt x="5633244" y="130297"/>
                  </a:lnTo>
                  <a:lnTo>
                    <a:pt x="5633244" y="3104954"/>
                  </a:lnTo>
                  <a:lnTo>
                    <a:pt x="5615373" y="3155188"/>
                  </a:lnTo>
                  <a:lnTo>
                    <a:pt x="5590057" y="3187934"/>
                  </a:lnTo>
                  <a:lnTo>
                    <a:pt x="5557271" y="3213227"/>
                  </a:lnTo>
                  <a:lnTo>
                    <a:pt x="5518656" y="3229518"/>
                  </a:lnTo>
                  <a:lnTo>
                    <a:pt x="5518488" y="3229518"/>
                  </a:lnTo>
                  <a:lnTo>
                    <a:pt x="5475732" y="3235309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309531" y="2328777"/>
              <a:ext cx="5637530" cy="3235325"/>
            </a:xfrm>
            <a:custGeom>
              <a:avLst/>
              <a:gdLst/>
              <a:ahLst/>
              <a:cxnLst/>
              <a:rect l="l" t="t" r="r" b="b"/>
              <a:pathLst>
                <a:path w="5637530" h="3235325">
                  <a:moveTo>
                    <a:pt x="1" y="161722"/>
                  </a:moveTo>
                  <a:lnTo>
                    <a:pt x="5786" y="118707"/>
                  </a:lnTo>
                  <a:lnTo>
                    <a:pt x="22100" y="80064"/>
                  </a:lnTo>
                  <a:lnTo>
                    <a:pt x="47400" y="47334"/>
                  </a:lnTo>
                  <a:lnTo>
                    <a:pt x="80144" y="22055"/>
                  </a:lnTo>
                  <a:lnTo>
                    <a:pt x="118787" y="5768"/>
                  </a:lnTo>
                  <a:lnTo>
                    <a:pt x="161790" y="0"/>
                  </a:lnTo>
                  <a:lnTo>
                    <a:pt x="5475650" y="0"/>
                  </a:lnTo>
                  <a:lnTo>
                    <a:pt x="5518664" y="5746"/>
                  </a:lnTo>
                  <a:lnTo>
                    <a:pt x="5557319" y="22036"/>
                  </a:lnTo>
                  <a:lnTo>
                    <a:pt x="5590071" y="47321"/>
                  </a:lnTo>
                  <a:lnTo>
                    <a:pt x="5615375" y="80062"/>
                  </a:lnTo>
                  <a:lnTo>
                    <a:pt x="5631688" y="118717"/>
                  </a:lnTo>
                  <a:lnTo>
                    <a:pt x="5637466" y="161730"/>
                  </a:lnTo>
                  <a:lnTo>
                    <a:pt x="5637475" y="3073459"/>
                  </a:lnTo>
                  <a:lnTo>
                    <a:pt x="5631706" y="3116491"/>
                  </a:lnTo>
                  <a:lnTo>
                    <a:pt x="5615397" y="3155156"/>
                  </a:lnTo>
                  <a:lnTo>
                    <a:pt x="5590090" y="3187908"/>
                  </a:lnTo>
                  <a:lnTo>
                    <a:pt x="5557330" y="3213201"/>
                  </a:lnTo>
                  <a:lnTo>
                    <a:pt x="5518652" y="3229518"/>
                  </a:lnTo>
                  <a:lnTo>
                    <a:pt x="5475730" y="3235250"/>
                  </a:lnTo>
                  <a:lnTo>
                    <a:pt x="161778" y="3235267"/>
                  </a:lnTo>
                  <a:lnTo>
                    <a:pt x="118750" y="3229526"/>
                  </a:lnTo>
                  <a:lnTo>
                    <a:pt x="80090" y="3213223"/>
                  </a:lnTo>
                  <a:lnTo>
                    <a:pt x="47345" y="3187910"/>
                  </a:lnTo>
                  <a:lnTo>
                    <a:pt x="22056" y="3155139"/>
                  </a:lnTo>
                  <a:lnTo>
                    <a:pt x="5766" y="3116464"/>
                  </a:lnTo>
                  <a:lnTo>
                    <a:pt x="0" y="3073447"/>
                  </a:lnTo>
                  <a:lnTo>
                    <a:pt x="1" y="161722"/>
                  </a:lnTo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314293" y="2333539"/>
              <a:ext cx="55244" cy="3226435"/>
            </a:xfrm>
            <a:custGeom>
              <a:avLst/>
              <a:gdLst/>
              <a:ahLst/>
              <a:cxnLst/>
              <a:rect l="l" t="t" r="r" b="b"/>
              <a:pathLst>
                <a:path w="55245" h="3226435">
                  <a:moveTo>
                    <a:pt x="54911" y="3225843"/>
                  </a:moveTo>
                  <a:lnTo>
                    <a:pt x="0" y="3225843"/>
                  </a:lnTo>
                  <a:lnTo>
                    <a:pt x="0" y="0"/>
                  </a:lnTo>
                  <a:lnTo>
                    <a:pt x="54911" y="0"/>
                  </a:lnTo>
                  <a:lnTo>
                    <a:pt x="54911" y="3225843"/>
                  </a:lnTo>
                  <a:close/>
                </a:path>
              </a:pathLst>
            </a:custGeom>
            <a:solidFill>
              <a:srgbClr val="00D4A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6598935" y="2473943"/>
            <a:ext cx="4860925" cy="955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solidFill>
                  <a:srgbClr val="001D31"/>
                </a:solidFill>
                <a:latin typeface="Calibri"/>
                <a:cs typeface="Calibri"/>
              </a:rPr>
              <a:t>Sales</a:t>
            </a:r>
            <a:r>
              <a:rPr dirty="0" sz="2100" spc="-45" b="1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2100" spc="-10" b="1">
                <a:solidFill>
                  <a:srgbClr val="001D31"/>
                </a:solidFill>
                <a:latin typeface="Calibri"/>
                <a:cs typeface="Calibri"/>
              </a:rPr>
              <a:t>Executive</a:t>
            </a:r>
            <a:endParaRPr sz="21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195"/>
              </a:spcBef>
            </a:pP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Handles</a:t>
            </a:r>
            <a:r>
              <a:rPr dirty="0" sz="1500" spc="-5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objections,</a:t>
            </a:r>
            <a:r>
              <a:rPr dirty="0" sz="1500" spc="-5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generates</a:t>
            </a:r>
            <a:r>
              <a:rPr dirty="0" sz="1500" spc="-5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proposals,</a:t>
            </a:r>
            <a:r>
              <a:rPr dirty="0" sz="1500" spc="-5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moves</a:t>
            </a:r>
            <a:r>
              <a:rPr dirty="0" sz="1500" spc="-5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deals</a:t>
            </a:r>
            <a:r>
              <a:rPr dirty="0" sz="1500" spc="-5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through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the</a:t>
            </a:r>
            <a:r>
              <a:rPr dirty="0" sz="1500" spc="-5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pipeline</a:t>
            </a:r>
            <a:r>
              <a:rPr dirty="0" sz="1500" spc="-5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with</a:t>
            </a:r>
            <a:r>
              <a:rPr dirty="0" sz="1500" spc="-5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contextual</a:t>
            </a:r>
            <a:r>
              <a:rPr dirty="0" sz="1500" spc="-5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intelligence.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505581" y="4309306"/>
            <a:ext cx="1400810" cy="331470"/>
            <a:chOff x="6505581" y="4309306"/>
            <a:chExt cx="1400810" cy="331470"/>
          </a:xfrm>
        </p:grpSpPr>
        <p:sp>
          <p:nvSpPr>
            <p:cNvPr id="29" name="object 29"/>
            <p:cNvSpPr/>
            <p:nvPr/>
          </p:nvSpPr>
          <p:spPr>
            <a:xfrm>
              <a:off x="6515423" y="4319149"/>
              <a:ext cx="1382395" cy="311785"/>
            </a:xfrm>
            <a:custGeom>
              <a:avLst/>
              <a:gdLst/>
              <a:ahLst/>
              <a:cxnLst/>
              <a:rect l="l" t="t" r="r" b="b"/>
              <a:pathLst>
                <a:path w="1382395" h="311785">
                  <a:moveTo>
                    <a:pt x="1288732" y="311467"/>
                  </a:moveTo>
                  <a:lnTo>
                    <a:pt x="93440" y="311467"/>
                  </a:lnTo>
                  <a:lnTo>
                    <a:pt x="57060" y="304167"/>
                  </a:lnTo>
                  <a:lnTo>
                    <a:pt x="27360" y="284142"/>
                  </a:lnTo>
                  <a:lnTo>
                    <a:pt x="7340" y="254420"/>
                  </a:lnTo>
                  <a:lnTo>
                    <a:pt x="0" y="218027"/>
                  </a:lnTo>
                  <a:lnTo>
                    <a:pt x="0" y="93440"/>
                  </a:lnTo>
                  <a:lnTo>
                    <a:pt x="7340" y="57060"/>
                  </a:lnTo>
                  <a:lnTo>
                    <a:pt x="27360" y="27360"/>
                  </a:lnTo>
                  <a:lnTo>
                    <a:pt x="57060" y="7340"/>
                  </a:lnTo>
                  <a:lnTo>
                    <a:pt x="93440" y="0"/>
                  </a:lnTo>
                  <a:lnTo>
                    <a:pt x="1288732" y="0"/>
                  </a:lnTo>
                  <a:lnTo>
                    <a:pt x="1325111" y="7340"/>
                  </a:lnTo>
                  <a:lnTo>
                    <a:pt x="1354812" y="27360"/>
                  </a:lnTo>
                  <a:lnTo>
                    <a:pt x="1374832" y="57060"/>
                  </a:lnTo>
                  <a:lnTo>
                    <a:pt x="1382172" y="93440"/>
                  </a:lnTo>
                  <a:lnTo>
                    <a:pt x="1382172" y="218027"/>
                  </a:lnTo>
                  <a:lnTo>
                    <a:pt x="1374823" y="254420"/>
                  </a:lnTo>
                  <a:lnTo>
                    <a:pt x="1354759" y="284142"/>
                  </a:lnTo>
                  <a:lnTo>
                    <a:pt x="1325052" y="304167"/>
                  </a:lnTo>
                  <a:lnTo>
                    <a:pt x="1324912" y="304167"/>
                  </a:lnTo>
                  <a:lnTo>
                    <a:pt x="1288732" y="311467"/>
                  </a:lnTo>
                  <a:close/>
                </a:path>
              </a:pathLst>
            </a:custGeom>
            <a:solidFill>
              <a:srgbClr val="0029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515423" y="4319149"/>
              <a:ext cx="1381125" cy="311785"/>
            </a:xfrm>
            <a:custGeom>
              <a:avLst/>
              <a:gdLst/>
              <a:ahLst/>
              <a:cxnLst/>
              <a:rect l="l" t="t" r="r" b="b"/>
              <a:pathLst>
                <a:path w="1381125" h="311785">
                  <a:moveTo>
                    <a:pt x="1381057" y="223202"/>
                  </a:moveTo>
                  <a:lnTo>
                    <a:pt x="1354771" y="284134"/>
                  </a:lnTo>
                  <a:lnTo>
                    <a:pt x="1288662" y="311467"/>
                  </a:lnTo>
                  <a:lnTo>
                    <a:pt x="93468" y="311473"/>
                  </a:lnTo>
                  <a:lnTo>
                    <a:pt x="57074" y="304176"/>
                  </a:lnTo>
                  <a:lnTo>
                    <a:pt x="27361" y="284144"/>
                  </a:lnTo>
                  <a:lnTo>
                    <a:pt x="7337" y="254406"/>
                  </a:lnTo>
                  <a:lnTo>
                    <a:pt x="0" y="218007"/>
                  </a:lnTo>
                  <a:lnTo>
                    <a:pt x="1" y="93423"/>
                  </a:lnTo>
                  <a:lnTo>
                    <a:pt x="27389" y="27340"/>
                  </a:lnTo>
                  <a:lnTo>
                    <a:pt x="93475" y="0"/>
                  </a:lnTo>
                  <a:lnTo>
                    <a:pt x="1288662" y="0"/>
                  </a:lnTo>
                  <a:lnTo>
                    <a:pt x="1325061" y="7306"/>
                  </a:lnTo>
                  <a:lnTo>
                    <a:pt x="1354787" y="27323"/>
                  </a:lnTo>
                  <a:lnTo>
                    <a:pt x="1374828" y="57040"/>
                  </a:lnTo>
                  <a:lnTo>
                    <a:pt x="1381051" y="88261"/>
                  </a:lnTo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7024137" y="4318746"/>
            <a:ext cx="36512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B8FA2"/>
                </a:solidFill>
                <a:latin typeface="Calibri"/>
                <a:cs typeface="Calibri"/>
              </a:rPr>
              <a:t>Email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8015522" y="4309306"/>
            <a:ext cx="1400810" cy="331470"/>
            <a:chOff x="8015522" y="4309306"/>
            <a:chExt cx="1400810" cy="331470"/>
          </a:xfrm>
        </p:grpSpPr>
        <p:sp>
          <p:nvSpPr>
            <p:cNvPr id="33" name="object 33"/>
            <p:cNvSpPr/>
            <p:nvPr/>
          </p:nvSpPr>
          <p:spPr>
            <a:xfrm>
              <a:off x="8025363" y="4319149"/>
              <a:ext cx="1382395" cy="311785"/>
            </a:xfrm>
            <a:custGeom>
              <a:avLst/>
              <a:gdLst/>
              <a:ahLst/>
              <a:cxnLst/>
              <a:rect l="l" t="t" r="r" b="b"/>
              <a:pathLst>
                <a:path w="1382395" h="311785">
                  <a:moveTo>
                    <a:pt x="1288732" y="311467"/>
                  </a:moveTo>
                  <a:lnTo>
                    <a:pt x="93440" y="311467"/>
                  </a:lnTo>
                  <a:lnTo>
                    <a:pt x="57060" y="304167"/>
                  </a:lnTo>
                  <a:lnTo>
                    <a:pt x="27360" y="284142"/>
                  </a:lnTo>
                  <a:lnTo>
                    <a:pt x="7340" y="254420"/>
                  </a:lnTo>
                  <a:lnTo>
                    <a:pt x="0" y="218027"/>
                  </a:lnTo>
                  <a:lnTo>
                    <a:pt x="0" y="93440"/>
                  </a:lnTo>
                  <a:lnTo>
                    <a:pt x="7340" y="57060"/>
                  </a:lnTo>
                  <a:lnTo>
                    <a:pt x="27360" y="27360"/>
                  </a:lnTo>
                  <a:lnTo>
                    <a:pt x="57060" y="7340"/>
                  </a:lnTo>
                  <a:lnTo>
                    <a:pt x="93440" y="0"/>
                  </a:lnTo>
                  <a:lnTo>
                    <a:pt x="1288732" y="0"/>
                  </a:lnTo>
                  <a:lnTo>
                    <a:pt x="1325111" y="7340"/>
                  </a:lnTo>
                  <a:lnTo>
                    <a:pt x="1354811" y="27360"/>
                  </a:lnTo>
                  <a:lnTo>
                    <a:pt x="1374832" y="57060"/>
                  </a:lnTo>
                  <a:lnTo>
                    <a:pt x="1382172" y="93440"/>
                  </a:lnTo>
                  <a:lnTo>
                    <a:pt x="1382172" y="218027"/>
                  </a:lnTo>
                  <a:lnTo>
                    <a:pt x="1374823" y="254420"/>
                  </a:lnTo>
                  <a:lnTo>
                    <a:pt x="1354758" y="284142"/>
                  </a:lnTo>
                  <a:lnTo>
                    <a:pt x="1325052" y="304167"/>
                  </a:lnTo>
                  <a:lnTo>
                    <a:pt x="1324912" y="304167"/>
                  </a:lnTo>
                  <a:lnTo>
                    <a:pt x="1288732" y="311467"/>
                  </a:lnTo>
                  <a:close/>
                </a:path>
              </a:pathLst>
            </a:custGeom>
            <a:solidFill>
              <a:srgbClr val="0029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8025364" y="4319149"/>
              <a:ext cx="1381125" cy="311785"/>
            </a:xfrm>
            <a:custGeom>
              <a:avLst/>
              <a:gdLst/>
              <a:ahLst/>
              <a:cxnLst/>
              <a:rect l="l" t="t" r="r" b="b"/>
              <a:pathLst>
                <a:path w="1381125" h="311785">
                  <a:moveTo>
                    <a:pt x="1381057" y="223201"/>
                  </a:moveTo>
                  <a:lnTo>
                    <a:pt x="1354771" y="284134"/>
                  </a:lnTo>
                  <a:lnTo>
                    <a:pt x="1288662" y="311467"/>
                  </a:lnTo>
                  <a:lnTo>
                    <a:pt x="93468" y="311473"/>
                  </a:lnTo>
                  <a:lnTo>
                    <a:pt x="57074" y="304176"/>
                  </a:lnTo>
                  <a:lnTo>
                    <a:pt x="27361" y="284144"/>
                  </a:lnTo>
                  <a:lnTo>
                    <a:pt x="7337" y="254406"/>
                  </a:lnTo>
                  <a:lnTo>
                    <a:pt x="0" y="218007"/>
                  </a:lnTo>
                  <a:lnTo>
                    <a:pt x="1" y="93423"/>
                  </a:lnTo>
                  <a:lnTo>
                    <a:pt x="27389" y="27340"/>
                  </a:lnTo>
                  <a:lnTo>
                    <a:pt x="93475" y="0"/>
                  </a:lnTo>
                  <a:lnTo>
                    <a:pt x="1288662" y="0"/>
                  </a:lnTo>
                  <a:lnTo>
                    <a:pt x="1325061" y="7306"/>
                  </a:lnTo>
                  <a:lnTo>
                    <a:pt x="1354787" y="27323"/>
                  </a:lnTo>
                  <a:lnTo>
                    <a:pt x="1374828" y="57040"/>
                  </a:lnTo>
                  <a:lnTo>
                    <a:pt x="1381051" y="88262"/>
                  </a:lnTo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8532590" y="4318746"/>
            <a:ext cx="36766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B8FA2"/>
                </a:solidFill>
                <a:latin typeface="Calibri"/>
                <a:cs typeface="Calibri"/>
              </a:rPr>
              <a:t>Voice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9525772" y="4309616"/>
            <a:ext cx="1400175" cy="330835"/>
            <a:chOff x="9525772" y="4309616"/>
            <a:chExt cx="1400175" cy="330835"/>
          </a:xfrm>
        </p:grpSpPr>
        <p:sp>
          <p:nvSpPr>
            <p:cNvPr id="37" name="object 37"/>
            <p:cNvSpPr/>
            <p:nvPr/>
          </p:nvSpPr>
          <p:spPr>
            <a:xfrm>
              <a:off x="9535304" y="4319149"/>
              <a:ext cx="1382395" cy="311785"/>
            </a:xfrm>
            <a:custGeom>
              <a:avLst/>
              <a:gdLst/>
              <a:ahLst/>
              <a:cxnLst/>
              <a:rect l="l" t="t" r="r" b="b"/>
              <a:pathLst>
                <a:path w="1382395" h="311785">
                  <a:moveTo>
                    <a:pt x="1288732" y="311467"/>
                  </a:moveTo>
                  <a:lnTo>
                    <a:pt x="93440" y="311467"/>
                  </a:lnTo>
                  <a:lnTo>
                    <a:pt x="57060" y="304167"/>
                  </a:lnTo>
                  <a:lnTo>
                    <a:pt x="27360" y="284142"/>
                  </a:lnTo>
                  <a:lnTo>
                    <a:pt x="7340" y="254420"/>
                  </a:lnTo>
                  <a:lnTo>
                    <a:pt x="0" y="218027"/>
                  </a:lnTo>
                  <a:lnTo>
                    <a:pt x="0" y="93440"/>
                  </a:lnTo>
                  <a:lnTo>
                    <a:pt x="7340" y="57060"/>
                  </a:lnTo>
                  <a:lnTo>
                    <a:pt x="27360" y="27360"/>
                  </a:lnTo>
                  <a:lnTo>
                    <a:pt x="57060" y="7340"/>
                  </a:lnTo>
                  <a:lnTo>
                    <a:pt x="93440" y="0"/>
                  </a:lnTo>
                  <a:lnTo>
                    <a:pt x="1288732" y="0"/>
                  </a:lnTo>
                  <a:lnTo>
                    <a:pt x="1325111" y="7340"/>
                  </a:lnTo>
                  <a:lnTo>
                    <a:pt x="1354812" y="27360"/>
                  </a:lnTo>
                  <a:lnTo>
                    <a:pt x="1374832" y="57060"/>
                  </a:lnTo>
                  <a:lnTo>
                    <a:pt x="1382172" y="93440"/>
                  </a:lnTo>
                  <a:lnTo>
                    <a:pt x="1382172" y="218027"/>
                  </a:lnTo>
                  <a:lnTo>
                    <a:pt x="1374823" y="254420"/>
                  </a:lnTo>
                  <a:lnTo>
                    <a:pt x="1354759" y="284142"/>
                  </a:lnTo>
                  <a:lnTo>
                    <a:pt x="1325052" y="304167"/>
                  </a:lnTo>
                  <a:lnTo>
                    <a:pt x="1324912" y="304167"/>
                  </a:lnTo>
                  <a:lnTo>
                    <a:pt x="1288732" y="311467"/>
                  </a:lnTo>
                  <a:close/>
                </a:path>
              </a:pathLst>
            </a:custGeom>
            <a:solidFill>
              <a:srgbClr val="0029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9535305" y="4319149"/>
              <a:ext cx="1381125" cy="311785"/>
            </a:xfrm>
            <a:custGeom>
              <a:avLst/>
              <a:gdLst/>
              <a:ahLst/>
              <a:cxnLst/>
              <a:rect l="l" t="t" r="r" b="b"/>
              <a:pathLst>
                <a:path w="1381125" h="311785">
                  <a:moveTo>
                    <a:pt x="1381057" y="223202"/>
                  </a:moveTo>
                  <a:lnTo>
                    <a:pt x="1354771" y="284134"/>
                  </a:lnTo>
                  <a:lnTo>
                    <a:pt x="1288662" y="311467"/>
                  </a:lnTo>
                  <a:lnTo>
                    <a:pt x="93468" y="311473"/>
                  </a:lnTo>
                  <a:lnTo>
                    <a:pt x="57074" y="304176"/>
                  </a:lnTo>
                  <a:lnTo>
                    <a:pt x="27361" y="284144"/>
                  </a:lnTo>
                  <a:lnTo>
                    <a:pt x="7337" y="254406"/>
                  </a:lnTo>
                  <a:lnTo>
                    <a:pt x="0" y="218007"/>
                  </a:lnTo>
                  <a:lnTo>
                    <a:pt x="1" y="93423"/>
                  </a:lnTo>
                  <a:lnTo>
                    <a:pt x="27389" y="27340"/>
                  </a:lnTo>
                  <a:lnTo>
                    <a:pt x="93475" y="0"/>
                  </a:lnTo>
                  <a:lnTo>
                    <a:pt x="1288662" y="0"/>
                  </a:lnTo>
                  <a:lnTo>
                    <a:pt x="1325061" y="7306"/>
                  </a:lnTo>
                  <a:lnTo>
                    <a:pt x="1354787" y="27323"/>
                  </a:lnTo>
                  <a:lnTo>
                    <a:pt x="1374828" y="57040"/>
                  </a:lnTo>
                  <a:lnTo>
                    <a:pt x="1381051" y="88261"/>
                  </a:lnTo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9907981" y="4318746"/>
            <a:ext cx="63690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B8FA2"/>
                </a:solidFill>
                <a:latin typeface="Calibri"/>
                <a:cs typeface="Calibri"/>
              </a:rPr>
              <a:t>Web</a:t>
            </a:r>
            <a:r>
              <a:rPr dirty="0" sz="1200" spc="-2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8B8FA2"/>
                </a:solidFill>
                <a:latin typeface="Calibri"/>
                <a:cs typeface="Calibri"/>
              </a:rPr>
              <a:t>Chat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12202178" y="2318934"/>
            <a:ext cx="5657215" cy="3255010"/>
            <a:chOff x="12202178" y="2318934"/>
            <a:chExt cx="5657215" cy="3255010"/>
          </a:xfrm>
        </p:grpSpPr>
        <p:sp>
          <p:nvSpPr>
            <p:cNvPr id="41" name="object 41"/>
            <p:cNvSpPr/>
            <p:nvPr/>
          </p:nvSpPr>
          <p:spPr>
            <a:xfrm>
              <a:off x="12212020" y="2328776"/>
              <a:ext cx="5633720" cy="3235325"/>
            </a:xfrm>
            <a:custGeom>
              <a:avLst/>
              <a:gdLst/>
              <a:ahLst/>
              <a:cxnLst/>
              <a:rect l="l" t="t" r="r" b="b"/>
              <a:pathLst>
                <a:path w="5633719" h="3235325">
                  <a:moveTo>
                    <a:pt x="5475731" y="3235309"/>
                  </a:moveTo>
                  <a:lnTo>
                    <a:pt x="161734" y="3235309"/>
                  </a:lnTo>
                  <a:lnTo>
                    <a:pt x="118731" y="3229518"/>
                  </a:lnTo>
                  <a:lnTo>
                    <a:pt x="80094" y="3213227"/>
                  </a:lnTo>
                  <a:lnTo>
                    <a:pt x="47363" y="3187934"/>
                  </a:lnTo>
                  <a:lnTo>
                    <a:pt x="22076" y="3155188"/>
                  </a:lnTo>
                  <a:lnTo>
                    <a:pt x="5775" y="3116536"/>
                  </a:lnTo>
                  <a:lnTo>
                    <a:pt x="0" y="3073527"/>
                  </a:lnTo>
                  <a:lnTo>
                    <a:pt x="0" y="161734"/>
                  </a:lnTo>
                  <a:lnTo>
                    <a:pt x="5775" y="118731"/>
                  </a:lnTo>
                  <a:lnTo>
                    <a:pt x="22076" y="80094"/>
                  </a:lnTo>
                  <a:lnTo>
                    <a:pt x="47363" y="47363"/>
                  </a:lnTo>
                  <a:lnTo>
                    <a:pt x="80094" y="22076"/>
                  </a:lnTo>
                  <a:lnTo>
                    <a:pt x="118731" y="5775"/>
                  </a:lnTo>
                  <a:lnTo>
                    <a:pt x="161734" y="0"/>
                  </a:lnTo>
                  <a:lnTo>
                    <a:pt x="5475731" y="0"/>
                  </a:lnTo>
                  <a:lnTo>
                    <a:pt x="5518734" y="5775"/>
                  </a:lnTo>
                  <a:lnTo>
                    <a:pt x="5557371" y="22076"/>
                  </a:lnTo>
                  <a:lnTo>
                    <a:pt x="5590103" y="47363"/>
                  </a:lnTo>
                  <a:lnTo>
                    <a:pt x="5615389" y="80094"/>
                  </a:lnTo>
                  <a:lnTo>
                    <a:pt x="5631690" y="118731"/>
                  </a:lnTo>
                  <a:lnTo>
                    <a:pt x="5633244" y="130297"/>
                  </a:lnTo>
                  <a:lnTo>
                    <a:pt x="5633244" y="3104953"/>
                  </a:lnTo>
                  <a:lnTo>
                    <a:pt x="5615373" y="3155188"/>
                  </a:lnTo>
                  <a:lnTo>
                    <a:pt x="5590057" y="3187934"/>
                  </a:lnTo>
                  <a:lnTo>
                    <a:pt x="5557271" y="3213227"/>
                  </a:lnTo>
                  <a:lnTo>
                    <a:pt x="5518656" y="3229518"/>
                  </a:lnTo>
                  <a:lnTo>
                    <a:pt x="5518488" y="3229518"/>
                  </a:lnTo>
                  <a:lnTo>
                    <a:pt x="5475731" y="3235309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12212020" y="2328777"/>
              <a:ext cx="5637530" cy="3235325"/>
            </a:xfrm>
            <a:custGeom>
              <a:avLst/>
              <a:gdLst/>
              <a:ahLst/>
              <a:cxnLst/>
              <a:rect l="l" t="t" r="r" b="b"/>
              <a:pathLst>
                <a:path w="5637530" h="3235325">
                  <a:moveTo>
                    <a:pt x="1" y="161722"/>
                  </a:moveTo>
                  <a:lnTo>
                    <a:pt x="5786" y="118707"/>
                  </a:lnTo>
                  <a:lnTo>
                    <a:pt x="22100" y="80064"/>
                  </a:lnTo>
                  <a:lnTo>
                    <a:pt x="47400" y="47334"/>
                  </a:lnTo>
                  <a:lnTo>
                    <a:pt x="80144" y="22056"/>
                  </a:lnTo>
                  <a:lnTo>
                    <a:pt x="118787" y="5768"/>
                  </a:lnTo>
                  <a:lnTo>
                    <a:pt x="161790" y="0"/>
                  </a:lnTo>
                  <a:lnTo>
                    <a:pt x="5475650" y="0"/>
                  </a:lnTo>
                  <a:lnTo>
                    <a:pt x="5518664" y="5746"/>
                  </a:lnTo>
                  <a:lnTo>
                    <a:pt x="5557318" y="22036"/>
                  </a:lnTo>
                  <a:lnTo>
                    <a:pt x="5590070" y="47321"/>
                  </a:lnTo>
                  <a:lnTo>
                    <a:pt x="5615375" y="80062"/>
                  </a:lnTo>
                  <a:lnTo>
                    <a:pt x="5631688" y="118717"/>
                  </a:lnTo>
                  <a:lnTo>
                    <a:pt x="5637466" y="161730"/>
                  </a:lnTo>
                  <a:lnTo>
                    <a:pt x="5637475" y="3073459"/>
                  </a:lnTo>
                  <a:lnTo>
                    <a:pt x="5631706" y="3116491"/>
                  </a:lnTo>
                  <a:lnTo>
                    <a:pt x="5615397" y="3155156"/>
                  </a:lnTo>
                  <a:lnTo>
                    <a:pt x="5590090" y="3187908"/>
                  </a:lnTo>
                  <a:lnTo>
                    <a:pt x="5557330" y="3213201"/>
                  </a:lnTo>
                  <a:lnTo>
                    <a:pt x="5518694" y="3229502"/>
                  </a:lnTo>
                  <a:lnTo>
                    <a:pt x="5475730" y="3235250"/>
                  </a:lnTo>
                  <a:lnTo>
                    <a:pt x="161778" y="3235267"/>
                  </a:lnTo>
                  <a:lnTo>
                    <a:pt x="118750" y="3229526"/>
                  </a:lnTo>
                  <a:lnTo>
                    <a:pt x="80090" y="3213223"/>
                  </a:lnTo>
                  <a:lnTo>
                    <a:pt x="47345" y="3187910"/>
                  </a:lnTo>
                  <a:lnTo>
                    <a:pt x="22056" y="3155139"/>
                  </a:lnTo>
                  <a:lnTo>
                    <a:pt x="5766" y="3116464"/>
                  </a:lnTo>
                  <a:lnTo>
                    <a:pt x="0" y="3073447"/>
                  </a:lnTo>
                  <a:lnTo>
                    <a:pt x="1" y="161722"/>
                  </a:lnTo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12216783" y="2333539"/>
              <a:ext cx="55244" cy="3226435"/>
            </a:xfrm>
            <a:custGeom>
              <a:avLst/>
              <a:gdLst/>
              <a:ahLst/>
              <a:cxnLst/>
              <a:rect l="l" t="t" r="r" b="b"/>
              <a:pathLst>
                <a:path w="55245" h="3226435">
                  <a:moveTo>
                    <a:pt x="54911" y="3225843"/>
                  </a:moveTo>
                  <a:lnTo>
                    <a:pt x="0" y="3225843"/>
                  </a:lnTo>
                  <a:lnTo>
                    <a:pt x="0" y="0"/>
                  </a:lnTo>
                  <a:lnTo>
                    <a:pt x="54911" y="0"/>
                  </a:lnTo>
                  <a:lnTo>
                    <a:pt x="54911" y="3225843"/>
                  </a:lnTo>
                  <a:close/>
                </a:path>
              </a:pathLst>
            </a:custGeom>
            <a:solidFill>
              <a:srgbClr val="00D4A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12501424" y="2473943"/>
            <a:ext cx="4958715" cy="955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solidFill>
                  <a:srgbClr val="001D31"/>
                </a:solidFill>
                <a:latin typeface="Calibri"/>
                <a:cs typeface="Calibri"/>
              </a:rPr>
              <a:t>Customer</a:t>
            </a:r>
            <a:r>
              <a:rPr dirty="0" sz="2100" spc="-85" b="1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2100" spc="-10" b="1">
                <a:solidFill>
                  <a:srgbClr val="001D31"/>
                </a:solidFill>
                <a:latin typeface="Calibri"/>
                <a:cs typeface="Calibri"/>
              </a:rPr>
              <a:t>Success</a:t>
            </a:r>
            <a:endParaRPr sz="21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195"/>
              </a:spcBef>
            </a:pP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Drives</a:t>
            </a:r>
            <a:r>
              <a:rPr dirty="0" sz="1500" spc="-5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onboarding,</a:t>
            </a:r>
            <a:r>
              <a:rPr dirty="0" sz="1500" spc="-5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tracks</a:t>
            </a:r>
            <a:r>
              <a:rPr dirty="0" sz="1500" spc="-5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adoption,</a:t>
            </a:r>
            <a:r>
              <a:rPr dirty="0" sz="1500" spc="-5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prepares</a:t>
            </a:r>
            <a:r>
              <a:rPr dirty="0" sz="1500" spc="-5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renewals.</a:t>
            </a:r>
            <a:r>
              <a:rPr dirty="0" sz="1500" spc="-5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Ensures customers</a:t>
            </a:r>
            <a:r>
              <a:rPr dirty="0" sz="150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realize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value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and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8B8FA2"/>
                </a:solidFill>
                <a:latin typeface="Calibri"/>
                <a:cs typeface="Calibri"/>
              </a:rPr>
              <a:t>stay.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12408080" y="4309306"/>
            <a:ext cx="1400810" cy="331470"/>
            <a:chOff x="12408080" y="4309306"/>
            <a:chExt cx="1400810" cy="331470"/>
          </a:xfrm>
        </p:grpSpPr>
        <p:sp>
          <p:nvSpPr>
            <p:cNvPr id="46" name="object 46"/>
            <p:cNvSpPr/>
            <p:nvPr/>
          </p:nvSpPr>
          <p:spPr>
            <a:xfrm>
              <a:off x="12417922" y="4319149"/>
              <a:ext cx="1382395" cy="311785"/>
            </a:xfrm>
            <a:custGeom>
              <a:avLst/>
              <a:gdLst/>
              <a:ahLst/>
              <a:cxnLst/>
              <a:rect l="l" t="t" r="r" b="b"/>
              <a:pathLst>
                <a:path w="1382394" h="311785">
                  <a:moveTo>
                    <a:pt x="1288733" y="311467"/>
                  </a:moveTo>
                  <a:lnTo>
                    <a:pt x="93441" y="311467"/>
                  </a:lnTo>
                  <a:lnTo>
                    <a:pt x="57061" y="304167"/>
                  </a:lnTo>
                  <a:lnTo>
                    <a:pt x="27360" y="284142"/>
                  </a:lnTo>
                  <a:lnTo>
                    <a:pt x="7340" y="254420"/>
                  </a:lnTo>
                  <a:lnTo>
                    <a:pt x="0" y="218027"/>
                  </a:lnTo>
                  <a:lnTo>
                    <a:pt x="0" y="93440"/>
                  </a:lnTo>
                  <a:lnTo>
                    <a:pt x="7340" y="57060"/>
                  </a:lnTo>
                  <a:lnTo>
                    <a:pt x="27360" y="27360"/>
                  </a:lnTo>
                  <a:lnTo>
                    <a:pt x="57061" y="7340"/>
                  </a:lnTo>
                  <a:lnTo>
                    <a:pt x="93441" y="0"/>
                  </a:lnTo>
                  <a:lnTo>
                    <a:pt x="1288733" y="0"/>
                  </a:lnTo>
                  <a:lnTo>
                    <a:pt x="1325112" y="7340"/>
                  </a:lnTo>
                  <a:lnTo>
                    <a:pt x="1354812" y="27360"/>
                  </a:lnTo>
                  <a:lnTo>
                    <a:pt x="1374833" y="57060"/>
                  </a:lnTo>
                  <a:lnTo>
                    <a:pt x="1382173" y="93440"/>
                  </a:lnTo>
                  <a:lnTo>
                    <a:pt x="1382173" y="218027"/>
                  </a:lnTo>
                  <a:lnTo>
                    <a:pt x="1374824" y="254420"/>
                  </a:lnTo>
                  <a:lnTo>
                    <a:pt x="1354759" y="284142"/>
                  </a:lnTo>
                  <a:lnTo>
                    <a:pt x="1325053" y="304167"/>
                  </a:lnTo>
                  <a:lnTo>
                    <a:pt x="1324913" y="304167"/>
                  </a:lnTo>
                  <a:lnTo>
                    <a:pt x="1288733" y="311467"/>
                  </a:lnTo>
                  <a:close/>
                </a:path>
              </a:pathLst>
            </a:custGeom>
            <a:solidFill>
              <a:srgbClr val="0029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12417923" y="4319149"/>
              <a:ext cx="1381125" cy="311785"/>
            </a:xfrm>
            <a:custGeom>
              <a:avLst/>
              <a:gdLst/>
              <a:ahLst/>
              <a:cxnLst/>
              <a:rect l="l" t="t" r="r" b="b"/>
              <a:pathLst>
                <a:path w="1381125" h="311785">
                  <a:moveTo>
                    <a:pt x="1381057" y="223202"/>
                  </a:moveTo>
                  <a:lnTo>
                    <a:pt x="1354771" y="284134"/>
                  </a:lnTo>
                  <a:lnTo>
                    <a:pt x="1288662" y="311467"/>
                  </a:lnTo>
                  <a:lnTo>
                    <a:pt x="93468" y="311473"/>
                  </a:lnTo>
                  <a:lnTo>
                    <a:pt x="57074" y="304176"/>
                  </a:lnTo>
                  <a:lnTo>
                    <a:pt x="27361" y="284144"/>
                  </a:lnTo>
                  <a:lnTo>
                    <a:pt x="7337" y="254406"/>
                  </a:lnTo>
                  <a:lnTo>
                    <a:pt x="0" y="218007"/>
                  </a:lnTo>
                  <a:lnTo>
                    <a:pt x="1" y="93423"/>
                  </a:lnTo>
                  <a:lnTo>
                    <a:pt x="27389" y="27340"/>
                  </a:lnTo>
                  <a:lnTo>
                    <a:pt x="93475" y="0"/>
                  </a:lnTo>
                  <a:lnTo>
                    <a:pt x="1288662" y="0"/>
                  </a:lnTo>
                  <a:lnTo>
                    <a:pt x="1325061" y="7305"/>
                  </a:lnTo>
                  <a:lnTo>
                    <a:pt x="1354787" y="27323"/>
                  </a:lnTo>
                  <a:lnTo>
                    <a:pt x="1374829" y="57040"/>
                  </a:lnTo>
                  <a:lnTo>
                    <a:pt x="1381051" y="88262"/>
                  </a:lnTo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 txBox="1"/>
          <p:nvPr/>
        </p:nvSpPr>
        <p:spPr>
          <a:xfrm>
            <a:off x="12926626" y="4318746"/>
            <a:ext cx="36512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B8FA2"/>
                </a:solidFill>
                <a:latin typeface="Calibri"/>
                <a:cs typeface="Calibri"/>
              </a:rPr>
              <a:t>Email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13918010" y="4309306"/>
            <a:ext cx="1400810" cy="331470"/>
            <a:chOff x="13918010" y="4309306"/>
            <a:chExt cx="1400810" cy="331470"/>
          </a:xfrm>
        </p:grpSpPr>
        <p:sp>
          <p:nvSpPr>
            <p:cNvPr id="50" name="object 50"/>
            <p:cNvSpPr/>
            <p:nvPr/>
          </p:nvSpPr>
          <p:spPr>
            <a:xfrm>
              <a:off x="13927852" y="4319149"/>
              <a:ext cx="1382395" cy="311785"/>
            </a:xfrm>
            <a:custGeom>
              <a:avLst/>
              <a:gdLst/>
              <a:ahLst/>
              <a:cxnLst/>
              <a:rect l="l" t="t" r="r" b="b"/>
              <a:pathLst>
                <a:path w="1382394" h="311785">
                  <a:moveTo>
                    <a:pt x="1288732" y="311467"/>
                  </a:moveTo>
                  <a:lnTo>
                    <a:pt x="93440" y="311467"/>
                  </a:lnTo>
                  <a:lnTo>
                    <a:pt x="57060" y="304167"/>
                  </a:lnTo>
                  <a:lnTo>
                    <a:pt x="27360" y="284142"/>
                  </a:lnTo>
                  <a:lnTo>
                    <a:pt x="7340" y="254420"/>
                  </a:lnTo>
                  <a:lnTo>
                    <a:pt x="0" y="218027"/>
                  </a:lnTo>
                  <a:lnTo>
                    <a:pt x="0" y="93440"/>
                  </a:lnTo>
                  <a:lnTo>
                    <a:pt x="7340" y="57060"/>
                  </a:lnTo>
                  <a:lnTo>
                    <a:pt x="27360" y="27360"/>
                  </a:lnTo>
                  <a:lnTo>
                    <a:pt x="57060" y="7340"/>
                  </a:lnTo>
                  <a:lnTo>
                    <a:pt x="93440" y="0"/>
                  </a:lnTo>
                  <a:lnTo>
                    <a:pt x="1288732" y="0"/>
                  </a:lnTo>
                  <a:lnTo>
                    <a:pt x="1325111" y="7340"/>
                  </a:lnTo>
                  <a:lnTo>
                    <a:pt x="1354811" y="27360"/>
                  </a:lnTo>
                  <a:lnTo>
                    <a:pt x="1374832" y="57060"/>
                  </a:lnTo>
                  <a:lnTo>
                    <a:pt x="1382172" y="93440"/>
                  </a:lnTo>
                  <a:lnTo>
                    <a:pt x="1382172" y="218027"/>
                  </a:lnTo>
                  <a:lnTo>
                    <a:pt x="1374823" y="254420"/>
                  </a:lnTo>
                  <a:lnTo>
                    <a:pt x="1354758" y="284142"/>
                  </a:lnTo>
                  <a:lnTo>
                    <a:pt x="1325052" y="304167"/>
                  </a:lnTo>
                  <a:lnTo>
                    <a:pt x="1324912" y="304167"/>
                  </a:lnTo>
                  <a:lnTo>
                    <a:pt x="1288732" y="311467"/>
                  </a:lnTo>
                  <a:close/>
                </a:path>
              </a:pathLst>
            </a:custGeom>
            <a:solidFill>
              <a:srgbClr val="0029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13927853" y="4319149"/>
              <a:ext cx="1381125" cy="311785"/>
            </a:xfrm>
            <a:custGeom>
              <a:avLst/>
              <a:gdLst/>
              <a:ahLst/>
              <a:cxnLst/>
              <a:rect l="l" t="t" r="r" b="b"/>
              <a:pathLst>
                <a:path w="1381125" h="311785">
                  <a:moveTo>
                    <a:pt x="1381057" y="223201"/>
                  </a:moveTo>
                  <a:lnTo>
                    <a:pt x="1354771" y="284134"/>
                  </a:lnTo>
                  <a:lnTo>
                    <a:pt x="1288662" y="311467"/>
                  </a:lnTo>
                  <a:lnTo>
                    <a:pt x="93468" y="311473"/>
                  </a:lnTo>
                  <a:lnTo>
                    <a:pt x="57074" y="304176"/>
                  </a:lnTo>
                  <a:lnTo>
                    <a:pt x="27361" y="284144"/>
                  </a:lnTo>
                  <a:lnTo>
                    <a:pt x="7337" y="254406"/>
                  </a:lnTo>
                  <a:lnTo>
                    <a:pt x="0" y="218007"/>
                  </a:lnTo>
                  <a:lnTo>
                    <a:pt x="1" y="93423"/>
                  </a:lnTo>
                  <a:lnTo>
                    <a:pt x="27389" y="27340"/>
                  </a:lnTo>
                  <a:lnTo>
                    <a:pt x="93475" y="0"/>
                  </a:lnTo>
                  <a:lnTo>
                    <a:pt x="1288662" y="0"/>
                  </a:lnTo>
                  <a:lnTo>
                    <a:pt x="1325061" y="7306"/>
                  </a:lnTo>
                  <a:lnTo>
                    <a:pt x="1354787" y="27323"/>
                  </a:lnTo>
                  <a:lnTo>
                    <a:pt x="1374828" y="57040"/>
                  </a:lnTo>
                  <a:lnTo>
                    <a:pt x="1381051" y="88262"/>
                  </a:lnTo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/>
          <p:cNvSpPr txBox="1"/>
          <p:nvPr/>
        </p:nvSpPr>
        <p:spPr>
          <a:xfrm>
            <a:off x="14282382" y="4318746"/>
            <a:ext cx="67310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B8FA2"/>
                </a:solidFill>
                <a:latin typeface="Calibri"/>
                <a:cs typeface="Calibri"/>
              </a:rPr>
              <a:t>WhatsApp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15428262" y="4309616"/>
            <a:ext cx="1400175" cy="330835"/>
            <a:chOff x="15428262" y="4309616"/>
            <a:chExt cx="1400175" cy="330835"/>
          </a:xfrm>
        </p:grpSpPr>
        <p:sp>
          <p:nvSpPr>
            <p:cNvPr id="54" name="object 54"/>
            <p:cNvSpPr/>
            <p:nvPr/>
          </p:nvSpPr>
          <p:spPr>
            <a:xfrm>
              <a:off x="15437793" y="4319149"/>
              <a:ext cx="1382395" cy="311785"/>
            </a:xfrm>
            <a:custGeom>
              <a:avLst/>
              <a:gdLst/>
              <a:ahLst/>
              <a:cxnLst/>
              <a:rect l="l" t="t" r="r" b="b"/>
              <a:pathLst>
                <a:path w="1382394" h="311785">
                  <a:moveTo>
                    <a:pt x="1288732" y="311467"/>
                  </a:moveTo>
                  <a:lnTo>
                    <a:pt x="93440" y="311467"/>
                  </a:lnTo>
                  <a:lnTo>
                    <a:pt x="57060" y="304167"/>
                  </a:lnTo>
                  <a:lnTo>
                    <a:pt x="27360" y="284142"/>
                  </a:lnTo>
                  <a:lnTo>
                    <a:pt x="7340" y="254420"/>
                  </a:lnTo>
                  <a:lnTo>
                    <a:pt x="0" y="218027"/>
                  </a:lnTo>
                  <a:lnTo>
                    <a:pt x="0" y="93440"/>
                  </a:lnTo>
                  <a:lnTo>
                    <a:pt x="7340" y="57060"/>
                  </a:lnTo>
                  <a:lnTo>
                    <a:pt x="27360" y="27360"/>
                  </a:lnTo>
                  <a:lnTo>
                    <a:pt x="57060" y="7340"/>
                  </a:lnTo>
                  <a:lnTo>
                    <a:pt x="93440" y="0"/>
                  </a:lnTo>
                  <a:lnTo>
                    <a:pt x="1288732" y="0"/>
                  </a:lnTo>
                  <a:lnTo>
                    <a:pt x="1325111" y="7340"/>
                  </a:lnTo>
                  <a:lnTo>
                    <a:pt x="1354811" y="27360"/>
                  </a:lnTo>
                  <a:lnTo>
                    <a:pt x="1374832" y="57060"/>
                  </a:lnTo>
                  <a:lnTo>
                    <a:pt x="1382172" y="93440"/>
                  </a:lnTo>
                  <a:lnTo>
                    <a:pt x="1382172" y="218027"/>
                  </a:lnTo>
                  <a:lnTo>
                    <a:pt x="1374823" y="254420"/>
                  </a:lnTo>
                  <a:lnTo>
                    <a:pt x="1354758" y="284142"/>
                  </a:lnTo>
                  <a:lnTo>
                    <a:pt x="1325052" y="304167"/>
                  </a:lnTo>
                  <a:lnTo>
                    <a:pt x="1324912" y="304167"/>
                  </a:lnTo>
                  <a:lnTo>
                    <a:pt x="1288732" y="311467"/>
                  </a:lnTo>
                  <a:close/>
                </a:path>
              </a:pathLst>
            </a:custGeom>
            <a:solidFill>
              <a:srgbClr val="0029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15437795" y="4319149"/>
              <a:ext cx="1381125" cy="311785"/>
            </a:xfrm>
            <a:custGeom>
              <a:avLst/>
              <a:gdLst/>
              <a:ahLst/>
              <a:cxnLst/>
              <a:rect l="l" t="t" r="r" b="b"/>
              <a:pathLst>
                <a:path w="1381125" h="311785">
                  <a:moveTo>
                    <a:pt x="1381057" y="223201"/>
                  </a:moveTo>
                  <a:lnTo>
                    <a:pt x="1354771" y="284134"/>
                  </a:lnTo>
                  <a:lnTo>
                    <a:pt x="1288662" y="311467"/>
                  </a:lnTo>
                  <a:lnTo>
                    <a:pt x="93468" y="311473"/>
                  </a:lnTo>
                  <a:lnTo>
                    <a:pt x="57074" y="304176"/>
                  </a:lnTo>
                  <a:lnTo>
                    <a:pt x="27361" y="284144"/>
                  </a:lnTo>
                  <a:lnTo>
                    <a:pt x="7337" y="254406"/>
                  </a:lnTo>
                  <a:lnTo>
                    <a:pt x="0" y="218007"/>
                  </a:lnTo>
                  <a:lnTo>
                    <a:pt x="1" y="93423"/>
                  </a:lnTo>
                  <a:lnTo>
                    <a:pt x="27389" y="27340"/>
                  </a:lnTo>
                  <a:lnTo>
                    <a:pt x="93475" y="0"/>
                  </a:lnTo>
                  <a:lnTo>
                    <a:pt x="1288662" y="0"/>
                  </a:lnTo>
                  <a:lnTo>
                    <a:pt x="1325061" y="7306"/>
                  </a:lnTo>
                  <a:lnTo>
                    <a:pt x="1354787" y="27323"/>
                  </a:lnTo>
                  <a:lnTo>
                    <a:pt x="1374828" y="57040"/>
                  </a:lnTo>
                  <a:lnTo>
                    <a:pt x="1381051" y="88262"/>
                  </a:lnTo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/>
          <p:cNvSpPr txBox="1"/>
          <p:nvPr/>
        </p:nvSpPr>
        <p:spPr>
          <a:xfrm>
            <a:off x="15980888" y="4318746"/>
            <a:ext cx="29591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B8FA2"/>
                </a:solidFill>
                <a:latin typeface="Calibri"/>
                <a:cs typeface="Calibri"/>
              </a:rPr>
              <a:t>SMS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397189" y="5887885"/>
            <a:ext cx="5657215" cy="3255010"/>
            <a:chOff x="397189" y="5887885"/>
            <a:chExt cx="5657215" cy="3255010"/>
          </a:xfrm>
        </p:grpSpPr>
        <p:sp>
          <p:nvSpPr>
            <p:cNvPr id="58" name="object 58"/>
            <p:cNvSpPr/>
            <p:nvPr/>
          </p:nvSpPr>
          <p:spPr>
            <a:xfrm>
              <a:off x="407031" y="5897727"/>
              <a:ext cx="5633720" cy="3235325"/>
            </a:xfrm>
            <a:custGeom>
              <a:avLst/>
              <a:gdLst/>
              <a:ahLst/>
              <a:cxnLst/>
              <a:rect l="l" t="t" r="r" b="b"/>
              <a:pathLst>
                <a:path w="5633720" h="3235325">
                  <a:moveTo>
                    <a:pt x="5475731" y="3235309"/>
                  </a:moveTo>
                  <a:lnTo>
                    <a:pt x="161734" y="3235309"/>
                  </a:lnTo>
                  <a:lnTo>
                    <a:pt x="118731" y="3229519"/>
                  </a:lnTo>
                  <a:lnTo>
                    <a:pt x="80094" y="3213227"/>
                  </a:lnTo>
                  <a:lnTo>
                    <a:pt x="47363" y="3187934"/>
                  </a:lnTo>
                  <a:lnTo>
                    <a:pt x="22076" y="3155188"/>
                  </a:lnTo>
                  <a:lnTo>
                    <a:pt x="5775" y="3116536"/>
                  </a:lnTo>
                  <a:lnTo>
                    <a:pt x="0" y="3073527"/>
                  </a:lnTo>
                  <a:lnTo>
                    <a:pt x="0" y="161734"/>
                  </a:lnTo>
                  <a:lnTo>
                    <a:pt x="5775" y="118731"/>
                  </a:lnTo>
                  <a:lnTo>
                    <a:pt x="22076" y="80094"/>
                  </a:lnTo>
                  <a:lnTo>
                    <a:pt x="47363" y="47363"/>
                  </a:lnTo>
                  <a:lnTo>
                    <a:pt x="80094" y="22077"/>
                  </a:lnTo>
                  <a:lnTo>
                    <a:pt x="118731" y="5776"/>
                  </a:lnTo>
                  <a:lnTo>
                    <a:pt x="161734" y="0"/>
                  </a:lnTo>
                  <a:lnTo>
                    <a:pt x="5475731" y="0"/>
                  </a:lnTo>
                  <a:lnTo>
                    <a:pt x="5518734" y="5776"/>
                  </a:lnTo>
                  <a:lnTo>
                    <a:pt x="5557371" y="22077"/>
                  </a:lnTo>
                  <a:lnTo>
                    <a:pt x="5590103" y="47363"/>
                  </a:lnTo>
                  <a:lnTo>
                    <a:pt x="5615389" y="80094"/>
                  </a:lnTo>
                  <a:lnTo>
                    <a:pt x="5631690" y="118731"/>
                  </a:lnTo>
                  <a:lnTo>
                    <a:pt x="5633244" y="130298"/>
                  </a:lnTo>
                  <a:lnTo>
                    <a:pt x="5633244" y="3104952"/>
                  </a:lnTo>
                  <a:lnTo>
                    <a:pt x="5615373" y="3155188"/>
                  </a:lnTo>
                  <a:lnTo>
                    <a:pt x="5590057" y="3187934"/>
                  </a:lnTo>
                  <a:lnTo>
                    <a:pt x="5557271" y="3213227"/>
                  </a:lnTo>
                  <a:lnTo>
                    <a:pt x="5518656" y="3229519"/>
                  </a:lnTo>
                  <a:lnTo>
                    <a:pt x="5518488" y="3229519"/>
                  </a:lnTo>
                  <a:lnTo>
                    <a:pt x="5475731" y="3235309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407031" y="5897727"/>
              <a:ext cx="5637530" cy="3235325"/>
            </a:xfrm>
            <a:custGeom>
              <a:avLst/>
              <a:gdLst/>
              <a:ahLst/>
              <a:cxnLst/>
              <a:rect l="l" t="t" r="r" b="b"/>
              <a:pathLst>
                <a:path w="5637530" h="3235325">
                  <a:moveTo>
                    <a:pt x="1" y="161722"/>
                  </a:moveTo>
                  <a:lnTo>
                    <a:pt x="5786" y="118707"/>
                  </a:lnTo>
                  <a:lnTo>
                    <a:pt x="22100" y="80064"/>
                  </a:lnTo>
                  <a:lnTo>
                    <a:pt x="47400" y="47334"/>
                  </a:lnTo>
                  <a:lnTo>
                    <a:pt x="80144" y="22055"/>
                  </a:lnTo>
                  <a:lnTo>
                    <a:pt x="118787" y="5768"/>
                  </a:lnTo>
                  <a:lnTo>
                    <a:pt x="161790" y="0"/>
                  </a:lnTo>
                  <a:lnTo>
                    <a:pt x="5475650" y="0"/>
                  </a:lnTo>
                  <a:lnTo>
                    <a:pt x="5518664" y="5746"/>
                  </a:lnTo>
                  <a:lnTo>
                    <a:pt x="5557319" y="22036"/>
                  </a:lnTo>
                  <a:lnTo>
                    <a:pt x="5590071" y="47321"/>
                  </a:lnTo>
                  <a:lnTo>
                    <a:pt x="5615375" y="80062"/>
                  </a:lnTo>
                  <a:lnTo>
                    <a:pt x="5631688" y="118717"/>
                  </a:lnTo>
                  <a:lnTo>
                    <a:pt x="5637465" y="161730"/>
                  </a:lnTo>
                  <a:lnTo>
                    <a:pt x="5637475" y="3073459"/>
                  </a:lnTo>
                  <a:lnTo>
                    <a:pt x="5631706" y="3116491"/>
                  </a:lnTo>
                  <a:lnTo>
                    <a:pt x="5615397" y="3155156"/>
                  </a:lnTo>
                  <a:lnTo>
                    <a:pt x="5590090" y="3187908"/>
                  </a:lnTo>
                  <a:lnTo>
                    <a:pt x="5557330" y="3213201"/>
                  </a:lnTo>
                  <a:lnTo>
                    <a:pt x="5518694" y="3229502"/>
                  </a:lnTo>
                  <a:lnTo>
                    <a:pt x="5475730" y="3235250"/>
                  </a:lnTo>
                  <a:lnTo>
                    <a:pt x="161778" y="3235267"/>
                  </a:lnTo>
                  <a:lnTo>
                    <a:pt x="118750" y="3229526"/>
                  </a:lnTo>
                  <a:lnTo>
                    <a:pt x="80090" y="3213223"/>
                  </a:lnTo>
                  <a:lnTo>
                    <a:pt x="47345" y="3187910"/>
                  </a:lnTo>
                  <a:lnTo>
                    <a:pt x="22056" y="3155139"/>
                  </a:lnTo>
                  <a:lnTo>
                    <a:pt x="5766" y="3116464"/>
                  </a:lnTo>
                  <a:lnTo>
                    <a:pt x="0" y="3073447"/>
                  </a:lnTo>
                  <a:lnTo>
                    <a:pt x="1" y="161722"/>
                  </a:lnTo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411803" y="5902490"/>
              <a:ext cx="55244" cy="3226435"/>
            </a:xfrm>
            <a:custGeom>
              <a:avLst/>
              <a:gdLst/>
              <a:ahLst/>
              <a:cxnLst/>
              <a:rect l="l" t="t" r="r" b="b"/>
              <a:pathLst>
                <a:path w="55245" h="3226434">
                  <a:moveTo>
                    <a:pt x="54911" y="3225843"/>
                  </a:moveTo>
                  <a:lnTo>
                    <a:pt x="0" y="3225843"/>
                  </a:lnTo>
                  <a:lnTo>
                    <a:pt x="0" y="0"/>
                  </a:lnTo>
                  <a:lnTo>
                    <a:pt x="54911" y="0"/>
                  </a:lnTo>
                  <a:lnTo>
                    <a:pt x="54911" y="3225843"/>
                  </a:lnTo>
                  <a:close/>
                </a:path>
              </a:pathLst>
            </a:custGeom>
            <a:solidFill>
              <a:srgbClr val="00D4A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/>
          <p:cNvSpPr txBox="1"/>
          <p:nvPr/>
        </p:nvSpPr>
        <p:spPr>
          <a:xfrm>
            <a:off x="696445" y="6042895"/>
            <a:ext cx="4881245" cy="955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solidFill>
                  <a:srgbClr val="001D31"/>
                </a:solidFill>
                <a:latin typeface="Calibri"/>
                <a:cs typeface="Calibri"/>
              </a:rPr>
              <a:t>Support</a:t>
            </a:r>
            <a:r>
              <a:rPr dirty="0" sz="2100" spc="-40" b="1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2100" spc="-10" b="1">
                <a:solidFill>
                  <a:srgbClr val="001D31"/>
                </a:solidFill>
                <a:latin typeface="Calibri"/>
                <a:cs typeface="Calibri"/>
              </a:rPr>
              <a:t>Worker</a:t>
            </a:r>
            <a:endParaRPr sz="21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195"/>
              </a:spcBef>
            </a:pP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Resolves</a:t>
            </a:r>
            <a:r>
              <a:rPr dirty="0" sz="1500" spc="-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tickets,</a:t>
            </a:r>
            <a:r>
              <a:rPr dirty="0" sz="1500" spc="-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handles</a:t>
            </a:r>
            <a:r>
              <a:rPr dirty="0" sz="150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FAQs,</a:t>
            </a:r>
            <a:r>
              <a:rPr dirty="0" sz="1500" spc="-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escalates</a:t>
            </a:r>
            <a:r>
              <a:rPr dirty="0" sz="150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intelligently.</a:t>
            </a:r>
            <a:r>
              <a:rPr dirty="0" sz="1500" spc="-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Reduces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response</a:t>
            </a:r>
            <a:r>
              <a:rPr dirty="0" sz="1500" spc="-5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times</a:t>
            </a:r>
            <a:r>
              <a:rPr dirty="0" sz="150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and</a:t>
            </a:r>
            <a:r>
              <a:rPr dirty="0" sz="1500" spc="-5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improves</a:t>
            </a:r>
            <a:r>
              <a:rPr dirty="0" sz="150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CSAT</a:t>
            </a:r>
            <a:r>
              <a:rPr dirty="0" sz="1500" spc="-5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across</a:t>
            </a:r>
            <a:r>
              <a:rPr dirty="0" sz="150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all</a:t>
            </a:r>
            <a:r>
              <a:rPr dirty="0" sz="1500" spc="-5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channels.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603091" y="7878257"/>
            <a:ext cx="1400810" cy="331470"/>
            <a:chOff x="603091" y="7878257"/>
            <a:chExt cx="1400810" cy="331470"/>
          </a:xfrm>
        </p:grpSpPr>
        <p:sp>
          <p:nvSpPr>
            <p:cNvPr id="63" name="object 63"/>
            <p:cNvSpPr/>
            <p:nvPr/>
          </p:nvSpPr>
          <p:spPr>
            <a:xfrm>
              <a:off x="612933" y="7888099"/>
              <a:ext cx="1382395" cy="311785"/>
            </a:xfrm>
            <a:custGeom>
              <a:avLst/>
              <a:gdLst/>
              <a:ahLst/>
              <a:cxnLst/>
              <a:rect l="l" t="t" r="r" b="b"/>
              <a:pathLst>
                <a:path w="1382395" h="311784">
                  <a:moveTo>
                    <a:pt x="1288732" y="311467"/>
                  </a:moveTo>
                  <a:lnTo>
                    <a:pt x="93440" y="311467"/>
                  </a:lnTo>
                  <a:lnTo>
                    <a:pt x="57060" y="304167"/>
                  </a:lnTo>
                  <a:lnTo>
                    <a:pt x="27360" y="284142"/>
                  </a:lnTo>
                  <a:lnTo>
                    <a:pt x="7340" y="254420"/>
                  </a:lnTo>
                  <a:lnTo>
                    <a:pt x="0" y="218027"/>
                  </a:lnTo>
                  <a:lnTo>
                    <a:pt x="0" y="93440"/>
                  </a:lnTo>
                  <a:lnTo>
                    <a:pt x="7340" y="57060"/>
                  </a:lnTo>
                  <a:lnTo>
                    <a:pt x="27360" y="27360"/>
                  </a:lnTo>
                  <a:lnTo>
                    <a:pt x="57060" y="7340"/>
                  </a:lnTo>
                  <a:lnTo>
                    <a:pt x="93440" y="0"/>
                  </a:lnTo>
                  <a:lnTo>
                    <a:pt x="1288732" y="0"/>
                  </a:lnTo>
                  <a:lnTo>
                    <a:pt x="1325111" y="7340"/>
                  </a:lnTo>
                  <a:lnTo>
                    <a:pt x="1354812" y="27360"/>
                  </a:lnTo>
                  <a:lnTo>
                    <a:pt x="1374832" y="57060"/>
                  </a:lnTo>
                  <a:lnTo>
                    <a:pt x="1382172" y="93440"/>
                  </a:lnTo>
                  <a:lnTo>
                    <a:pt x="1382172" y="218027"/>
                  </a:lnTo>
                  <a:lnTo>
                    <a:pt x="1374823" y="254420"/>
                  </a:lnTo>
                  <a:lnTo>
                    <a:pt x="1354758" y="284142"/>
                  </a:lnTo>
                  <a:lnTo>
                    <a:pt x="1325052" y="304167"/>
                  </a:lnTo>
                  <a:lnTo>
                    <a:pt x="1324912" y="304167"/>
                  </a:lnTo>
                  <a:lnTo>
                    <a:pt x="1288732" y="311467"/>
                  </a:lnTo>
                  <a:close/>
                </a:path>
              </a:pathLst>
            </a:custGeom>
            <a:solidFill>
              <a:srgbClr val="0029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612933" y="7888099"/>
              <a:ext cx="1381125" cy="311785"/>
            </a:xfrm>
            <a:custGeom>
              <a:avLst/>
              <a:gdLst/>
              <a:ahLst/>
              <a:cxnLst/>
              <a:rect l="l" t="t" r="r" b="b"/>
              <a:pathLst>
                <a:path w="1381125" h="311784">
                  <a:moveTo>
                    <a:pt x="1381057" y="223202"/>
                  </a:moveTo>
                  <a:lnTo>
                    <a:pt x="1354771" y="284134"/>
                  </a:lnTo>
                  <a:lnTo>
                    <a:pt x="1288662" y="311467"/>
                  </a:lnTo>
                  <a:lnTo>
                    <a:pt x="93468" y="311473"/>
                  </a:lnTo>
                  <a:lnTo>
                    <a:pt x="57074" y="304176"/>
                  </a:lnTo>
                  <a:lnTo>
                    <a:pt x="27361" y="284144"/>
                  </a:lnTo>
                  <a:lnTo>
                    <a:pt x="7337" y="254406"/>
                  </a:lnTo>
                  <a:lnTo>
                    <a:pt x="0" y="218007"/>
                  </a:lnTo>
                  <a:lnTo>
                    <a:pt x="1" y="93423"/>
                  </a:lnTo>
                  <a:lnTo>
                    <a:pt x="27390" y="27340"/>
                  </a:lnTo>
                  <a:lnTo>
                    <a:pt x="93475" y="0"/>
                  </a:lnTo>
                  <a:lnTo>
                    <a:pt x="1288662" y="0"/>
                  </a:lnTo>
                  <a:lnTo>
                    <a:pt x="1325061" y="7306"/>
                  </a:lnTo>
                  <a:lnTo>
                    <a:pt x="1354787" y="27323"/>
                  </a:lnTo>
                  <a:lnTo>
                    <a:pt x="1374828" y="57040"/>
                  </a:lnTo>
                  <a:lnTo>
                    <a:pt x="1381051" y="88262"/>
                  </a:lnTo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/>
          <p:cNvSpPr txBox="1"/>
          <p:nvPr/>
        </p:nvSpPr>
        <p:spPr>
          <a:xfrm>
            <a:off x="1120159" y="7887687"/>
            <a:ext cx="36766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B8FA2"/>
                </a:solidFill>
                <a:latin typeface="Calibri"/>
                <a:cs typeface="Calibri"/>
              </a:rPr>
              <a:t>Voice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2113032" y="7878257"/>
            <a:ext cx="1400810" cy="331470"/>
            <a:chOff x="2113032" y="7878257"/>
            <a:chExt cx="1400810" cy="331470"/>
          </a:xfrm>
        </p:grpSpPr>
        <p:sp>
          <p:nvSpPr>
            <p:cNvPr id="67" name="object 67"/>
            <p:cNvSpPr/>
            <p:nvPr/>
          </p:nvSpPr>
          <p:spPr>
            <a:xfrm>
              <a:off x="2122874" y="7888099"/>
              <a:ext cx="1382395" cy="311785"/>
            </a:xfrm>
            <a:custGeom>
              <a:avLst/>
              <a:gdLst/>
              <a:ahLst/>
              <a:cxnLst/>
              <a:rect l="l" t="t" r="r" b="b"/>
              <a:pathLst>
                <a:path w="1382395" h="311784">
                  <a:moveTo>
                    <a:pt x="1288732" y="311467"/>
                  </a:moveTo>
                  <a:lnTo>
                    <a:pt x="93440" y="311467"/>
                  </a:lnTo>
                  <a:lnTo>
                    <a:pt x="57060" y="304167"/>
                  </a:lnTo>
                  <a:lnTo>
                    <a:pt x="27360" y="284142"/>
                  </a:lnTo>
                  <a:lnTo>
                    <a:pt x="7340" y="254420"/>
                  </a:lnTo>
                  <a:lnTo>
                    <a:pt x="0" y="218027"/>
                  </a:lnTo>
                  <a:lnTo>
                    <a:pt x="0" y="93440"/>
                  </a:lnTo>
                  <a:lnTo>
                    <a:pt x="7340" y="57060"/>
                  </a:lnTo>
                  <a:lnTo>
                    <a:pt x="27360" y="27360"/>
                  </a:lnTo>
                  <a:lnTo>
                    <a:pt x="57060" y="7340"/>
                  </a:lnTo>
                  <a:lnTo>
                    <a:pt x="93440" y="0"/>
                  </a:lnTo>
                  <a:lnTo>
                    <a:pt x="1288732" y="0"/>
                  </a:lnTo>
                  <a:lnTo>
                    <a:pt x="1325111" y="7340"/>
                  </a:lnTo>
                  <a:lnTo>
                    <a:pt x="1354812" y="27360"/>
                  </a:lnTo>
                  <a:lnTo>
                    <a:pt x="1374832" y="57060"/>
                  </a:lnTo>
                  <a:lnTo>
                    <a:pt x="1382172" y="93440"/>
                  </a:lnTo>
                  <a:lnTo>
                    <a:pt x="1382172" y="218027"/>
                  </a:lnTo>
                  <a:lnTo>
                    <a:pt x="1374823" y="254420"/>
                  </a:lnTo>
                  <a:lnTo>
                    <a:pt x="1354758" y="284142"/>
                  </a:lnTo>
                  <a:lnTo>
                    <a:pt x="1325052" y="304167"/>
                  </a:lnTo>
                  <a:lnTo>
                    <a:pt x="1324912" y="304167"/>
                  </a:lnTo>
                  <a:lnTo>
                    <a:pt x="1288732" y="311467"/>
                  </a:lnTo>
                  <a:close/>
                </a:path>
              </a:pathLst>
            </a:custGeom>
            <a:solidFill>
              <a:srgbClr val="0029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2122874" y="7888099"/>
              <a:ext cx="1381125" cy="311785"/>
            </a:xfrm>
            <a:custGeom>
              <a:avLst/>
              <a:gdLst/>
              <a:ahLst/>
              <a:cxnLst/>
              <a:rect l="l" t="t" r="r" b="b"/>
              <a:pathLst>
                <a:path w="1381125" h="311784">
                  <a:moveTo>
                    <a:pt x="1381057" y="223202"/>
                  </a:moveTo>
                  <a:lnTo>
                    <a:pt x="1354771" y="284134"/>
                  </a:lnTo>
                  <a:lnTo>
                    <a:pt x="1288662" y="311467"/>
                  </a:lnTo>
                  <a:lnTo>
                    <a:pt x="93468" y="311473"/>
                  </a:lnTo>
                  <a:lnTo>
                    <a:pt x="57074" y="304176"/>
                  </a:lnTo>
                  <a:lnTo>
                    <a:pt x="27361" y="284144"/>
                  </a:lnTo>
                  <a:lnTo>
                    <a:pt x="7337" y="254406"/>
                  </a:lnTo>
                  <a:lnTo>
                    <a:pt x="0" y="218007"/>
                  </a:lnTo>
                  <a:lnTo>
                    <a:pt x="1" y="93423"/>
                  </a:lnTo>
                  <a:lnTo>
                    <a:pt x="27389" y="27340"/>
                  </a:lnTo>
                  <a:lnTo>
                    <a:pt x="93475" y="0"/>
                  </a:lnTo>
                  <a:lnTo>
                    <a:pt x="1288662" y="0"/>
                  </a:lnTo>
                  <a:lnTo>
                    <a:pt x="1325061" y="7306"/>
                  </a:lnTo>
                  <a:lnTo>
                    <a:pt x="1354787" y="27323"/>
                  </a:lnTo>
                  <a:lnTo>
                    <a:pt x="1374828" y="57040"/>
                  </a:lnTo>
                  <a:lnTo>
                    <a:pt x="1381051" y="88262"/>
                  </a:lnTo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9" name="object 69"/>
          <p:cNvSpPr txBox="1"/>
          <p:nvPr/>
        </p:nvSpPr>
        <p:spPr>
          <a:xfrm>
            <a:off x="2658526" y="7887687"/>
            <a:ext cx="31115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B8FA2"/>
                </a:solidFill>
                <a:latin typeface="Calibri"/>
                <a:cs typeface="Calibri"/>
              </a:rPr>
              <a:t>Chat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3623283" y="7878567"/>
            <a:ext cx="1400175" cy="330835"/>
            <a:chOff x="3623283" y="7878567"/>
            <a:chExt cx="1400175" cy="330835"/>
          </a:xfrm>
        </p:grpSpPr>
        <p:sp>
          <p:nvSpPr>
            <p:cNvPr id="71" name="object 71"/>
            <p:cNvSpPr/>
            <p:nvPr/>
          </p:nvSpPr>
          <p:spPr>
            <a:xfrm>
              <a:off x="3632815" y="7888099"/>
              <a:ext cx="1382395" cy="311785"/>
            </a:xfrm>
            <a:custGeom>
              <a:avLst/>
              <a:gdLst/>
              <a:ahLst/>
              <a:cxnLst/>
              <a:rect l="l" t="t" r="r" b="b"/>
              <a:pathLst>
                <a:path w="1382395" h="311784">
                  <a:moveTo>
                    <a:pt x="1288732" y="311467"/>
                  </a:moveTo>
                  <a:lnTo>
                    <a:pt x="93440" y="311467"/>
                  </a:lnTo>
                  <a:lnTo>
                    <a:pt x="57060" y="304167"/>
                  </a:lnTo>
                  <a:lnTo>
                    <a:pt x="27360" y="284142"/>
                  </a:lnTo>
                  <a:lnTo>
                    <a:pt x="7340" y="254420"/>
                  </a:lnTo>
                  <a:lnTo>
                    <a:pt x="0" y="218027"/>
                  </a:lnTo>
                  <a:lnTo>
                    <a:pt x="0" y="93440"/>
                  </a:lnTo>
                  <a:lnTo>
                    <a:pt x="7340" y="57060"/>
                  </a:lnTo>
                  <a:lnTo>
                    <a:pt x="27360" y="27360"/>
                  </a:lnTo>
                  <a:lnTo>
                    <a:pt x="57060" y="7340"/>
                  </a:lnTo>
                  <a:lnTo>
                    <a:pt x="93440" y="0"/>
                  </a:lnTo>
                  <a:lnTo>
                    <a:pt x="1288732" y="0"/>
                  </a:lnTo>
                  <a:lnTo>
                    <a:pt x="1325111" y="7340"/>
                  </a:lnTo>
                  <a:lnTo>
                    <a:pt x="1354812" y="27360"/>
                  </a:lnTo>
                  <a:lnTo>
                    <a:pt x="1374832" y="57060"/>
                  </a:lnTo>
                  <a:lnTo>
                    <a:pt x="1382172" y="93440"/>
                  </a:lnTo>
                  <a:lnTo>
                    <a:pt x="1382172" y="218027"/>
                  </a:lnTo>
                  <a:lnTo>
                    <a:pt x="1374823" y="254420"/>
                  </a:lnTo>
                  <a:lnTo>
                    <a:pt x="1354758" y="284142"/>
                  </a:lnTo>
                  <a:lnTo>
                    <a:pt x="1325052" y="304167"/>
                  </a:lnTo>
                  <a:lnTo>
                    <a:pt x="1324912" y="304167"/>
                  </a:lnTo>
                  <a:lnTo>
                    <a:pt x="1288732" y="311467"/>
                  </a:lnTo>
                  <a:close/>
                </a:path>
              </a:pathLst>
            </a:custGeom>
            <a:solidFill>
              <a:srgbClr val="0029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3632815" y="7888099"/>
              <a:ext cx="1381125" cy="311785"/>
            </a:xfrm>
            <a:custGeom>
              <a:avLst/>
              <a:gdLst/>
              <a:ahLst/>
              <a:cxnLst/>
              <a:rect l="l" t="t" r="r" b="b"/>
              <a:pathLst>
                <a:path w="1381125" h="311784">
                  <a:moveTo>
                    <a:pt x="1381057" y="223202"/>
                  </a:moveTo>
                  <a:lnTo>
                    <a:pt x="1354771" y="284134"/>
                  </a:lnTo>
                  <a:lnTo>
                    <a:pt x="1288662" y="311467"/>
                  </a:lnTo>
                  <a:lnTo>
                    <a:pt x="93468" y="311473"/>
                  </a:lnTo>
                  <a:lnTo>
                    <a:pt x="57074" y="304176"/>
                  </a:lnTo>
                  <a:lnTo>
                    <a:pt x="27361" y="284144"/>
                  </a:lnTo>
                  <a:lnTo>
                    <a:pt x="7337" y="254406"/>
                  </a:lnTo>
                  <a:lnTo>
                    <a:pt x="0" y="218007"/>
                  </a:lnTo>
                  <a:lnTo>
                    <a:pt x="1" y="93423"/>
                  </a:lnTo>
                  <a:lnTo>
                    <a:pt x="27389" y="27340"/>
                  </a:lnTo>
                  <a:lnTo>
                    <a:pt x="93475" y="0"/>
                  </a:lnTo>
                  <a:lnTo>
                    <a:pt x="1288662" y="0"/>
                  </a:lnTo>
                  <a:lnTo>
                    <a:pt x="1325061" y="7306"/>
                  </a:lnTo>
                  <a:lnTo>
                    <a:pt x="1354787" y="27323"/>
                  </a:lnTo>
                  <a:lnTo>
                    <a:pt x="1374828" y="57040"/>
                  </a:lnTo>
                  <a:lnTo>
                    <a:pt x="1381051" y="88262"/>
                  </a:lnTo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3" name="object 73"/>
          <p:cNvSpPr txBox="1"/>
          <p:nvPr/>
        </p:nvSpPr>
        <p:spPr>
          <a:xfrm>
            <a:off x="4141520" y="7887687"/>
            <a:ext cx="36512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B8FA2"/>
                </a:solidFill>
                <a:latin typeface="Calibri"/>
                <a:cs typeface="Calibri"/>
              </a:rPr>
              <a:t>Email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6299689" y="5887885"/>
            <a:ext cx="5657215" cy="3255010"/>
            <a:chOff x="6299689" y="5887885"/>
            <a:chExt cx="5657215" cy="3255010"/>
          </a:xfrm>
        </p:grpSpPr>
        <p:sp>
          <p:nvSpPr>
            <p:cNvPr id="75" name="object 75"/>
            <p:cNvSpPr/>
            <p:nvPr/>
          </p:nvSpPr>
          <p:spPr>
            <a:xfrm>
              <a:off x="6309531" y="5897727"/>
              <a:ext cx="5633720" cy="3235325"/>
            </a:xfrm>
            <a:custGeom>
              <a:avLst/>
              <a:gdLst/>
              <a:ahLst/>
              <a:cxnLst/>
              <a:rect l="l" t="t" r="r" b="b"/>
              <a:pathLst>
                <a:path w="5633720" h="3235325">
                  <a:moveTo>
                    <a:pt x="5475732" y="3235309"/>
                  </a:moveTo>
                  <a:lnTo>
                    <a:pt x="161734" y="3235309"/>
                  </a:lnTo>
                  <a:lnTo>
                    <a:pt x="118731" y="3229519"/>
                  </a:lnTo>
                  <a:lnTo>
                    <a:pt x="80094" y="3213227"/>
                  </a:lnTo>
                  <a:lnTo>
                    <a:pt x="47363" y="3187934"/>
                  </a:lnTo>
                  <a:lnTo>
                    <a:pt x="22076" y="3155188"/>
                  </a:lnTo>
                  <a:lnTo>
                    <a:pt x="5775" y="3116536"/>
                  </a:lnTo>
                  <a:lnTo>
                    <a:pt x="0" y="3073527"/>
                  </a:lnTo>
                  <a:lnTo>
                    <a:pt x="0" y="161734"/>
                  </a:lnTo>
                  <a:lnTo>
                    <a:pt x="5775" y="118731"/>
                  </a:lnTo>
                  <a:lnTo>
                    <a:pt x="22076" y="80094"/>
                  </a:lnTo>
                  <a:lnTo>
                    <a:pt x="47363" y="47363"/>
                  </a:lnTo>
                  <a:lnTo>
                    <a:pt x="80094" y="22077"/>
                  </a:lnTo>
                  <a:lnTo>
                    <a:pt x="118731" y="5776"/>
                  </a:lnTo>
                  <a:lnTo>
                    <a:pt x="161734" y="0"/>
                  </a:lnTo>
                  <a:lnTo>
                    <a:pt x="5475732" y="0"/>
                  </a:lnTo>
                  <a:lnTo>
                    <a:pt x="5518734" y="5776"/>
                  </a:lnTo>
                  <a:lnTo>
                    <a:pt x="5557372" y="22077"/>
                  </a:lnTo>
                  <a:lnTo>
                    <a:pt x="5590103" y="47363"/>
                  </a:lnTo>
                  <a:lnTo>
                    <a:pt x="5615389" y="80094"/>
                  </a:lnTo>
                  <a:lnTo>
                    <a:pt x="5631690" y="118731"/>
                  </a:lnTo>
                  <a:lnTo>
                    <a:pt x="5633244" y="130297"/>
                  </a:lnTo>
                  <a:lnTo>
                    <a:pt x="5633244" y="3104954"/>
                  </a:lnTo>
                  <a:lnTo>
                    <a:pt x="5615373" y="3155188"/>
                  </a:lnTo>
                  <a:lnTo>
                    <a:pt x="5590057" y="3187934"/>
                  </a:lnTo>
                  <a:lnTo>
                    <a:pt x="5557271" y="3213227"/>
                  </a:lnTo>
                  <a:lnTo>
                    <a:pt x="5518656" y="3229519"/>
                  </a:lnTo>
                  <a:lnTo>
                    <a:pt x="5518489" y="3229519"/>
                  </a:lnTo>
                  <a:lnTo>
                    <a:pt x="5475732" y="3235309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6309531" y="5897727"/>
              <a:ext cx="5637530" cy="3235325"/>
            </a:xfrm>
            <a:custGeom>
              <a:avLst/>
              <a:gdLst/>
              <a:ahLst/>
              <a:cxnLst/>
              <a:rect l="l" t="t" r="r" b="b"/>
              <a:pathLst>
                <a:path w="5637530" h="3235325">
                  <a:moveTo>
                    <a:pt x="1" y="161722"/>
                  </a:moveTo>
                  <a:lnTo>
                    <a:pt x="5786" y="118707"/>
                  </a:lnTo>
                  <a:lnTo>
                    <a:pt x="22100" y="80064"/>
                  </a:lnTo>
                  <a:lnTo>
                    <a:pt x="47400" y="47334"/>
                  </a:lnTo>
                  <a:lnTo>
                    <a:pt x="80144" y="22055"/>
                  </a:lnTo>
                  <a:lnTo>
                    <a:pt x="118787" y="5768"/>
                  </a:lnTo>
                  <a:lnTo>
                    <a:pt x="161790" y="0"/>
                  </a:lnTo>
                  <a:lnTo>
                    <a:pt x="5475650" y="0"/>
                  </a:lnTo>
                  <a:lnTo>
                    <a:pt x="5518664" y="5746"/>
                  </a:lnTo>
                  <a:lnTo>
                    <a:pt x="5557319" y="22036"/>
                  </a:lnTo>
                  <a:lnTo>
                    <a:pt x="5590071" y="47321"/>
                  </a:lnTo>
                  <a:lnTo>
                    <a:pt x="5615375" y="80062"/>
                  </a:lnTo>
                  <a:lnTo>
                    <a:pt x="5631688" y="118717"/>
                  </a:lnTo>
                  <a:lnTo>
                    <a:pt x="5637466" y="161730"/>
                  </a:lnTo>
                  <a:lnTo>
                    <a:pt x="5637475" y="3073459"/>
                  </a:lnTo>
                  <a:lnTo>
                    <a:pt x="5631706" y="3116491"/>
                  </a:lnTo>
                  <a:lnTo>
                    <a:pt x="5615397" y="3155156"/>
                  </a:lnTo>
                  <a:lnTo>
                    <a:pt x="5590090" y="3187908"/>
                  </a:lnTo>
                  <a:lnTo>
                    <a:pt x="5557330" y="3213202"/>
                  </a:lnTo>
                  <a:lnTo>
                    <a:pt x="5518652" y="3229518"/>
                  </a:lnTo>
                  <a:lnTo>
                    <a:pt x="5475730" y="3235250"/>
                  </a:lnTo>
                  <a:lnTo>
                    <a:pt x="161778" y="3235267"/>
                  </a:lnTo>
                  <a:lnTo>
                    <a:pt x="118750" y="3229526"/>
                  </a:lnTo>
                  <a:lnTo>
                    <a:pt x="80090" y="3213223"/>
                  </a:lnTo>
                  <a:lnTo>
                    <a:pt x="47344" y="3187910"/>
                  </a:lnTo>
                  <a:lnTo>
                    <a:pt x="22056" y="3155139"/>
                  </a:lnTo>
                  <a:lnTo>
                    <a:pt x="5766" y="3116464"/>
                  </a:lnTo>
                  <a:lnTo>
                    <a:pt x="0" y="3073447"/>
                  </a:lnTo>
                  <a:lnTo>
                    <a:pt x="1" y="161722"/>
                  </a:lnTo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6314293" y="5902490"/>
              <a:ext cx="55244" cy="3226435"/>
            </a:xfrm>
            <a:custGeom>
              <a:avLst/>
              <a:gdLst/>
              <a:ahLst/>
              <a:cxnLst/>
              <a:rect l="l" t="t" r="r" b="b"/>
              <a:pathLst>
                <a:path w="55245" h="3226434">
                  <a:moveTo>
                    <a:pt x="54911" y="3225843"/>
                  </a:moveTo>
                  <a:lnTo>
                    <a:pt x="0" y="3225843"/>
                  </a:lnTo>
                  <a:lnTo>
                    <a:pt x="0" y="0"/>
                  </a:lnTo>
                  <a:lnTo>
                    <a:pt x="54911" y="0"/>
                  </a:lnTo>
                  <a:lnTo>
                    <a:pt x="54911" y="3225843"/>
                  </a:lnTo>
                  <a:close/>
                </a:path>
              </a:pathLst>
            </a:custGeom>
            <a:solidFill>
              <a:srgbClr val="00D4A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8" name="object 78"/>
          <p:cNvSpPr txBox="1"/>
          <p:nvPr/>
        </p:nvSpPr>
        <p:spPr>
          <a:xfrm>
            <a:off x="6598935" y="6042895"/>
            <a:ext cx="5045075" cy="1183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solidFill>
                  <a:srgbClr val="001D31"/>
                </a:solidFill>
                <a:latin typeface="Calibri"/>
                <a:cs typeface="Calibri"/>
              </a:rPr>
              <a:t>Collections</a:t>
            </a:r>
            <a:r>
              <a:rPr dirty="0" sz="2100" spc="-75" b="1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2100" spc="-10" b="1">
                <a:solidFill>
                  <a:srgbClr val="001D31"/>
                </a:solidFill>
                <a:latin typeface="Calibri"/>
                <a:cs typeface="Calibri"/>
              </a:rPr>
              <a:t>Worker</a:t>
            </a:r>
            <a:endParaRPr sz="21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195"/>
              </a:spcBef>
            </a:pP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Payment</a:t>
            </a:r>
            <a:r>
              <a:rPr dirty="0" sz="150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reminders,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invoice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8B8FA2"/>
                </a:solidFill>
                <a:latin typeface="Calibri"/>
                <a:cs typeface="Calibri"/>
              </a:rPr>
              <a:t>follow-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up,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renewal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nudges.</a:t>
            </a:r>
            <a:r>
              <a:rPr dirty="0" sz="1500" spc="50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Recovers</a:t>
            </a:r>
            <a:r>
              <a:rPr dirty="0" sz="1500" spc="-5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revenue</a:t>
            </a:r>
            <a:r>
              <a:rPr dirty="0" sz="150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that</a:t>
            </a:r>
            <a:r>
              <a:rPr dirty="0" sz="1500" spc="-5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otherwise</a:t>
            </a:r>
            <a:r>
              <a:rPr dirty="0" sz="150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disappears</a:t>
            </a:r>
            <a:r>
              <a:rPr dirty="0" sz="1500" spc="-5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from</a:t>
            </a:r>
            <a:r>
              <a:rPr dirty="0" sz="150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administrative neglect.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6505581" y="7878257"/>
            <a:ext cx="1400810" cy="331470"/>
            <a:chOff x="6505581" y="7878257"/>
            <a:chExt cx="1400810" cy="331470"/>
          </a:xfrm>
        </p:grpSpPr>
        <p:sp>
          <p:nvSpPr>
            <p:cNvPr id="80" name="object 80"/>
            <p:cNvSpPr/>
            <p:nvPr/>
          </p:nvSpPr>
          <p:spPr>
            <a:xfrm>
              <a:off x="6515423" y="7888099"/>
              <a:ext cx="1382395" cy="311785"/>
            </a:xfrm>
            <a:custGeom>
              <a:avLst/>
              <a:gdLst/>
              <a:ahLst/>
              <a:cxnLst/>
              <a:rect l="l" t="t" r="r" b="b"/>
              <a:pathLst>
                <a:path w="1382395" h="311784">
                  <a:moveTo>
                    <a:pt x="1288732" y="311467"/>
                  </a:moveTo>
                  <a:lnTo>
                    <a:pt x="93440" y="311467"/>
                  </a:lnTo>
                  <a:lnTo>
                    <a:pt x="57060" y="304167"/>
                  </a:lnTo>
                  <a:lnTo>
                    <a:pt x="27360" y="284142"/>
                  </a:lnTo>
                  <a:lnTo>
                    <a:pt x="7340" y="254420"/>
                  </a:lnTo>
                  <a:lnTo>
                    <a:pt x="0" y="218027"/>
                  </a:lnTo>
                  <a:lnTo>
                    <a:pt x="0" y="93440"/>
                  </a:lnTo>
                  <a:lnTo>
                    <a:pt x="7340" y="57060"/>
                  </a:lnTo>
                  <a:lnTo>
                    <a:pt x="27360" y="27360"/>
                  </a:lnTo>
                  <a:lnTo>
                    <a:pt x="57060" y="7340"/>
                  </a:lnTo>
                  <a:lnTo>
                    <a:pt x="93440" y="0"/>
                  </a:lnTo>
                  <a:lnTo>
                    <a:pt x="1288732" y="0"/>
                  </a:lnTo>
                  <a:lnTo>
                    <a:pt x="1325111" y="7340"/>
                  </a:lnTo>
                  <a:lnTo>
                    <a:pt x="1354812" y="27360"/>
                  </a:lnTo>
                  <a:lnTo>
                    <a:pt x="1374832" y="57060"/>
                  </a:lnTo>
                  <a:lnTo>
                    <a:pt x="1382172" y="93440"/>
                  </a:lnTo>
                  <a:lnTo>
                    <a:pt x="1382172" y="218027"/>
                  </a:lnTo>
                  <a:lnTo>
                    <a:pt x="1374823" y="254420"/>
                  </a:lnTo>
                  <a:lnTo>
                    <a:pt x="1354759" y="284142"/>
                  </a:lnTo>
                  <a:lnTo>
                    <a:pt x="1325052" y="304167"/>
                  </a:lnTo>
                  <a:lnTo>
                    <a:pt x="1324912" y="304167"/>
                  </a:lnTo>
                  <a:lnTo>
                    <a:pt x="1288732" y="311467"/>
                  </a:lnTo>
                  <a:close/>
                </a:path>
              </a:pathLst>
            </a:custGeom>
            <a:solidFill>
              <a:srgbClr val="0029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6515423" y="7888099"/>
              <a:ext cx="1381125" cy="311785"/>
            </a:xfrm>
            <a:custGeom>
              <a:avLst/>
              <a:gdLst/>
              <a:ahLst/>
              <a:cxnLst/>
              <a:rect l="l" t="t" r="r" b="b"/>
              <a:pathLst>
                <a:path w="1381125" h="311784">
                  <a:moveTo>
                    <a:pt x="1381057" y="223202"/>
                  </a:moveTo>
                  <a:lnTo>
                    <a:pt x="1354771" y="284134"/>
                  </a:lnTo>
                  <a:lnTo>
                    <a:pt x="1288662" y="311467"/>
                  </a:lnTo>
                  <a:lnTo>
                    <a:pt x="93468" y="311473"/>
                  </a:lnTo>
                  <a:lnTo>
                    <a:pt x="57074" y="304176"/>
                  </a:lnTo>
                  <a:lnTo>
                    <a:pt x="27361" y="284144"/>
                  </a:lnTo>
                  <a:lnTo>
                    <a:pt x="7337" y="254406"/>
                  </a:lnTo>
                  <a:lnTo>
                    <a:pt x="0" y="218007"/>
                  </a:lnTo>
                  <a:lnTo>
                    <a:pt x="1" y="93423"/>
                  </a:lnTo>
                  <a:lnTo>
                    <a:pt x="27389" y="27340"/>
                  </a:lnTo>
                  <a:lnTo>
                    <a:pt x="93475" y="0"/>
                  </a:lnTo>
                  <a:lnTo>
                    <a:pt x="1288662" y="0"/>
                  </a:lnTo>
                  <a:lnTo>
                    <a:pt x="1325061" y="7306"/>
                  </a:lnTo>
                  <a:lnTo>
                    <a:pt x="1354787" y="27323"/>
                  </a:lnTo>
                  <a:lnTo>
                    <a:pt x="1374828" y="57040"/>
                  </a:lnTo>
                  <a:lnTo>
                    <a:pt x="1381051" y="88261"/>
                  </a:lnTo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2" name="object 82"/>
          <p:cNvSpPr txBox="1"/>
          <p:nvPr/>
        </p:nvSpPr>
        <p:spPr>
          <a:xfrm>
            <a:off x="7022649" y="7887687"/>
            <a:ext cx="36766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B8FA2"/>
                </a:solidFill>
                <a:latin typeface="Calibri"/>
                <a:cs typeface="Calibri"/>
              </a:rPr>
              <a:t>Voice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8015522" y="7878257"/>
            <a:ext cx="1400810" cy="331470"/>
            <a:chOff x="8015522" y="7878257"/>
            <a:chExt cx="1400810" cy="331470"/>
          </a:xfrm>
        </p:grpSpPr>
        <p:sp>
          <p:nvSpPr>
            <p:cNvPr id="84" name="object 84"/>
            <p:cNvSpPr/>
            <p:nvPr/>
          </p:nvSpPr>
          <p:spPr>
            <a:xfrm>
              <a:off x="8025363" y="7888099"/>
              <a:ext cx="1382395" cy="311785"/>
            </a:xfrm>
            <a:custGeom>
              <a:avLst/>
              <a:gdLst/>
              <a:ahLst/>
              <a:cxnLst/>
              <a:rect l="l" t="t" r="r" b="b"/>
              <a:pathLst>
                <a:path w="1382395" h="311784">
                  <a:moveTo>
                    <a:pt x="1288732" y="311467"/>
                  </a:moveTo>
                  <a:lnTo>
                    <a:pt x="93440" y="311467"/>
                  </a:lnTo>
                  <a:lnTo>
                    <a:pt x="57060" y="304167"/>
                  </a:lnTo>
                  <a:lnTo>
                    <a:pt x="27360" y="284142"/>
                  </a:lnTo>
                  <a:lnTo>
                    <a:pt x="7340" y="254420"/>
                  </a:lnTo>
                  <a:lnTo>
                    <a:pt x="0" y="218027"/>
                  </a:lnTo>
                  <a:lnTo>
                    <a:pt x="0" y="93440"/>
                  </a:lnTo>
                  <a:lnTo>
                    <a:pt x="7340" y="57060"/>
                  </a:lnTo>
                  <a:lnTo>
                    <a:pt x="27360" y="27360"/>
                  </a:lnTo>
                  <a:lnTo>
                    <a:pt x="57060" y="7340"/>
                  </a:lnTo>
                  <a:lnTo>
                    <a:pt x="93440" y="0"/>
                  </a:lnTo>
                  <a:lnTo>
                    <a:pt x="1288732" y="0"/>
                  </a:lnTo>
                  <a:lnTo>
                    <a:pt x="1325111" y="7340"/>
                  </a:lnTo>
                  <a:lnTo>
                    <a:pt x="1354811" y="27360"/>
                  </a:lnTo>
                  <a:lnTo>
                    <a:pt x="1374832" y="57060"/>
                  </a:lnTo>
                  <a:lnTo>
                    <a:pt x="1382172" y="93440"/>
                  </a:lnTo>
                  <a:lnTo>
                    <a:pt x="1382172" y="218027"/>
                  </a:lnTo>
                  <a:lnTo>
                    <a:pt x="1374823" y="254420"/>
                  </a:lnTo>
                  <a:lnTo>
                    <a:pt x="1354758" y="284142"/>
                  </a:lnTo>
                  <a:lnTo>
                    <a:pt x="1325052" y="304167"/>
                  </a:lnTo>
                  <a:lnTo>
                    <a:pt x="1324912" y="304167"/>
                  </a:lnTo>
                  <a:lnTo>
                    <a:pt x="1288732" y="311467"/>
                  </a:lnTo>
                  <a:close/>
                </a:path>
              </a:pathLst>
            </a:custGeom>
            <a:solidFill>
              <a:srgbClr val="0029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8025364" y="7888099"/>
              <a:ext cx="1381125" cy="311785"/>
            </a:xfrm>
            <a:custGeom>
              <a:avLst/>
              <a:gdLst/>
              <a:ahLst/>
              <a:cxnLst/>
              <a:rect l="l" t="t" r="r" b="b"/>
              <a:pathLst>
                <a:path w="1381125" h="311784">
                  <a:moveTo>
                    <a:pt x="1381057" y="223201"/>
                  </a:moveTo>
                  <a:lnTo>
                    <a:pt x="1354771" y="284134"/>
                  </a:lnTo>
                  <a:lnTo>
                    <a:pt x="1288662" y="311467"/>
                  </a:lnTo>
                  <a:lnTo>
                    <a:pt x="93468" y="311473"/>
                  </a:lnTo>
                  <a:lnTo>
                    <a:pt x="57074" y="304176"/>
                  </a:lnTo>
                  <a:lnTo>
                    <a:pt x="27361" y="284144"/>
                  </a:lnTo>
                  <a:lnTo>
                    <a:pt x="7337" y="254406"/>
                  </a:lnTo>
                  <a:lnTo>
                    <a:pt x="0" y="218007"/>
                  </a:lnTo>
                  <a:lnTo>
                    <a:pt x="1" y="93423"/>
                  </a:lnTo>
                  <a:lnTo>
                    <a:pt x="27389" y="27340"/>
                  </a:lnTo>
                  <a:lnTo>
                    <a:pt x="93475" y="0"/>
                  </a:lnTo>
                  <a:lnTo>
                    <a:pt x="1288662" y="0"/>
                  </a:lnTo>
                  <a:lnTo>
                    <a:pt x="1325061" y="7306"/>
                  </a:lnTo>
                  <a:lnTo>
                    <a:pt x="1354787" y="27323"/>
                  </a:lnTo>
                  <a:lnTo>
                    <a:pt x="1374828" y="57040"/>
                  </a:lnTo>
                  <a:lnTo>
                    <a:pt x="1381051" y="88263"/>
                  </a:lnTo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6" name="object 86"/>
          <p:cNvSpPr txBox="1"/>
          <p:nvPr/>
        </p:nvSpPr>
        <p:spPr>
          <a:xfrm>
            <a:off x="8568457" y="7887687"/>
            <a:ext cx="29591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B8FA2"/>
                </a:solidFill>
                <a:latin typeface="Calibri"/>
                <a:cs typeface="Calibri"/>
              </a:rPr>
              <a:t>SMS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9525772" y="7878567"/>
            <a:ext cx="1400175" cy="330835"/>
            <a:chOff x="9525772" y="7878567"/>
            <a:chExt cx="1400175" cy="330835"/>
          </a:xfrm>
        </p:grpSpPr>
        <p:sp>
          <p:nvSpPr>
            <p:cNvPr id="88" name="object 88"/>
            <p:cNvSpPr/>
            <p:nvPr/>
          </p:nvSpPr>
          <p:spPr>
            <a:xfrm>
              <a:off x="9535304" y="7888099"/>
              <a:ext cx="1382395" cy="311785"/>
            </a:xfrm>
            <a:custGeom>
              <a:avLst/>
              <a:gdLst/>
              <a:ahLst/>
              <a:cxnLst/>
              <a:rect l="l" t="t" r="r" b="b"/>
              <a:pathLst>
                <a:path w="1382395" h="311784">
                  <a:moveTo>
                    <a:pt x="1288732" y="311467"/>
                  </a:moveTo>
                  <a:lnTo>
                    <a:pt x="93440" y="311467"/>
                  </a:lnTo>
                  <a:lnTo>
                    <a:pt x="57060" y="304167"/>
                  </a:lnTo>
                  <a:lnTo>
                    <a:pt x="27360" y="284142"/>
                  </a:lnTo>
                  <a:lnTo>
                    <a:pt x="7340" y="254420"/>
                  </a:lnTo>
                  <a:lnTo>
                    <a:pt x="0" y="218027"/>
                  </a:lnTo>
                  <a:lnTo>
                    <a:pt x="0" y="93440"/>
                  </a:lnTo>
                  <a:lnTo>
                    <a:pt x="7340" y="57060"/>
                  </a:lnTo>
                  <a:lnTo>
                    <a:pt x="27360" y="27360"/>
                  </a:lnTo>
                  <a:lnTo>
                    <a:pt x="57060" y="7340"/>
                  </a:lnTo>
                  <a:lnTo>
                    <a:pt x="93440" y="0"/>
                  </a:lnTo>
                  <a:lnTo>
                    <a:pt x="1288732" y="0"/>
                  </a:lnTo>
                  <a:lnTo>
                    <a:pt x="1325111" y="7340"/>
                  </a:lnTo>
                  <a:lnTo>
                    <a:pt x="1354812" y="27360"/>
                  </a:lnTo>
                  <a:lnTo>
                    <a:pt x="1374832" y="57060"/>
                  </a:lnTo>
                  <a:lnTo>
                    <a:pt x="1382172" y="93440"/>
                  </a:lnTo>
                  <a:lnTo>
                    <a:pt x="1382172" y="218027"/>
                  </a:lnTo>
                  <a:lnTo>
                    <a:pt x="1374823" y="254420"/>
                  </a:lnTo>
                  <a:lnTo>
                    <a:pt x="1354759" y="284142"/>
                  </a:lnTo>
                  <a:lnTo>
                    <a:pt x="1325052" y="304167"/>
                  </a:lnTo>
                  <a:lnTo>
                    <a:pt x="1324912" y="304167"/>
                  </a:lnTo>
                  <a:lnTo>
                    <a:pt x="1288732" y="311467"/>
                  </a:lnTo>
                  <a:close/>
                </a:path>
              </a:pathLst>
            </a:custGeom>
            <a:solidFill>
              <a:srgbClr val="0029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9535305" y="7888099"/>
              <a:ext cx="1381125" cy="311785"/>
            </a:xfrm>
            <a:custGeom>
              <a:avLst/>
              <a:gdLst/>
              <a:ahLst/>
              <a:cxnLst/>
              <a:rect l="l" t="t" r="r" b="b"/>
              <a:pathLst>
                <a:path w="1381125" h="311784">
                  <a:moveTo>
                    <a:pt x="1381057" y="223202"/>
                  </a:moveTo>
                  <a:lnTo>
                    <a:pt x="1354771" y="284134"/>
                  </a:lnTo>
                  <a:lnTo>
                    <a:pt x="1288662" y="311467"/>
                  </a:lnTo>
                  <a:lnTo>
                    <a:pt x="93468" y="311473"/>
                  </a:lnTo>
                  <a:lnTo>
                    <a:pt x="57074" y="304176"/>
                  </a:lnTo>
                  <a:lnTo>
                    <a:pt x="27361" y="284144"/>
                  </a:lnTo>
                  <a:lnTo>
                    <a:pt x="7337" y="254406"/>
                  </a:lnTo>
                  <a:lnTo>
                    <a:pt x="0" y="218007"/>
                  </a:lnTo>
                  <a:lnTo>
                    <a:pt x="1" y="93423"/>
                  </a:lnTo>
                  <a:lnTo>
                    <a:pt x="27389" y="27340"/>
                  </a:lnTo>
                  <a:lnTo>
                    <a:pt x="93475" y="0"/>
                  </a:lnTo>
                  <a:lnTo>
                    <a:pt x="1288662" y="0"/>
                  </a:lnTo>
                  <a:lnTo>
                    <a:pt x="1325061" y="7306"/>
                  </a:lnTo>
                  <a:lnTo>
                    <a:pt x="1354787" y="27323"/>
                  </a:lnTo>
                  <a:lnTo>
                    <a:pt x="1374828" y="57040"/>
                  </a:lnTo>
                  <a:lnTo>
                    <a:pt x="1381051" y="88261"/>
                  </a:lnTo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0" name="object 90"/>
          <p:cNvSpPr txBox="1"/>
          <p:nvPr/>
        </p:nvSpPr>
        <p:spPr>
          <a:xfrm>
            <a:off x="9889824" y="7887687"/>
            <a:ext cx="67310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B8FA2"/>
                </a:solidFill>
                <a:latin typeface="Calibri"/>
                <a:cs typeface="Calibri"/>
              </a:rPr>
              <a:t>WhatsApp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91" name="object 91"/>
          <p:cNvGrpSpPr/>
          <p:nvPr/>
        </p:nvGrpSpPr>
        <p:grpSpPr>
          <a:xfrm>
            <a:off x="12202178" y="5887885"/>
            <a:ext cx="5657215" cy="3255010"/>
            <a:chOff x="12202178" y="5887885"/>
            <a:chExt cx="5657215" cy="3255010"/>
          </a:xfrm>
        </p:grpSpPr>
        <p:sp>
          <p:nvSpPr>
            <p:cNvPr id="92" name="object 92"/>
            <p:cNvSpPr/>
            <p:nvPr/>
          </p:nvSpPr>
          <p:spPr>
            <a:xfrm>
              <a:off x="12212020" y="5897727"/>
              <a:ext cx="5633720" cy="3235325"/>
            </a:xfrm>
            <a:custGeom>
              <a:avLst/>
              <a:gdLst/>
              <a:ahLst/>
              <a:cxnLst/>
              <a:rect l="l" t="t" r="r" b="b"/>
              <a:pathLst>
                <a:path w="5633719" h="3235325">
                  <a:moveTo>
                    <a:pt x="5475731" y="3235309"/>
                  </a:moveTo>
                  <a:lnTo>
                    <a:pt x="161734" y="3235309"/>
                  </a:lnTo>
                  <a:lnTo>
                    <a:pt x="118731" y="3229519"/>
                  </a:lnTo>
                  <a:lnTo>
                    <a:pt x="80094" y="3213227"/>
                  </a:lnTo>
                  <a:lnTo>
                    <a:pt x="47363" y="3187934"/>
                  </a:lnTo>
                  <a:lnTo>
                    <a:pt x="22076" y="3155188"/>
                  </a:lnTo>
                  <a:lnTo>
                    <a:pt x="5775" y="3116536"/>
                  </a:lnTo>
                  <a:lnTo>
                    <a:pt x="0" y="3073527"/>
                  </a:lnTo>
                  <a:lnTo>
                    <a:pt x="0" y="161734"/>
                  </a:lnTo>
                  <a:lnTo>
                    <a:pt x="5775" y="118731"/>
                  </a:lnTo>
                  <a:lnTo>
                    <a:pt x="22076" y="80094"/>
                  </a:lnTo>
                  <a:lnTo>
                    <a:pt x="47363" y="47363"/>
                  </a:lnTo>
                  <a:lnTo>
                    <a:pt x="80094" y="22077"/>
                  </a:lnTo>
                  <a:lnTo>
                    <a:pt x="118731" y="5776"/>
                  </a:lnTo>
                  <a:lnTo>
                    <a:pt x="161734" y="0"/>
                  </a:lnTo>
                  <a:lnTo>
                    <a:pt x="5475731" y="0"/>
                  </a:lnTo>
                  <a:lnTo>
                    <a:pt x="5518734" y="5776"/>
                  </a:lnTo>
                  <a:lnTo>
                    <a:pt x="5557371" y="22077"/>
                  </a:lnTo>
                  <a:lnTo>
                    <a:pt x="5590103" y="47363"/>
                  </a:lnTo>
                  <a:lnTo>
                    <a:pt x="5615389" y="80094"/>
                  </a:lnTo>
                  <a:lnTo>
                    <a:pt x="5631690" y="118731"/>
                  </a:lnTo>
                  <a:lnTo>
                    <a:pt x="5633244" y="130297"/>
                  </a:lnTo>
                  <a:lnTo>
                    <a:pt x="5633244" y="3104953"/>
                  </a:lnTo>
                  <a:lnTo>
                    <a:pt x="5615373" y="3155188"/>
                  </a:lnTo>
                  <a:lnTo>
                    <a:pt x="5590057" y="3187934"/>
                  </a:lnTo>
                  <a:lnTo>
                    <a:pt x="5557271" y="3213227"/>
                  </a:lnTo>
                  <a:lnTo>
                    <a:pt x="5518656" y="3229519"/>
                  </a:lnTo>
                  <a:lnTo>
                    <a:pt x="5518488" y="3229519"/>
                  </a:lnTo>
                  <a:lnTo>
                    <a:pt x="5475731" y="3235309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12212020" y="5897727"/>
              <a:ext cx="5637530" cy="3235325"/>
            </a:xfrm>
            <a:custGeom>
              <a:avLst/>
              <a:gdLst/>
              <a:ahLst/>
              <a:cxnLst/>
              <a:rect l="l" t="t" r="r" b="b"/>
              <a:pathLst>
                <a:path w="5637530" h="3235325">
                  <a:moveTo>
                    <a:pt x="1" y="161722"/>
                  </a:moveTo>
                  <a:lnTo>
                    <a:pt x="5786" y="118707"/>
                  </a:lnTo>
                  <a:lnTo>
                    <a:pt x="22100" y="80064"/>
                  </a:lnTo>
                  <a:lnTo>
                    <a:pt x="47400" y="47334"/>
                  </a:lnTo>
                  <a:lnTo>
                    <a:pt x="80144" y="22056"/>
                  </a:lnTo>
                  <a:lnTo>
                    <a:pt x="118787" y="5768"/>
                  </a:lnTo>
                  <a:lnTo>
                    <a:pt x="161790" y="0"/>
                  </a:lnTo>
                  <a:lnTo>
                    <a:pt x="5475650" y="0"/>
                  </a:lnTo>
                  <a:lnTo>
                    <a:pt x="5518664" y="5746"/>
                  </a:lnTo>
                  <a:lnTo>
                    <a:pt x="5557318" y="22036"/>
                  </a:lnTo>
                  <a:lnTo>
                    <a:pt x="5590070" y="47321"/>
                  </a:lnTo>
                  <a:lnTo>
                    <a:pt x="5615375" y="80062"/>
                  </a:lnTo>
                  <a:lnTo>
                    <a:pt x="5631688" y="118717"/>
                  </a:lnTo>
                  <a:lnTo>
                    <a:pt x="5637466" y="161730"/>
                  </a:lnTo>
                  <a:lnTo>
                    <a:pt x="5637475" y="3073459"/>
                  </a:lnTo>
                  <a:lnTo>
                    <a:pt x="5631706" y="3116491"/>
                  </a:lnTo>
                  <a:lnTo>
                    <a:pt x="5615397" y="3155156"/>
                  </a:lnTo>
                  <a:lnTo>
                    <a:pt x="5590090" y="3187908"/>
                  </a:lnTo>
                  <a:lnTo>
                    <a:pt x="5557330" y="3213202"/>
                  </a:lnTo>
                  <a:lnTo>
                    <a:pt x="5518651" y="3229518"/>
                  </a:lnTo>
                  <a:lnTo>
                    <a:pt x="5475730" y="3235250"/>
                  </a:lnTo>
                  <a:lnTo>
                    <a:pt x="161778" y="3235267"/>
                  </a:lnTo>
                  <a:lnTo>
                    <a:pt x="118750" y="3229526"/>
                  </a:lnTo>
                  <a:lnTo>
                    <a:pt x="80090" y="3213223"/>
                  </a:lnTo>
                  <a:lnTo>
                    <a:pt x="47344" y="3187910"/>
                  </a:lnTo>
                  <a:lnTo>
                    <a:pt x="22056" y="3155139"/>
                  </a:lnTo>
                  <a:lnTo>
                    <a:pt x="5766" y="3116464"/>
                  </a:lnTo>
                  <a:lnTo>
                    <a:pt x="0" y="3073447"/>
                  </a:lnTo>
                  <a:lnTo>
                    <a:pt x="1" y="161722"/>
                  </a:lnTo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12216783" y="5916777"/>
              <a:ext cx="55244" cy="3226435"/>
            </a:xfrm>
            <a:custGeom>
              <a:avLst/>
              <a:gdLst/>
              <a:ahLst/>
              <a:cxnLst/>
              <a:rect l="l" t="t" r="r" b="b"/>
              <a:pathLst>
                <a:path w="55245" h="3226434">
                  <a:moveTo>
                    <a:pt x="54911" y="3225843"/>
                  </a:moveTo>
                  <a:lnTo>
                    <a:pt x="0" y="3225843"/>
                  </a:lnTo>
                  <a:lnTo>
                    <a:pt x="0" y="0"/>
                  </a:lnTo>
                  <a:lnTo>
                    <a:pt x="54911" y="0"/>
                  </a:lnTo>
                  <a:lnTo>
                    <a:pt x="54911" y="3225843"/>
                  </a:lnTo>
                  <a:close/>
                </a:path>
              </a:pathLst>
            </a:custGeom>
            <a:solidFill>
              <a:srgbClr val="F5C44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5" name="object 95"/>
          <p:cNvSpPr txBox="1"/>
          <p:nvPr/>
        </p:nvSpPr>
        <p:spPr>
          <a:xfrm>
            <a:off x="12501424" y="6042895"/>
            <a:ext cx="4996815" cy="955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solidFill>
                  <a:srgbClr val="001D31"/>
                </a:solidFill>
                <a:latin typeface="Calibri"/>
                <a:cs typeface="Calibri"/>
              </a:rPr>
              <a:t>Account</a:t>
            </a:r>
            <a:r>
              <a:rPr dirty="0" sz="2100" spc="-45" b="1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2100" spc="-10" b="1">
                <a:solidFill>
                  <a:srgbClr val="001D31"/>
                </a:solidFill>
                <a:latin typeface="Calibri"/>
                <a:cs typeface="Calibri"/>
              </a:rPr>
              <a:t>Manager</a:t>
            </a:r>
            <a:endParaRPr sz="21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195"/>
              </a:spcBef>
            </a:pP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Manages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key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relationships,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identifies</a:t>
            </a:r>
            <a:r>
              <a:rPr dirty="0" sz="1500" spc="-2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expansion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opportunities,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surfaces</a:t>
            </a:r>
            <a:r>
              <a:rPr dirty="0" sz="1500" spc="-5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executive</a:t>
            </a:r>
            <a:r>
              <a:rPr dirty="0" sz="1500" spc="-5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dashboards</a:t>
            </a:r>
            <a:r>
              <a:rPr dirty="0" sz="1500" spc="-5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with</a:t>
            </a:r>
            <a:r>
              <a:rPr dirty="0" sz="1500" spc="-5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strategic</a:t>
            </a:r>
            <a:r>
              <a:rPr dirty="0" sz="1500" spc="-5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recommendations.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96" name="object 96"/>
          <p:cNvGrpSpPr/>
          <p:nvPr/>
        </p:nvGrpSpPr>
        <p:grpSpPr>
          <a:xfrm>
            <a:off x="12408080" y="7878257"/>
            <a:ext cx="1400810" cy="331470"/>
            <a:chOff x="12408080" y="7878257"/>
            <a:chExt cx="1400810" cy="331470"/>
          </a:xfrm>
        </p:grpSpPr>
        <p:sp>
          <p:nvSpPr>
            <p:cNvPr id="97" name="object 97"/>
            <p:cNvSpPr/>
            <p:nvPr/>
          </p:nvSpPr>
          <p:spPr>
            <a:xfrm>
              <a:off x="12417922" y="7888099"/>
              <a:ext cx="1382395" cy="311785"/>
            </a:xfrm>
            <a:custGeom>
              <a:avLst/>
              <a:gdLst/>
              <a:ahLst/>
              <a:cxnLst/>
              <a:rect l="l" t="t" r="r" b="b"/>
              <a:pathLst>
                <a:path w="1382394" h="311784">
                  <a:moveTo>
                    <a:pt x="1288733" y="311467"/>
                  </a:moveTo>
                  <a:lnTo>
                    <a:pt x="93441" y="311467"/>
                  </a:lnTo>
                  <a:lnTo>
                    <a:pt x="57061" y="304167"/>
                  </a:lnTo>
                  <a:lnTo>
                    <a:pt x="27360" y="284142"/>
                  </a:lnTo>
                  <a:lnTo>
                    <a:pt x="7340" y="254420"/>
                  </a:lnTo>
                  <a:lnTo>
                    <a:pt x="0" y="218027"/>
                  </a:lnTo>
                  <a:lnTo>
                    <a:pt x="0" y="93440"/>
                  </a:lnTo>
                  <a:lnTo>
                    <a:pt x="7340" y="57060"/>
                  </a:lnTo>
                  <a:lnTo>
                    <a:pt x="27360" y="27360"/>
                  </a:lnTo>
                  <a:lnTo>
                    <a:pt x="57061" y="7340"/>
                  </a:lnTo>
                  <a:lnTo>
                    <a:pt x="93441" y="0"/>
                  </a:lnTo>
                  <a:lnTo>
                    <a:pt x="1288733" y="0"/>
                  </a:lnTo>
                  <a:lnTo>
                    <a:pt x="1325112" y="7340"/>
                  </a:lnTo>
                  <a:lnTo>
                    <a:pt x="1354812" y="27360"/>
                  </a:lnTo>
                  <a:lnTo>
                    <a:pt x="1374833" y="57060"/>
                  </a:lnTo>
                  <a:lnTo>
                    <a:pt x="1382173" y="93440"/>
                  </a:lnTo>
                  <a:lnTo>
                    <a:pt x="1382173" y="218027"/>
                  </a:lnTo>
                  <a:lnTo>
                    <a:pt x="1374824" y="254420"/>
                  </a:lnTo>
                  <a:lnTo>
                    <a:pt x="1354759" y="284142"/>
                  </a:lnTo>
                  <a:lnTo>
                    <a:pt x="1325053" y="304167"/>
                  </a:lnTo>
                  <a:lnTo>
                    <a:pt x="1324913" y="304167"/>
                  </a:lnTo>
                  <a:lnTo>
                    <a:pt x="1288733" y="311467"/>
                  </a:lnTo>
                  <a:close/>
                </a:path>
              </a:pathLst>
            </a:custGeom>
            <a:solidFill>
              <a:srgbClr val="0029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12417923" y="7888099"/>
              <a:ext cx="1381125" cy="311785"/>
            </a:xfrm>
            <a:custGeom>
              <a:avLst/>
              <a:gdLst/>
              <a:ahLst/>
              <a:cxnLst/>
              <a:rect l="l" t="t" r="r" b="b"/>
              <a:pathLst>
                <a:path w="1381125" h="311784">
                  <a:moveTo>
                    <a:pt x="1381057" y="223202"/>
                  </a:moveTo>
                  <a:lnTo>
                    <a:pt x="1354771" y="284134"/>
                  </a:lnTo>
                  <a:lnTo>
                    <a:pt x="1288662" y="311467"/>
                  </a:lnTo>
                  <a:lnTo>
                    <a:pt x="93468" y="311473"/>
                  </a:lnTo>
                  <a:lnTo>
                    <a:pt x="57074" y="304176"/>
                  </a:lnTo>
                  <a:lnTo>
                    <a:pt x="27361" y="284144"/>
                  </a:lnTo>
                  <a:lnTo>
                    <a:pt x="7337" y="254406"/>
                  </a:lnTo>
                  <a:lnTo>
                    <a:pt x="0" y="218007"/>
                  </a:lnTo>
                  <a:lnTo>
                    <a:pt x="1" y="93423"/>
                  </a:lnTo>
                  <a:lnTo>
                    <a:pt x="27389" y="27340"/>
                  </a:lnTo>
                  <a:lnTo>
                    <a:pt x="93475" y="0"/>
                  </a:lnTo>
                  <a:lnTo>
                    <a:pt x="1288662" y="0"/>
                  </a:lnTo>
                  <a:lnTo>
                    <a:pt x="1325061" y="7305"/>
                  </a:lnTo>
                  <a:lnTo>
                    <a:pt x="1354787" y="27323"/>
                  </a:lnTo>
                  <a:lnTo>
                    <a:pt x="1374829" y="57040"/>
                  </a:lnTo>
                  <a:lnTo>
                    <a:pt x="1381051" y="88262"/>
                  </a:lnTo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9" name="object 99"/>
          <p:cNvSpPr txBox="1"/>
          <p:nvPr/>
        </p:nvSpPr>
        <p:spPr>
          <a:xfrm>
            <a:off x="12541905" y="7887687"/>
            <a:ext cx="113474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B8FA2"/>
                </a:solidFill>
                <a:latin typeface="Calibri"/>
                <a:cs typeface="Calibri"/>
              </a:rPr>
              <a:t>Executive</a:t>
            </a:r>
            <a:r>
              <a:rPr dirty="0" sz="1200" spc="1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B8FA2"/>
                </a:solidFill>
                <a:latin typeface="Calibri"/>
                <a:cs typeface="Calibri"/>
              </a:rPr>
              <a:t>Reports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00" name="object 100"/>
          <p:cNvGrpSpPr/>
          <p:nvPr/>
        </p:nvGrpSpPr>
        <p:grpSpPr>
          <a:xfrm>
            <a:off x="13918320" y="7878567"/>
            <a:ext cx="1400175" cy="330835"/>
            <a:chOff x="13918320" y="7878567"/>
            <a:chExt cx="1400175" cy="330835"/>
          </a:xfrm>
        </p:grpSpPr>
        <p:sp>
          <p:nvSpPr>
            <p:cNvPr id="101" name="object 101"/>
            <p:cNvSpPr/>
            <p:nvPr/>
          </p:nvSpPr>
          <p:spPr>
            <a:xfrm>
              <a:off x="13927852" y="7888099"/>
              <a:ext cx="1382395" cy="311785"/>
            </a:xfrm>
            <a:custGeom>
              <a:avLst/>
              <a:gdLst/>
              <a:ahLst/>
              <a:cxnLst/>
              <a:rect l="l" t="t" r="r" b="b"/>
              <a:pathLst>
                <a:path w="1382394" h="311784">
                  <a:moveTo>
                    <a:pt x="1288732" y="311467"/>
                  </a:moveTo>
                  <a:lnTo>
                    <a:pt x="93440" y="311467"/>
                  </a:lnTo>
                  <a:lnTo>
                    <a:pt x="57060" y="304167"/>
                  </a:lnTo>
                  <a:lnTo>
                    <a:pt x="27360" y="284142"/>
                  </a:lnTo>
                  <a:lnTo>
                    <a:pt x="7340" y="254420"/>
                  </a:lnTo>
                  <a:lnTo>
                    <a:pt x="0" y="218027"/>
                  </a:lnTo>
                  <a:lnTo>
                    <a:pt x="0" y="93440"/>
                  </a:lnTo>
                  <a:lnTo>
                    <a:pt x="7340" y="57060"/>
                  </a:lnTo>
                  <a:lnTo>
                    <a:pt x="27360" y="27360"/>
                  </a:lnTo>
                  <a:lnTo>
                    <a:pt x="57060" y="7340"/>
                  </a:lnTo>
                  <a:lnTo>
                    <a:pt x="93440" y="0"/>
                  </a:lnTo>
                  <a:lnTo>
                    <a:pt x="1288732" y="0"/>
                  </a:lnTo>
                  <a:lnTo>
                    <a:pt x="1325111" y="7340"/>
                  </a:lnTo>
                  <a:lnTo>
                    <a:pt x="1354811" y="27360"/>
                  </a:lnTo>
                  <a:lnTo>
                    <a:pt x="1374832" y="57060"/>
                  </a:lnTo>
                  <a:lnTo>
                    <a:pt x="1382172" y="93440"/>
                  </a:lnTo>
                  <a:lnTo>
                    <a:pt x="1382172" y="218027"/>
                  </a:lnTo>
                  <a:lnTo>
                    <a:pt x="1374823" y="254420"/>
                  </a:lnTo>
                  <a:lnTo>
                    <a:pt x="1354758" y="284142"/>
                  </a:lnTo>
                  <a:lnTo>
                    <a:pt x="1325052" y="304167"/>
                  </a:lnTo>
                  <a:lnTo>
                    <a:pt x="1324912" y="304167"/>
                  </a:lnTo>
                  <a:lnTo>
                    <a:pt x="1288732" y="311467"/>
                  </a:lnTo>
                  <a:close/>
                </a:path>
              </a:pathLst>
            </a:custGeom>
            <a:solidFill>
              <a:srgbClr val="0029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13927853" y="7888099"/>
              <a:ext cx="1381125" cy="311785"/>
            </a:xfrm>
            <a:custGeom>
              <a:avLst/>
              <a:gdLst/>
              <a:ahLst/>
              <a:cxnLst/>
              <a:rect l="l" t="t" r="r" b="b"/>
              <a:pathLst>
                <a:path w="1381125" h="311784">
                  <a:moveTo>
                    <a:pt x="1381057" y="223201"/>
                  </a:moveTo>
                  <a:lnTo>
                    <a:pt x="1354771" y="284134"/>
                  </a:lnTo>
                  <a:lnTo>
                    <a:pt x="1288662" y="311467"/>
                  </a:lnTo>
                  <a:lnTo>
                    <a:pt x="93468" y="311473"/>
                  </a:lnTo>
                  <a:lnTo>
                    <a:pt x="57074" y="304176"/>
                  </a:lnTo>
                  <a:lnTo>
                    <a:pt x="27361" y="284144"/>
                  </a:lnTo>
                  <a:lnTo>
                    <a:pt x="7337" y="254406"/>
                  </a:lnTo>
                  <a:lnTo>
                    <a:pt x="0" y="218007"/>
                  </a:lnTo>
                  <a:lnTo>
                    <a:pt x="1" y="93423"/>
                  </a:lnTo>
                  <a:lnTo>
                    <a:pt x="27389" y="27340"/>
                  </a:lnTo>
                  <a:lnTo>
                    <a:pt x="93475" y="0"/>
                  </a:lnTo>
                  <a:lnTo>
                    <a:pt x="1288662" y="0"/>
                  </a:lnTo>
                  <a:lnTo>
                    <a:pt x="1325061" y="7306"/>
                  </a:lnTo>
                  <a:lnTo>
                    <a:pt x="1354787" y="27323"/>
                  </a:lnTo>
                  <a:lnTo>
                    <a:pt x="1374828" y="57040"/>
                  </a:lnTo>
                  <a:lnTo>
                    <a:pt x="1381051" y="88263"/>
                  </a:lnTo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3" name="object 103"/>
          <p:cNvSpPr txBox="1"/>
          <p:nvPr/>
        </p:nvSpPr>
        <p:spPr>
          <a:xfrm>
            <a:off x="14436568" y="7887687"/>
            <a:ext cx="36512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B8FA2"/>
                </a:solidFill>
                <a:latin typeface="Calibri"/>
                <a:cs typeface="Calibri"/>
              </a:rPr>
              <a:t>Email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17249167" y="9655941"/>
            <a:ext cx="516890" cy="1974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85"/>
              </a:lnSpc>
            </a:pPr>
            <a:r>
              <a:rPr dirty="0" sz="1350">
                <a:solidFill>
                  <a:srgbClr val="6A6F82"/>
                </a:solidFill>
                <a:latin typeface="Calibri"/>
                <a:cs typeface="Calibri"/>
              </a:rPr>
              <a:t>04</a:t>
            </a:r>
            <a:r>
              <a:rPr dirty="0" sz="1350" spc="-20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6A6F82"/>
                </a:solidFill>
                <a:latin typeface="Calibri"/>
                <a:cs typeface="Calibri"/>
              </a:rPr>
              <a:t>/</a:t>
            </a:r>
            <a:r>
              <a:rPr dirty="0" sz="1350" spc="-15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350" spc="-35">
                <a:solidFill>
                  <a:srgbClr val="6A6F82"/>
                </a:solidFill>
                <a:latin typeface="Calibri"/>
                <a:cs typeface="Calibri"/>
              </a:rPr>
              <a:t>16</a:t>
            </a:r>
            <a:endParaRPr sz="1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63362" y="6867648"/>
            <a:ext cx="5490845" cy="3419475"/>
          </a:xfrm>
          <a:custGeom>
            <a:avLst/>
            <a:gdLst/>
            <a:ahLst/>
            <a:cxnLst/>
            <a:rect l="l" t="t" r="r" b="b"/>
            <a:pathLst>
              <a:path w="5490845" h="3419475">
                <a:moveTo>
                  <a:pt x="2937325" y="12699"/>
                </a:moveTo>
                <a:lnTo>
                  <a:pt x="2553454" y="12699"/>
                </a:lnTo>
                <a:lnTo>
                  <a:pt x="2601122" y="0"/>
                </a:lnTo>
                <a:lnTo>
                  <a:pt x="2889658" y="0"/>
                </a:lnTo>
                <a:lnTo>
                  <a:pt x="2937325" y="12699"/>
                </a:lnTo>
                <a:close/>
              </a:path>
              <a:path w="5490845" h="3419475">
                <a:moveTo>
                  <a:pt x="3078966" y="25399"/>
                </a:moveTo>
                <a:lnTo>
                  <a:pt x="2411812" y="25399"/>
                </a:lnTo>
                <a:lnTo>
                  <a:pt x="2458793" y="12699"/>
                </a:lnTo>
                <a:lnTo>
                  <a:pt x="3031986" y="12699"/>
                </a:lnTo>
                <a:lnTo>
                  <a:pt x="3078966" y="25399"/>
                </a:lnTo>
                <a:close/>
              </a:path>
              <a:path w="5490845" h="3419475">
                <a:moveTo>
                  <a:pt x="3172192" y="38099"/>
                </a:moveTo>
                <a:lnTo>
                  <a:pt x="2318586" y="38099"/>
                </a:lnTo>
                <a:lnTo>
                  <a:pt x="2365074" y="25399"/>
                </a:lnTo>
                <a:lnTo>
                  <a:pt x="3125704" y="25399"/>
                </a:lnTo>
                <a:lnTo>
                  <a:pt x="3172192" y="38099"/>
                </a:lnTo>
                <a:close/>
              </a:path>
              <a:path w="5490845" h="3419475">
                <a:moveTo>
                  <a:pt x="3355512" y="76199"/>
                </a:moveTo>
                <a:lnTo>
                  <a:pt x="2135263" y="76199"/>
                </a:lnTo>
                <a:lnTo>
                  <a:pt x="2272354" y="38099"/>
                </a:lnTo>
                <a:lnTo>
                  <a:pt x="3218423" y="38099"/>
                </a:lnTo>
                <a:lnTo>
                  <a:pt x="3355512" y="76199"/>
                </a:lnTo>
                <a:close/>
              </a:path>
              <a:path w="5490845" h="3419475">
                <a:moveTo>
                  <a:pt x="5407298" y="3419351"/>
                </a:moveTo>
                <a:lnTo>
                  <a:pt x="83393" y="3419351"/>
                </a:lnTo>
                <a:lnTo>
                  <a:pt x="78685" y="3403599"/>
                </a:lnTo>
                <a:lnTo>
                  <a:pt x="68037" y="3352799"/>
                </a:lnTo>
                <a:lnTo>
                  <a:pt x="58136" y="3314699"/>
                </a:lnTo>
                <a:lnTo>
                  <a:pt x="48988" y="3263899"/>
                </a:lnTo>
                <a:lnTo>
                  <a:pt x="40599" y="3225799"/>
                </a:lnTo>
                <a:lnTo>
                  <a:pt x="32977" y="3174999"/>
                </a:lnTo>
                <a:lnTo>
                  <a:pt x="26128" y="3124199"/>
                </a:lnTo>
                <a:lnTo>
                  <a:pt x="20060" y="3086099"/>
                </a:lnTo>
                <a:lnTo>
                  <a:pt x="14779" y="3035299"/>
                </a:lnTo>
                <a:lnTo>
                  <a:pt x="10291" y="2984499"/>
                </a:lnTo>
                <a:lnTo>
                  <a:pt x="6604" y="2933699"/>
                </a:lnTo>
                <a:lnTo>
                  <a:pt x="3725" y="2895599"/>
                </a:lnTo>
                <a:lnTo>
                  <a:pt x="1660" y="2844799"/>
                </a:lnTo>
                <a:lnTo>
                  <a:pt x="416" y="2793999"/>
                </a:lnTo>
                <a:lnTo>
                  <a:pt x="0" y="2743199"/>
                </a:lnTo>
                <a:lnTo>
                  <a:pt x="416" y="2705099"/>
                </a:lnTo>
                <a:lnTo>
                  <a:pt x="1660" y="2654299"/>
                </a:lnTo>
                <a:lnTo>
                  <a:pt x="3725" y="2603499"/>
                </a:lnTo>
                <a:lnTo>
                  <a:pt x="6604" y="2552699"/>
                </a:lnTo>
                <a:lnTo>
                  <a:pt x="10290" y="2501899"/>
                </a:lnTo>
                <a:lnTo>
                  <a:pt x="14778" y="2463799"/>
                </a:lnTo>
                <a:lnTo>
                  <a:pt x="20059" y="2412999"/>
                </a:lnTo>
                <a:lnTo>
                  <a:pt x="26126" y="2362199"/>
                </a:lnTo>
                <a:lnTo>
                  <a:pt x="32975" y="2324099"/>
                </a:lnTo>
                <a:lnTo>
                  <a:pt x="40596" y="2273299"/>
                </a:lnTo>
                <a:lnTo>
                  <a:pt x="48984" y="2222499"/>
                </a:lnTo>
                <a:lnTo>
                  <a:pt x="58132" y="2184399"/>
                </a:lnTo>
                <a:lnTo>
                  <a:pt x="68033" y="2133599"/>
                </a:lnTo>
                <a:lnTo>
                  <a:pt x="78680" y="2095499"/>
                </a:lnTo>
                <a:lnTo>
                  <a:pt x="90066" y="2044699"/>
                </a:lnTo>
                <a:lnTo>
                  <a:pt x="102185" y="2006599"/>
                </a:lnTo>
                <a:lnTo>
                  <a:pt x="115029" y="1955799"/>
                </a:lnTo>
                <a:lnTo>
                  <a:pt x="128593" y="1917699"/>
                </a:lnTo>
                <a:lnTo>
                  <a:pt x="142869" y="1866899"/>
                </a:lnTo>
                <a:lnTo>
                  <a:pt x="157850" y="1828799"/>
                </a:lnTo>
                <a:lnTo>
                  <a:pt x="173529" y="1790699"/>
                </a:lnTo>
                <a:lnTo>
                  <a:pt x="189900" y="1739899"/>
                </a:lnTo>
                <a:lnTo>
                  <a:pt x="206956" y="1701799"/>
                </a:lnTo>
                <a:lnTo>
                  <a:pt x="224691" y="1663699"/>
                </a:lnTo>
                <a:lnTo>
                  <a:pt x="243096" y="1612899"/>
                </a:lnTo>
                <a:lnTo>
                  <a:pt x="262166" y="1574799"/>
                </a:lnTo>
                <a:lnTo>
                  <a:pt x="281894" y="1536699"/>
                </a:lnTo>
                <a:lnTo>
                  <a:pt x="302273" y="1498599"/>
                </a:lnTo>
                <a:lnTo>
                  <a:pt x="323296" y="1447799"/>
                </a:lnTo>
                <a:lnTo>
                  <a:pt x="344956" y="1409699"/>
                </a:lnTo>
                <a:lnTo>
                  <a:pt x="367246" y="1371599"/>
                </a:lnTo>
                <a:lnTo>
                  <a:pt x="390160" y="1333499"/>
                </a:lnTo>
                <a:lnTo>
                  <a:pt x="413691" y="1295399"/>
                </a:lnTo>
                <a:lnTo>
                  <a:pt x="437833" y="1257299"/>
                </a:lnTo>
                <a:lnTo>
                  <a:pt x="462577" y="1219199"/>
                </a:lnTo>
                <a:lnTo>
                  <a:pt x="487918" y="1181099"/>
                </a:lnTo>
                <a:lnTo>
                  <a:pt x="513848" y="1142999"/>
                </a:lnTo>
                <a:lnTo>
                  <a:pt x="540362" y="1117599"/>
                </a:lnTo>
                <a:lnTo>
                  <a:pt x="567451" y="1079499"/>
                </a:lnTo>
                <a:lnTo>
                  <a:pt x="595110" y="1041399"/>
                </a:lnTo>
                <a:lnTo>
                  <a:pt x="623331" y="1003299"/>
                </a:lnTo>
                <a:lnTo>
                  <a:pt x="652108" y="965199"/>
                </a:lnTo>
                <a:lnTo>
                  <a:pt x="681433" y="939799"/>
                </a:lnTo>
                <a:lnTo>
                  <a:pt x="711301" y="901699"/>
                </a:lnTo>
                <a:lnTo>
                  <a:pt x="741704" y="876299"/>
                </a:lnTo>
                <a:lnTo>
                  <a:pt x="772635" y="838199"/>
                </a:lnTo>
                <a:lnTo>
                  <a:pt x="804088" y="800099"/>
                </a:lnTo>
                <a:lnTo>
                  <a:pt x="836056" y="774699"/>
                </a:lnTo>
                <a:lnTo>
                  <a:pt x="868531" y="749299"/>
                </a:lnTo>
                <a:lnTo>
                  <a:pt x="901508" y="711199"/>
                </a:lnTo>
                <a:lnTo>
                  <a:pt x="934980" y="685799"/>
                </a:lnTo>
                <a:lnTo>
                  <a:pt x="968938" y="660399"/>
                </a:lnTo>
                <a:lnTo>
                  <a:pt x="1003378" y="622299"/>
                </a:lnTo>
                <a:lnTo>
                  <a:pt x="1073673" y="571499"/>
                </a:lnTo>
                <a:lnTo>
                  <a:pt x="1145809" y="520699"/>
                </a:lnTo>
                <a:lnTo>
                  <a:pt x="1219732" y="469899"/>
                </a:lnTo>
                <a:lnTo>
                  <a:pt x="1295387" y="419099"/>
                </a:lnTo>
                <a:lnTo>
                  <a:pt x="1372721" y="368299"/>
                </a:lnTo>
                <a:lnTo>
                  <a:pt x="1412000" y="342899"/>
                </a:lnTo>
                <a:lnTo>
                  <a:pt x="1451679" y="330199"/>
                </a:lnTo>
                <a:lnTo>
                  <a:pt x="1532206" y="279399"/>
                </a:lnTo>
                <a:lnTo>
                  <a:pt x="1573041" y="266699"/>
                </a:lnTo>
                <a:lnTo>
                  <a:pt x="1614247" y="241299"/>
                </a:lnTo>
                <a:lnTo>
                  <a:pt x="1655819" y="228599"/>
                </a:lnTo>
                <a:lnTo>
                  <a:pt x="1697750" y="203199"/>
                </a:lnTo>
                <a:lnTo>
                  <a:pt x="1825622" y="165099"/>
                </a:lnTo>
                <a:lnTo>
                  <a:pt x="1868918" y="139699"/>
                </a:lnTo>
                <a:lnTo>
                  <a:pt x="2090124" y="76199"/>
                </a:lnTo>
                <a:lnTo>
                  <a:pt x="3400651" y="76199"/>
                </a:lnTo>
                <a:lnTo>
                  <a:pt x="3621852" y="139699"/>
                </a:lnTo>
                <a:lnTo>
                  <a:pt x="3665147" y="165099"/>
                </a:lnTo>
                <a:lnTo>
                  <a:pt x="3793016" y="203199"/>
                </a:lnTo>
                <a:lnTo>
                  <a:pt x="3834945" y="228599"/>
                </a:lnTo>
                <a:lnTo>
                  <a:pt x="3876516" y="241299"/>
                </a:lnTo>
                <a:lnTo>
                  <a:pt x="3917722" y="266699"/>
                </a:lnTo>
                <a:lnTo>
                  <a:pt x="3958556" y="279399"/>
                </a:lnTo>
                <a:lnTo>
                  <a:pt x="4039080" y="330199"/>
                </a:lnTo>
                <a:lnTo>
                  <a:pt x="4078757" y="342899"/>
                </a:lnTo>
                <a:lnTo>
                  <a:pt x="4118035" y="368299"/>
                </a:lnTo>
                <a:lnTo>
                  <a:pt x="4195366" y="419099"/>
                </a:lnTo>
                <a:lnTo>
                  <a:pt x="4271019" y="469899"/>
                </a:lnTo>
                <a:lnTo>
                  <a:pt x="4344939" y="520699"/>
                </a:lnTo>
                <a:lnTo>
                  <a:pt x="4417072" y="571499"/>
                </a:lnTo>
                <a:lnTo>
                  <a:pt x="4487364" y="622299"/>
                </a:lnTo>
                <a:lnTo>
                  <a:pt x="4521802" y="660399"/>
                </a:lnTo>
                <a:lnTo>
                  <a:pt x="4555759" y="685799"/>
                </a:lnTo>
                <a:lnTo>
                  <a:pt x="4589229" y="711199"/>
                </a:lnTo>
                <a:lnTo>
                  <a:pt x="4622204" y="749299"/>
                </a:lnTo>
                <a:lnTo>
                  <a:pt x="4654678" y="774699"/>
                </a:lnTo>
                <a:lnTo>
                  <a:pt x="4686645" y="800099"/>
                </a:lnTo>
                <a:lnTo>
                  <a:pt x="4718096" y="838199"/>
                </a:lnTo>
                <a:lnTo>
                  <a:pt x="4749026" y="876299"/>
                </a:lnTo>
                <a:lnTo>
                  <a:pt x="4779427" y="901699"/>
                </a:lnTo>
                <a:lnTo>
                  <a:pt x="4809293" y="939799"/>
                </a:lnTo>
                <a:lnTo>
                  <a:pt x="4838617" y="965199"/>
                </a:lnTo>
                <a:lnTo>
                  <a:pt x="4867392" y="1003299"/>
                </a:lnTo>
                <a:lnTo>
                  <a:pt x="4895612" y="1041399"/>
                </a:lnTo>
                <a:lnTo>
                  <a:pt x="4923269" y="1079499"/>
                </a:lnTo>
                <a:lnTo>
                  <a:pt x="4950357" y="1117599"/>
                </a:lnTo>
                <a:lnTo>
                  <a:pt x="4976869" y="1142999"/>
                </a:lnTo>
                <a:lnTo>
                  <a:pt x="5002798" y="1181099"/>
                </a:lnTo>
                <a:lnTo>
                  <a:pt x="5028138" y="1219199"/>
                </a:lnTo>
                <a:lnTo>
                  <a:pt x="5052881" y="1257299"/>
                </a:lnTo>
                <a:lnTo>
                  <a:pt x="5077020" y="1295399"/>
                </a:lnTo>
                <a:lnTo>
                  <a:pt x="5100550" y="1333499"/>
                </a:lnTo>
                <a:lnTo>
                  <a:pt x="5123463" y="1371599"/>
                </a:lnTo>
                <a:lnTo>
                  <a:pt x="5145752" y="1409699"/>
                </a:lnTo>
                <a:lnTo>
                  <a:pt x="5167411" y="1447799"/>
                </a:lnTo>
                <a:lnTo>
                  <a:pt x="5188432" y="1498599"/>
                </a:lnTo>
                <a:lnTo>
                  <a:pt x="5208810" y="1536699"/>
                </a:lnTo>
                <a:lnTo>
                  <a:pt x="5228536" y="1574799"/>
                </a:lnTo>
                <a:lnTo>
                  <a:pt x="5247605" y="1612899"/>
                </a:lnTo>
                <a:lnTo>
                  <a:pt x="5266010" y="1663699"/>
                </a:lnTo>
                <a:lnTo>
                  <a:pt x="5283743" y="1701799"/>
                </a:lnTo>
                <a:lnTo>
                  <a:pt x="5300798" y="1739899"/>
                </a:lnTo>
                <a:lnTo>
                  <a:pt x="5317168" y="1790699"/>
                </a:lnTo>
                <a:lnTo>
                  <a:pt x="5332846" y="1828799"/>
                </a:lnTo>
                <a:lnTo>
                  <a:pt x="5347826" y="1866899"/>
                </a:lnTo>
                <a:lnTo>
                  <a:pt x="5362101" y="1917699"/>
                </a:lnTo>
                <a:lnTo>
                  <a:pt x="5375664" y="1955799"/>
                </a:lnTo>
                <a:lnTo>
                  <a:pt x="5388507" y="2006599"/>
                </a:lnTo>
                <a:lnTo>
                  <a:pt x="5400625" y="2044699"/>
                </a:lnTo>
                <a:lnTo>
                  <a:pt x="5412011" y="2095499"/>
                </a:lnTo>
                <a:lnTo>
                  <a:pt x="5422657" y="2133599"/>
                </a:lnTo>
                <a:lnTo>
                  <a:pt x="5432557" y="2184399"/>
                </a:lnTo>
                <a:lnTo>
                  <a:pt x="5441704" y="2222499"/>
                </a:lnTo>
                <a:lnTo>
                  <a:pt x="5450092" y="2273299"/>
                </a:lnTo>
                <a:lnTo>
                  <a:pt x="5457713" y="2324099"/>
                </a:lnTo>
                <a:lnTo>
                  <a:pt x="5464560" y="2362199"/>
                </a:lnTo>
                <a:lnTo>
                  <a:pt x="5470628" y="2412999"/>
                </a:lnTo>
                <a:lnTo>
                  <a:pt x="5475908" y="2463799"/>
                </a:lnTo>
                <a:lnTo>
                  <a:pt x="5480395" y="2501899"/>
                </a:lnTo>
                <a:lnTo>
                  <a:pt x="5484082" y="2552699"/>
                </a:lnTo>
                <a:lnTo>
                  <a:pt x="5486961" y="2603499"/>
                </a:lnTo>
                <a:lnTo>
                  <a:pt x="5489025" y="2654299"/>
                </a:lnTo>
                <a:lnTo>
                  <a:pt x="5490269" y="2705099"/>
                </a:lnTo>
                <a:lnTo>
                  <a:pt x="5490686" y="2743199"/>
                </a:lnTo>
                <a:lnTo>
                  <a:pt x="5490269" y="2793999"/>
                </a:lnTo>
                <a:lnTo>
                  <a:pt x="5489025" y="2844799"/>
                </a:lnTo>
                <a:lnTo>
                  <a:pt x="5486960" y="2895599"/>
                </a:lnTo>
                <a:lnTo>
                  <a:pt x="5484081" y="2933699"/>
                </a:lnTo>
                <a:lnTo>
                  <a:pt x="5480395" y="2984499"/>
                </a:lnTo>
                <a:lnTo>
                  <a:pt x="5475907" y="3035299"/>
                </a:lnTo>
                <a:lnTo>
                  <a:pt x="5470626" y="3086099"/>
                </a:lnTo>
                <a:lnTo>
                  <a:pt x="5464559" y="3124199"/>
                </a:lnTo>
                <a:lnTo>
                  <a:pt x="5457710" y="3174999"/>
                </a:lnTo>
                <a:lnTo>
                  <a:pt x="5450089" y="3225799"/>
                </a:lnTo>
                <a:lnTo>
                  <a:pt x="5441701" y="3263899"/>
                </a:lnTo>
                <a:lnTo>
                  <a:pt x="5432553" y="3314699"/>
                </a:lnTo>
                <a:lnTo>
                  <a:pt x="5422652" y="3352799"/>
                </a:lnTo>
                <a:lnTo>
                  <a:pt x="5412006" y="3403599"/>
                </a:lnTo>
                <a:lnTo>
                  <a:pt x="5407298" y="3419351"/>
                </a:lnTo>
                <a:close/>
              </a:path>
            </a:pathLst>
          </a:custGeom>
          <a:solidFill>
            <a:srgbClr val="8B5CF5">
              <a:alpha val="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23607" y="562794"/>
            <a:ext cx="343535" cy="20955"/>
          </a:xfrm>
          <a:custGeom>
            <a:avLst/>
            <a:gdLst/>
            <a:ahLst/>
            <a:cxnLst/>
            <a:rect l="l" t="t" r="r" b="b"/>
            <a:pathLst>
              <a:path w="343534" h="20954">
                <a:moveTo>
                  <a:pt x="343163" y="20593"/>
                </a:moveTo>
                <a:lnTo>
                  <a:pt x="0" y="20593"/>
                </a:lnTo>
                <a:lnTo>
                  <a:pt x="0" y="0"/>
                </a:lnTo>
                <a:lnTo>
                  <a:pt x="343163" y="0"/>
                </a:lnTo>
                <a:lnTo>
                  <a:pt x="343163" y="20593"/>
                </a:lnTo>
                <a:close/>
              </a:path>
            </a:pathLst>
          </a:custGeom>
          <a:solidFill>
            <a:srgbClr val="0C406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344075" y="2030411"/>
            <a:ext cx="1018540" cy="1018540"/>
            <a:chOff x="1344075" y="2030411"/>
            <a:chExt cx="1018540" cy="1018540"/>
          </a:xfrm>
        </p:grpSpPr>
        <p:sp>
          <p:nvSpPr>
            <p:cNvPr id="5" name="object 5"/>
            <p:cNvSpPr/>
            <p:nvPr/>
          </p:nvSpPr>
          <p:spPr>
            <a:xfrm>
              <a:off x="1363141" y="2049475"/>
              <a:ext cx="980440" cy="980440"/>
            </a:xfrm>
            <a:custGeom>
              <a:avLst/>
              <a:gdLst/>
              <a:ahLst/>
              <a:cxnLst/>
              <a:rect l="l" t="t" r="r" b="b"/>
              <a:pathLst>
                <a:path w="980439" h="980439">
                  <a:moveTo>
                    <a:pt x="489965" y="979931"/>
                  </a:moveTo>
                  <a:lnTo>
                    <a:pt x="442778" y="977689"/>
                  </a:lnTo>
                  <a:lnTo>
                    <a:pt x="396859" y="971097"/>
                  </a:lnTo>
                  <a:lnTo>
                    <a:pt x="352415" y="960361"/>
                  </a:lnTo>
                  <a:lnTo>
                    <a:pt x="309651" y="945688"/>
                  </a:lnTo>
                  <a:lnTo>
                    <a:pt x="268772" y="927281"/>
                  </a:lnTo>
                  <a:lnTo>
                    <a:pt x="229984" y="905347"/>
                  </a:lnTo>
                  <a:lnTo>
                    <a:pt x="193491" y="880091"/>
                  </a:lnTo>
                  <a:lnTo>
                    <a:pt x="159499" y="851717"/>
                  </a:lnTo>
                  <a:lnTo>
                    <a:pt x="128214" y="820432"/>
                  </a:lnTo>
                  <a:lnTo>
                    <a:pt x="99840" y="786440"/>
                  </a:lnTo>
                  <a:lnTo>
                    <a:pt x="74584" y="749947"/>
                  </a:lnTo>
                  <a:lnTo>
                    <a:pt x="52650" y="711159"/>
                  </a:lnTo>
                  <a:lnTo>
                    <a:pt x="34243" y="670280"/>
                  </a:lnTo>
                  <a:lnTo>
                    <a:pt x="19569" y="627516"/>
                  </a:lnTo>
                  <a:lnTo>
                    <a:pt x="8834" y="583072"/>
                  </a:lnTo>
                  <a:lnTo>
                    <a:pt x="2242" y="537153"/>
                  </a:lnTo>
                  <a:lnTo>
                    <a:pt x="0" y="489965"/>
                  </a:lnTo>
                  <a:lnTo>
                    <a:pt x="2242" y="442778"/>
                  </a:lnTo>
                  <a:lnTo>
                    <a:pt x="8834" y="396859"/>
                  </a:lnTo>
                  <a:lnTo>
                    <a:pt x="19569" y="352415"/>
                  </a:lnTo>
                  <a:lnTo>
                    <a:pt x="34243" y="309651"/>
                  </a:lnTo>
                  <a:lnTo>
                    <a:pt x="52650" y="268772"/>
                  </a:lnTo>
                  <a:lnTo>
                    <a:pt x="74584" y="229984"/>
                  </a:lnTo>
                  <a:lnTo>
                    <a:pt x="99840" y="193491"/>
                  </a:lnTo>
                  <a:lnTo>
                    <a:pt x="128214" y="159499"/>
                  </a:lnTo>
                  <a:lnTo>
                    <a:pt x="159499" y="128214"/>
                  </a:lnTo>
                  <a:lnTo>
                    <a:pt x="193491" y="99840"/>
                  </a:lnTo>
                  <a:lnTo>
                    <a:pt x="229984" y="74584"/>
                  </a:lnTo>
                  <a:lnTo>
                    <a:pt x="268772" y="52650"/>
                  </a:lnTo>
                  <a:lnTo>
                    <a:pt x="309651" y="34243"/>
                  </a:lnTo>
                  <a:lnTo>
                    <a:pt x="352415" y="19570"/>
                  </a:lnTo>
                  <a:lnTo>
                    <a:pt x="396859" y="8834"/>
                  </a:lnTo>
                  <a:lnTo>
                    <a:pt x="442778" y="2242"/>
                  </a:lnTo>
                  <a:lnTo>
                    <a:pt x="489965" y="0"/>
                  </a:lnTo>
                  <a:lnTo>
                    <a:pt x="537153" y="2242"/>
                  </a:lnTo>
                  <a:lnTo>
                    <a:pt x="583072" y="8834"/>
                  </a:lnTo>
                  <a:lnTo>
                    <a:pt x="627516" y="19570"/>
                  </a:lnTo>
                  <a:lnTo>
                    <a:pt x="670280" y="34243"/>
                  </a:lnTo>
                  <a:lnTo>
                    <a:pt x="711159" y="52650"/>
                  </a:lnTo>
                  <a:lnTo>
                    <a:pt x="749947" y="74584"/>
                  </a:lnTo>
                  <a:lnTo>
                    <a:pt x="786440" y="99840"/>
                  </a:lnTo>
                  <a:lnTo>
                    <a:pt x="820432" y="128214"/>
                  </a:lnTo>
                  <a:lnTo>
                    <a:pt x="851717" y="159499"/>
                  </a:lnTo>
                  <a:lnTo>
                    <a:pt x="880090" y="193491"/>
                  </a:lnTo>
                  <a:lnTo>
                    <a:pt x="905347" y="229984"/>
                  </a:lnTo>
                  <a:lnTo>
                    <a:pt x="927281" y="268772"/>
                  </a:lnTo>
                  <a:lnTo>
                    <a:pt x="945688" y="309651"/>
                  </a:lnTo>
                  <a:lnTo>
                    <a:pt x="960361" y="352415"/>
                  </a:lnTo>
                  <a:lnTo>
                    <a:pt x="971097" y="396859"/>
                  </a:lnTo>
                  <a:lnTo>
                    <a:pt x="977689" y="442778"/>
                  </a:lnTo>
                  <a:lnTo>
                    <a:pt x="979931" y="489965"/>
                  </a:lnTo>
                  <a:lnTo>
                    <a:pt x="977689" y="537153"/>
                  </a:lnTo>
                  <a:lnTo>
                    <a:pt x="971097" y="583072"/>
                  </a:lnTo>
                  <a:lnTo>
                    <a:pt x="960361" y="627516"/>
                  </a:lnTo>
                  <a:lnTo>
                    <a:pt x="945688" y="670280"/>
                  </a:lnTo>
                  <a:lnTo>
                    <a:pt x="927281" y="711159"/>
                  </a:lnTo>
                  <a:lnTo>
                    <a:pt x="905347" y="749947"/>
                  </a:lnTo>
                  <a:lnTo>
                    <a:pt x="880090" y="786440"/>
                  </a:lnTo>
                  <a:lnTo>
                    <a:pt x="851717" y="820432"/>
                  </a:lnTo>
                  <a:lnTo>
                    <a:pt x="820432" y="851717"/>
                  </a:lnTo>
                  <a:lnTo>
                    <a:pt x="786440" y="880091"/>
                  </a:lnTo>
                  <a:lnTo>
                    <a:pt x="749947" y="905347"/>
                  </a:lnTo>
                  <a:lnTo>
                    <a:pt x="711159" y="927281"/>
                  </a:lnTo>
                  <a:lnTo>
                    <a:pt x="670280" y="945688"/>
                  </a:lnTo>
                  <a:lnTo>
                    <a:pt x="627516" y="960361"/>
                  </a:lnTo>
                  <a:lnTo>
                    <a:pt x="583072" y="971097"/>
                  </a:lnTo>
                  <a:lnTo>
                    <a:pt x="537153" y="977689"/>
                  </a:lnTo>
                  <a:lnTo>
                    <a:pt x="489965" y="979931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363140" y="2049476"/>
              <a:ext cx="980440" cy="980440"/>
            </a:xfrm>
            <a:custGeom>
              <a:avLst/>
              <a:gdLst/>
              <a:ahLst/>
              <a:cxnLst/>
              <a:rect l="l" t="t" r="r" b="b"/>
              <a:pathLst>
                <a:path w="980439" h="980439">
                  <a:moveTo>
                    <a:pt x="2" y="489941"/>
                  </a:moveTo>
                  <a:lnTo>
                    <a:pt x="2247" y="442756"/>
                  </a:lnTo>
                  <a:lnTo>
                    <a:pt x="8840" y="396840"/>
                  </a:lnTo>
                  <a:lnTo>
                    <a:pt x="19576" y="352399"/>
                  </a:lnTo>
                  <a:lnTo>
                    <a:pt x="34250" y="309638"/>
                  </a:lnTo>
                  <a:lnTo>
                    <a:pt x="52656" y="268762"/>
                  </a:lnTo>
                  <a:lnTo>
                    <a:pt x="74589" y="229977"/>
                  </a:lnTo>
                  <a:lnTo>
                    <a:pt x="99844" y="193487"/>
                  </a:lnTo>
                  <a:lnTo>
                    <a:pt x="128216" y="159497"/>
                  </a:lnTo>
                  <a:lnTo>
                    <a:pt x="159499" y="128214"/>
                  </a:lnTo>
                  <a:lnTo>
                    <a:pt x="193488" y="99842"/>
                  </a:lnTo>
                  <a:lnTo>
                    <a:pt x="229978" y="74587"/>
                  </a:lnTo>
                  <a:lnTo>
                    <a:pt x="268763" y="52653"/>
                  </a:lnTo>
                  <a:lnTo>
                    <a:pt x="309639" y="34246"/>
                  </a:lnTo>
                  <a:lnTo>
                    <a:pt x="352400" y="19572"/>
                  </a:lnTo>
                  <a:lnTo>
                    <a:pt x="396842" y="8836"/>
                  </a:lnTo>
                  <a:lnTo>
                    <a:pt x="442757" y="2242"/>
                  </a:lnTo>
                  <a:lnTo>
                    <a:pt x="489943" y="0"/>
                  </a:lnTo>
                  <a:lnTo>
                    <a:pt x="537129" y="2238"/>
                  </a:lnTo>
                  <a:lnTo>
                    <a:pt x="583046" y="8827"/>
                  </a:lnTo>
                  <a:lnTo>
                    <a:pt x="627489" y="19559"/>
                  </a:lnTo>
                  <a:lnTo>
                    <a:pt x="670253" y="34230"/>
                  </a:lnTo>
                  <a:lnTo>
                    <a:pt x="711132" y="52633"/>
                  </a:lnTo>
                  <a:lnTo>
                    <a:pt x="749922" y="74565"/>
                  </a:lnTo>
                  <a:lnTo>
                    <a:pt x="786416" y="99819"/>
                  </a:lnTo>
                  <a:lnTo>
                    <a:pt x="820410" y="128190"/>
                  </a:lnTo>
                  <a:lnTo>
                    <a:pt x="851697" y="159473"/>
                  </a:lnTo>
                  <a:lnTo>
                    <a:pt x="880073" y="193463"/>
                  </a:lnTo>
                  <a:lnTo>
                    <a:pt x="905333" y="229955"/>
                  </a:lnTo>
                  <a:lnTo>
                    <a:pt x="927270" y="268743"/>
                  </a:lnTo>
                  <a:lnTo>
                    <a:pt x="945679" y="309622"/>
                  </a:lnTo>
                  <a:lnTo>
                    <a:pt x="960356" y="352387"/>
                  </a:lnTo>
                  <a:lnTo>
                    <a:pt x="971094" y="396833"/>
                  </a:lnTo>
                  <a:lnTo>
                    <a:pt x="977688" y="442753"/>
                  </a:lnTo>
                  <a:lnTo>
                    <a:pt x="979933" y="489943"/>
                  </a:lnTo>
                  <a:lnTo>
                    <a:pt x="977692" y="537133"/>
                  </a:lnTo>
                  <a:lnTo>
                    <a:pt x="971102" y="583054"/>
                  </a:lnTo>
                  <a:lnTo>
                    <a:pt x="960367" y="627501"/>
                  </a:lnTo>
                  <a:lnTo>
                    <a:pt x="945693" y="670269"/>
                  </a:lnTo>
                  <a:lnTo>
                    <a:pt x="927286" y="711151"/>
                  </a:lnTo>
                  <a:lnTo>
                    <a:pt x="905351" y="749942"/>
                  </a:lnTo>
                  <a:lnTo>
                    <a:pt x="880093" y="786437"/>
                  </a:lnTo>
                  <a:lnTo>
                    <a:pt x="851717" y="820431"/>
                  </a:lnTo>
                  <a:lnTo>
                    <a:pt x="820430" y="851718"/>
                  </a:lnTo>
                  <a:lnTo>
                    <a:pt x="786435" y="880093"/>
                  </a:lnTo>
                  <a:lnTo>
                    <a:pt x="749940" y="905351"/>
                  </a:lnTo>
                  <a:lnTo>
                    <a:pt x="711148" y="927285"/>
                  </a:lnTo>
                  <a:lnTo>
                    <a:pt x="670266" y="945692"/>
                  </a:lnTo>
                  <a:lnTo>
                    <a:pt x="627499" y="960365"/>
                  </a:lnTo>
                  <a:lnTo>
                    <a:pt x="583052" y="971099"/>
                  </a:lnTo>
                  <a:lnTo>
                    <a:pt x="537130" y="977689"/>
                  </a:lnTo>
                  <a:lnTo>
                    <a:pt x="489941" y="979929"/>
                  </a:lnTo>
                  <a:lnTo>
                    <a:pt x="442751" y="977683"/>
                  </a:lnTo>
                  <a:lnTo>
                    <a:pt x="396831" y="971089"/>
                  </a:lnTo>
                  <a:lnTo>
                    <a:pt x="352387" y="960350"/>
                  </a:lnTo>
                  <a:lnTo>
                    <a:pt x="309623" y="945673"/>
                  </a:lnTo>
                  <a:lnTo>
                    <a:pt x="268744" y="927264"/>
                  </a:lnTo>
                  <a:lnTo>
                    <a:pt x="229957" y="905326"/>
                  </a:lnTo>
                  <a:lnTo>
                    <a:pt x="193465" y="880067"/>
                  </a:lnTo>
                  <a:lnTo>
                    <a:pt x="159476" y="851691"/>
                  </a:lnTo>
                  <a:lnTo>
                    <a:pt x="128193" y="820404"/>
                  </a:lnTo>
                  <a:lnTo>
                    <a:pt x="99822" y="786411"/>
                  </a:lnTo>
                  <a:lnTo>
                    <a:pt x="74568" y="749917"/>
                  </a:lnTo>
                  <a:lnTo>
                    <a:pt x="52637" y="711128"/>
                  </a:lnTo>
                  <a:lnTo>
                    <a:pt x="34234" y="670249"/>
                  </a:lnTo>
                  <a:lnTo>
                    <a:pt x="19564" y="627485"/>
                  </a:lnTo>
                  <a:lnTo>
                    <a:pt x="8831" y="583043"/>
                  </a:lnTo>
                  <a:lnTo>
                    <a:pt x="2242" y="537126"/>
                  </a:lnTo>
                  <a:lnTo>
                    <a:pt x="0" y="489940"/>
                  </a:lnTo>
                </a:path>
              </a:pathLst>
            </a:custGeom>
            <a:ln w="38129">
              <a:solidFill>
                <a:srgbClr val="00426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4844389" y="2030411"/>
            <a:ext cx="1018540" cy="1018540"/>
            <a:chOff x="4844389" y="2030411"/>
            <a:chExt cx="1018540" cy="1018540"/>
          </a:xfrm>
        </p:grpSpPr>
        <p:sp>
          <p:nvSpPr>
            <p:cNvPr id="8" name="object 8"/>
            <p:cNvSpPr/>
            <p:nvPr/>
          </p:nvSpPr>
          <p:spPr>
            <a:xfrm>
              <a:off x="4863455" y="2049475"/>
              <a:ext cx="980440" cy="980440"/>
            </a:xfrm>
            <a:custGeom>
              <a:avLst/>
              <a:gdLst/>
              <a:ahLst/>
              <a:cxnLst/>
              <a:rect l="l" t="t" r="r" b="b"/>
              <a:pathLst>
                <a:path w="980439" h="980439">
                  <a:moveTo>
                    <a:pt x="489965" y="979931"/>
                  </a:moveTo>
                  <a:lnTo>
                    <a:pt x="442778" y="977689"/>
                  </a:lnTo>
                  <a:lnTo>
                    <a:pt x="396859" y="971097"/>
                  </a:lnTo>
                  <a:lnTo>
                    <a:pt x="352415" y="960361"/>
                  </a:lnTo>
                  <a:lnTo>
                    <a:pt x="309651" y="945688"/>
                  </a:lnTo>
                  <a:lnTo>
                    <a:pt x="268772" y="927281"/>
                  </a:lnTo>
                  <a:lnTo>
                    <a:pt x="229984" y="905347"/>
                  </a:lnTo>
                  <a:lnTo>
                    <a:pt x="193491" y="880091"/>
                  </a:lnTo>
                  <a:lnTo>
                    <a:pt x="159499" y="851717"/>
                  </a:lnTo>
                  <a:lnTo>
                    <a:pt x="128214" y="820432"/>
                  </a:lnTo>
                  <a:lnTo>
                    <a:pt x="99840" y="786440"/>
                  </a:lnTo>
                  <a:lnTo>
                    <a:pt x="74584" y="749947"/>
                  </a:lnTo>
                  <a:lnTo>
                    <a:pt x="52650" y="711159"/>
                  </a:lnTo>
                  <a:lnTo>
                    <a:pt x="34243" y="670280"/>
                  </a:lnTo>
                  <a:lnTo>
                    <a:pt x="19570" y="627516"/>
                  </a:lnTo>
                  <a:lnTo>
                    <a:pt x="8834" y="583072"/>
                  </a:lnTo>
                  <a:lnTo>
                    <a:pt x="2242" y="537153"/>
                  </a:lnTo>
                  <a:lnTo>
                    <a:pt x="0" y="489965"/>
                  </a:lnTo>
                  <a:lnTo>
                    <a:pt x="2242" y="442778"/>
                  </a:lnTo>
                  <a:lnTo>
                    <a:pt x="8834" y="396859"/>
                  </a:lnTo>
                  <a:lnTo>
                    <a:pt x="19570" y="352415"/>
                  </a:lnTo>
                  <a:lnTo>
                    <a:pt x="34243" y="309651"/>
                  </a:lnTo>
                  <a:lnTo>
                    <a:pt x="52650" y="268772"/>
                  </a:lnTo>
                  <a:lnTo>
                    <a:pt x="74584" y="229984"/>
                  </a:lnTo>
                  <a:lnTo>
                    <a:pt x="99840" y="193491"/>
                  </a:lnTo>
                  <a:lnTo>
                    <a:pt x="128214" y="159499"/>
                  </a:lnTo>
                  <a:lnTo>
                    <a:pt x="159499" y="128214"/>
                  </a:lnTo>
                  <a:lnTo>
                    <a:pt x="193491" y="99840"/>
                  </a:lnTo>
                  <a:lnTo>
                    <a:pt x="229984" y="74584"/>
                  </a:lnTo>
                  <a:lnTo>
                    <a:pt x="268772" y="52650"/>
                  </a:lnTo>
                  <a:lnTo>
                    <a:pt x="309651" y="34243"/>
                  </a:lnTo>
                  <a:lnTo>
                    <a:pt x="352415" y="19570"/>
                  </a:lnTo>
                  <a:lnTo>
                    <a:pt x="396859" y="8834"/>
                  </a:lnTo>
                  <a:lnTo>
                    <a:pt x="442778" y="2242"/>
                  </a:lnTo>
                  <a:lnTo>
                    <a:pt x="489965" y="0"/>
                  </a:lnTo>
                  <a:lnTo>
                    <a:pt x="537153" y="2242"/>
                  </a:lnTo>
                  <a:lnTo>
                    <a:pt x="583072" y="8834"/>
                  </a:lnTo>
                  <a:lnTo>
                    <a:pt x="627516" y="19570"/>
                  </a:lnTo>
                  <a:lnTo>
                    <a:pt x="670280" y="34243"/>
                  </a:lnTo>
                  <a:lnTo>
                    <a:pt x="711159" y="52650"/>
                  </a:lnTo>
                  <a:lnTo>
                    <a:pt x="749947" y="74584"/>
                  </a:lnTo>
                  <a:lnTo>
                    <a:pt x="786440" y="99840"/>
                  </a:lnTo>
                  <a:lnTo>
                    <a:pt x="820432" y="128214"/>
                  </a:lnTo>
                  <a:lnTo>
                    <a:pt x="851717" y="159499"/>
                  </a:lnTo>
                  <a:lnTo>
                    <a:pt x="880090" y="193491"/>
                  </a:lnTo>
                  <a:lnTo>
                    <a:pt x="905347" y="229984"/>
                  </a:lnTo>
                  <a:lnTo>
                    <a:pt x="927281" y="268772"/>
                  </a:lnTo>
                  <a:lnTo>
                    <a:pt x="945688" y="309651"/>
                  </a:lnTo>
                  <a:lnTo>
                    <a:pt x="960361" y="352415"/>
                  </a:lnTo>
                  <a:lnTo>
                    <a:pt x="971097" y="396859"/>
                  </a:lnTo>
                  <a:lnTo>
                    <a:pt x="977689" y="442778"/>
                  </a:lnTo>
                  <a:lnTo>
                    <a:pt x="979931" y="489965"/>
                  </a:lnTo>
                  <a:lnTo>
                    <a:pt x="977689" y="537153"/>
                  </a:lnTo>
                  <a:lnTo>
                    <a:pt x="971097" y="583072"/>
                  </a:lnTo>
                  <a:lnTo>
                    <a:pt x="960361" y="627516"/>
                  </a:lnTo>
                  <a:lnTo>
                    <a:pt x="945688" y="670280"/>
                  </a:lnTo>
                  <a:lnTo>
                    <a:pt x="927281" y="711159"/>
                  </a:lnTo>
                  <a:lnTo>
                    <a:pt x="905347" y="749947"/>
                  </a:lnTo>
                  <a:lnTo>
                    <a:pt x="880090" y="786440"/>
                  </a:lnTo>
                  <a:lnTo>
                    <a:pt x="851717" y="820432"/>
                  </a:lnTo>
                  <a:lnTo>
                    <a:pt x="820432" y="851717"/>
                  </a:lnTo>
                  <a:lnTo>
                    <a:pt x="786440" y="880091"/>
                  </a:lnTo>
                  <a:lnTo>
                    <a:pt x="749947" y="905347"/>
                  </a:lnTo>
                  <a:lnTo>
                    <a:pt x="711159" y="927281"/>
                  </a:lnTo>
                  <a:lnTo>
                    <a:pt x="670280" y="945688"/>
                  </a:lnTo>
                  <a:lnTo>
                    <a:pt x="627516" y="960361"/>
                  </a:lnTo>
                  <a:lnTo>
                    <a:pt x="583072" y="971097"/>
                  </a:lnTo>
                  <a:lnTo>
                    <a:pt x="537153" y="977689"/>
                  </a:lnTo>
                  <a:lnTo>
                    <a:pt x="489965" y="979931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863454" y="2049476"/>
              <a:ext cx="980440" cy="980440"/>
            </a:xfrm>
            <a:custGeom>
              <a:avLst/>
              <a:gdLst/>
              <a:ahLst/>
              <a:cxnLst/>
              <a:rect l="l" t="t" r="r" b="b"/>
              <a:pathLst>
                <a:path w="980439" h="980439">
                  <a:moveTo>
                    <a:pt x="2" y="489941"/>
                  </a:moveTo>
                  <a:lnTo>
                    <a:pt x="2247" y="442756"/>
                  </a:lnTo>
                  <a:lnTo>
                    <a:pt x="8840" y="396840"/>
                  </a:lnTo>
                  <a:lnTo>
                    <a:pt x="19576" y="352399"/>
                  </a:lnTo>
                  <a:lnTo>
                    <a:pt x="34250" y="309638"/>
                  </a:lnTo>
                  <a:lnTo>
                    <a:pt x="52656" y="268762"/>
                  </a:lnTo>
                  <a:lnTo>
                    <a:pt x="74589" y="229977"/>
                  </a:lnTo>
                  <a:lnTo>
                    <a:pt x="99844" y="193487"/>
                  </a:lnTo>
                  <a:lnTo>
                    <a:pt x="128216" y="159497"/>
                  </a:lnTo>
                  <a:lnTo>
                    <a:pt x="159499" y="128214"/>
                  </a:lnTo>
                  <a:lnTo>
                    <a:pt x="193488" y="99842"/>
                  </a:lnTo>
                  <a:lnTo>
                    <a:pt x="229978" y="74587"/>
                  </a:lnTo>
                  <a:lnTo>
                    <a:pt x="268763" y="52653"/>
                  </a:lnTo>
                  <a:lnTo>
                    <a:pt x="309639" y="34246"/>
                  </a:lnTo>
                  <a:lnTo>
                    <a:pt x="352400" y="19572"/>
                  </a:lnTo>
                  <a:lnTo>
                    <a:pt x="396841" y="8836"/>
                  </a:lnTo>
                  <a:lnTo>
                    <a:pt x="442757" y="2242"/>
                  </a:lnTo>
                  <a:lnTo>
                    <a:pt x="489943" y="0"/>
                  </a:lnTo>
                  <a:lnTo>
                    <a:pt x="537129" y="2238"/>
                  </a:lnTo>
                  <a:lnTo>
                    <a:pt x="583046" y="8827"/>
                  </a:lnTo>
                  <a:lnTo>
                    <a:pt x="627489" y="19559"/>
                  </a:lnTo>
                  <a:lnTo>
                    <a:pt x="670253" y="34229"/>
                  </a:lnTo>
                  <a:lnTo>
                    <a:pt x="711132" y="52633"/>
                  </a:lnTo>
                  <a:lnTo>
                    <a:pt x="749922" y="74564"/>
                  </a:lnTo>
                  <a:lnTo>
                    <a:pt x="786416" y="99818"/>
                  </a:lnTo>
                  <a:lnTo>
                    <a:pt x="820410" y="128190"/>
                  </a:lnTo>
                  <a:lnTo>
                    <a:pt x="851697" y="159473"/>
                  </a:lnTo>
                  <a:lnTo>
                    <a:pt x="880073" y="193463"/>
                  </a:lnTo>
                  <a:lnTo>
                    <a:pt x="905333" y="229955"/>
                  </a:lnTo>
                  <a:lnTo>
                    <a:pt x="927270" y="268743"/>
                  </a:lnTo>
                  <a:lnTo>
                    <a:pt x="945679" y="309622"/>
                  </a:lnTo>
                  <a:lnTo>
                    <a:pt x="960356" y="352387"/>
                  </a:lnTo>
                  <a:lnTo>
                    <a:pt x="971094" y="396833"/>
                  </a:lnTo>
                  <a:lnTo>
                    <a:pt x="977688" y="442753"/>
                  </a:lnTo>
                  <a:lnTo>
                    <a:pt x="979933" y="489943"/>
                  </a:lnTo>
                  <a:lnTo>
                    <a:pt x="977692" y="537133"/>
                  </a:lnTo>
                  <a:lnTo>
                    <a:pt x="971102" y="583054"/>
                  </a:lnTo>
                  <a:lnTo>
                    <a:pt x="960367" y="627501"/>
                  </a:lnTo>
                  <a:lnTo>
                    <a:pt x="945693" y="670269"/>
                  </a:lnTo>
                  <a:lnTo>
                    <a:pt x="927286" y="711151"/>
                  </a:lnTo>
                  <a:lnTo>
                    <a:pt x="905351" y="749942"/>
                  </a:lnTo>
                  <a:lnTo>
                    <a:pt x="880093" y="786437"/>
                  </a:lnTo>
                  <a:lnTo>
                    <a:pt x="851717" y="820431"/>
                  </a:lnTo>
                  <a:lnTo>
                    <a:pt x="820430" y="851718"/>
                  </a:lnTo>
                  <a:lnTo>
                    <a:pt x="786435" y="880093"/>
                  </a:lnTo>
                  <a:lnTo>
                    <a:pt x="749940" y="905351"/>
                  </a:lnTo>
                  <a:lnTo>
                    <a:pt x="711148" y="927285"/>
                  </a:lnTo>
                  <a:lnTo>
                    <a:pt x="670266" y="945692"/>
                  </a:lnTo>
                  <a:lnTo>
                    <a:pt x="627498" y="960365"/>
                  </a:lnTo>
                  <a:lnTo>
                    <a:pt x="583052" y="971099"/>
                  </a:lnTo>
                  <a:lnTo>
                    <a:pt x="537130" y="977689"/>
                  </a:lnTo>
                  <a:lnTo>
                    <a:pt x="489940" y="979929"/>
                  </a:lnTo>
                  <a:lnTo>
                    <a:pt x="442751" y="977683"/>
                  </a:lnTo>
                  <a:lnTo>
                    <a:pt x="396831" y="971089"/>
                  </a:lnTo>
                  <a:lnTo>
                    <a:pt x="352387" y="960350"/>
                  </a:lnTo>
                  <a:lnTo>
                    <a:pt x="309622" y="945673"/>
                  </a:lnTo>
                  <a:lnTo>
                    <a:pt x="268744" y="927264"/>
                  </a:lnTo>
                  <a:lnTo>
                    <a:pt x="229957" y="905326"/>
                  </a:lnTo>
                  <a:lnTo>
                    <a:pt x="193465" y="880067"/>
                  </a:lnTo>
                  <a:lnTo>
                    <a:pt x="159476" y="851691"/>
                  </a:lnTo>
                  <a:lnTo>
                    <a:pt x="128193" y="820404"/>
                  </a:lnTo>
                  <a:lnTo>
                    <a:pt x="99822" y="786411"/>
                  </a:lnTo>
                  <a:lnTo>
                    <a:pt x="74568" y="749917"/>
                  </a:lnTo>
                  <a:lnTo>
                    <a:pt x="52637" y="711128"/>
                  </a:lnTo>
                  <a:lnTo>
                    <a:pt x="34234" y="670249"/>
                  </a:lnTo>
                  <a:lnTo>
                    <a:pt x="19564" y="627485"/>
                  </a:lnTo>
                  <a:lnTo>
                    <a:pt x="8831" y="583043"/>
                  </a:lnTo>
                  <a:lnTo>
                    <a:pt x="2242" y="537126"/>
                  </a:lnTo>
                  <a:lnTo>
                    <a:pt x="0" y="489940"/>
                  </a:lnTo>
                </a:path>
              </a:pathLst>
            </a:custGeom>
            <a:ln w="38129">
              <a:solidFill>
                <a:srgbClr val="00426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8344703" y="2030411"/>
            <a:ext cx="1018540" cy="1018540"/>
            <a:chOff x="8344703" y="2030411"/>
            <a:chExt cx="1018540" cy="1018540"/>
          </a:xfrm>
        </p:grpSpPr>
        <p:sp>
          <p:nvSpPr>
            <p:cNvPr id="11" name="object 11"/>
            <p:cNvSpPr/>
            <p:nvPr/>
          </p:nvSpPr>
          <p:spPr>
            <a:xfrm>
              <a:off x="8363768" y="2049475"/>
              <a:ext cx="980440" cy="980440"/>
            </a:xfrm>
            <a:custGeom>
              <a:avLst/>
              <a:gdLst/>
              <a:ahLst/>
              <a:cxnLst/>
              <a:rect l="l" t="t" r="r" b="b"/>
              <a:pathLst>
                <a:path w="980440" h="980439">
                  <a:moveTo>
                    <a:pt x="489965" y="979931"/>
                  </a:moveTo>
                  <a:lnTo>
                    <a:pt x="442778" y="977689"/>
                  </a:lnTo>
                  <a:lnTo>
                    <a:pt x="396859" y="971097"/>
                  </a:lnTo>
                  <a:lnTo>
                    <a:pt x="352415" y="960361"/>
                  </a:lnTo>
                  <a:lnTo>
                    <a:pt x="309651" y="945688"/>
                  </a:lnTo>
                  <a:lnTo>
                    <a:pt x="268772" y="927281"/>
                  </a:lnTo>
                  <a:lnTo>
                    <a:pt x="229984" y="905347"/>
                  </a:lnTo>
                  <a:lnTo>
                    <a:pt x="193491" y="880091"/>
                  </a:lnTo>
                  <a:lnTo>
                    <a:pt x="159499" y="851717"/>
                  </a:lnTo>
                  <a:lnTo>
                    <a:pt x="128214" y="820432"/>
                  </a:lnTo>
                  <a:lnTo>
                    <a:pt x="99840" y="786440"/>
                  </a:lnTo>
                  <a:lnTo>
                    <a:pt x="74584" y="749947"/>
                  </a:lnTo>
                  <a:lnTo>
                    <a:pt x="52650" y="711159"/>
                  </a:lnTo>
                  <a:lnTo>
                    <a:pt x="34243" y="670280"/>
                  </a:lnTo>
                  <a:lnTo>
                    <a:pt x="19569" y="627516"/>
                  </a:lnTo>
                  <a:lnTo>
                    <a:pt x="8834" y="583072"/>
                  </a:lnTo>
                  <a:lnTo>
                    <a:pt x="2242" y="537153"/>
                  </a:lnTo>
                  <a:lnTo>
                    <a:pt x="0" y="489965"/>
                  </a:lnTo>
                  <a:lnTo>
                    <a:pt x="2242" y="442778"/>
                  </a:lnTo>
                  <a:lnTo>
                    <a:pt x="8834" y="396859"/>
                  </a:lnTo>
                  <a:lnTo>
                    <a:pt x="19569" y="352415"/>
                  </a:lnTo>
                  <a:lnTo>
                    <a:pt x="34243" y="309651"/>
                  </a:lnTo>
                  <a:lnTo>
                    <a:pt x="52650" y="268772"/>
                  </a:lnTo>
                  <a:lnTo>
                    <a:pt x="74584" y="229984"/>
                  </a:lnTo>
                  <a:lnTo>
                    <a:pt x="99840" y="193491"/>
                  </a:lnTo>
                  <a:lnTo>
                    <a:pt x="128214" y="159499"/>
                  </a:lnTo>
                  <a:lnTo>
                    <a:pt x="159499" y="128214"/>
                  </a:lnTo>
                  <a:lnTo>
                    <a:pt x="193491" y="99840"/>
                  </a:lnTo>
                  <a:lnTo>
                    <a:pt x="229984" y="74584"/>
                  </a:lnTo>
                  <a:lnTo>
                    <a:pt x="268772" y="52650"/>
                  </a:lnTo>
                  <a:lnTo>
                    <a:pt x="309651" y="34243"/>
                  </a:lnTo>
                  <a:lnTo>
                    <a:pt x="352415" y="19570"/>
                  </a:lnTo>
                  <a:lnTo>
                    <a:pt x="396859" y="8834"/>
                  </a:lnTo>
                  <a:lnTo>
                    <a:pt x="442778" y="2242"/>
                  </a:lnTo>
                  <a:lnTo>
                    <a:pt x="489965" y="0"/>
                  </a:lnTo>
                  <a:lnTo>
                    <a:pt x="537153" y="2242"/>
                  </a:lnTo>
                  <a:lnTo>
                    <a:pt x="583072" y="8834"/>
                  </a:lnTo>
                  <a:lnTo>
                    <a:pt x="627516" y="19570"/>
                  </a:lnTo>
                  <a:lnTo>
                    <a:pt x="670280" y="34243"/>
                  </a:lnTo>
                  <a:lnTo>
                    <a:pt x="711159" y="52650"/>
                  </a:lnTo>
                  <a:lnTo>
                    <a:pt x="749947" y="74584"/>
                  </a:lnTo>
                  <a:lnTo>
                    <a:pt x="786440" y="99840"/>
                  </a:lnTo>
                  <a:lnTo>
                    <a:pt x="820432" y="128214"/>
                  </a:lnTo>
                  <a:lnTo>
                    <a:pt x="851717" y="159499"/>
                  </a:lnTo>
                  <a:lnTo>
                    <a:pt x="880090" y="193491"/>
                  </a:lnTo>
                  <a:lnTo>
                    <a:pt x="905347" y="229984"/>
                  </a:lnTo>
                  <a:lnTo>
                    <a:pt x="927281" y="268772"/>
                  </a:lnTo>
                  <a:lnTo>
                    <a:pt x="945688" y="309651"/>
                  </a:lnTo>
                  <a:lnTo>
                    <a:pt x="960361" y="352415"/>
                  </a:lnTo>
                  <a:lnTo>
                    <a:pt x="971097" y="396859"/>
                  </a:lnTo>
                  <a:lnTo>
                    <a:pt x="977689" y="442778"/>
                  </a:lnTo>
                  <a:lnTo>
                    <a:pt x="979931" y="489965"/>
                  </a:lnTo>
                  <a:lnTo>
                    <a:pt x="977689" y="537153"/>
                  </a:lnTo>
                  <a:lnTo>
                    <a:pt x="971097" y="583072"/>
                  </a:lnTo>
                  <a:lnTo>
                    <a:pt x="960361" y="627516"/>
                  </a:lnTo>
                  <a:lnTo>
                    <a:pt x="945688" y="670280"/>
                  </a:lnTo>
                  <a:lnTo>
                    <a:pt x="927281" y="711159"/>
                  </a:lnTo>
                  <a:lnTo>
                    <a:pt x="905347" y="749947"/>
                  </a:lnTo>
                  <a:lnTo>
                    <a:pt x="880090" y="786440"/>
                  </a:lnTo>
                  <a:lnTo>
                    <a:pt x="851717" y="820432"/>
                  </a:lnTo>
                  <a:lnTo>
                    <a:pt x="820432" y="851717"/>
                  </a:lnTo>
                  <a:lnTo>
                    <a:pt x="786440" y="880091"/>
                  </a:lnTo>
                  <a:lnTo>
                    <a:pt x="749947" y="905347"/>
                  </a:lnTo>
                  <a:lnTo>
                    <a:pt x="711159" y="927281"/>
                  </a:lnTo>
                  <a:lnTo>
                    <a:pt x="670280" y="945688"/>
                  </a:lnTo>
                  <a:lnTo>
                    <a:pt x="627516" y="960361"/>
                  </a:lnTo>
                  <a:lnTo>
                    <a:pt x="583072" y="971097"/>
                  </a:lnTo>
                  <a:lnTo>
                    <a:pt x="537153" y="977689"/>
                  </a:lnTo>
                  <a:lnTo>
                    <a:pt x="489965" y="979931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8363767" y="2049476"/>
              <a:ext cx="980440" cy="980440"/>
            </a:xfrm>
            <a:custGeom>
              <a:avLst/>
              <a:gdLst/>
              <a:ahLst/>
              <a:cxnLst/>
              <a:rect l="l" t="t" r="r" b="b"/>
              <a:pathLst>
                <a:path w="980440" h="980439">
                  <a:moveTo>
                    <a:pt x="2" y="489941"/>
                  </a:moveTo>
                  <a:lnTo>
                    <a:pt x="2247" y="442756"/>
                  </a:lnTo>
                  <a:lnTo>
                    <a:pt x="8840" y="396840"/>
                  </a:lnTo>
                  <a:lnTo>
                    <a:pt x="19576" y="352399"/>
                  </a:lnTo>
                  <a:lnTo>
                    <a:pt x="34250" y="309638"/>
                  </a:lnTo>
                  <a:lnTo>
                    <a:pt x="52656" y="268762"/>
                  </a:lnTo>
                  <a:lnTo>
                    <a:pt x="74589" y="229977"/>
                  </a:lnTo>
                  <a:lnTo>
                    <a:pt x="99844" y="193487"/>
                  </a:lnTo>
                  <a:lnTo>
                    <a:pt x="128216" y="159497"/>
                  </a:lnTo>
                  <a:lnTo>
                    <a:pt x="159499" y="128214"/>
                  </a:lnTo>
                  <a:lnTo>
                    <a:pt x="193488" y="99842"/>
                  </a:lnTo>
                  <a:lnTo>
                    <a:pt x="229978" y="74587"/>
                  </a:lnTo>
                  <a:lnTo>
                    <a:pt x="268763" y="52653"/>
                  </a:lnTo>
                  <a:lnTo>
                    <a:pt x="309639" y="34246"/>
                  </a:lnTo>
                  <a:lnTo>
                    <a:pt x="352400" y="19572"/>
                  </a:lnTo>
                  <a:lnTo>
                    <a:pt x="396841" y="8836"/>
                  </a:lnTo>
                  <a:lnTo>
                    <a:pt x="442757" y="2242"/>
                  </a:lnTo>
                  <a:lnTo>
                    <a:pt x="489943" y="0"/>
                  </a:lnTo>
                  <a:lnTo>
                    <a:pt x="537128" y="2238"/>
                  </a:lnTo>
                  <a:lnTo>
                    <a:pt x="583046" y="8826"/>
                  </a:lnTo>
                  <a:lnTo>
                    <a:pt x="627489" y="19559"/>
                  </a:lnTo>
                  <a:lnTo>
                    <a:pt x="670253" y="34229"/>
                  </a:lnTo>
                  <a:lnTo>
                    <a:pt x="711132" y="52633"/>
                  </a:lnTo>
                  <a:lnTo>
                    <a:pt x="749922" y="74564"/>
                  </a:lnTo>
                  <a:lnTo>
                    <a:pt x="786416" y="99818"/>
                  </a:lnTo>
                  <a:lnTo>
                    <a:pt x="820410" y="128190"/>
                  </a:lnTo>
                  <a:lnTo>
                    <a:pt x="851697" y="159473"/>
                  </a:lnTo>
                  <a:lnTo>
                    <a:pt x="880073" y="193463"/>
                  </a:lnTo>
                  <a:lnTo>
                    <a:pt x="905333" y="229955"/>
                  </a:lnTo>
                  <a:lnTo>
                    <a:pt x="927270" y="268743"/>
                  </a:lnTo>
                  <a:lnTo>
                    <a:pt x="945679" y="309622"/>
                  </a:lnTo>
                  <a:lnTo>
                    <a:pt x="960356" y="352387"/>
                  </a:lnTo>
                  <a:lnTo>
                    <a:pt x="971094" y="396833"/>
                  </a:lnTo>
                  <a:lnTo>
                    <a:pt x="977689" y="442753"/>
                  </a:lnTo>
                  <a:lnTo>
                    <a:pt x="979934" y="489943"/>
                  </a:lnTo>
                  <a:lnTo>
                    <a:pt x="977692" y="537133"/>
                  </a:lnTo>
                  <a:lnTo>
                    <a:pt x="971102" y="583054"/>
                  </a:lnTo>
                  <a:lnTo>
                    <a:pt x="960367" y="627502"/>
                  </a:lnTo>
                  <a:lnTo>
                    <a:pt x="945693" y="670269"/>
                  </a:lnTo>
                  <a:lnTo>
                    <a:pt x="927286" y="711151"/>
                  </a:lnTo>
                  <a:lnTo>
                    <a:pt x="905351" y="749942"/>
                  </a:lnTo>
                  <a:lnTo>
                    <a:pt x="880093" y="786437"/>
                  </a:lnTo>
                  <a:lnTo>
                    <a:pt x="851717" y="820431"/>
                  </a:lnTo>
                  <a:lnTo>
                    <a:pt x="820430" y="851718"/>
                  </a:lnTo>
                  <a:lnTo>
                    <a:pt x="786435" y="880093"/>
                  </a:lnTo>
                  <a:lnTo>
                    <a:pt x="749939" y="905351"/>
                  </a:lnTo>
                  <a:lnTo>
                    <a:pt x="711148" y="927285"/>
                  </a:lnTo>
                  <a:lnTo>
                    <a:pt x="670266" y="945692"/>
                  </a:lnTo>
                  <a:lnTo>
                    <a:pt x="627498" y="960365"/>
                  </a:lnTo>
                  <a:lnTo>
                    <a:pt x="583051" y="971099"/>
                  </a:lnTo>
                  <a:lnTo>
                    <a:pt x="537130" y="977689"/>
                  </a:lnTo>
                  <a:lnTo>
                    <a:pt x="489940" y="979929"/>
                  </a:lnTo>
                  <a:lnTo>
                    <a:pt x="442751" y="977683"/>
                  </a:lnTo>
                  <a:lnTo>
                    <a:pt x="396831" y="971089"/>
                  </a:lnTo>
                  <a:lnTo>
                    <a:pt x="352387" y="960350"/>
                  </a:lnTo>
                  <a:lnTo>
                    <a:pt x="309622" y="945673"/>
                  </a:lnTo>
                  <a:lnTo>
                    <a:pt x="268744" y="927264"/>
                  </a:lnTo>
                  <a:lnTo>
                    <a:pt x="229956" y="905326"/>
                  </a:lnTo>
                  <a:lnTo>
                    <a:pt x="193465" y="880067"/>
                  </a:lnTo>
                  <a:lnTo>
                    <a:pt x="159476" y="851691"/>
                  </a:lnTo>
                  <a:lnTo>
                    <a:pt x="128193" y="820404"/>
                  </a:lnTo>
                  <a:lnTo>
                    <a:pt x="99822" y="786411"/>
                  </a:lnTo>
                  <a:lnTo>
                    <a:pt x="74568" y="749917"/>
                  </a:lnTo>
                  <a:lnTo>
                    <a:pt x="52637" y="711128"/>
                  </a:lnTo>
                  <a:lnTo>
                    <a:pt x="34234" y="670249"/>
                  </a:lnTo>
                  <a:lnTo>
                    <a:pt x="19564" y="627485"/>
                  </a:lnTo>
                  <a:lnTo>
                    <a:pt x="8831" y="583043"/>
                  </a:lnTo>
                  <a:lnTo>
                    <a:pt x="2242" y="537126"/>
                  </a:lnTo>
                  <a:lnTo>
                    <a:pt x="0" y="489940"/>
                  </a:lnTo>
                </a:path>
              </a:pathLst>
            </a:custGeom>
            <a:ln w="38129">
              <a:solidFill>
                <a:srgbClr val="00426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/>
          <p:cNvGrpSpPr/>
          <p:nvPr/>
        </p:nvGrpSpPr>
        <p:grpSpPr>
          <a:xfrm>
            <a:off x="11845016" y="2030411"/>
            <a:ext cx="1018540" cy="1018540"/>
            <a:chOff x="11845016" y="2030411"/>
            <a:chExt cx="1018540" cy="1018540"/>
          </a:xfrm>
        </p:grpSpPr>
        <p:sp>
          <p:nvSpPr>
            <p:cNvPr id="14" name="object 14"/>
            <p:cNvSpPr/>
            <p:nvPr/>
          </p:nvSpPr>
          <p:spPr>
            <a:xfrm>
              <a:off x="11864082" y="2049475"/>
              <a:ext cx="980440" cy="980440"/>
            </a:xfrm>
            <a:custGeom>
              <a:avLst/>
              <a:gdLst/>
              <a:ahLst/>
              <a:cxnLst/>
              <a:rect l="l" t="t" r="r" b="b"/>
              <a:pathLst>
                <a:path w="980440" h="980439">
                  <a:moveTo>
                    <a:pt x="489965" y="979931"/>
                  </a:moveTo>
                  <a:lnTo>
                    <a:pt x="442778" y="977689"/>
                  </a:lnTo>
                  <a:lnTo>
                    <a:pt x="396859" y="971097"/>
                  </a:lnTo>
                  <a:lnTo>
                    <a:pt x="352415" y="960361"/>
                  </a:lnTo>
                  <a:lnTo>
                    <a:pt x="309651" y="945688"/>
                  </a:lnTo>
                  <a:lnTo>
                    <a:pt x="268772" y="927281"/>
                  </a:lnTo>
                  <a:lnTo>
                    <a:pt x="229984" y="905347"/>
                  </a:lnTo>
                  <a:lnTo>
                    <a:pt x="193491" y="880091"/>
                  </a:lnTo>
                  <a:lnTo>
                    <a:pt x="159499" y="851717"/>
                  </a:lnTo>
                  <a:lnTo>
                    <a:pt x="128214" y="820432"/>
                  </a:lnTo>
                  <a:lnTo>
                    <a:pt x="99841" y="786440"/>
                  </a:lnTo>
                  <a:lnTo>
                    <a:pt x="74584" y="749947"/>
                  </a:lnTo>
                  <a:lnTo>
                    <a:pt x="52650" y="711159"/>
                  </a:lnTo>
                  <a:lnTo>
                    <a:pt x="34243" y="670280"/>
                  </a:lnTo>
                  <a:lnTo>
                    <a:pt x="19570" y="627516"/>
                  </a:lnTo>
                  <a:lnTo>
                    <a:pt x="8834" y="583072"/>
                  </a:lnTo>
                  <a:lnTo>
                    <a:pt x="2242" y="537153"/>
                  </a:lnTo>
                  <a:lnTo>
                    <a:pt x="0" y="489965"/>
                  </a:lnTo>
                  <a:lnTo>
                    <a:pt x="2242" y="442778"/>
                  </a:lnTo>
                  <a:lnTo>
                    <a:pt x="8834" y="396859"/>
                  </a:lnTo>
                  <a:lnTo>
                    <a:pt x="19570" y="352415"/>
                  </a:lnTo>
                  <a:lnTo>
                    <a:pt x="34243" y="309651"/>
                  </a:lnTo>
                  <a:lnTo>
                    <a:pt x="52650" y="268772"/>
                  </a:lnTo>
                  <a:lnTo>
                    <a:pt x="74584" y="229984"/>
                  </a:lnTo>
                  <a:lnTo>
                    <a:pt x="99841" y="193491"/>
                  </a:lnTo>
                  <a:lnTo>
                    <a:pt x="128214" y="159499"/>
                  </a:lnTo>
                  <a:lnTo>
                    <a:pt x="159499" y="128214"/>
                  </a:lnTo>
                  <a:lnTo>
                    <a:pt x="193491" y="99840"/>
                  </a:lnTo>
                  <a:lnTo>
                    <a:pt x="229984" y="74584"/>
                  </a:lnTo>
                  <a:lnTo>
                    <a:pt x="268772" y="52650"/>
                  </a:lnTo>
                  <a:lnTo>
                    <a:pt x="309651" y="34243"/>
                  </a:lnTo>
                  <a:lnTo>
                    <a:pt x="352415" y="19570"/>
                  </a:lnTo>
                  <a:lnTo>
                    <a:pt x="396859" y="8834"/>
                  </a:lnTo>
                  <a:lnTo>
                    <a:pt x="442778" y="2242"/>
                  </a:lnTo>
                  <a:lnTo>
                    <a:pt x="489965" y="0"/>
                  </a:lnTo>
                  <a:lnTo>
                    <a:pt x="537153" y="2242"/>
                  </a:lnTo>
                  <a:lnTo>
                    <a:pt x="583072" y="8834"/>
                  </a:lnTo>
                  <a:lnTo>
                    <a:pt x="627516" y="19570"/>
                  </a:lnTo>
                  <a:lnTo>
                    <a:pt x="670280" y="34243"/>
                  </a:lnTo>
                  <a:lnTo>
                    <a:pt x="711159" y="52650"/>
                  </a:lnTo>
                  <a:lnTo>
                    <a:pt x="749947" y="74584"/>
                  </a:lnTo>
                  <a:lnTo>
                    <a:pt x="786440" y="99840"/>
                  </a:lnTo>
                  <a:lnTo>
                    <a:pt x="820432" y="128214"/>
                  </a:lnTo>
                  <a:lnTo>
                    <a:pt x="851717" y="159499"/>
                  </a:lnTo>
                  <a:lnTo>
                    <a:pt x="880091" y="193491"/>
                  </a:lnTo>
                  <a:lnTo>
                    <a:pt x="905347" y="229984"/>
                  </a:lnTo>
                  <a:lnTo>
                    <a:pt x="927281" y="268772"/>
                  </a:lnTo>
                  <a:lnTo>
                    <a:pt x="945688" y="309651"/>
                  </a:lnTo>
                  <a:lnTo>
                    <a:pt x="960361" y="352415"/>
                  </a:lnTo>
                  <a:lnTo>
                    <a:pt x="971097" y="396859"/>
                  </a:lnTo>
                  <a:lnTo>
                    <a:pt x="977689" y="442778"/>
                  </a:lnTo>
                  <a:lnTo>
                    <a:pt x="979931" y="489965"/>
                  </a:lnTo>
                  <a:lnTo>
                    <a:pt x="977689" y="537153"/>
                  </a:lnTo>
                  <a:lnTo>
                    <a:pt x="971097" y="583072"/>
                  </a:lnTo>
                  <a:lnTo>
                    <a:pt x="960361" y="627516"/>
                  </a:lnTo>
                  <a:lnTo>
                    <a:pt x="945688" y="670280"/>
                  </a:lnTo>
                  <a:lnTo>
                    <a:pt x="927281" y="711159"/>
                  </a:lnTo>
                  <a:lnTo>
                    <a:pt x="905347" y="749947"/>
                  </a:lnTo>
                  <a:lnTo>
                    <a:pt x="880091" y="786440"/>
                  </a:lnTo>
                  <a:lnTo>
                    <a:pt x="851717" y="820432"/>
                  </a:lnTo>
                  <a:lnTo>
                    <a:pt x="820432" y="851717"/>
                  </a:lnTo>
                  <a:lnTo>
                    <a:pt x="786440" y="880091"/>
                  </a:lnTo>
                  <a:lnTo>
                    <a:pt x="749947" y="905347"/>
                  </a:lnTo>
                  <a:lnTo>
                    <a:pt x="711159" y="927281"/>
                  </a:lnTo>
                  <a:lnTo>
                    <a:pt x="670280" y="945688"/>
                  </a:lnTo>
                  <a:lnTo>
                    <a:pt x="627516" y="960361"/>
                  </a:lnTo>
                  <a:lnTo>
                    <a:pt x="583072" y="971097"/>
                  </a:lnTo>
                  <a:lnTo>
                    <a:pt x="537153" y="977689"/>
                  </a:lnTo>
                  <a:lnTo>
                    <a:pt x="489965" y="979931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1864081" y="2049476"/>
              <a:ext cx="980440" cy="980440"/>
            </a:xfrm>
            <a:custGeom>
              <a:avLst/>
              <a:gdLst/>
              <a:ahLst/>
              <a:cxnLst/>
              <a:rect l="l" t="t" r="r" b="b"/>
              <a:pathLst>
                <a:path w="980440" h="980439">
                  <a:moveTo>
                    <a:pt x="2" y="489941"/>
                  </a:moveTo>
                  <a:lnTo>
                    <a:pt x="2247" y="442756"/>
                  </a:lnTo>
                  <a:lnTo>
                    <a:pt x="8840" y="396840"/>
                  </a:lnTo>
                  <a:lnTo>
                    <a:pt x="19576" y="352399"/>
                  </a:lnTo>
                  <a:lnTo>
                    <a:pt x="34250" y="309638"/>
                  </a:lnTo>
                  <a:lnTo>
                    <a:pt x="52656" y="268762"/>
                  </a:lnTo>
                  <a:lnTo>
                    <a:pt x="74589" y="229977"/>
                  </a:lnTo>
                  <a:lnTo>
                    <a:pt x="99844" y="193487"/>
                  </a:lnTo>
                  <a:lnTo>
                    <a:pt x="128216" y="159498"/>
                  </a:lnTo>
                  <a:lnTo>
                    <a:pt x="159499" y="128214"/>
                  </a:lnTo>
                  <a:lnTo>
                    <a:pt x="193488" y="99842"/>
                  </a:lnTo>
                  <a:lnTo>
                    <a:pt x="229978" y="74587"/>
                  </a:lnTo>
                  <a:lnTo>
                    <a:pt x="268763" y="52653"/>
                  </a:lnTo>
                  <a:lnTo>
                    <a:pt x="309639" y="34247"/>
                  </a:lnTo>
                  <a:lnTo>
                    <a:pt x="352400" y="19572"/>
                  </a:lnTo>
                  <a:lnTo>
                    <a:pt x="396841" y="8836"/>
                  </a:lnTo>
                  <a:lnTo>
                    <a:pt x="442757" y="2242"/>
                  </a:lnTo>
                  <a:lnTo>
                    <a:pt x="489943" y="0"/>
                  </a:lnTo>
                  <a:lnTo>
                    <a:pt x="537128" y="2238"/>
                  </a:lnTo>
                  <a:lnTo>
                    <a:pt x="583046" y="8826"/>
                  </a:lnTo>
                  <a:lnTo>
                    <a:pt x="627489" y="19559"/>
                  </a:lnTo>
                  <a:lnTo>
                    <a:pt x="670253" y="34229"/>
                  </a:lnTo>
                  <a:lnTo>
                    <a:pt x="711132" y="52633"/>
                  </a:lnTo>
                  <a:lnTo>
                    <a:pt x="749922" y="74564"/>
                  </a:lnTo>
                  <a:lnTo>
                    <a:pt x="786416" y="99818"/>
                  </a:lnTo>
                  <a:lnTo>
                    <a:pt x="820410" y="128190"/>
                  </a:lnTo>
                  <a:lnTo>
                    <a:pt x="851697" y="159473"/>
                  </a:lnTo>
                  <a:lnTo>
                    <a:pt x="880073" y="193463"/>
                  </a:lnTo>
                  <a:lnTo>
                    <a:pt x="905333" y="229955"/>
                  </a:lnTo>
                  <a:lnTo>
                    <a:pt x="927270" y="268743"/>
                  </a:lnTo>
                  <a:lnTo>
                    <a:pt x="945679" y="309622"/>
                  </a:lnTo>
                  <a:lnTo>
                    <a:pt x="960356" y="352387"/>
                  </a:lnTo>
                  <a:lnTo>
                    <a:pt x="971094" y="396833"/>
                  </a:lnTo>
                  <a:lnTo>
                    <a:pt x="977689" y="442753"/>
                  </a:lnTo>
                  <a:lnTo>
                    <a:pt x="979934" y="489943"/>
                  </a:lnTo>
                  <a:lnTo>
                    <a:pt x="977692" y="537133"/>
                  </a:lnTo>
                  <a:lnTo>
                    <a:pt x="971102" y="583055"/>
                  </a:lnTo>
                  <a:lnTo>
                    <a:pt x="960367" y="627502"/>
                  </a:lnTo>
                  <a:lnTo>
                    <a:pt x="945693" y="670269"/>
                  </a:lnTo>
                  <a:lnTo>
                    <a:pt x="927286" y="711151"/>
                  </a:lnTo>
                  <a:lnTo>
                    <a:pt x="905351" y="749942"/>
                  </a:lnTo>
                  <a:lnTo>
                    <a:pt x="880093" y="786437"/>
                  </a:lnTo>
                  <a:lnTo>
                    <a:pt x="851717" y="820431"/>
                  </a:lnTo>
                  <a:lnTo>
                    <a:pt x="820430" y="851719"/>
                  </a:lnTo>
                  <a:lnTo>
                    <a:pt x="786435" y="880093"/>
                  </a:lnTo>
                  <a:lnTo>
                    <a:pt x="749939" y="905351"/>
                  </a:lnTo>
                  <a:lnTo>
                    <a:pt x="711148" y="927286"/>
                  </a:lnTo>
                  <a:lnTo>
                    <a:pt x="670266" y="945692"/>
                  </a:lnTo>
                  <a:lnTo>
                    <a:pt x="627498" y="960365"/>
                  </a:lnTo>
                  <a:lnTo>
                    <a:pt x="583051" y="971099"/>
                  </a:lnTo>
                  <a:lnTo>
                    <a:pt x="537130" y="977689"/>
                  </a:lnTo>
                  <a:lnTo>
                    <a:pt x="489940" y="979929"/>
                  </a:lnTo>
                  <a:lnTo>
                    <a:pt x="442751" y="977683"/>
                  </a:lnTo>
                  <a:lnTo>
                    <a:pt x="396831" y="971089"/>
                  </a:lnTo>
                  <a:lnTo>
                    <a:pt x="352387" y="960350"/>
                  </a:lnTo>
                  <a:lnTo>
                    <a:pt x="309622" y="945673"/>
                  </a:lnTo>
                  <a:lnTo>
                    <a:pt x="268744" y="927263"/>
                  </a:lnTo>
                  <a:lnTo>
                    <a:pt x="229956" y="905326"/>
                  </a:lnTo>
                  <a:lnTo>
                    <a:pt x="193465" y="880067"/>
                  </a:lnTo>
                  <a:lnTo>
                    <a:pt x="159476" y="851691"/>
                  </a:lnTo>
                  <a:lnTo>
                    <a:pt x="128193" y="820404"/>
                  </a:lnTo>
                  <a:lnTo>
                    <a:pt x="99822" y="786411"/>
                  </a:lnTo>
                  <a:lnTo>
                    <a:pt x="74568" y="749917"/>
                  </a:lnTo>
                  <a:lnTo>
                    <a:pt x="52637" y="711128"/>
                  </a:lnTo>
                  <a:lnTo>
                    <a:pt x="34234" y="670249"/>
                  </a:lnTo>
                  <a:lnTo>
                    <a:pt x="19564" y="627485"/>
                  </a:lnTo>
                  <a:lnTo>
                    <a:pt x="8831" y="583043"/>
                  </a:lnTo>
                  <a:lnTo>
                    <a:pt x="2242" y="537126"/>
                  </a:lnTo>
                  <a:lnTo>
                    <a:pt x="0" y="489940"/>
                  </a:lnTo>
                </a:path>
              </a:pathLst>
            </a:custGeom>
            <a:ln w="38129">
              <a:solidFill>
                <a:srgbClr val="00426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/>
          <p:cNvGrpSpPr/>
          <p:nvPr/>
        </p:nvGrpSpPr>
        <p:grpSpPr>
          <a:xfrm>
            <a:off x="15345330" y="2030411"/>
            <a:ext cx="1018540" cy="1018540"/>
            <a:chOff x="15345330" y="2030411"/>
            <a:chExt cx="1018540" cy="1018540"/>
          </a:xfrm>
        </p:grpSpPr>
        <p:sp>
          <p:nvSpPr>
            <p:cNvPr id="17" name="object 17"/>
            <p:cNvSpPr/>
            <p:nvPr/>
          </p:nvSpPr>
          <p:spPr>
            <a:xfrm>
              <a:off x="15364396" y="2049475"/>
              <a:ext cx="980440" cy="980440"/>
            </a:xfrm>
            <a:custGeom>
              <a:avLst/>
              <a:gdLst/>
              <a:ahLst/>
              <a:cxnLst/>
              <a:rect l="l" t="t" r="r" b="b"/>
              <a:pathLst>
                <a:path w="980440" h="980439">
                  <a:moveTo>
                    <a:pt x="489965" y="979931"/>
                  </a:moveTo>
                  <a:lnTo>
                    <a:pt x="442778" y="977689"/>
                  </a:lnTo>
                  <a:lnTo>
                    <a:pt x="396859" y="971097"/>
                  </a:lnTo>
                  <a:lnTo>
                    <a:pt x="352415" y="960361"/>
                  </a:lnTo>
                  <a:lnTo>
                    <a:pt x="309651" y="945688"/>
                  </a:lnTo>
                  <a:lnTo>
                    <a:pt x="268772" y="927281"/>
                  </a:lnTo>
                  <a:lnTo>
                    <a:pt x="229984" y="905347"/>
                  </a:lnTo>
                  <a:lnTo>
                    <a:pt x="193491" y="880091"/>
                  </a:lnTo>
                  <a:lnTo>
                    <a:pt x="159499" y="851717"/>
                  </a:lnTo>
                  <a:lnTo>
                    <a:pt x="128214" y="820432"/>
                  </a:lnTo>
                  <a:lnTo>
                    <a:pt x="99841" y="786440"/>
                  </a:lnTo>
                  <a:lnTo>
                    <a:pt x="74584" y="749947"/>
                  </a:lnTo>
                  <a:lnTo>
                    <a:pt x="52650" y="711159"/>
                  </a:lnTo>
                  <a:lnTo>
                    <a:pt x="34243" y="670280"/>
                  </a:lnTo>
                  <a:lnTo>
                    <a:pt x="19570" y="627516"/>
                  </a:lnTo>
                  <a:lnTo>
                    <a:pt x="8834" y="583072"/>
                  </a:lnTo>
                  <a:lnTo>
                    <a:pt x="2242" y="537153"/>
                  </a:lnTo>
                  <a:lnTo>
                    <a:pt x="0" y="489965"/>
                  </a:lnTo>
                  <a:lnTo>
                    <a:pt x="2242" y="442778"/>
                  </a:lnTo>
                  <a:lnTo>
                    <a:pt x="8834" y="396859"/>
                  </a:lnTo>
                  <a:lnTo>
                    <a:pt x="19570" y="352415"/>
                  </a:lnTo>
                  <a:lnTo>
                    <a:pt x="34243" y="309651"/>
                  </a:lnTo>
                  <a:lnTo>
                    <a:pt x="52650" y="268772"/>
                  </a:lnTo>
                  <a:lnTo>
                    <a:pt x="74584" y="229984"/>
                  </a:lnTo>
                  <a:lnTo>
                    <a:pt x="99841" y="193491"/>
                  </a:lnTo>
                  <a:lnTo>
                    <a:pt x="128214" y="159499"/>
                  </a:lnTo>
                  <a:lnTo>
                    <a:pt x="159499" y="128214"/>
                  </a:lnTo>
                  <a:lnTo>
                    <a:pt x="193491" y="99840"/>
                  </a:lnTo>
                  <a:lnTo>
                    <a:pt x="229984" y="74584"/>
                  </a:lnTo>
                  <a:lnTo>
                    <a:pt x="268772" y="52650"/>
                  </a:lnTo>
                  <a:lnTo>
                    <a:pt x="309651" y="34243"/>
                  </a:lnTo>
                  <a:lnTo>
                    <a:pt x="352415" y="19570"/>
                  </a:lnTo>
                  <a:lnTo>
                    <a:pt x="396859" y="8834"/>
                  </a:lnTo>
                  <a:lnTo>
                    <a:pt x="442778" y="2242"/>
                  </a:lnTo>
                  <a:lnTo>
                    <a:pt x="489965" y="0"/>
                  </a:lnTo>
                  <a:lnTo>
                    <a:pt x="537153" y="2242"/>
                  </a:lnTo>
                  <a:lnTo>
                    <a:pt x="583072" y="8834"/>
                  </a:lnTo>
                  <a:lnTo>
                    <a:pt x="627516" y="19570"/>
                  </a:lnTo>
                  <a:lnTo>
                    <a:pt x="670280" y="34243"/>
                  </a:lnTo>
                  <a:lnTo>
                    <a:pt x="711159" y="52650"/>
                  </a:lnTo>
                  <a:lnTo>
                    <a:pt x="749947" y="74584"/>
                  </a:lnTo>
                  <a:lnTo>
                    <a:pt x="786440" y="99840"/>
                  </a:lnTo>
                  <a:lnTo>
                    <a:pt x="820432" y="128214"/>
                  </a:lnTo>
                  <a:lnTo>
                    <a:pt x="851717" y="159499"/>
                  </a:lnTo>
                  <a:lnTo>
                    <a:pt x="880091" y="193491"/>
                  </a:lnTo>
                  <a:lnTo>
                    <a:pt x="905347" y="229984"/>
                  </a:lnTo>
                  <a:lnTo>
                    <a:pt x="927281" y="268772"/>
                  </a:lnTo>
                  <a:lnTo>
                    <a:pt x="945688" y="309651"/>
                  </a:lnTo>
                  <a:lnTo>
                    <a:pt x="960361" y="352415"/>
                  </a:lnTo>
                  <a:lnTo>
                    <a:pt x="971097" y="396859"/>
                  </a:lnTo>
                  <a:lnTo>
                    <a:pt x="977689" y="442778"/>
                  </a:lnTo>
                  <a:lnTo>
                    <a:pt x="979931" y="489965"/>
                  </a:lnTo>
                  <a:lnTo>
                    <a:pt x="977689" y="537153"/>
                  </a:lnTo>
                  <a:lnTo>
                    <a:pt x="971097" y="583072"/>
                  </a:lnTo>
                  <a:lnTo>
                    <a:pt x="960361" y="627516"/>
                  </a:lnTo>
                  <a:lnTo>
                    <a:pt x="945688" y="670280"/>
                  </a:lnTo>
                  <a:lnTo>
                    <a:pt x="927281" y="711159"/>
                  </a:lnTo>
                  <a:lnTo>
                    <a:pt x="905347" y="749947"/>
                  </a:lnTo>
                  <a:lnTo>
                    <a:pt x="880091" y="786440"/>
                  </a:lnTo>
                  <a:lnTo>
                    <a:pt x="851717" y="820432"/>
                  </a:lnTo>
                  <a:lnTo>
                    <a:pt x="820432" y="851717"/>
                  </a:lnTo>
                  <a:lnTo>
                    <a:pt x="786440" y="880091"/>
                  </a:lnTo>
                  <a:lnTo>
                    <a:pt x="749947" y="905347"/>
                  </a:lnTo>
                  <a:lnTo>
                    <a:pt x="711159" y="927281"/>
                  </a:lnTo>
                  <a:lnTo>
                    <a:pt x="670280" y="945688"/>
                  </a:lnTo>
                  <a:lnTo>
                    <a:pt x="627516" y="960361"/>
                  </a:lnTo>
                  <a:lnTo>
                    <a:pt x="583072" y="971097"/>
                  </a:lnTo>
                  <a:lnTo>
                    <a:pt x="537153" y="977689"/>
                  </a:lnTo>
                  <a:lnTo>
                    <a:pt x="489965" y="979931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5364394" y="2049476"/>
              <a:ext cx="980440" cy="980440"/>
            </a:xfrm>
            <a:custGeom>
              <a:avLst/>
              <a:gdLst/>
              <a:ahLst/>
              <a:cxnLst/>
              <a:rect l="l" t="t" r="r" b="b"/>
              <a:pathLst>
                <a:path w="980440" h="980439">
                  <a:moveTo>
                    <a:pt x="2" y="489941"/>
                  </a:moveTo>
                  <a:lnTo>
                    <a:pt x="2247" y="442756"/>
                  </a:lnTo>
                  <a:lnTo>
                    <a:pt x="8840" y="396840"/>
                  </a:lnTo>
                  <a:lnTo>
                    <a:pt x="19576" y="352399"/>
                  </a:lnTo>
                  <a:lnTo>
                    <a:pt x="34250" y="309638"/>
                  </a:lnTo>
                  <a:lnTo>
                    <a:pt x="52656" y="268762"/>
                  </a:lnTo>
                  <a:lnTo>
                    <a:pt x="74589" y="229977"/>
                  </a:lnTo>
                  <a:lnTo>
                    <a:pt x="99844" y="193487"/>
                  </a:lnTo>
                  <a:lnTo>
                    <a:pt x="128216" y="159498"/>
                  </a:lnTo>
                  <a:lnTo>
                    <a:pt x="159499" y="128214"/>
                  </a:lnTo>
                  <a:lnTo>
                    <a:pt x="193488" y="99842"/>
                  </a:lnTo>
                  <a:lnTo>
                    <a:pt x="229978" y="74587"/>
                  </a:lnTo>
                  <a:lnTo>
                    <a:pt x="268763" y="52653"/>
                  </a:lnTo>
                  <a:lnTo>
                    <a:pt x="309639" y="34247"/>
                  </a:lnTo>
                  <a:lnTo>
                    <a:pt x="352400" y="19572"/>
                  </a:lnTo>
                  <a:lnTo>
                    <a:pt x="396841" y="8836"/>
                  </a:lnTo>
                  <a:lnTo>
                    <a:pt x="442757" y="2242"/>
                  </a:lnTo>
                  <a:lnTo>
                    <a:pt x="489943" y="0"/>
                  </a:lnTo>
                  <a:lnTo>
                    <a:pt x="537128" y="2238"/>
                  </a:lnTo>
                  <a:lnTo>
                    <a:pt x="583046" y="8826"/>
                  </a:lnTo>
                  <a:lnTo>
                    <a:pt x="627489" y="19559"/>
                  </a:lnTo>
                  <a:lnTo>
                    <a:pt x="670253" y="34229"/>
                  </a:lnTo>
                  <a:lnTo>
                    <a:pt x="711132" y="52633"/>
                  </a:lnTo>
                  <a:lnTo>
                    <a:pt x="749922" y="74564"/>
                  </a:lnTo>
                  <a:lnTo>
                    <a:pt x="786416" y="99818"/>
                  </a:lnTo>
                  <a:lnTo>
                    <a:pt x="820410" y="128190"/>
                  </a:lnTo>
                  <a:lnTo>
                    <a:pt x="851697" y="159473"/>
                  </a:lnTo>
                  <a:lnTo>
                    <a:pt x="880073" y="193463"/>
                  </a:lnTo>
                  <a:lnTo>
                    <a:pt x="905333" y="229955"/>
                  </a:lnTo>
                  <a:lnTo>
                    <a:pt x="927270" y="268743"/>
                  </a:lnTo>
                  <a:lnTo>
                    <a:pt x="945679" y="309622"/>
                  </a:lnTo>
                  <a:lnTo>
                    <a:pt x="960356" y="352387"/>
                  </a:lnTo>
                  <a:lnTo>
                    <a:pt x="971094" y="396832"/>
                  </a:lnTo>
                  <a:lnTo>
                    <a:pt x="977689" y="442753"/>
                  </a:lnTo>
                  <a:lnTo>
                    <a:pt x="979934" y="489943"/>
                  </a:lnTo>
                  <a:lnTo>
                    <a:pt x="977692" y="537133"/>
                  </a:lnTo>
                  <a:lnTo>
                    <a:pt x="971102" y="583055"/>
                  </a:lnTo>
                  <a:lnTo>
                    <a:pt x="960367" y="627502"/>
                  </a:lnTo>
                  <a:lnTo>
                    <a:pt x="945693" y="670269"/>
                  </a:lnTo>
                  <a:lnTo>
                    <a:pt x="927286" y="711151"/>
                  </a:lnTo>
                  <a:lnTo>
                    <a:pt x="905351" y="749942"/>
                  </a:lnTo>
                  <a:lnTo>
                    <a:pt x="880093" y="786437"/>
                  </a:lnTo>
                  <a:lnTo>
                    <a:pt x="851717" y="820431"/>
                  </a:lnTo>
                  <a:lnTo>
                    <a:pt x="820429" y="851719"/>
                  </a:lnTo>
                  <a:lnTo>
                    <a:pt x="786435" y="880094"/>
                  </a:lnTo>
                  <a:lnTo>
                    <a:pt x="749939" y="905351"/>
                  </a:lnTo>
                  <a:lnTo>
                    <a:pt x="711148" y="927286"/>
                  </a:lnTo>
                  <a:lnTo>
                    <a:pt x="670266" y="945692"/>
                  </a:lnTo>
                  <a:lnTo>
                    <a:pt x="627498" y="960365"/>
                  </a:lnTo>
                  <a:lnTo>
                    <a:pt x="583051" y="971099"/>
                  </a:lnTo>
                  <a:lnTo>
                    <a:pt x="537130" y="977689"/>
                  </a:lnTo>
                  <a:lnTo>
                    <a:pt x="489940" y="979929"/>
                  </a:lnTo>
                  <a:lnTo>
                    <a:pt x="442751" y="977683"/>
                  </a:lnTo>
                  <a:lnTo>
                    <a:pt x="396831" y="971089"/>
                  </a:lnTo>
                  <a:lnTo>
                    <a:pt x="352386" y="960350"/>
                  </a:lnTo>
                  <a:lnTo>
                    <a:pt x="309622" y="945673"/>
                  </a:lnTo>
                  <a:lnTo>
                    <a:pt x="268744" y="927263"/>
                  </a:lnTo>
                  <a:lnTo>
                    <a:pt x="229956" y="905326"/>
                  </a:lnTo>
                  <a:lnTo>
                    <a:pt x="193465" y="880067"/>
                  </a:lnTo>
                  <a:lnTo>
                    <a:pt x="159476" y="851691"/>
                  </a:lnTo>
                  <a:lnTo>
                    <a:pt x="128193" y="820404"/>
                  </a:lnTo>
                  <a:lnTo>
                    <a:pt x="99822" y="786411"/>
                  </a:lnTo>
                  <a:lnTo>
                    <a:pt x="74568" y="749917"/>
                  </a:lnTo>
                  <a:lnTo>
                    <a:pt x="52637" y="711128"/>
                  </a:lnTo>
                  <a:lnTo>
                    <a:pt x="34234" y="670249"/>
                  </a:lnTo>
                  <a:lnTo>
                    <a:pt x="19564" y="627485"/>
                  </a:lnTo>
                  <a:lnTo>
                    <a:pt x="8831" y="583043"/>
                  </a:lnTo>
                  <a:lnTo>
                    <a:pt x="2242" y="537126"/>
                  </a:lnTo>
                  <a:lnTo>
                    <a:pt x="0" y="489940"/>
                  </a:lnTo>
                </a:path>
              </a:pathLst>
            </a:custGeom>
            <a:ln w="38129">
              <a:solidFill>
                <a:srgbClr val="00426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/>
          <p:cNvGrpSpPr/>
          <p:nvPr/>
        </p:nvGrpSpPr>
        <p:grpSpPr>
          <a:xfrm>
            <a:off x="658075" y="6148429"/>
            <a:ext cx="8293100" cy="1704339"/>
            <a:chOff x="658075" y="6148429"/>
            <a:chExt cx="8293100" cy="1704339"/>
          </a:xfrm>
        </p:grpSpPr>
        <p:sp>
          <p:nvSpPr>
            <p:cNvPr id="20" name="object 20"/>
            <p:cNvSpPr/>
            <p:nvPr/>
          </p:nvSpPr>
          <p:spPr>
            <a:xfrm>
              <a:off x="676808" y="6167494"/>
              <a:ext cx="8253730" cy="1666875"/>
            </a:xfrm>
            <a:custGeom>
              <a:avLst/>
              <a:gdLst/>
              <a:ahLst/>
              <a:cxnLst/>
              <a:rect l="l" t="t" r="r" b="b"/>
              <a:pathLst>
                <a:path w="8253730" h="1666875">
                  <a:moveTo>
                    <a:pt x="8171782" y="1666274"/>
                  </a:moveTo>
                  <a:lnTo>
                    <a:pt x="83343" y="1666274"/>
                  </a:lnTo>
                  <a:lnTo>
                    <a:pt x="50912" y="1659750"/>
                  </a:lnTo>
                  <a:lnTo>
                    <a:pt x="24419" y="1641883"/>
                  </a:lnTo>
                  <a:lnTo>
                    <a:pt x="6552" y="1615390"/>
                  </a:lnTo>
                  <a:lnTo>
                    <a:pt x="0" y="1582959"/>
                  </a:lnTo>
                  <a:lnTo>
                    <a:pt x="0" y="83343"/>
                  </a:lnTo>
                  <a:lnTo>
                    <a:pt x="24419" y="24419"/>
                  </a:lnTo>
                  <a:lnTo>
                    <a:pt x="83343" y="0"/>
                  </a:lnTo>
                  <a:lnTo>
                    <a:pt x="8171782" y="0"/>
                  </a:lnTo>
                  <a:lnTo>
                    <a:pt x="8204213" y="6553"/>
                  </a:lnTo>
                  <a:lnTo>
                    <a:pt x="8230706" y="24419"/>
                  </a:lnTo>
                  <a:lnTo>
                    <a:pt x="8248573" y="50912"/>
                  </a:lnTo>
                  <a:lnTo>
                    <a:pt x="8253267" y="74141"/>
                  </a:lnTo>
                  <a:lnTo>
                    <a:pt x="8253267" y="1592160"/>
                  </a:lnTo>
                  <a:lnTo>
                    <a:pt x="8248573" y="1615390"/>
                  </a:lnTo>
                  <a:lnTo>
                    <a:pt x="8230706" y="1641883"/>
                  </a:lnTo>
                  <a:lnTo>
                    <a:pt x="8204213" y="1659750"/>
                  </a:lnTo>
                  <a:lnTo>
                    <a:pt x="8171782" y="1666274"/>
                  </a:lnTo>
                  <a:close/>
                </a:path>
              </a:pathLst>
            </a:custGeom>
            <a:solidFill>
              <a:srgbClr val="290F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77140" y="6167494"/>
              <a:ext cx="8255000" cy="1666239"/>
            </a:xfrm>
            <a:custGeom>
              <a:avLst/>
              <a:gdLst/>
              <a:ahLst/>
              <a:cxnLst/>
              <a:rect l="l" t="t" r="r" b="b"/>
              <a:pathLst>
                <a:path w="8255000" h="1666240">
                  <a:moveTo>
                    <a:pt x="0" y="83336"/>
                  </a:moveTo>
                  <a:lnTo>
                    <a:pt x="6552" y="50908"/>
                  </a:lnTo>
                  <a:lnTo>
                    <a:pt x="24417" y="24417"/>
                  </a:lnTo>
                  <a:lnTo>
                    <a:pt x="50908" y="6552"/>
                  </a:lnTo>
                  <a:lnTo>
                    <a:pt x="83336" y="0"/>
                  </a:lnTo>
                  <a:lnTo>
                    <a:pt x="8171075" y="0"/>
                  </a:lnTo>
                  <a:lnTo>
                    <a:pt x="8229994" y="24417"/>
                  </a:lnTo>
                  <a:lnTo>
                    <a:pt x="8254412" y="83336"/>
                  </a:lnTo>
                  <a:lnTo>
                    <a:pt x="8254412" y="1582822"/>
                  </a:lnTo>
                  <a:lnTo>
                    <a:pt x="8247860" y="1615250"/>
                  </a:lnTo>
                  <a:lnTo>
                    <a:pt x="8229995" y="1641741"/>
                  </a:lnTo>
                  <a:lnTo>
                    <a:pt x="8203504" y="1659606"/>
                  </a:lnTo>
                  <a:lnTo>
                    <a:pt x="8171075" y="1666159"/>
                  </a:lnTo>
                  <a:lnTo>
                    <a:pt x="83336" y="1666159"/>
                  </a:lnTo>
                  <a:lnTo>
                    <a:pt x="50908" y="1659606"/>
                  </a:lnTo>
                  <a:lnTo>
                    <a:pt x="24417" y="1641741"/>
                  </a:lnTo>
                  <a:lnTo>
                    <a:pt x="6552" y="1615250"/>
                  </a:lnTo>
                  <a:lnTo>
                    <a:pt x="0" y="1582822"/>
                  </a:lnTo>
                  <a:lnTo>
                    <a:pt x="0" y="83336"/>
                  </a:lnTo>
                </a:path>
              </a:pathLst>
            </a:custGeom>
            <a:ln w="38129">
              <a:solidFill>
                <a:srgbClr val="FF444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/>
          <p:cNvGrpSpPr/>
          <p:nvPr/>
        </p:nvGrpSpPr>
        <p:grpSpPr>
          <a:xfrm>
            <a:off x="9305909" y="6148429"/>
            <a:ext cx="8293100" cy="1704339"/>
            <a:chOff x="9305909" y="6148429"/>
            <a:chExt cx="8293100" cy="1704339"/>
          </a:xfrm>
        </p:grpSpPr>
        <p:sp>
          <p:nvSpPr>
            <p:cNvPr id="23" name="object 23"/>
            <p:cNvSpPr/>
            <p:nvPr/>
          </p:nvSpPr>
          <p:spPr>
            <a:xfrm>
              <a:off x="9324641" y="6167494"/>
              <a:ext cx="8253730" cy="1666875"/>
            </a:xfrm>
            <a:custGeom>
              <a:avLst/>
              <a:gdLst/>
              <a:ahLst/>
              <a:cxnLst/>
              <a:rect l="l" t="t" r="r" b="b"/>
              <a:pathLst>
                <a:path w="8253730" h="1666875">
                  <a:moveTo>
                    <a:pt x="8171782" y="1666274"/>
                  </a:moveTo>
                  <a:lnTo>
                    <a:pt x="83344" y="1666274"/>
                  </a:lnTo>
                  <a:lnTo>
                    <a:pt x="50912" y="1659750"/>
                  </a:lnTo>
                  <a:lnTo>
                    <a:pt x="24419" y="1641883"/>
                  </a:lnTo>
                  <a:lnTo>
                    <a:pt x="6553" y="1615390"/>
                  </a:lnTo>
                  <a:lnTo>
                    <a:pt x="0" y="1582959"/>
                  </a:lnTo>
                  <a:lnTo>
                    <a:pt x="0" y="83343"/>
                  </a:lnTo>
                  <a:lnTo>
                    <a:pt x="24419" y="24419"/>
                  </a:lnTo>
                  <a:lnTo>
                    <a:pt x="83344" y="0"/>
                  </a:lnTo>
                  <a:lnTo>
                    <a:pt x="8171782" y="0"/>
                  </a:lnTo>
                  <a:lnTo>
                    <a:pt x="8204214" y="6553"/>
                  </a:lnTo>
                  <a:lnTo>
                    <a:pt x="8230706" y="24419"/>
                  </a:lnTo>
                  <a:lnTo>
                    <a:pt x="8248573" y="50912"/>
                  </a:lnTo>
                  <a:lnTo>
                    <a:pt x="8253267" y="74141"/>
                  </a:lnTo>
                  <a:lnTo>
                    <a:pt x="8253267" y="1592161"/>
                  </a:lnTo>
                  <a:lnTo>
                    <a:pt x="8248573" y="1615390"/>
                  </a:lnTo>
                  <a:lnTo>
                    <a:pt x="8230706" y="1641883"/>
                  </a:lnTo>
                  <a:lnTo>
                    <a:pt x="8204214" y="1659750"/>
                  </a:lnTo>
                  <a:lnTo>
                    <a:pt x="8171782" y="1666274"/>
                  </a:lnTo>
                  <a:close/>
                </a:path>
              </a:pathLst>
            </a:custGeom>
            <a:solidFill>
              <a:srgbClr val="0929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9324974" y="6167494"/>
              <a:ext cx="8255000" cy="1666239"/>
            </a:xfrm>
            <a:custGeom>
              <a:avLst/>
              <a:gdLst/>
              <a:ahLst/>
              <a:cxnLst/>
              <a:rect l="l" t="t" r="r" b="b"/>
              <a:pathLst>
                <a:path w="8255000" h="1666240">
                  <a:moveTo>
                    <a:pt x="0" y="83336"/>
                  </a:moveTo>
                  <a:lnTo>
                    <a:pt x="6552" y="50908"/>
                  </a:lnTo>
                  <a:lnTo>
                    <a:pt x="24417" y="24417"/>
                  </a:lnTo>
                  <a:lnTo>
                    <a:pt x="50907" y="6552"/>
                  </a:lnTo>
                  <a:lnTo>
                    <a:pt x="83335" y="0"/>
                  </a:lnTo>
                  <a:lnTo>
                    <a:pt x="8171075" y="0"/>
                  </a:lnTo>
                  <a:lnTo>
                    <a:pt x="8229994" y="24417"/>
                  </a:lnTo>
                  <a:lnTo>
                    <a:pt x="8254412" y="83336"/>
                  </a:lnTo>
                  <a:lnTo>
                    <a:pt x="8254412" y="1582822"/>
                  </a:lnTo>
                  <a:lnTo>
                    <a:pt x="8247860" y="1615251"/>
                  </a:lnTo>
                  <a:lnTo>
                    <a:pt x="8229994" y="1641741"/>
                  </a:lnTo>
                  <a:lnTo>
                    <a:pt x="8203503" y="1659606"/>
                  </a:lnTo>
                  <a:lnTo>
                    <a:pt x="8171075" y="1666159"/>
                  </a:lnTo>
                  <a:lnTo>
                    <a:pt x="83335" y="1666159"/>
                  </a:lnTo>
                  <a:lnTo>
                    <a:pt x="50907" y="1659606"/>
                  </a:lnTo>
                  <a:lnTo>
                    <a:pt x="24417" y="1641741"/>
                  </a:lnTo>
                  <a:lnTo>
                    <a:pt x="6552" y="1615250"/>
                  </a:lnTo>
                  <a:lnTo>
                    <a:pt x="0" y="1582822"/>
                  </a:lnTo>
                  <a:lnTo>
                    <a:pt x="0" y="83336"/>
                  </a:lnTo>
                </a:path>
              </a:pathLst>
            </a:custGeom>
            <a:ln w="38129">
              <a:solidFill>
                <a:srgbClr val="00D4A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1341602" y="475256"/>
            <a:ext cx="128143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0C4060"/>
                </a:solidFill>
                <a:latin typeface="Calibri"/>
                <a:cs typeface="Calibri"/>
              </a:rPr>
              <a:t>HOW</a:t>
            </a:r>
            <a:r>
              <a:rPr dirty="0" sz="1500" spc="-30" b="1">
                <a:solidFill>
                  <a:srgbClr val="0C4060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0C4060"/>
                </a:solidFill>
                <a:latin typeface="Calibri"/>
                <a:cs typeface="Calibri"/>
              </a:rPr>
              <a:t>IT</a:t>
            </a:r>
            <a:r>
              <a:rPr dirty="0" sz="1500" spc="-25" b="1">
                <a:solidFill>
                  <a:srgbClr val="0C4060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0C4060"/>
                </a:solidFill>
                <a:latin typeface="Calibri"/>
                <a:cs typeface="Calibri"/>
              </a:rPr>
              <a:t>WORKS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7249167" y="9655941"/>
            <a:ext cx="516890" cy="1974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85"/>
              </a:lnSpc>
            </a:pPr>
            <a:r>
              <a:rPr dirty="0" sz="1350">
                <a:solidFill>
                  <a:srgbClr val="6A6F82"/>
                </a:solidFill>
                <a:latin typeface="Calibri"/>
                <a:cs typeface="Calibri"/>
              </a:rPr>
              <a:t>05</a:t>
            </a:r>
            <a:r>
              <a:rPr dirty="0" sz="1350" spc="-20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6A6F82"/>
                </a:solidFill>
                <a:latin typeface="Calibri"/>
                <a:cs typeface="Calibri"/>
              </a:rPr>
              <a:t>/</a:t>
            </a:r>
            <a:r>
              <a:rPr dirty="0" sz="1350" spc="-15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350" spc="-35">
                <a:solidFill>
                  <a:srgbClr val="6A6F82"/>
                </a:solidFill>
                <a:latin typeface="Calibri"/>
                <a:cs typeface="Calibri"/>
              </a:rPr>
              <a:t>16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6" name="object 2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6364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1D31"/>
                </a:solidFill>
              </a:rPr>
              <a:t>Five</a:t>
            </a:r>
            <a:r>
              <a:rPr dirty="0" spc="-90">
                <a:solidFill>
                  <a:srgbClr val="001D31"/>
                </a:solidFill>
              </a:rPr>
              <a:t> </a:t>
            </a:r>
            <a:r>
              <a:rPr dirty="0">
                <a:solidFill>
                  <a:srgbClr val="001D31"/>
                </a:solidFill>
              </a:rPr>
              <a:t>steps</a:t>
            </a:r>
            <a:r>
              <a:rPr dirty="0" spc="-90">
                <a:solidFill>
                  <a:srgbClr val="001D31"/>
                </a:solidFill>
              </a:rPr>
              <a:t> </a:t>
            </a:r>
            <a:r>
              <a:rPr dirty="0">
                <a:solidFill>
                  <a:srgbClr val="001D31"/>
                </a:solidFill>
              </a:rPr>
              <a:t>from</a:t>
            </a:r>
            <a:r>
              <a:rPr dirty="0" spc="-90">
                <a:solidFill>
                  <a:srgbClr val="001D31"/>
                </a:solidFill>
              </a:rPr>
              <a:t> </a:t>
            </a:r>
            <a:r>
              <a:rPr dirty="0">
                <a:solidFill>
                  <a:srgbClr val="001D31"/>
                </a:solidFill>
              </a:rPr>
              <a:t>knowledge</a:t>
            </a:r>
            <a:r>
              <a:rPr dirty="0" spc="-90">
                <a:solidFill>
                  <a:srgbClr val="001D31"/>
                </a:solidFill>
              </a:rPr>
              <a:t> </a:t>
            </a:r>
            <a:r>
              <a:rPr dirty="0">
                <a:solidFill>
                  <a:srgbClr val="001D31"/>
                </a:solidFill>
              </a:rPr>
              <a:t>to</a:t>
            </a:r>
            <a:r>
              <a:rPr dirty="0" spc="-90">
                <a:solidFill>
                  <a:srgbClr val="001D31"/>
                </a:solidFill>
              </a:rPr>
              <a:t> </a:t>
            </a:r>
            <a:r>
              <a:rPr dirty="0" spc="-10">
                <a:solidFill>
                  <a:srgbClr val="001D31"/>
                </a:solidFill>
              </a:rPr>
              <a:t>revenue.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775716" y="3485612"/>
            <a:ext cx="2292350" cy="1062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1315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1D31"/>
                </a:solidFill>
                <a:latin typeface="Calibri"/>
                <a:cs typeface="Calibri"/>
              </a:rPr>
              <a:t>Upload</a:t>
            </a:r>
            <a:r>
              <a:rPr dirty="0" sz="1800" spc="-30" b="1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1D31"/>
                </a:solidFill>
                <a:latin typeface="Calibri"/>
                <a:cs typeface="Calibri"/>
              </a:rPr>
              <a:t>Knowledge</a:t>
            </a:r>
            <a:endParaRPr sz="1800">
              <a:latin typeface="Calibri"/>
              <a:cs typeface="Calibri"/>
            </a:endParaRPr>
          </a:p>
          <a:p>
            <a:pPr algn="ctr" marL="12065" marR="5080" indent="-635">
              <a:lnSpc>
                <a:spcPts val="1580"/>
              </a:lnSpc>
              <a:spcBef>
                <a:spcPts val="1320"/>
              </a:spcBef>
            </a:pP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CRM,</a:t>
            </a:r>
            <a:r>
              <a:rPr dirty="0" sz="1350" spc="-5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Drive,</a:t>
            </a:r>
            <a:r>
              <a:rPr dirty="0" sz="1350" spc="-5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emails,</a:t>
            </a:r>
            <a:r>
              <a:rPr dirty="0" sz="135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PDFs,</a:t>
            </a:r>
            <a:r>
              <a:rPr dirty="0" sz="1350" spc="-5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20">
                <a:solidFill>
                  <a:srgbClr val="8B8FA2"/>
                </a:solidFill>
                <a:latin typeface="Calibri"/>
                <a:cs typeface="Calibri"/>
              </a:rPr>
              <a:t>SOPs,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pricing</a:t>
            </a:r>
            <a:r>
              <a:rPr dirty="0" sz="1350" spc="-5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sheets</a:t>
            </a:r>
            <a:r>
              <a:rPr dirty="0" sz="1350" spc="-5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—</a:t>
            </a:r>
            <a:r>
              <a:rPr dirty="0" sz="1350" spc="-5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every</a:t>
            </a:r>
            <a:r>
              <a:rPr dirty="0" sz="1350" spc="-5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source</a:t>
            </a:r>
            <a:r>
              <a:rPr dirty="0" sz="1350" spc="-5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25">
                <a:solidFill>
                  <a:srgbClr val="8B8FA2"/>
                </a:solidFill>
                <a:latin typeface="Calibri"/>
                <a:cs typeface="Calibri"/>
              </a:rPr>
              <a:t>of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business</a:t>
            </a:r>
            <a:r>
              <a:rPr dirty="0" sz="1350" spc="-7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truth.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510416" y="2230971"/>
            <a:ext cx="7371715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12820" algn="l"/>
                <a:tab pos="7012940" algn="l"/>
              </a:tabLst>
            </a:pPr>
            <a:r>
              <a:rPr dirty="0" sz="3000" spc="-50">
                <a:solidFill>
                  <a:srgbClr val="0C4060"/>
                </a:solidFill>
                <a:latin typeface="Calibri"/>
                <a:cs typeface="Calibri"/>
              </a:rPr>
              <a:t>→</a:t>
            </a:r>
            <a:r>
              <a:rPr dirty="0" sz="3000">
                <a:solidFill>
                  <a:srgbClr val="0C4060"/>
                </a:solidFill>
                <a:latin typeface="Calibri"/>
                <a:cs typeface="Calibri"/>
              </a:rPr>
              <a:t>	</a:t>
            </a:r>
            <a:r>
              <a:rPr dirty="0" sz="3000" spc="-50">
                <a:solidFill>
                  <a:srgbClr val="0C4060"/>
                </a:solidFill>
                <a:latin typeface="Calibri"/>
                <a:cs typeface="Calibri"/>
              </a:rPr>
              <a:t>→</a:t>
            </a:r>
            <a:r>
              <a:rPr dirty="0" sz="3000">
                <a:solidFill>
                  <a:srgbClr val="0C4060"/>
                </a:solidFill>
                <a:latin typeface="Calibri"/>
                <a:cs typeface="Calibri"/>
              </a:rPr>
              <a:t>	</a:t>
            </a:r>
            <a:r>
              <a:rPr dirty="0" sz="3000" spc="-50">
                <a:solidFill>
                  <a:srgbClr val="0C4060"/>
                </a:solidFill>
                <a:latin typeface="Calibri"/>
                <a:cs typeface="Calibri"/>
              </a:rPr>
              <a:t>→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165757" y="3485612"/>
            <a:ext cx="2512695" cy="1262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6675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1D31"/>
                </a:solidFill>
                <a:latin typeface="Calibri"/>
                <a:cs typeface="Calibri"/>
              </a:rPr>
              <a:t>Build</a:t>
            </a:r>
            <a:r>
              <a:rPr dirty="0" sz="1800" spc="-25" b="1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1D31"/>
                </a:solidFill>
                <a:latin typeface="Calibri"/>
                <a:cs typeface="Calibri"/>
              </a:rPr>
              <a:t>the</a:t>
            </a:r>
            <a:r>
              <a:rPr dirty="0" sz="1800" spc="-25" b="1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001D31"/>
                </a:solidFill>
                <a:latin typeface="Calibri"/>
                <a:cs typeface="Calibri"/>
              </a:rPr>
              <a:t>Brain</a:t>
            </a:r>
            <a:endParaRPr sz="1800">
              <a:latin typeface="Calibri"/>
              <a:cs typeface="Calibri"/>
            </a:endParaRPr>
          </a:p>
          <a:p>
            <a:pPr algn="ctr" marL="12700" marR="5080">
              <a:lnSpc>
                <a:spcPts val="1580"/>
              </a:lnSpc>
              <a:spcBef>
                <a:spcPts val="1320"/>
              </a:spcBef>
            </a:pP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Follei</a:t>
            </a:r>
            <a:r>
              <a:rPr dirty="0" sz="1350" spc="-2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constructs</a:t>
            </a:r>
            <a:r>
              <a:rPr dirty="0" sz="1350" spc="-2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a</a:t>
            </a:r>
            <a:r>
              <a:rPr dirty="0" sz="1350" spc="-2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Business Knowledge</a:t>
            </a:r>
            <a:r>
              <a:rPr dirty="0" sz="1350" spc="-2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Graph</a:t>
            </a:r>
            <a:r>
              <a:rPr dirty="0" sz="1350" spc="-2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—</a:t>
            </a:r>
            <a:r>
              <a:rPr dirty="0" sz="1350" spc="-2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understanding products,</a:t>
            </a:r>
            <a:r>
              <a:rPr dirty="0" sz="1350" spc="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customers,</a:t>
            </a:r>
            <a:r>
              <a:rPr dirty="0" sz="1350" spc="1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policies, objections.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688395" y="3485612"/>
            <a:ext cx="2468245" cy="1062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8293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1D31"/>
                </a:solidFill>
                <a:latin typeface="Calibri"/>
                <a:cs typeface="Calibri"/>
              </a:rPr>
              <a:t>Deploy</a:t>
            </a:r>
            <a:r>
              <a:rPr dirty="0" sz="1800" spc="-40" b="1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1D31"/>
                </a:solidFill>
                <a:latin typeface="Calibri"/>
                <a:cs typeface="Calibri"/>
              </a:rPr>
              <a:t>Workers</a:t>
            </a:r>
            <a:endParaRPr sz="1800">
              <a:latin typeface="Calibri"/>
              <a:cs typeface="Calibri"/>
            </a:endParaRPr>
          </a:p>
          <a:p>
            <a:pPr algn="ctr" marL="12065" marR="5080" indent="-635">
              <a:lnSpc>
                <a:spcPts val="1580"/>
              </a:lnSpc>
              <a:spcBef>
                <a:spcPts val="1320"/>
              </a:spcBef>
            </a:pP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Six</a:t>
            </a:r>
            <a:r>
              <a:rPr dirty="0" sz="135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AI</a:t>
            </a:r>
            <a:r>
              <a:rPr dirty="0" sz="135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workers</a:t>
            </a:r>
            <a:r>
              <a:rPr dirty="0" sz="135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launch</a:t>
            </a:r>
            <a:r>
              <a:rPr dirty="0" sz="135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across</a:t>
            </a:r>
            <a:r>
              <a:rPr dirty="0" sz="1350" spc="-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20">
                <a:solidFill>
                  <a:srgbClr val="8B8FA2"/>
                </a:solidFill>
                <a:latin typeface="Calibri"/>
                <a:cs typeface="Calibri"/>
              </a:rPr>
              <a:t>every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customer-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facing</a:t>
            </a:r>
            <a:r>
              <a:rPr dirty="0" sz="135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channel.</a:t>
            </a:r>
            <a:r>
              <a:rPr dirty="0" sz="1350" spc="-2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20">
                <a:solidFill>
                  <a:srgbClr val="8B8FA2"/>
                </a:solidFill>
                <a:latin typeface="Calibri"/>
                <a:cs typeface="Calibri"/>
              </a:rPr>
              <a:t>They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operate</a:t>
            </a:r>
            <a:r>
              <a:rPr dirty="0" sz="13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autonomously</a:t>
            </a:r>
            <a:r>
              <a:rPr dirty="0" sz="13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from</a:t>
            </a:r>
            <a:r>
              <a:rPr dirty="0" sz="13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Day</a:t>
            </a:r>
            <a:r>
              <a:rPr dirty="0" sz="13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25">
                <a:solidFill>
                  <a:srgbClr val="8B8FA2"/>
                </a:solidFill>
                <a:latin typeface="Calibri"/>
                <a:cs typeface="Calibri"/>
              </a:rPr>
              <a:t>1.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1066520" y="3485612"/>
            <a:ext cx="2712085" cy="1062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48994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1D31"/>
                </a:solidFill>
                <a:latin typeface="Calibri"/>
                <a:cs typeface="Calibri"/>
              </a:rPr>
              <a:t>Execute</a:t>
            </a:r>
            <a:r>
              <a:rPr dirty="0" sz="1800" spc="-45" b="1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001D31"/>
                </a:solidFill>
                <a:latin typeface="Calibri"/>
                <a:cs typeface="Calibri"/>
              </a:rPr>
              <a:t>24/7</a:t>
            </a:r>
            <a:endParaRPr sz="1800">
              <a:latin typeface="Calibri"/>
              <a:cs typeface="Calibri"/>
            </a:endParaRPr>
          </a:p>
          <a:p>
            <a:pPr algn="ctr" marL="12700" marR="5080">
              <a:lnSpc>
                <a:spcPts val="1580"/>
              </a:lnSpc>
              <a:spcBef>
                <a:spcPts val="1320"/>
              </a:spcBef>
            </a:pP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Workers</a:t>
            </a:r>
            <a:r>
              <a:rPr dirty="0" sz="1350" spc="-6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qualify</a:t>
            </a:r>
            <a:r>
              <a:rPr dirty="0" sz="1350" spc="-6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leads,</a:t>
            </a:r>
            <a:r>
              <a:rPr dirty="0" sz="1350" spc="-6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resolve</a:t>
            </a:r>
            <a:r>
              <a:rPr dirty="0" sz="1350" spc="50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support,</a:t>
            </a:r>
            <a:r>
              <a:rPr dirty="0" sz="1350" spc="-2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follow</a:t>
            </a:r>
            <a:r>
              <a:rPr dirty="0" sz="1350" spc="-2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up</a:t>
            </a:r>
            <a:r>
              <a:rPr dirty="0" sz="1350" spc="-2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on</a:t>
            </a:r>
            <a:r>
              <a:rPr dirty="0" sz="1350" spc="-2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invoices, onboard customers</a:t>
            </a:r>
            <a:r>
              <a:rPr dirty="0" sz="1350" spc="-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—</a:t>
            </a:r>
            <a:r>
              <a:rPr dirty="0" sz="1350" spc="-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simultaneously.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4011366" y="2230971"/>
            <a:ext cx="370840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0">
                <a:solidFill>
                  <a:srgbClr val="0C4060"/>
                </a:solidFill>
                <a:latin typeface="Calibri"/>
                <a:cs typeface="Calibri"/>
              </a:rPr>
              <a:t>→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4633212" y="3485612"/>
            <a:ext cx="2579370" cy="1062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1D31"/>
                </a:solidFill>
                <a:latin typeface="Calibri"/>
                <a:cs typeface="Calibri"/>
              </a:rPr>
              <a:t>Compound</a:t>
            </a:r>
            <a:r>
              <a:rPr dirty="0" sz="1800" spc="-25" b="1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1D31"/>
                </a:solidFill>
                <a:latin typeface="Calibri"/>
                <a:cs typeface="Calibri"/>
              </a:rPr>
              <a:t>&amp;</a:t>
            </a:r>
            <a:r>
              <a:rPr dirty="0" sz="1800" spc="-20" b="1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1D31"/>
                </a:solidFill>
                <a:latin typeface="Calibri"/>
                <a:cs typeface="Calibri"/>
              </a:rPr>
              <a:t>Learn</a:t>
            </a:r>
            <a:endParaRPr sz="1800">
              <a:latin typeface="Calibri"/>
              <a:cs typeface="Calibri"/>
            </a:endParaRPr>
          </a:p>
          <a:p>
            <a:pPr algn="ctr" marL="12700" marR="5080">
              <a:lnSpc>
                <a:spcPts val="1580"/>
              </a:lnSpc>
              <a:spcBef>
                <a:spcPts val="1320"/>
              </a:spcBef>
            </a:pP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Every</a:t>
            </a:r>
            <a:r>
              <a:rPr dirty="0" sz="1350" spc="-5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outcome</a:t>
            </a:r>
            <a:r>
              <a:rPr dirty="0" sz="1350" spc="-5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feeds</a:t>
            </a:r>
            <a:r>
              <a:rPr dirty="0" sz="1350" spc="-5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back.</a:t>
            </a:r>
            <a:r>
              <a:rPr dirty="0" sz="1350" spc="-5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25">
                <a:solidFill>
                  <a:srgbClr val="8B8FA2"/>
                </a:solidFill>
                <a:latin typeface="Calibri"/>
                <a:cs typeface="Calibri"/>
              </a:rPr>
              <a:t>The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platform</a:t>
            </a:r>
            <a:r>
              <a:rPr dirty="0" sz="1350" spc="-5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gets</a:t>
            </a:r>
            <a:r>
              <a:rPr dirty="0" sz="1350" spc="-5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smarter</a:t>
            </a:r>
            <a:r>
              <a:rPr dirty="0" sz="1350" spc="-5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automatically.</a:t>
            </a:r>
            <a:endParaRPr sz="1350">
              <a:latin typeface="Calibri"/>
              <a:cs typeface="Calibri"/>
            </a:endParaRPr>
          </a:p>
          <a:p>
            <a:pPr algn="ctr">
              <a:lnSpc>
                <a:spcPts val="1525"/>
              </a:lnSpc>
            </a:pP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No</a:t>
            </a:r>
            <a:r>
              <a:rPr dirty="0" sz="135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manual</a:t>
            </a:r>
            <a:r>
              <a:rPr dirty="0" sz="135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updates.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39612" y="6318643"/>
            <a:ext cx="140906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 b="1">
                <a:solidFill>
                  <a:srgbClr val="FF6666"/>
                </a:solidFill>
                <a:latin typeface="Calibri"/>
                <a:cs typeface="Calibri"/>
              </a:rPr>
              <a:t>TRADITIONAL</a:t>
            </a:r>
            <a:r>
              <a:rPr dirty="0" sz="1350" spc="30" b="1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350" spc="-20" b="1">
                <a:solidFill>
                  <a:srgbClr val="FF6666"/>
                </a:solidFill>
                <a:latin typeface="Calibri"/>
                <a:cs typeface="Calibri"/>
              </a:rPr>
              <a:t>SAAS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39612" y="6652284"/>
            <a:ext cx="6547484" cy="525145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 marR="5080">
              <a:lnSpc>
                <a:spcPts val="1950"/>
              </a:lnSpc>
              <a:spcBef>
                <a:spcPts val="190"/>
              </a:spcBef>
            </a:pP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Data</a:t>
            </a:r>
            <a:r>
              <a:rPr dirty="0" sz="1650" spc="-35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→</a:t>
            </a:r>
            <a:r>
              <a:rPr dirty="0" sz="1650" spc="-30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Human</a:t>
            </a:r>
            <a:r>
              <a:rPr dirty="0" sz="1650" spc="-30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interprets</a:t>
            </a:r>
            <a:r>
              <a:rPr dirty="0" sz="1650" spc="-35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→</a:t>
            </a:r>
            <a:r>
              <a:rPr dirty="0" sz="1650" spc="-30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Human</a:t>
            </a:r>
            <a:r>
              <a:rPr dirty="0" sz="1650" spc="-30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decides</a:t>
            </a:r>
            <a:r>
              <a:rPr dirty="0" sz="1650" spc="-35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→</a:t>
            </a:r>
            <a:r>
              <a:rPr dirty="0" sz="1650" spc="-30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Human</a:t>
            </a:r>
            <a:r>
              <a:rPr dirty="0" sz="1650" spc="-30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acts</a:t>
            </a:r>
            <a:r>
              <a:rPr dirty="0" sz="1650" spc="-30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→</a:t>
            </a:r>
            <a:r>
              <a:rPr dirty="0" sz="1650" spc="-35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Bottleneck</a:t>
            </a:r>
            <a:r>
              <a:rPr dirty="0" sz="1650" spc="-30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 spc="-50">
                <a:solidFill>
                  <a:srgbClr val="FF6666"/>
                </a:solidFill>
                <a:latin typeface="Calibri"/>
                <a:cs typeface="Calibri"/>
              </a:rPr>
              <a:t>→ </a:t>
            </a:r>
            <a:r>
              <a:rPr dirty="0" sz="1650" spc="-10">
                <a:solidFill>
                  <a:srgbClr val="FF6666"/>
                </a:solidFill>
                <a:latin typeface="Calibri"/>
                <a:cs typeface="Calibri"/>
              </a:rPr>
              <a:t>Inconsistency</a:t>
            </a:r>
            <a:r>
              <a:rPr dirty="0" sz="1650" spc="-20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→</a:t>
            </a:r>
            <a:r>
              <a:rPr dirty="0" sz="1650" spc="-15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Capacity</a:t>
            </a:r>
            <a:r>
              <a:rPr dirty="0" sz="1650" spc="-15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FF6666"/>
                </a:solidFill>
                <a:latin typeface="Calibri"/>
                <a:cs typeface="Calibri"/>
              </a:rPr>
              <a:t>ceiling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687445" y="6318643"/>
            <a:ext cx="1997710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00D4AA"/>
                </a:solidFill>
                <a:latin typeface="Calibri"/>
                <a:cs typeface="Calibri"/>
              </a:rPr>
              <a:t>FOLLEI'S</a:t>
            </a:r>
            <a:r>
              <a:rPr dirty="0" sz="1350" spc="-30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350" spc="-10" b="1">
                <a:solidFill>
                  <a:srgbClr val="00D4AA"/>
                </a:solidFill>
                <a:latin typeface="Calibri"/>
                <a:cs typeface="Calibri"/>
              </a:rPr>
              <a:t>INTELLIGENT</a:t>
            </a:r>
            <a:r>
              <a:rPr dirty="0" sz="1350" spc="-25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350" spc="-20" b="1">
                <a:solidFill>
                  <a:srgbClr val="00D4AA"/>
                </a:solidFill>
                <a:latin typeface="Calibri"/>
                <a:cs typeface="Calibri"/>
              </a:rPr>
              <a:t>LOOP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687445" y="6652284"/>
            <a:ext cx="7468234" cy="525145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 marR="5080">
              <a:lnSpc>
                <a:spcPts val="1950"/>
              </a:lnSpc>
              <a:spcBef>
                <a:spcPts val="190"/>
              </a:spcBef>
            </a:pP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Data</a:t>
            </a:r>
            <a:r>
              <a:rPr dirty="0" sz="1650" spc="-4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→</a:t>
            </a:r>
            <a:r>
              <a:rPr dirty="0" sz="1650" spc="-4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Understanding</a:t>
            </a:r>
            <a:r>
              <a:rPr dirty="0" sz="1650" spc="-35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→</a:t>
            </a:r>
            <a:r>
              <a:rPr dirty="0" sz="1650" spc="-4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Decision</a:t>
            </a:r>
            <a:r>
              <a:rPr dirty="0" sz="1650" spc="-35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→</a:t>
            </a:r>
            <a:r>
              <a:rPr dirty="0" sz="1650" spc="-4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Autonomous</a:t>
            </a:r>
            <a:r>
              <a:rPr dirty="0" sz="1650" spc="-35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action</a:t>
            </a:r>
            <a:r>
              <a:rPr dirty="0" sz="1650" spc="-4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→</a:t>
            </a:r>
            <a:r>
              <a:rPr dirty="0" sz="1650" spc="-35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Learning</a:t>
            </a:r>
            <a:r>
              <a:rPr dirty="0" sz="1650" spc="-4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→</a:t>
            </a:r>
            <a:r>
              <a:rPr dirty="0" sz="1650" spc="-35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Compounds</a:t>
            </a:r>
            <a:r>
              <a:rPr dirty="0" sz="1650" spc="-4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 spc="-25">
                <a:solidFill>
                  <a:srgbClr val="00D4AA"/>
                </a:solidFill>
                <a:latin typeface="Calibri"/>
                <a:cs typeface="Calibri"/>
              </a:rPr>
              <a:t>in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value</a:t>
            </a:r>
            <a:r>
              <a:rPr dirty="0" sz="1650" spc="-4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with</a:t>
            </a:r>
            <a:r>
              <a:rPr dirty="0" sz="1650" spc="-4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every</a:t>
            </a:r>
            <a:r>
              <a:rPr dirty="0" sz="1650" spc="-4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00D4AA"/>
                </a:solidFill>
                <a:latin typeface="Calibri"/>
                <a:cs typeface="Calibri"/>
              </a:rPr>
              <a:t>interaction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695969" y="2179078"/>
            <a:ext cx="1078738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1395" algn="l"/>
                <a:tab pos="7041515" algn="l"/>
                <a:tab pos="10542270" algn="l"/>
              </a:tabLst>
            </a:pPr>
            <a:r>
              <a:rPr dirty="0" sz="3600" spc="-50">
                <a:solidFill>
                  <a:srgbClr val="001D31"/>
                </a:solidFill>
                <a:latin typeface="Calibri"/>
                <a:cs typeface="Calibri"/>
              </a:rPr>
              <a:t>1</a:t>
            </a:r>
            <a:r>
              <a:rPr dirty="0" sz="3600">
                <a:solidFill>
                  <a:srgbClr val="001D31"/>
                </a:solidFill>
                <a:latin typeface="Calibri"/>
                <a:cs typeface="Calibri"/>
              </a:rPr>
              <a:t>	</a:t>
            </a:r>
            <a:r>
              <a:rPr dirty="0" sz="3600" spc="-50">
                <a:solidFill>
                  <a:srgbClr val="001D31"/>
                </a:solidFill>
                <a:latin typeface="Calibri"/>
                <a:cs typeface="Calibri"/>
              </a:rPr>
              <a:t>2</a:t>
            </a:r>
            <a:r>
              <a:rPr dirty="0" sz="3600">
                <a:solidFill>
                  <a:srgbClr val="001D31"/>
                </a:solidFill>
                <a:latin typeface="Calibri"/>
                <a:cs typeface="Calibri"/>
              </a:rPr>
              <a:t>	</a:t>
            </a:r>
            <a:r>
              <a:rPr dirty="0" sz="3600" spc="-50">
                <a:solidFill>
                  <a:srgbClr val="001D31"/>
                </a:solidFill>
                <a:latin typeface="Calibri"/>
                <a:cs typeface="Calibri"/>
              </a:rPr>
              <a:t>3</a:t>
            </a:r>
            <a:r>
              <a:rPr dirty="0" sz="3600">
                <a:solidFill>
                  <a:srgbClr val="001D31"/>
                </a:solidFill>
                <a:latin typeface="Calibri"/>
                <a:cs typeface="Calibri"/>
              </a:rPr>
              <a:t>	</a:t>
            </a:r>
            <a:r>
              <a:rPr dirty="0" sz="3600" spc="-50">
                <a:solidFill>
                  <a:srgbClr val="001D31"/>
                </a:solidFill>
                <a:latin typeface="Calibri"/>
                <a:cs typeface="Calibri"/>
              </a:rPr>
              <a:t>4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5707154" y="2179078"/>
            <a:ext cx="25717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0">
                <a:solidFill>
                  <a:srgbClr val="001D31"/>
                </a:solidFill>
                <a:latin typeface="Calibri"/>
                <a:cs typeface="Calibri"/>
              </a:rPr>
              <a:t>5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41602" y="475256"/>
            <a:ext cx="132969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001D31"/>
                </a:solidFill>
                <a:latin typeface="Calibri"/>
                <a:cs typeface="Calibri"/>
              </a:rPr>
              <a:t>PRODUCT</a:t>
            </a:r>
            <a:r>
              <a:rPr dirty="0" sz="1500" spc="-7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001D31"/>
                </a:solidFill>
                <a:latin typeface="Calibri"/>
                <a:cs typeface="Calibri"/>
              </a:rPr>
              <a:t>DEMO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249167" y="9655941"/>
            <a:ext cx="516890" cy="1974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85"/>
              </a:lnSpc>
            </a:pPr>
            <a:r>
              <a:rPr dirty="0" sz="1350">
                <a:solidFill>
                  <a:srgbClr val="6A6F82"/>
                </a:solidFill>
                <a:latin typeface="Calibri"/>
                <a:cs typeface="Calibri"/>
              </a:rPr>
              <a:t>06</a:t>
            </a:r>
            <a:r>
              <a:rPr dirty="0" sz="1350" spc="-20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6A6F82"/>
                </a:solidFill>
                <a:latin typeface="Calibri"/>
                <a:cs typeface="Calibri"/>
              </a:rPr>
              <a:t>/</a:t>
            </a:r>
            <a:r>
              <a:rPr dirty="0" sz="1350" spc="-15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350" spc="-35">
                <a:solidFill>
                  <a:srgbClr val="6A6F82"/>
                </a:solidFill>
                <a:latin typeface="Calibri"/>
                <a:cs typeface="Calibri"/>
              </a:rPr>
              <a:t>16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02347" y="877153"/>
            <a:ext cx="14823440" cy="1481455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12700" marR="5080">
              <a:lnSpc>
                <a:spcPts val="5700"/>
              </a:lnSpc>
              <a:spcBef>
                <a:spcPts val="265"/>
              </a:spcBef>
            </a:pPr>
            <a:r>
              <a:rPr dirty="0">
                <a:solidFill>
                  <a:srgbClr val="001D31"/>
                </a:solidFill>
              </a:rPr>
              <a:t>From</a:t>
            </a:r>
            <a:r>
              <a:rPr dirty="0" spc="-75">
                <a:solidFill>
                  <a:srgbClr val="001D31"/>
                </a:solidFill>
              </a:rPr>
              <a:t> </a:t>
            </a:r>
            <a:r>
              <a:rPr dirty="0">
                <a:solidFill>
                  <a:srgbClr val="001D31"/>
                </a:solidFill>
              </a:rPr>
              <a:t>inquiry</a:t>
            </a:r>
            <a:r>
              <a:rPr dirty="0" spc="-85">
                <a:solidFill>
                  <a:srgbClr val="001D31"/>
                </a:solidFill>
              </a:rPr>
              <a:t> </a:t>
            </a:r>
            <a:r>
              <a:rPr dirty="0">
                <a:solidFill>
                  <a:srgbClr val="001D31"/>
                </a:solidFill>
              </a:rPr>
              <a:t>to</a:t>
            </a:r>
            <a:r>
              <a:rPr dirty="0" spc="-75">
                <a:solidFill>
                  <a:srgbClr val="001D31"/>
                </a:solidFill>
              </a:rPr>
              <a:t> </a:t>
            </a:r>
            <a:r>
              <a:rPr dirty="0">
                <a:solidFill>
                  <a:srgbClr val="001D31"/>
                </a:solidFill>
              </a:rPr>
              <a:t>booked</a:t>
            </a:r>
            <a:r>
              <a:rPr dirty="0" spc="-70">
                <a:solidFill>
                  <a:srgbClr val="001D31"/>
                </a:solidFill>
              </a:rPr>
              <a:t> </a:t>
            </a:r>
            <a:r>
              <a:rPr dirty="0">
                <a:solidFill>
                  <a:srgbClr val="001D31"/>
                </a:solidFill>
              </a:rPr>
              <a:t>meeting</a:t>
            </a:r>
            <a:r>
              <a:rPr dirty="0" spc="-75">
                <a:solidFill>
                  <a:srgbClr val="001D31"/>
                </a:solidFill>
              </a:rPr>
              <a:t> </a:t>
            </a:r>
            <a:r>
              <a:rPr dirty="0">
                <a:solidFill>
                  <a:srgbClr val="001D31"/>
                </a:solidFill>
              </a:rPr>
              <a:t>—</a:t>
            </a:r>
            <a:r>
              <a:rPr dirty="0" spc="-70">
                <a:solidFill>
                  <a:srgbClr val="001D31"/>
                </a:solidFill>
              </a:rPr>
              <a:t> </a:t>
            </a:r>
            <a:r>
              <a:rPr dirty="0">
                <a:solidFill>
                  <a:srgbClr val="001D31"/>
                </a:solidFill>
              </a:rPr>
              <a:t>zero</a:t>
            </a:r>
            <a:r>
              <a:rPr dirty="0" spc="-75">
                <a:solidFill>
                  <a:srgbClr val="001D31"/>
                </a:solidFill>
              </a:rPr>
              <a:t> </a:t>
            </a:r>
            <a:r>
              <a:rPr dirty="0" spc="-20">
                <a:solidFill>
                  <a:srgbClr val="001D31"/>
                </a:solidFill>
              </a:rPr>
              <a:t>human </a:t>
            </a:r>
            <a:r>
              <a:rPr dirty="0" spc="-10">
                <a:solidFill>
                  <a:srgbClr val="001D31"/>
                </a:solidFill>
              </a:rPr>
              <a:t>involvement.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39612" y="2559652"/>
            <a:ext cx="3673475" cy="3130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850" spc="254">
                <a:solidFill>
                  <a:srgbClr val="001D31"/>
                </a:solidFill>
                <a:latin typeface="Segoe UI Symbol"/>
                <a:cs typeface="Segoe UI Symbol"/>
              </a:rPr>
              <a:t>🤖</a:t>
            </a:r>
            <a:r>
              <a:rPr dirty="0" sz="1850" spc="140">
                <a:solidFill>
                  <a:srgbClr val="001D31"/>
                </a:solidFill>
                <a:latin typeface="Segoe UI Symbol"/>
                <a:cs typeface="Segoe UI Symbol"/>
              </a:rPr>
              <a:t> </a:t>
            </a:r>
            <a:r>
              <a:rPr dirty="0" sz="1650">
                <a:solidFill>
                  <a:srgbClr val="001D31"/>
                </a:solidFill>
                <a:latin typeface="Calibri"/>
                <a:cs typeface="Calibri"/>
              </a:rPr>
              <a:t>Follei</a:t>
            </a:r>
            <a:r>
              <a:rPr dirty="0" sz="1650" spc="-2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1D31"/>
                </a:solidFill>
                <a:latin typeface="Calibri"/>
                <a:cs typeface="Calibri"/>
              </a:rPr>
              <a:t>Support</a:t>
            </a:r>
            <a:r>
              <a:rPr dirty="0" sz="1650" spc="-2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1D31"/>
                </a:solidFill>
                <a:latin typeface="Calibri"/>
                <a:cs typeface="Calibri"/>
              </a:rPr>
              <a:t>Worker</a:t>
            </a:r>
            <a:r>
              <a:rPr dirty="0" sz="1650" spc="34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1D31"/>
                </a:solidFill>
                <a:latin typeface="Calibri"/>
                <a:cs typeface="Calibri"/>
              </a:rPr>
              <a:t>●</a:t>
            </a:r>
            <a:r>
              <a:rPr dirty="0" sz="1650" spc="34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001D31"/>
                </a:solidFill>
                <a:latin typeface="Calibri"/>
                <a:cs typeface="Calibri"/>
              </a:rPr>
              <a:t>Autonomous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8240" y="3368571"/>
            <a:ext cx="6984365" cy="508000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110615">
              <a:lnSpc>
                <a:spcPct val="100000"/>
              </a:lnSpc>
              <a:spcBef>
                <a:spcPts val="200"/>
              </a:spcBef>
            </a:pPr>
            <a:r>
              <a:rPr dirty="0" sz="1050" spc="-10">
                <a:solidFill>
                  <a:srgbClr val="6A6F82"/>
                </a:solidFill>
                <a:latin typeface="Calibri"/>
                <a:cs typeface="Calibri"/>
              </a:rPr>
              <a:t>VISITOR</a:t>
            </a:r>
            <a:endParaRPr sz="1050">
              <a:latin typeface="Calibri"/>
              <a:cs typeface="Calibri"/>
            </a:endParaRPr>
          </a:p>
          <a:p>
            <a:pPr marL="1110615">
              <a:lnSpc>
                <a:spcPct val="100000"/>
              </a:lnSpc>
              <a:spcBef>
                <a:spcPts val="130"/>
              </a:spcBef>
            </a:pP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Hi,</a:t>
            </a:r>
            <a:r>
              <a:rPr dirty="0" sz="1350" spc="-4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what</a:t>
            </a:r>
            <a:r>
              <a:rPr dirty="0" sz="1350" spc="-4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does</a:t>
            </a:r>
            <a:r>
              <a:rPr dirty="0" sz="1350" spc="-4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your</a:t>
            </a:r>
            <a:r>
              <a:rPr dirty="0" sz="1350" spc="-4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platform</a:t>
            </a:r>
            <a:r>
              <a:rPr dirty="0" sz="1350" spc="-4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cost?</a:t>
            </a:r>
            <a:r>
              <a:rPr dirty="0" sz="1350" spc="-4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We're</a:t>
            </a:r>
            <a:r>
              <a:rPr dirty="0" sz="1350" spc="-4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a</a:t>
            </a:r>
            <a:r>
              <a:rPr dirty="0" sz="1350" spc="-4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01D31"/>
                </a:solidFill>
                <a:latin typeface="Calibri"/>
                <a:cs typeface="Calibri"/>
              </a:rPr>
              <a:t>50-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person</a:t>
            </a:r>
            <a:r>
              <a:rPr dirty="0" sz="1350" spc="-4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SaaS</a:t>
            </a:r>
            <a:r>
              <a:rPr dirty="0" sz="1350" spc="-4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01D31"/>
                </a:solidFill>
                <a:latin typeface="Calibri"/>
                <a:cs typeface="Calibri"/>
              </a:rPr>
              <a:t>company.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30"/>
              </a:spcBef>
            </a:pP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050" spc="-10">
                <a:solidFill>
                  <a:srgbClr val="6A6F82"/>
                </a:solidFill>
                <a:latin typeface="Calibri"/>
                <a:cs typeface="Calibri"/>
              </a:rPr>
              <a:t>SUPPORT</a:t>
            </a:r>
            <a:r>
              <a:rPr dirty="0" sz="1050" spc="-5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6A6F82"/>
                </a:solidFill>
                <a:latin typeface="Calibri"/>
                <a:cs typeface="Calibri"/>
              </a:rPr>
              <a:t>WORKER</a:t>
            </a:r>
            <a:r>
              <a:rPr dirty="0" sz="1050" spc="-5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6A6F82"/>
                </a:solidFill>
                <a:latin typeface="Calibri"/>
                <a:cs typeface="Calibri"/>
              </a:rPr>
              <a:t>· </a:t>
            </a:r>
            <a:r>
              <a:rPr dirty="0" sz="1050" spc="-20">
                <a:solidFill>
                  <a:srgbClr val="6A6F82"/>
                </a:solidFill>
                <a:latin typeface="Calibri"/>
                <a:cs typeface="Calibri"/>
              </a:rPr>
              <a:t>0.8s</a:t>
            </a:r>
            <a:endParaRPr sz="1050">
              <a:latin typeface="Calibri"/>
              <a:cs typeface="Calibri"/>
            </a:endParaRPr>
          </a:p>
          <a:p>
            <a:pPr marL="12700" marR="5080">
              <a:lnSpc>
                <a:spcPts val="1580"/>
              </a:lnSpc>
              <a:spcBef>
                <a:spcPts val="555"/>
              </a:spcBef>
            </a:pP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Great</a:t>
            </a:r>
            <a:r>
              <a:rPr dirty="0" sz="1350" spc="-3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to</a:t>
            </a:r>
            <a:r>
              <a:rPr dirty="0" sz="1350" spc="-3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meet</a:t>
            </a:r>
            <a:r>
              <a:rPr dirty="0" sz="1350" spc="-3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you!</a:t>
            </a:r>
            <a:r>
              <a:rPr dirty="0" sz="1350" spc="-3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For</a:t>
            </a:r>
            <a:r>
              <a:rPr dirty="0" sz="1350" spc="-3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a</a:t>
            </a:r>
            <a:r>
              <a:rPr dirty="0" sz="1350" spc="-3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01D31"/>
                </a:solidFill>
                <a:latin typeface="Calibri"/>
                <a:cs typeface="Calibri"/>
              </a:rPr>
              <a:t>50-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person</a:t>
            </a:r>
            <a:r>
              <a:rPr dirty="0" sz="1350" spc="-3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SaaS</a:t>
            </a:r>
            <a:r>
              <a:rPr dirty="0" sz="1350" spc="-3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01D31"/>
                </a:solidFill>
                <a:latin typeface="Calibri"/>
                <a:cs typeface="Calibri"/>
              </a:rPr>
              <a:t>company,</a:t>
            </a:r>
            <a:r>
              <a:rPr dirty="0" sz="1350" spc="-3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our</a:t>
            </a:r>
            <a:r>
              <a:rPr dirty="0" sz="1350" spc="-3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Growth</a:t>
            </a:r>
            <a:r>
              <a:rPr dirty="0" sz="1350" spc="-3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plan</a:t>
            </a:r>
            <a:r>
              <a:rPr dirty="0" sz="1350" spc="-3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at</a:t>
            </a:r>
            <a:r>
              <a:rPr dirty="0" sz="1350" spc="-3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01D31"/>
                </a:solidFill>
                <a:latin typeface="Calibri"/>
                <a:cs typeface="Calibri"/>
              </a:rPr>
              <a:t>$1,200/month</a:t>
            </a:r>
            <a:r>
              <a:rPr dirty="0" sz="1350" spc="-3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gives</a:t>
            </a:r>
            <a:r>
              <a:rPr dirty="0" sz="1350" spc="-3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you</a:t>
            </a:r>
            <a:r>
              <a:rPr dirty="0" sz="1350" spc="-3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3</a:t>
            </a:r>
            <a:r>
              <a:rPr dirty="0" sz="1350" spc="-3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 spc="-25">
                <a:solidFill>
                  <a:srgbClr val="001D31"/>
                </a:solidFill>
                <a:latin typeface="Calibri"/>
                <a:cs typeface="Calibri"/>
              </a:rPr>
              <a:t>AI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workers</a:t>
            </a:r>
            <a:r>
              <a:rPr dirty="0" sz="1350" spc="-4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across</a:t>
            </a:r>
            <a:r>
              <a:rPr dirty="0" sz="1350" spc="-4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01D31"/>
                </a:solidFill>
                <a:latin typeface="Calibri"/>
                <a:cs typeface="Calibri"/>
              </a:rPr>
              <a:t>Support,</a:t>
            </a:r>
            <a:r>
              <a:rPr dirty="0" sz="1350" spc="-4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SDR,</a:t>
            </a:r>
            <a:r>
              <a:rPr dirty="0" sz="1350" spc="-4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and</a:t>
            </a:r>
            <a:r>
              <a:rPr dirty="0" sz="1350" spc="-4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Customer</a:t>
            </a:r>
            <a:r>
              <a:rPr dirty="0" sz="1350" spc="-4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Success.</a:t>
            </a:r>
            <a:r>
              <a:rPr dirty="0" sz="1350" spc="-4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Most</a:t>
            </a:r>
            <a:r>
              <a:rPr dirty="0" sz="1350" spc="-4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teams</a:t>
            </a:r>
            <a:r>
              <a:rPr dirty="0" sz="1350" spc="-4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see</a:t>
            </a:r>
            <a:r>
              <a:rPr dirty="0" sz="1350" spc="-4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ROI</a:t>
            </a:r>
            <a:r>
              <a:rPr dirty="0" sz="1350" spc="-4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within</a:t>
            </a:r>
            <a:r>
              <a:rPr dirty="0" sz="1350" spc="-4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the</a:t>
            </a:r>
            <a:r>
              <a:rPr dirty="0" sz="1350" spc="-4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first</a:t>
            </a:r>
            <a:r>
              <a:rPr dirty="0" sz="1350" spc="-4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30</a:t>
            </a:r>
            <a:r>
              <a:rPr dirty="0" sz="1350" spc="-4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01D31"/>
                </a:solidFill>
                <a:latin typeface="Calibri"/>
                <a:cs typeface="Calibri"/>
              </a:rPr>
              <a:t>days.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10"/>
              </a:spcBef>
            </a:pPr>
            <a:endParaRPr sz="1350">
              <a:latin typeface="Calibri"/>
              <a:cs typeface="Calibri"/>
            </a:endParaRPr>
          </a:p>
          <a:p>
            <a:pPr marL="1110615">
              <a:lnSpc>
                <a:spcPct val="100000"/>
              </a:lnSpc>
            </a:pPr>
            <a:r>
              <a:rPr dirty="0" sz="1050" spc="-10">
                <a:solidFill>
                  <a:srgbClr val="6A6F82"/>
                </a:solidFill>
                <a:latin typeface="Calibri"/>
                <a:cs typeface="Calibri"/>
              </a:rPr>
              <a:t>VISITOR</a:t>
            </a:r>
            <a:endParaRPr sz="1050">
              <a:latin typeface="Calibri"/>
              <a:cs typeface="Calibri"/>
            </a:endParaRPr>
          </a:p>
          <a:p>
            <a:pPr marL="1110615">
              <a:lnSpc>
                <a:spcPct val="100000"/>
              </a:lnSpc>
              <a:spcBef>
                <a:spcPts val="165"/>
              </a:spcBef>
            </a:pP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Yes</a:t>
            </a:r>
            <a:r>
              <a:rPr dirty="0" sz="1350" spc="-2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—</a:t>
            </a:r>
            <a:r>
              <a:rPr dirty="0" sz="1350" spc="-2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and</a:t>
            </a:r>
            <a:r>
              <a:rPr dirty="0" sz="1350" spc="-2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can</a:t>
            </a:r>
            <a:r>
              <a:rPr dirty="0" sz="1350" spc="-2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we</a:t>
            </a:r>
            <a:r>
              <a:rPr dirty="0" sz="1350" spc="-2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get</a:t>
            </a:r>
            <a:r>
              <a:rPr dirty="0" sz="1350" spc="-2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a</a:t>
            </a:r>
            <a:r>
              <a:rPr dirty="0" sz="1350" spc="-2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 spc="-20">
                <a:solidFill>
                  <a:srgbClr val="001D31"/>
                </a:solidFill>
                <a:latin typeface="Calibri"/>
                <a:cs typeface="Calibri"/>
              </a:rPr>
              <a:t>demo?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15"/>
              </a:spcBef>
            </a:pP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050">
                <a:solidFill>
                  <a:srgbClr val="6A6F82"/>
                </a:solidFill>
                <a:latin typeface="Calibri"/>
                <a:cs typeface="Calibri"/>
              </a:rPr>
              <a:t>SDR</a:t>
            </a:r>
            <a:r>
              <a:rPr dirty="0" sz="1050" spc="-15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6A6F82"/>
                </a:solidFill>
                <a:latin typeface="Calibri"/>
                <a:cs typeface="Calibri"/>
              </a:rPr>
              <a:t>WORKER HANDOFF</a:t>
            </a:r>
            <a:r>
              <a:rPr dirty="0" sz="1050" spc="-15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6A6F82"/>
                </a:solidFill>
                <a:latin typeface="Calibri"/>
                <a:cs typeface="Calibri"/>
              </a:rPr>
              <a:t>·</a:t>
            </a:r>
            <a:r>
              <a:rPr dirty="0" sz="1050" spc="-10">
                <a:solidFill>
                  <a:srgbClr val="6A6F82"/>
                </a:solidFill>
                <a:latin typeface="Calibri"/>
                <a:cs typeface="Calibri"/>
              </a:rPr>
              <a:t> instant</a:t>
            </a:r>
            <a:endParaRPr sz="1050">
              <a:latin typeface="Calibri"/>
              <a:cs typeface="Calibri"/>
            </a:endParaRPr>
          </a:p>
          <a:p>
            <a:pPr marL="12700" marR="367030">
              <a:lnSpc>
                <a:spcPts val="1580"/>
              </a:lnSpc>
              <a:spcBef>
                <a:spcPts val="555"/>
              </a:spcBef>
            </a:pPr>
            <a:r>
              <a:rPr dirty="0" sz="1350" spc="-10">
                <a:solidFill>
                  <a:srgbClr val="001D31"/>
                </a:solidFill>
                <a:latin typeface="Calibri"/>
                <a:cs typeface="Calibri"/>
              </a:rPr>
              <a:t>Absolutely.</a:t>
            </a:r>
            <a:r>
              <a:rPr dirty="0" sz="1350" spc="-3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I</a:t>
            </a:r>
            <a:r>
              <a:rPr dirty="0" sz="1350" spc="-2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can</a:t>
            </a:r>
            <a:r>
              <a:rPr dirty="0" sz="1350" spc="-3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book</a:t>
            </a:r>
            <a:r>
              <a:rPr dirty="0" sz="1350" spc="-2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a</a:t>
            </a:r>
            <a:r>
              <a:rPr dirty="0" sz="1350" spc="-3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01D31"/>
                </a:solidFill>
                <a:latin typeface="Calibri"/>
                <a:cs typeface="Calibri"/>
              </a:rPr>
              <a:t>30-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minute</a:t>
            </a:r>
            <a:r>
              <a:rPr dirty="0" sz="1350" spc="-2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demo</a:t>
            </a:r>
            <a:r>
              <a:rPr dirty="0" sz="1350" spc="-3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with</a:t>
            </a:r>
            <a:r>
              <a:rPr dirty="0" sz="1350" spc="-2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our</a:t>
            </a:r>
            <a:r>
              <a:rPr dirty="0" sz="1350" spc="-3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team.</a:t>
            </a:r>
            <a:r>
              <a:rPr dirty="0" sz="1350" spc="-2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Before</a:t>
            </a:r>
            <a:r>
              <a:rPr dirty="0" sz="1350" spc="-3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I</a:t>
            </a:r>
            <a:r>
              <a:rPr dirty="0" sz="1350" spc="-2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do</a:t>
            </a:r>
            <a:r>
              <a:rPr dirty="0" sz="1350" spc="-3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—</a:t>
            </a:r>
            <a:r>
              <a:rPr dirty="0" sz="1350" spc="-2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quick</a:t>
            </a:r>
            <a:r>
              <a:rPr dirty="0" sz="1350" spc="-3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01D31"/>
                </a:solidFill>
                <a:latin typeface="Calibri"/>
                <a:cs typeface="Calibri"/>
              </a:rPr>
              <a:t>question:</a:t>
            </a:r>
            <a:r>
              <a:rPr dirty="0" sz="1350" spc="-2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are</a:t>
            </a:r>
            <a:r>
              <a:rPr dirty="0" sz="1350" spc="-3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 spc="-25">
                <a:solidFill>
                  <a:srgbClr val="001D31"/>
                </a:solidFill>
                <a:latin typeface="Calibri"/>
                <a:cs typeface="Calibri"/>
              </a:rPr>
              <a:t>you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looking</a:t>
            </a:r>
            <a:r>
              <a:rPr dirty="0" sz="1350" spc="-4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to</a:t>
            </a:r>
            <a:r>
              <a:rPr dirty="0" sz="1350" spc="-4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automate</a:t>
            </a:r>
            <a:r>
              <a:rPr dirty="0" sz="1350" spc="-4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support</a:t>
            </a:r>
            <a:r>
              <a:rPr dirty="0" sz="1350" spc="-4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first,</a:t>
            </a:r>
            <a:r>
              <a:rPr dirty="0" sz="1350" spc="-4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or</a:t>
            </a:r>
            <a:r>
              <a:rPr dirty="0" sz="1350" spc="-4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is</a:t>
            </a:r>
            <a:r>
              <a:rPr dirty="0" sz="1350" spc="-4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lead</a:t>
            </a:r>
            <a:r>
              <a:rPr dirty="0" sz="1350" spc="-4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01D31"/>
                </a:solidFill>
                <a:latin typeface="Calibri"/>
                <a:cs typeface="Calibri"/>
              </a:rPr>
              <a:t>qualification</a:t>
            </a:r>
            <a:r>
              <a:rPr dirty="0" sz="1350" spc="-4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the</a:t>
            </a:r>
            <a:r>
              <a:rPr dirty="0" sz="1350" spc="-4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bigger</a:t>
            </a:r>
            <a:r>
              <a:rPr dirty="0" sz="1350" spc="-4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pain</a:t>
            </a:r>
            <a:r>
              <a:rPr dirty="0" sz="1350" spc="-4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right</a:t>
            </a:r>
            <a:r>
              <a:rPr dirty="0" sz="1350" spc="-4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 spc="-20">
                <a:solidFill>
                  <a:srgbClr val="001D31"/>
                </a:solidFill>
                <a:latin typeface="Calibri"/>
                <a:cs typeface="Calibri"/>
              </a:rPr>
              <a:t>now?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95"/>
              </a:spcBef>
            </a:pPr>
            <a:endParaRPr sz="1350">
              <a:latin typeface="Calibri"/>
              <a:cs typeface="Calibri"/>
            </a:endParaRPr>
          </a:p>
          <a:p>
            <a:pPr marL="1110615">
              <a:lnSpc>
                <a:spcPct val="100000"/>
              </a:lnSpc>
            </a:pPr>
            <a:r>
              <a:rPr dirty="0" sz="1050" spc="-10">
                <a:solidFill>
                  <a:srgbClr val="6A6F82"/>
                </a:solidFill>
                <a:latin typeface="Calibri"/>
                <a:cs typeface="Calibri"/>
              </a:rPr>
              <a:t>VISITOR</a:t>
            </a:r>
            <a:endParaRPr sz="1050">
              <a:latin typeface="Calibri"/>
              <a:cs typeface="Calibri"/>
            </a:endParaRPr>
          </a:p>
          <a:p>
            <a:pPr marL="1110615">
              <a:lnSpc>
                <a:spcPct val="100000"/>
              </a:lnSpc>
              <a:spcBef>
                <a:spcPts val="204"/>
              </a:spcBef>
            </a:pP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Both,</a:t>
            </a:r>
            <a:r>
              <a:rPr dirty="0" sz="1350" spc="-4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01D31"/>
                </a:solidFill>
                <a:latin typeface="Calibri"/>
                <a:cs typeface="Calibri"/>
              </a:rPr>
              <a:t>honestly.</a:t>
            </a:r>
            <a:r>
              <a:rPr dirty="0" sz="1350" spc="-4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Our</a:t>
            </a:r>
            <a:r>
              <a:rPr dirty="0" sz="1350" spc="-4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support</a:t>
            </a:r>
            <a:r>
              <a:rPr dirty="0" sz="1350" spc="-4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queue</a:t>
            </a:r>
            <a:r>
              <a:rPr dirty="0" sz="1350" spc="-4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is</a:t>
            </a:r>
            <a:r>
              <a:rPr dirty="0" sz="1350" spc="-4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killing</a:t>
            </a:r>
            <a:r>
              <a:rPr dirty="0" sz="1350" spc="-4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 spc="-25">
                <a:solidFill>
                  <a:srgbClr val="001D31"/>
                </a:solidFill>
                <a:latin typeface="Calibri"/>
                <a:cs typeface="Calibri"/>
              </a:rPr>
              <a:t>us.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50"/>
              </a:spcBef>
            </a:pP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050">
                <a:solidFill>
                  <a:srgbClr val="6A6F82"/>
                </a:solidFill>
                <a:latin typeface="Calibri"/>
                <a:cs typeface="Calibri"/>
              </a:rPr>
              <a:t>SDR</a:t>
            </a:r>
            <a:r>
              <a:rPr dirty="0" sz="1050" spc="-25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6A6F82"/>
                </a:solidFill>
                <a:latin typeface="Calibri"/>
                <a:cs typeface="Calibri"/>
              </a:rPr>
              <a:t>WORKER</a:t>
            </a:r>
            <a:r>
              <a:rPr dirty="0" sz="1050" spc="-20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6A6F82"/>
                </a:solidFill>
                <a:latin typeface="Calibri"/>
                <a:cs typeface="Calibri"/>
              </a:rPr>
              <a:t>·</a:t>
            </a:r>
            <a:r>
              <a:rPr dirty="0" sz="1050" spc="-25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6A6F82"/>
                </a:solidFill>
                <a:latin typeface="Calibri"/>
                <a:cs typeface="Calibri"/>
              </a:rPr>
              <a:t>booking</a:t>
            </a:r>
            <a:r>
              <a:rPr dirty="0" sz="1050" spc="-20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6A6F82"/>
                </a:solidFill>
                <a:latin typeface="Calibri"/>
                <a:cs typeface="Calibri"/>
              </a:rPr>
              <a:t>initiated</a:t>
            </a:r>
            <a:endParaRPr sz="1050">
              <a:latin typeface="Calibri"/>
              <a:cs typeface="Calibri"/>
            </a:endParaRPr>
          </a:p>
          <a:p>
            <a:pPr marL="12700" marR="89535">
              <a:lnSpc>
                <a:spcPts val="1580"/>
              </a:lnSpc>
              <a:spcBef>
                <a:spcPts val="555"/>
              </a:spcBef>
            </a:pP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Perfect</a:t>
            </a:r>
            <a:r>
              <a:rPr dirty="0" sz="1350" spc="-5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—</a:t>
            </a:r>
            <a:r>
              <a:rPr dirty="0" sz="1350" spc="-3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that's</a:t>
            </a:r>
            <a:r>
              <a:rPr dirty="0" sz="1350" spc="-3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exactly</a:t>
            </a:r>
            <a:r>
              <a:rPr dirty="0" sz="1350" spc="-3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our</a:t>
            </a:r>
            <a:r>
              <a:rPr dirty="0" sz="1350" spc="-3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sweet</a:t>
            </a:r>
            <a:r>
              <a:rPr dirty="0" sz="1350" spc="-4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spot.</a:t>
            </a:r>
            <a:r>
              <a:rPr dirty="0" sz="1350" spc="-3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I've</a:t>
            </a:r>
            <a:r>
              <a:rPr dirty="0" sz="1350" spc="-3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found</a:t>
            </a:r>
            <a:r>
              <a:rPr dirty="0" sz="1350" spc="-3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an</a:t>
            </a:r>
            <a:r>
              <a:rPr dirty="0" sz="1350" spc="-3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open</a:t>
            </a:r>
            <a:r>
              <a:rPr dirty="0" sz="1350" spc="-4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slot:</a:t>
            </a:r>
            <a:r>
              <a:rPr dirty="0" sz="1350" spc="-3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01D31"/>
                </a:solidFill>
                <a:latin typeface="Calibri"/>
                <a:cs typeface="Calibri"/>
              </a:rPr>
              <a:t>Thursday</a:t>
            </a:r>
            <a:r>
              <a:rPr dirty="0" sz="1350" spc="-3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at</a:t>
            </a:r>
            <a:r>
              <a:rPr dirty="0" sz="1350" spc="-3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2pm.</a:t>
            </a:r>
            <a:r>
              <a:rPr dirty="0" sz="1350" spc="-3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01D31"/>
                </a:solidFill>
                <a:latin typeface="Calibri"/>
                <a:cs typeface="Calibri"/>
              </a:rPr>
              <a:t>Confirming</a:t>
            </a:r>
            <a:r>
              <a:rPr dirty="0" sz="1350" spc="-3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 spc="-20">
                <a:solidFill>
                  <a:srgbClr val="001D31"/>
                </a:solidFill>
                <a:latin typeface="Calibri"/>
                <a:cs typeface="Calibri"/>
              </a:rPr>
              <a:t>your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email</a:t>
            </a:r>
            <a:r>
              <a:rPr dirty="0" sz="1350" spc="-3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and</a:t>
            </a:r>
            <a:r>
              <a:rPr dirty="0" sz="1350" spc="-3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I'll</a:t>
            </a:r>
            <a:r>
              <a:rPr dirty="0" sz="1350" spc="-3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send</a:t>
            </a:r>
            <a:r>
              <a:rPr dirty="0" sz="1350" spc="-3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the</a:t>
            </a:r>
            <a:r>
              <a:rPr dirty="0" sz="1350" spc="-3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01D31"/>
                </a:solidFill>
                <a:latin typeface="Calibri"/>
                <a:cs typeface="Calibri"/>
              </a:rPr>
              <a:t>calendar</a:t>
            </a:r>
            <a:r>
              <a:rPr dirty="0" sz="1350" spc="-3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invite</a:t>
            </a:r>
            <a:r>
              <a:rPr dirty="0" sz="1350" spc="-3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1D31"/>
                </a:solidFill>
                <a:latin typeface="Calibri"/>
                <a:cs typeface="Calibri"/>
              </a:rPr>
              <a:t>now.</a:t>
            </a:r>
            <a:r>
              <a:rPr dirty="0" sz="1350" spc="-3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550" spc="25">
                <a:solidFill>
                  <a:srgbClr val="001D31"/>
                </a:solidFill>
                <a:latin typeface="Segoe UI Symbol"/>
                <a:cs typeface="Segoe UI Symbol"/>
              </a:rPr>
              <a:t>📅</a:t>
            </a:r>
            <a:endParaRPr sz="1550">
              <a:latin typeface="Segoe UI Symbol"/>
              <a:cs typeface="Segoe UI 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05150" y="2556775"/>
            <a:ext cx="5771515" cy="731520"/>
          </a:xfrm>
          <a:prstGeom prst="rect">
            <a:avLst/>
          </a:prstGeom>
        </p:spPr>
        <p:txBody>
          <a:bodyPr wrap="square" lIns="0" tIns="1231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70"/>
              </a:spcBef>
            </a:pPr>
            <a:r>
              <a:rPr dirty="0" sz="1800" b="1">
                <a:solidFill>
                  <a:srgbClr val="001D31"/>
                </a:solidFill>
                <a:latin typeface="Calibri"/>
                <a:cs typeface="Calibri"/>
              </a:rPr>
              <a:t>Intent</a:t>
            </a:r>
            <a:r>
              <a:rPr dirty="0" sz="1800" spc="-35" b="1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1D31"/>
                </a:solidFill>
                <a:latin typeface="Calibri"/>
                <a:cs typeface="Calibri"/>
              </a:rPr>
              <a:t>&amp;</a:t>
            </a:r>
            <a:r>
              <a:rPr dirty="0" sz="1800" spc="-35" b="1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1D31"/>
                </a:solidFill>
                <a:latin typeface="Calibri"/>
                <a:cs typeface="Calibri"/>
              </a:rPr>
              <a:t>qualification</a:t>
            </a:r>
            <a:r>
              <a:rPr dirty="0" sz="1800" spc="-35" b="1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1D31"/>
                </a:solidFill>
                <a:latin typeface="Calibri"/>
                <a:cs typeface="Calibri"/>
              </a:rPr>
              <a:t>detected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Company</a:t>
            </a:r>
            <a:r>
              <a:rPr dirty="0" sz="150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size</a:t>
            </a:r>
            <a:r>
              <a:rPr dirty="0" sz="150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+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buying</a:t>
            </a:r>
            <a:r>
              <a:rPr dirty="0" sz="150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intent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identified</a:t>
            </a:r>
            <a:r>
              <a:rPr dirty="0" sz="150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from</a:t>
            </a:r>
            <a:r>
              <a:rPr dirty="0" sz="150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context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—</a:t>
            </a:r>
            <a:r>
              <a:rPr dirty="0" sz="150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no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form</a:t>
            </a:r>
            <a:r>
              <a:rPr dirty="0" sz="150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required.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05150" y="4272632"/>
            <a:ext cx="6100445" cy="731520"/>
          </a:xfrm>
          <a:prstGeom prst="rect">
            <a:avLst/>
          </a:prstGeom>
        </p:spPr>
        <p:txBody>
          <a:bodyPr wrap="square" lIns="0" tIns="1231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70"/>
              </a:spcBef>
            </a:pPr>
            <a:r>
              <a:rPr dirty="0" sz="1800" b="1">
                <a:solidFill>
                  <a:srgbClr val="001D31"/>
                </a:solidFill>
                <a:latin typeface="Calibri"/>
                <a:cs typeface="Calibri"/>
              </a:rPr>
              <a:t>Intelligent</a:t>
            </a:r>
            <a:r>
              <a:rPr dirty="0" sz="1800" spc="-35" b="1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1D31"/>
                </a:solidFill>
                <a:latin typeface="Calibri"/>
                <a:cs typeface="Calibri"/>
              </a:rPr>
              <a:t>handoff</a:t>
            </a:r>
            <a:r>
              <a:rPr dirty="0" sz="1800" spc="-35" b="1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1D31"/>
                </a:solidFill>
                <a:latin typeface="Calibri"/>
                <a:cs typeface="Calibri"/>
              </a:rPr>
              <a:t>to</a:t>
            </a:r>
            <a:r>
              <a:rPr dirty="0" sz="1800" spc="-35" b="1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1D31"/>
                </a:solidFill>
                <a:latin typeface="Calibri"/>
                <a:cs typeface="Calibri"/>
              </a:rPr>
              <a:t>SDR</a:t>
            </a:r>
            <a:r>
              <a:rPr dirty="0" sz="1800" spc="-35" b="1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1D31"/>
                </a:solidFill>
                <a:latin typeface="Calibri"/>
                <a:cs typeface="Calibri"/>
              </a:rPr>
              <a:t>Worker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Seamless</a:t>
            </a:r>
            <a:r>
              <a:rPr dirty="0" sz="1500" spc="-5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transfer</a:t>
            </a:r>
            <a:r>
              <a:rPr dirty="0" sz="150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when</a:t>
            </a:r>
            <a:r>
              <a:rPr dirty="0" sz="150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intent</a:t>
            </a:r>
            <a:r>
              <a:rPr dirty="0" sz="150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signalled</a:t>
            </a:r>
            <a:r>
              <a:rPr dirty="0" sz="1500" spc="-5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—</a:t>
            </a:r>
            <a:r>
              <a:rPr dirty="0" sz="150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customer</a:t>
            </a:r>
            <a:r>
              <a:rPr dirty="0" sz="150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never</a:t>
            </a:r>
            <a:r>
              <a:rPr dirty="0" sz="150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noticed</a:t>
            </a:r>
            <a:r>
              <a:rPr dirty="0" sz="150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the</a:t>
            </a:r>
            <a:r>
              <a:rPr dirty="0" sz="1500" spc="-5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switch.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05150" y="5988474"/>
            <a:ext cx="5661660" cy="731520"/>
          </a:xfrm>
          <a:prstGeom prst="rect">
            <a:avLst/>
          </a:prstGeom>
        </p:spPr>
        <p:txBody>
          <a:bodyPr wrap="square" lIns="0" tIns="1231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70"/>
              </a:spcBef>
            </a:pPr>
            <a:r>
              <a:rPr dirty="0" sz="1800" b="1">
                <a:solidFill>
                  <a:srgbClr val="001D31"/>
                </a:solidFill>
                <a:latin typeface="Calibri"/>
                <a:cs typeface="Calibri"/>
              </a:rPr>
              <a:t>Meeting</a:t>
            </a:r>
            <a:r>
              <a:rPr dirty="0" sz="1800" spc="-45" b="1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1D31"/>
                </a:solidFill>
                <a:latin typeface="Calibri"/>
                <a:cs typeface="Calibri"/>
              </a:rPr>
              <a:t>booked</a:t>
            </a:r>
            <a:r>
              <a:rPr dirty="0" sz="1800" spc="-40" b="1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1D31"/>
                </a:solidFill>
                <a:latin typeface="Calibri"/>
                <a:cs typeface="Calibri"/>
              </a:rPr>
              <a:t>autonomously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Qualification,</a:t>
            </a:r>
            <a:r>
              <a:rPr dirty="0" sz="1500" spc="-1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discovery,</a:t>
            </a:r>
            <a:r>
              <a:rPr dirty="0" sz="1500" spc="-1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and</a:t>
            </a:r>
            <a:r>
              <a:rPr dirty="0" sz="1500" spc="-1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booking</a:t>
            </a:r>
            <a:r>
              <a:rPr dirty="0" sz="1500" spc="-1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completed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in</a:t>
            </a:r>
            <a:r>
              <a:rPr dirty="0" sz="1500" spc="-1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a</a:t>
            </a:r>
            <a:r>
              <a:rPr dirty="0" sz="1500" spc="-1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single</a:t>
            </a:r>
            <a:r>
              <a:rPr dirty="0" sz="1500" spc="-1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conversation.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05150" y="7704317"/>
            <a:ext cx="6087110" cy="731520"/>
          </a:xfrm>
          <a:prstGeom prst="rect">
            <a:avLst/>
          </a:prstGeom>
        </p:spPr>
        <p:txBody>
          <a:bodyPr wrap="square" lIns="0" tIns="1231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70"/>
              </a:spcBef>
            </a:pPr>
            <a:r>
              <a:rPr dirty="0" sz="1800" b="1">
                <a:solidFill>
                  <a:srgbClr val="001D31"/>
                </a:solidFill>
                <a:latin typeface="Calibri"/>
                <a:cs typeface="Calibri"/>
              </a:rPr>
              <a:t>Outcome</a:t>
            </a:r>
            <a:r>
              <a:rPr dirty="0" sz="1800" spc="-30" b="1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1D31"/>
                </a:solidFill>
                <a:latin typeface="Calibri"/>
                <a:cs typeface="Calibri"/>
              </a:rPr>
              <a:t>logged</a:t>
            </a:r>
            <a:r>
              <a:rPr dirty="0" sz="1800" spc="-30" b="1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1D31"/>
                </a:solidFill>
                <a:latin typeface="Calibri"/>
                <a:cs typeface="Calibri"/>
              </a:rPr>
              <a:t>for</a:t>
            </a:r>
            <a:r>
              <a:rPr dirty="0" sz="1800" spc="-30" b="1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1D31"/>
                </a:solidFill>
                <a:latin typeface="Calibri"/>
                <a:cs typeface="Calibri"/>
              </a:rPr>
              <a:t>learning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Full</a:t>
            </a:r>
            <a:r>
              <a:rPr dirty="0" sz="150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conversation</a:t>
            </a:r>
            <a:r>
              <a:rPr dirty="0" sz="150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stored.</a:t>
            </a:r>
            <a:r>
              <a:rPr dirty="0" sz="150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The</a:t>
            </a:r>
            <a:r>
              <a:rPr dirty="0" sz="150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system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improves</a:t>
            </a:r>
            <a:r>
              <a:rPr dirty="0" sz="150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from</a:t>
            </a:r>
            <a:r>
              <a:rPr dirty="0" sz="150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every</a:t>
            </a:r>
            <a:r>
              <a:rPr dirty="0" sz="150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interaction</a:t>
            </a:r>
            <a:r>
              <a:rPr dirty="0" sz="150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like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this.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099391" y="1375914"/>
            <a:ext cx="3188970" cy="4114800"/>
          </a:xfrm>
          <a:custGeom>
            <a:avLst/>
            <a:gdLst/>
            <a:ahLst/>
            <a:cxnLst/>
            <a:rect l="l" t="t" r="r" b="b"/>
            <a:pathLst>
              <a:path w="3188969" h="4114800">
                <a:moveTo>
                  <a:pt x="2203986" y="12699"/>
                </a:moveTo>
                <a:lnTo>
                  <a:pt x="1914051" y="12699"/>
                </a:lnTo>
                <a:lnTo>
                  <a:pt x="1962089" y="0"/>
                </a:lnTo>
                <a:lnTo>
                  <a:pt x="2155948" y="0"/>
                </a:lnTo>
                <a:lnTo>
                  <a:pt x="2203986" y="12699"/>
                </a:lnTo>
                <a:close/>
              </a:path>
              <a:path w="3188969" h="4114800">
                <a:moveTo>
                  <a:pt x="2346247" y="25399"/>
                </a:moveTo>
                <a:lnTo>
                  <a:pt x="1771790" y="25399"/>
                </a:lnTo>
                <a:lnTo>
                  <a:pt x="1818889" y="12699"/>
                </a:lnTo>
                <a:lnTo>
                  <a:pt x="2299148" y="12699"/>
                </a:lnTo>
                <a:lnTo>
                  <a:pt x="2346247" y="25399"/>
                </a:lnTo>
                <a:close/>
              </a:path>
              <a:path w="3188969" h="4114800">
                <a:moveTo>
                  <a:pt x="2531141" y="63499"/>
                </a:moveTo>
                <a:lnTo>
                  <a:pt x="1586896" y="63499"/>
                </a:lnTo>
                <a:lnTo>
                  <a:pt x="1725029" y="25399"/>
                </a:lnTo>
                <a:lnTo>
                  <a:pt x="2393008" y="25399"/>
                </a:lnTo>
                <a:lnTo>
                  <a:pt x="2531141" y="63499"/>
                </a:lnTo>
                <a:close/>
              </a:path>
              <a:path w="3188969" h="4114800">
                <a:moveTo>
                  <a:pt x="2439419" y="4089399"/>
                </a:moveTo>
                <a:lnTo>
                  <a:pt x="1678618" y="4089399"/>
                </a:lnTo>
                <a:lnTo>
                  <a:pt x="1364586" y="4000499"/>
                </a:lnTo>
                <a:lnTo>
                  <a:pt x="1321422" y="3987799"/>
                </a:lnTo>
                <a:lnTo>
                  <a:pt x="1278719" y="3962399"/>
                </a:lnTo>
                <a:lnTo>
                  <a:pt x="1194748" y="3936999"/>
                </a:lnTo>
                <a:lnTo>
                  <a:pt x="1112770" y="3886199"/>
                </a:lnTo>
                <a:lnTo>
                  <a:pt x="1072560" y="3873499"/>
                </a:lnTo>
                <a:lnTo>
                  <a:pt x="993758" y="3822699"/>
                </a:lnTo>
                <a:lnTo>
                  <a:pt x="917198" y="3771899"/>
                </a:lnTo>
                <a:lnTo>
                  <a:pt x="879789" y="3746499"/>
                </a:lnTo>
                <a:lnTo>
                  <a:pt x="842978" y="3721099"/>
                </a:lnTo>
                <a:lnTo>
                  <a:pt x="806776" y="3695699"/>
                </a:lnTo>
                <a:lnTo>
                  <a:pt x="771197" y="3670299"/>
                </a:lnTo>
                <a:lnTo>
                  <a:pt x="736252" y="3644899"/>
                </a:lnTo>
                <a:lnTo>
                  <a:pt x="701953" y="3606799"/>
                </a:lnTo>
                <a:lnTo>
                  <a:pt x="668314" y="3581399"/>
                </a:lnTo>
                <a:lnTo>
                  <a:pt x="635347" y="3555999"/>
                </a:lnTo>
                <a:lnTo>
                  <a:pt x="603063" y="3517899"/>
                </a:lnTo>
                <a:lnTo>
                  <a:pt x="571475" y="3479799"/>
                </a:lnTo>
                <a:lnTo>
                  <a:pt x="540597" y="3454399"/>
                </a:lnTo>
                <a:lnTo>
                  <a:pt x="510439" y="3416299"/>
                </a:lnTo>
                <a:lnTo>
                  <a:pt x="481014" y="3390899"/>
                </a:lnTo>
                <a:lnTo>
                  <a:pt x="452335" y="3352799"/>
                </a:lnTo>
                <a:lnTo>
                  <a:pt x="424414" y="3314699"/>
                </a:lnTo>
                <a:lnTo>
                  <a:pt x="397264" y="3276599"/>
                </a:lnTo>
                <a:lnTo>
                  <a:pt x="370896" y="3238499"/>
                </a:lnTo>
                <a:lnTo>
                  <a:pt x="345323" y="3200399"/>
                </a:lnTo>
                <a:lnTo>
                  <a:pt x="320558" y="3162299"/>
                </a:lnTo>
                <a:lnTo>
                  <a:pt x="296612" y="3124199"/>
                </a:lnTo>
                <a:lnTo>
                  <a:pt x="273499" y="3086099"/>
                </a:lnTo>
                <a:lnTo>
                  <a:pt x="251231" y="3047999"/>
                </a:lnTo>
                <a:lnTo>
                  <a:pt x="229819" y="3009899"/>
                </a:lnTo>
                <a:lnTo>
                  <a:pt x="209276" y="2971799"/>
                </a:lnTo>
                <a:lnTo>
                  <a:pt x="189615" y="2920999"/>
                </a:lnTo>
                <a:lnTo>
                  <a:pt x="170848" y="2882899"/>
                </a:lnTo>
                <a:lnTo>
                  <a:pt x="152988" y="2844799"/>
                </a:lnTo>
                <a:lnTo>
                  <a:pt x="136046" y="2793999"/>
                </a:lnTo>
                <a:lnTo>
                  <a:pt x="120035" y="2755899"/>
                </a:lnTo>
                <a:lnTo>
                  <a:pt x="104967" y="2717799"/>
                </a:lnTo>
                <a:lnTo>
                  <a:pt x="90856" y="2666999"/>
                </a:lnTo>
                <a:lnTo>
                  <a:pt x="77712" y="2628899"/>
                </a:lnTo>
                <a:lnTo>
                  <a:pt x="65549" y="2578099"/>
                </a:lnTo>
                <a:lnTo>
                  <a:pt x="54378" y="2539999"/>
                </a:lnTo>
                <a:lnTo>
                  <a:pt x="44213" y="2489199"/>
                </a:lnTo>
                <a:lnTo>
                  <a:pt x="35066" y="2438399"/>
                </a:lnTo>
                <a:lnTo>
                  <a:pt x="26948" y="2400299"/>
                </a:lnTo>
                <a:lnTo>
                  <a:pt x="19872" y="2349499"/>
                </a:lnTo>
                <a:lnTo>
                  <a:pt x="13852" y="2298699"/>
                </a:lnTo>
                <a:lnTo>
                  <a:pt x="8898" y="2260599"/>
                </a:lnTo>
                <a:lnTo>
                  <a:pt x="5023" y="2209799"/>
                </a:lnTo>
                <a:lnTo>
                  <a:pt x="2241" y="2158999"/>
                </a:lnTo>
                <a:lnTo>
                  <a:pt x="562" y="2108199"/>
                </a:lnTo>
                <a:lnTo>
                  <a:pt x="0" y="2057399"/>
                </a:lnTo>
                <a:lnTo>
                  <a:pt x="562" y="2019299"/>
                </a:lnTo>
                <a:lnTo>
                  <a:pt x="2241" y="1968499"/>
                </a:lnTo>
                <a:lnTo>
                  <a:pt x="5023" y="1917699"/>
                </a:lnTo>
                <a:lnTo>
                  <a:pt x="8898" y="1866899"/>
                </a:lnTo>
                <a:lnTo>
                  <a:pt x="13852" y="1816099"/>
                </a:lnTo>
                <a:lnTo>
                  <a:pt x="19872" y="1777999"/>
                </a:lnTo>
                <a:lnTo>
                  <a:pt x="26948" y="1727199"/>
                </a:lnTo>
                <a:lnTo>
                  <a:pt x="35066" y="1676399"/>
                </a:lnTo>
                <a:lnTo>
                  <a:pt x="44213" y="1638299"/>
                </a:lnTo>
                <a:lnTo>
                  <a:pt x="54378" y="1587499"/>
                </a:lnTo>
                <a:lnTo>
                  <a:pt x="65549" y="1549399"/>
                </a:lnTo>
                <a:lnTo>
                  <a:pt x="77712" y="1498599"/>
                </a:lnTo>
                <a:lnTo>
                  <a:pt x="90856" y="1460499"/>
                </a:lnTo>
                <a:lnTo>
                  <a:pt x="104967" y="1409699"/>
                </a:lnTo>
                <a:lnTo>
                  <a:pt x="120035" y="1371599"/>
                </a:lnTo>
                <a:lnTo>
                  <a:pt x="136046" y="1320799"/>
                </a:lnTo>
                <a:lnTo>
                  <a:pt x="152988" y="1282699"/>
                </a:lnTo>
                <a:lnTo>
                  <a:pt x="170848" y="1244599"/>
                </a:lnTo>
                <a:lnTo>
                  <a:pt x="189615" y="1193799"/>
                </a:lnTo>
                <a:lnTo>
                  <a:pt x="209276" y="1155699"/>
                </a:lnTo>
                <a:lnTo>
                  <a:pt x="229819" y="1117599"/>
                </a:lnTo>
                <a:lnTo>
                  <a:pt x="251231" y="1079499"/>
                </a:lnTo>
                <a:lnTo>
                  <a:pt x="273499" y="1041399"/>
                </a:lnTo>
                <a:lnTo>
                  <a:pt x="296612" y="990599"/>
                </a:lnTo>
                <a:lnTo>
                  <a:pt x="320558" y="952499"/>
                </a:lnTo>
                <a:lnTo>
                  <a:pt x="345323" y="914399"/>
                </a:lnTo>
                <a:lnTo>
                  <a:pt x="370896" y="888999"/>
                </a:lnTo>
                <a:lnTo>
                  <a:pt x="397264" y="850899"/>
                </a:lnTo>
                <a:lnTo>
                  <a:pt x="424414" y="812799"/>
                </a:lnTo>
                <a:lnTo>
                  <a:pt x="452335" y="774699"/>
                </a:lnTo>
                <a:lnTo>
                  <a:pt x="481014" y="736599"/>
                </a:lnTo>
                <a:lnTo>
                  <a:pt x="510439" y="711199"/>
                </a:lnTo>
                <a:lnTo>
                  <a:pt x="540597" y="673099"/>
                </a:lnTo>
                <a:lnTo>
                  <a:pt x="571475" y="634999"/>
                </a:lnTo>
                <a:lnTo>
                  <a:pt x="603063" y="609599"/>
                </a:lnTo>
                <a:lnTo>
                  <a:pt x="635347" y="571499"/>
                </a:lnTo>
                <a:lnTo>
                  <a:pt x="668314" y="546099"/>
                </a:lnTo>
                <a:lnTo>
                  <a:pt x="701953" y="507999"/>
                </a:lnTo>
                <a:lnTo>
                  <a:pt x="736252" y="482599"/>
                </a:lnTo>
                <a:lnTo>
                  <a:pt x="771197" y="457199"/>
                </a:lnTo>
                <a:lnTo>
                  <a:pt x="806776" y="431799"/>
                </a:lnTo>
                <a:lnTo>
                  <a:pt x="842978" y="406399"/>
                </a:lnTo>
                <a:lnTo>
                  <a:pt x="879789" y="368299"/>
                </a:lnTo>
                <a:lnTo>
                  <a:pt x="917198" y="342899"/>
                </a:lnTo>
                <a:lnTo>
                  <a:pt x="955192" y="317499"/>
                </a:lnTo>
                <a:lnTo>
                  <a:pt x="993758" y="304799"/>
                </a:lnTo>
                <a:lnTo>
                  <a:pt x="1072560" y="253999"/>
                </a:lnTo>
                <a:lnTo>
                  <a:pt x="1112770" y="228599"/>
                </a:lnTo>
                <a:lnTo>
                  <a:pt x="1153503" y="215899"/>
                </a:lnTo>
                <a:lnTo>
                  <a:pt x="1194748" y="190499"/>
                </a:lnTo>
                <a:lnTo>
                  <a:pt x="1236490" y="177799"/>
                </a:lnTo>
                <a:lnTo>
                  <a:pt x="1278719" y="152399"/>
                </a:lnTo>
                <a:lnTo>
                  <a:pt x="1408200" y="114299"/>
                </a:lnTo>
                <a:lnTo>
                  <a:pt x="1452250" y="88899"/>
                </a:lnTo>
                <a:lnTo>
                  <a:pt x="1541610" y="63499"/>
                </a:lnTo>
                <a:lnTo>
                  <a:pt x="2576427" y="63499"/>
                </a:lnTo>
                <a:lnTo>
                  <a:pt x="2665787" y="88899"/>
                </a:lnTo>
                <a:lnTo>
                  <a:pt x="2709837" y="114299"/>
                </a:lnTo>
                <a:lnTo>
                  <a:pt x="2839318" y="152399"/>
                </a:lnTo>
                <a:lnTo>
                  <a:pt x="2881547" y="177799"/>
                </a:lnTo>
                <a:lnTo>
                  <a:pt x="2923290" y="190499"/>
                </a:lnTo>
                <a:lnTo>
                  <a:pt x="2964534" y="215899"/>
                </a:lnTo>
                <a:lnTo>
                  <a:pt x="3005267" y="228599"/>
                </a:lnTo>
                <a:lnTo>
                  <a:pt x="3045478" y="253999"/>
                </a:lnTo>
                <a:lnTo>
                  <a:pt x="3124279" y="304799"/>
                </a:lnTo>
                <a:lnTo>
                  <a:pt x="3162845" y="317499"/>
                </a:lnTo>
                <a:lnTo>
                  <a:pt x="3188608" y="334723"/>
                </a:lnTo>
                <a:lnTo>
                  <a:pt x="3188608" y="3780015"/>
                </a:lnTo>
                <a:lnTo>
                  <a:pt x="3124279" y="3822699"/>
                </a:lnTo>
                <a:lnTo>
                  <a:pt x="3045478" y="3873499"/>
                </a:lnTo>
                <a:lnTo>
                  <a:pt x="3005267" y="3886199"/>
                </a:lnTo>
                <a:lnTo>
                  <a:pt x="2923290" y="3936999"/>
                </a:lnTo>
                <a:lnTo>
                  <a:pt x="2839318" y="3962399"/>
                </a:lnTo>
                <a:lnTo>
                  <a:pt x="2796615" y="3987799"/>
                </a:lnTo>
                <a:lnTo>
                  <a:pt x="2753451" y="4000499"/>
                </a:lnTo>
                <a:lnTo>
                  <a:pt x="2439419" y="4089399"/>
                </a:lnTo>
                <a:close/>
              </a:path>
              <a:path w="3188969" h="4114800">
                <a:moveTo>
                  <a:pt x="2346247" y="4102099"/>
                </a:moveTo>
                <a:lnTo>
                  <a:pt x="1771790" y="4102099"/>
                </a:lnTo>
                <a:lnTo>
                  <a:pt x="1725029" y="4089399"/>
                </a:lnTo>
                <a:lnTo>
                  <a:pt x="2393008" y="4089399"/>
                </a:lnTo>
                <a:lnTo>
                  <a:pt x="2346247" y="4102099"/>
                </a:lnTo>
                <a:close/>
              </a:path>
              <a:path w="3188969" h="4114800">
                <a:moveTo>
                  <a:pt x="2251724" y="4114799"/>
                </a:moveTo>
                <a:lnTo>
                  <a:pt x="1866313" y="4114799"/>
                </a:lnTo>
                <a:lnTo>
                  <a:pt x="1818889" y="4102099"/>
                </a:lnTo>
                <a:lnTo>
                  <a:pt x="2299148" y="4102099"/>
                </a:lnTo>
                <a:lnTo>
                  <a:pt x="2251724" y="4114799"/>
                </a:lnTo>
                <a:close/>
              </a:path>
            </a:pathLst>
          </a:custGeom>
          <a:solidFill>
            <a:srgbClr val="8B5CF5">
              <a:alpha val="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23607" y="562794"/>
            <a:ext cx="343535" cy="20955"/>
          </a:xfrm>
          <a:custGeom>
            <a:avLst/>
            <a:gdLst/>
            <a:ahLst/>
            <a:cxnLst/>
            <a:rect l="l" t="t" r="r" b="b"/>
            <a:pathLst>
              <a:path w="343534" h="20954">
                <a:moveTo>
                  <a:pt x="343163" y="20593"/>
                </a:moveTo>
                <a:lnTo>
                  <a:pt x="0" y="20593"/>
                </a:lnTo>
                <a:lnTo>
                  <a:pt x="0" y="0"/>
                </a:lnTo>
                <a:lnTo>
                  <a:pt x="343163" y="0"/>
                </a:lnTo>
                <a:lnTo>
                  <a:pt x="343163" y="20593"/>
                </a:lnTo>
                <a:close/>
              </a:path>
            </a:pathLst>
          </a:custGeom>
          <a:solidFill>
            <a:srgbClr val="0029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41602" y="475256"/>
            <a:ext cx="215201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001D31"/>
                </a:solidFill>
                <a:latin typeface="Calibri"/>
                <a:cs typeface="Calibri"/>
              </a:rPr>
              <a:t>PLATFORM ARCHITECTURE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902347" y="815103"/>
            <a:ext cx="14336394" cy="1117600"/>
          </a:xfrm>
          <a:prstGeom prst="rect"/>
        </p:spPr>
        <p:txBody>
          <a:bodyPr wrap="square" lIns="0" tIns="749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dirty="0">
                <a:solidFill>
                  <a:srgbClr val="001D31"/>
                </a:solidFill>
              </a:rPr>
              <a:t>Six</a:t>
            </a:r>
            <a:r>
              <a:rPr dirty="0" spc="-100">
                <a:solidFill>
                  <a:srgbClr val="001D31"/>
                </a:solidFill>
              </a:rPr>
              <a:t> </a:t>
            </a:r>
            <a:r>
              <a:rPr dirty="0">
                <a:solidFill>
                  <a:srgbClr val="001D31"/>
                </a:solidFill>
              </a:rPr>
              <a:t>systems.</a:t>
            </a:r>
            <a:r>
              <a:rPr dirty="0" spc="-100">
                <a:solidFill>
                  <a:srgbClr val="001D31"/>
                </a:solidFill>
              </a:rPr>
              <a:t> </a:t>
            </a:r>
            <a:r>
              <a:rPr dirty="0">
                <a:solidFill>
                  <a:srgbClr val="001D31"/>
                </a:solidFill>
              </a:rPr>
              <a:t>One</a:t>
            </a:r>
            <a:r>
              <a:rPr dirty="0" spc="-95">
                <a:solidFill>
                  <a:srgbClr val="001D31"/>
                </a:solidFill>
              </a:rPr>
              <a:t> </a:t>
            </a:r>
            <a:r>
              <a:rPr dirty="0">
                <a:solidFill>
                  <a:srgbClr val="001D31"/>
                </a:solidFill>
              </a:rPr>
              <a:t>compound</a:t>
            </a:r>
            <a:r>
              <a:rPr dirty="0" spc="-100">
                <a:solidFill>
                  <a:srgbClr val="001D31"/>
                </a:solidFill>
              </a:rPr>
              <a:t> </a:t>
            </a:r>
            <a:r>
              <a:rPr dirty="0">
                <a:solidFill>
                  <a:srgbClr val="001D31"/>
                </a:solidFill>
              </a:rPr>
              <a:t>intelligence</a:t>
            </a:r>
            <a:r>
              <a:rPr dirty="0" spc="-100">
                <a:solidFill>
                  <a:srgbClr val="001D31"/>
                </a:solidFill>
              </a:rPr>
              <a:t> </a:t>
            </a:r>
            <a:r>
              <a:rPr dirty="0" spc="-20">
                <a:solidFill>
                  <a:srgbClr val="001D31"/>
                </a:solidFill>
              </a:rPr>
              <a:t>loop.</a:t>
            </a: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1800" b="0">
                <a:solidFill>
                  <a:srgbClr val="8B8FA2"/>
                </a:solidFill>
                <a:latin typeface="Calibri"/>
                <a:cs typeface="Calibri"/>
              </a:rPr>
              <a:t>Every</a:t>
            </a:r>
            <a:r>
              <a:rPr dirty="0" sz="1800" spc="-45" b="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8B8FA2"/>
                </a:solidFill>
                <a:latin typeface="Calibri"/>
                <a:cs typeface="Calibri"/>
              </a:rPr>
              <a:t>system</a:t>
            </a:r>
            <a:r>
              <a:rPr dirty="0" sz="1800" spc="-40" b="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8B8FA2"/>
                </a:solidFill>
                <a:latin typeface="Calibri"/>
                <a:cs typeface="Calibri"/>
              </a:rPr>
              <a:t>feeds</a:t>
            </a:r>
            <a:r>
              <a:rPr dirty="0" sz="1800" spc="-40" b="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8B8FA2"/>
                </a:solidFill>
                <a:latin typeface="Calibri"/>
                <a:cs typeface="Calibri"/>
              </a:rPr>
              <a:t>the</a:t>
            </a:r>
            <a:r>
              <a:rPr dirty="0" sz="1800" spc="-40" b="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8B8FA2"/>
                </a:solidFill>
                <a:latin typeface="Calibri"/>
                <a:cs typeface="Calibri"/>
              </a:rPr>
              <a:t>next.</a:t>
            </a:r>
            <a:r>
              <a:rPr dirty="0" sz="1800" spc="-40" b="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8B8FA2"/>
                </a:solidFill>
                <a:latin typeface="Calibri"/>
                <a:cs typeface="Calibri"/>
              </a:rPr>
              <a:t>The</a:t>
            </a:r>
            <a:r>
              <a:rPr dirty="0" sz="1800" spc="-40" b="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8B8FA2"/>
                </a:solidFill>
                <a:latin typeface="Calibri"/>
                <a:cs typeface="Calibri"/>
              </a:rPr>
              <a:t>Learning</a:t>
            </a:r>
            <a:r>
              <a:rPr dirty="0" sz="1800" spc="-40" b="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8B8FA2"/>
                </a:solidFill>
                <a:latin typeface="Calibri"/>
                <a:cs typeface="Calibri"/>
              </a:rPr>
              <a:t>System</a:t>
            </a:r>
            <a:r>
              <a:rPr dirty="0" sz="1800" spc="-40" b="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8B8FA2"/>
                </a:solidFill>
                <a:latin typeface="Calibri"/>
                <a:cs typeface="Calibri"/>
              </a:rPr>
              <a:t>feeds</a:t>
            </a:r>
            <a:r>
              <a:rPr dirty="0" sz="1800" spc="-40" b="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800" spc="-10" b="0">
                <a:solidFill>
                  <a:srgbClr val="8B8FA2"/>
                </a:solidFill>
                <a:latin typeface="Calibri"/>
                <a:cs typeface="Calibri"/>
              </a:rPr>
              <a:t>improvements</a:t>
            </a:r>
            <a:r>
              <a:rPr dirty="0" sz="1800" spc="-40" b="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8B8FA2"/>
                </a:solidFill>
                <a:latin typeface="Calibri"/>
                <a:cs typeface="Calibri"/>
              </a:rPr>
              <a:t>back</a:t>
            </a:r>
            <a:r>
              <a:rPr dirty="0" sz="1800" spc="-45" b="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8B8FA2"/>
                </a:solidFill>
                <a:latin typeface="Calibri"/>
                <a:cs typeface="Calibri"/>
              </a:rPr>
              <a:t>to</a:t>
            </a:r>
            <a:r>
              <a:rPr dirty="0" sz="1800" spc="-40" b="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8B8FA2"/>
                </a:solidFill>
                <a:latin typeface="Calibri"/>
                <a:cs typeface="Calibri"/>
              </a:rPr>
              <a:t>all</a:t>
            </a:r>
            <a:r>
              <a:rPr dirty="0" sz="1800" spc="-40" b="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8B8FA2"/>
                </a:solidFill>
                <a:latin typeface="Calibri"/>
                <a:cs typeface="Calibri"/>
              </a:rPr>
              <a:t>five.</a:t>
            </a:r>
            <a:r>
              <a:rPr dirty="0" sz="1800" spc="-40" b="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8B8FA2"/>
                </a:solidFill>
                <a:latin typeface="Calibri"/>
                <a:cs typeface="Calibri"/>
              </a:rPr>
              <a:t>No</a:t>
            </a:r>
            <a:r>
              <a:rPr dirty="0" sz="1800" spc="-40" b="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8B8FA2"/>
                </a:solidFill>
                <a:latin typeface="Calibri"/>
                <a:cs typeface="Calibri"/>
              </a:rPr>
              <a:t>static</a:t>
            </a:r>
            <a:r>
              <a:rPr dirty="0" sz="1800" spc="-40" b="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8B8FA2"/>
                </a:solidFill>
                <a:latin typeface="Calibri"/>
                <a:cs typeface="Calibri"/>
              </a:rPr>
              <a:t>rules.</a:t>
            </a:r>
            <a:r>
              <a:rPr dirty="0" sz="1800" spc="-40" b="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8B8FA2"/>
                </a:solidFill>
                <a:latin typeface="Calibri"/>
                <a:cs typeface="Calibri"/>
              </a:rPr>
              <a:t>No</a:t>
            </a:r>
            <a:r>
              <a:rPr dirty="0" sz="1800" spc="-40" b="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8B8FA2"/>
                </a:solidFill>
                <a:latin typeface="Calibri"/>
                <a:cs typeface="Calibri"/>
              </a:rPr>
              <a:t>manual</a:t>
            </a:r>
            <a:r>
              <a:rPr dirty="0" sz="1800" spc="-40" b="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800" spc="-10" b="0">
                <a:solidFill>
                  <a:srgbClr val="8B8FA2"/>
                </a:solidFill>
                <a:latin typeface="Calibri"/>
                <a:cs typeface="Calibri"/>
              </a:rPr>
              <a:t>updates.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97499" y="2181979"/>
            <a:ext cx="2637155" cy="504825"/>
            <a:chOff x="397499" y="2181979"/>
            <a:chExt cx="2637155" cy="504825"/>
          </a:xfrm>
        </p:grpSpPr>
        <p:sp>
          <p:nvSpPr>
            <p:cNvPr id="7" name="object 7"/>
            <p:cNvSpPr/>
            <p:nvPr/>
          </p:nvSpPr>
          <p:spPr>
            <a:xfrm>
              <a:off x="407031" y="2191511"/>
              <a:ext cx="2618105" cy="490220"/>
            </a:xfrm>
            <a:custGeom>
              <a:avLst/>
              <a:gdLst/>
              <a:ahLst/>
              <a:cxnLst/>
              <a:rect l="l" t="t" r="r" b="b"/>
              <a:pathLst>
                <a:path w="2618105" h="490219">
                  <a:moveTo>
                    <a:pt x="2519648" y="489965"/>
                  </a:moveTo>
                  <a:lnTo>
                    <a:pt x="98012" y="489965"/>
                  </a:lnTo>
                  <a:lnTo>
                    <a:pt x="59873" y="482259"/>
                  </a:lnTo>
                  <a:lnTo>
                    <a:pt x="28717" y="461248"/>
                  </a:lnTo>
                  <a:lnTo>
                    <a:pt x="7706" y="430092"/>
                  </a:lnTo>
                  <a:lnTo>
                    <a:pt x="0" y="391953"/>
                  </a:lnTo>
                  <a:lnTo>
                    <a:pt x="0" y="98012"/>
                  </a:lnTo>
                  <a:lnTo>
                    <a:pt x="7706" y="59873"/>
                  </a:lnTo>
                  <a:lnTo>
                    <a:pt x="28717" y="28717"/>
                  </a:lnTo>
                  <a:lnTo>
                    <a:pt x="59873" y="7706"/>
                  </a:lnTo>
                  <a:lnTo>
                    <a:pt x="98012" y="0"/>
                  </a:lnTo>
                  <a:lnTo>
                    <a:pt x="2519648" y="0"/>
                  </a:lnTo>
                  <a:lnTo>
                    <a:pt x="2557786" y="7706"/>
                  </a:lnTo>
                  <a:lnTo>
                    <a:pt x="2588942" y="28717"/>
                  </a:lnTo>
                  <a:lnTo>
                    <a:pt x="2609954" y="59873"/>
                  </a:lnTo>
                  <a:lnTo>
                    <a:pt x="2617660" y="98012"/>
                  </a:lnTo>
                  <a:lnTo>
                    <a:pt x="2617660" y="391953"/>
                  </a:lnTo>
                  <a:lnTo>
                    <a:pt x="2609954" y="430092"/>
                  </a:lnTo>
                  <a:lnTo>
                    <a:pt x="2588942" y="461248"/>
                  </a:lnTo>
                  <a:lnTo>
                    <a:pt x="2557786" y="482259"/>
                  </a:lnTo>
                  <a:lnTo>
                    <a:pt x="2519648" y="489965"/>
                  </a:lnTo>
                  <a:close/>
                </a:path>
              </a:pathLst>
            </a:custGeom>
            <a:solidFill>
              <a:srgbClr val="11111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07031" y="2191512"/>
              <a:ext cx="2618105" cy="485775"/>
            </a:xfrm>
            <a:custGeom>
              <a:avLst/>
              <a:gdLst/>
              <a:ahLst/>
              <a:cxnLst/>
              <a:rect l="l" t="t" r="r" b="b"/>
              <a:pathLst>
                <a:path w="2618105" h="485775">
                  <a:moveTo>
                    <a:pt x="77272" y="485765"/>
                  </a:moveTo>
                  <a:lnTo>
                    <a:pt x="59896" y="482274"/>
                  </a:lnTo>
                  <a:lnTo>
                    <a:pt x="28723" y="461255"/>
                  </a:lnTo>
                  <a:lnTo>
                    <a:pt x="7704" y="430082"/>
                  </a:lnTo>
                  <a:lnTo>
                    <a:pt x="0" y="391934"/>
                  </a:lnTo>
                  <a:lnTo>
                    <a:pt x="2" y="97997"/>
                  </a:lnTo>
                  <a:lnTo>
                    <a:pt x="7723" y="59847"/>
                  </a:lnTo>
                  <a:lnTo>
                    <a:pt x="59920" y="7696"/>
                  </a:lnTo>
                  <a:lnTo>
                    <a:pt x="98059" y="0"/>
                  </a:lnTo>
                  <a:lnTo>
                    <a:pt x="2519577" y="0"/>
                  </a:lnTo>
                  <a:lnTo>
                    <a:pt x="2557736" y="7672"/>
                  </a:lnTo>
                  <a:lnTo>
                    <a:pt x="2588918" y="28682"/>
                  </a:lnTo>
                  <a:lnTo>
                    <a:pt x="2609950" y="59856"/>
                  </a:lnTo>
                  <a:lnTo>
                    <a:pt x="2617660" y="98007"/>
                  </a:lnTo>
                  <a:lnTo>
                    <a:pt x="2617661" y="391950"/>
                  </a:lnTo>
                  <a:lnTo>
                    <a:pt x="2609940" y="430112"/>
                  </a:lnTo>
                  <a:lnTo>
                    <a:pt x="2588901" y="461275"/>
                  </a:lnTo>
                  <a:lnTo>
                    <a:pt x="2557721" y="482272"/>
                  </a:lnTo>
                  <a:lnTo>
                    <a:pt x="2540382" y="485738"/>
                  </a:lnTo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371755" y="2290320"/>
            <a:ext cx="688340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>
                <a:solidFill>
                  <a:srgbClr val="FFFFFF"/>
                </a:solidFill>
                <a:latin typeface="Calibri"/>
                <a:cs typeface="Calibri"/>
              </a:rPr>
              <a:t>CRM/ERP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280116" y="2181979"/>
            <a:ext cx="2637155" cy="504825"/>
            <a:chOff x="3280116" y="2181979"/>
            <a:chExt cx="2637155" cy="504825"/>
          </a:xfrm>
        </p:grpSpPr>
        <p:sp>
          <p:nvSpPr>
            <p:cNvPr id="11" name="object 11"/>
            <p:cNvSpPr/>
            <p:nvPr/>
          </p:nvSpPr>
          <p:spPr>
            <a:xfrm>
              <a:off x="3289649" y="2191511"/>
              <a:ext cx="2618105" cy="490220"/>
            </a:xfrm>
            <a:custGeom>
              <a:avLst/>
              <a:gdLst/>
              <a:ahLst/>
              <a:cxnLst/>
              <a:rect l="l" t="t" r="r" b="b"/>
              <a:pathLst>
                <a:path w="2618104" h="490219">
                  <a:moveTo>
                    <a:pt x="2519648" y="489965"/>
                  </a:moveTo>
                  <a:lnTo>
                    <a:pt x="98012" y="489965"/>
                  </a:lnTo>
                  <a:lnTo>
                    <a:pt x="59873" y="482259"/>
                  </a:lnTo>
                  <a:lnTo>
                    <a:pt x="28717" y="461248"/>
                  </a:lnTo>
                  <a:lnTo>
                    <a:pt x="7706" y="430092"/>
                  </a:lnTo>
                  <a:lnTo>
                    <a:pt x="0" y="391953"/>
                  </a:lnTo>
                  <a:lnTo>
                    <a:pt x="0" y="98012"/>
                  </a:lnTo>
                  <a:lnTo>
                    <a:pt x="7706" y="59873"/>
                  </a:lnTo>
                  <a:lnTo>
                    <a:pt x="28717" y="28717"/>
                  </a:lnTo>
                  <a:lnTo>
                    <a:pt x="59873" y="7706"/>
                  </a:lnTo>
                  <a:lnTo>
                    <a:pt x="98012" y="0"/>
                  </a:lnTo>
                  <a:lnTo>
                    <a:pt x="2519648" y="0"/>
                  </a:lnTo>
                  <a:lnTo>
                    <a:pt x="2557786" y="7706"/>
                  </a:lnTo>
                  <a:lnTo>
                    <a:pt x="2588942" y="28717"/>
                  </a:lnTo>
                  <a:lnTo>
                    <a:pt x="2609954" y="59873"/>
                  </a:lnTo>
                  <a:lnTo>
                    <a:pt x="2617660" y="98012"/>
                  </a:lnTo>
                  <a:lnTo>
                    <a:pt x="2617660" y="391953"/>
                  </a:lnTo>
                  <a:lnTo>
                    <a:pt x="2609954" y="430092"/>
                  </a:lnTo>
                  <a:lnTo>
                    <a:pt x="2588942" y="461248"/>
                  </a:lnTo>
                  <a:lnTo>
                    <a:pt x="2557786" y="482259"/>
                  </a:lnTo>
                  <a:lnTo>
                    <a:pt x="2519648" y="489965"/>
                  </a:lnTo>
                  <a:close/>
                </a:path>
              </a:pathLst>
            </a:custGeom>
            <a:solidFill>
              <a:srgbClr val="11111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289649" y="2191512"/>
              <a:ext cx="2618105" cy="485775"/>
            </a:xfrm>
            <a:custGeom>
              <a:avLst/>
              <a:gdLst/>
              <a:ahLst/>
              <a:cxnLst/>
              <a:rect l="l" t="t" r="r" b="b"/>
              <a:pathLst>
                <a:path w="2618104" h="485775">
                  <a:moveTo>
                    <a:pt x="77272" y="485765"/>
                  </a:moveTo>
                  <a:lnTo>
                    <a:pt x="59896" y="482274"/>
                  </a:lnTo>
                  <a:lnTo>
                    <a:pt x="28723" y="461255"/>
                  </a:lnTo>
                  <a:lnTo>
                    <a:pt x="7704" y="430082"/>
                  </a:lnTo>
                  <a:lnTo>
                    <a:pt x="0" y="391934"/>
                  </a:lnTo>
                  <a:lnTo>
                    <a:pt x="2" y="97997"/>
                  </a:lnTo>
                  <a:lnTo>
                    <a:pt x="7723" y="59847"/>
                  </a:lnTo>
                  <a:lnTo>
                    <a:pt x="59920" y="7696"/>
                  </a:lnTo>
                  <a:lnTo>
                    <a:pt x="98059" y="0"/>
                  </a:lnTo>
                  <a:lnTo>
                    <a:pt x="2519577" y="0"/>
                  </a:lnTo>
                  <a:lnTo>
                    <a:pt x="2557736" y="7672"/>
                  </a:lnTo>
                  <a:lnTo>
                    <a:pt x="2588918" y="28682"/>
                  </a:lnTo>
                  <a:lnTo>
                    <a:pt x="2609950" y="59856"/>
                  </a:lnTo>
                  <a:lnTo>
                    <a:pt x="2617660" y="98007"/>
                  </a:lnTo>
                  <a:lnTo>
                    <a:pt x="2617661" y="391950"/>
                  </a:lnTo>
                  <a:lnTo>
                    <a:pt x="2609940" y="430112"/>
                  </a:lnTo>
                  <a:lnTo>
                    <a:pt x="2588901" y="461275"/>
                  </a:lnTo>
                  <a:lnTo>
                    <a:pt x="2557721" y="482272"/>
                  </a:lnTo>
                  <a:lnTo>
                    <a:pt x="2540381" y="485738"/>
                  </a:lnTo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4135449" y="2290320"/>
            <a:ext cx="92646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FFFFFF"/>
                </a:solidFill>
                <a:latin typeface="Calibri"/>
                <a:cs typeface="Calibri"/>
              </a:rPr>
              <a:t>Google</a:t>
            </a:r>
            <a:r>
              <a:rPr dirty="0" sz="135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FFFFFF"/>
                </a:solidFill>
                <a:latin typeface="Calibri"/>
                <a:cs typeface="Calibri"/>
              </a:rPr>
              <a:t>Drive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162724" y="2181979"/>
            <a:ext cx="2637155" cy="504825"/>
            <a:chOff x="6162724" y="2181979"/>
            <a:chExt cx="2637155" cy="504825"/>
          </a:xfrm>
        </p:grpSpPr>
        <p:sp>
          <p:nvSpPr>
            <p:cNvPr id="15" name="object 15"/>
            <p:cNvSpPr/>
            <p:nvPr/>
          </p:nvSpPr>
          <p:spPr>
            <a:xfrm>
              <a:off x="6172256" y="2191511"/>
              <a:ext cx="2618105" cy="490220"/>
            </a:xfrm>
            <a:custGeom>
              <a:avLst/>
              <a:gdLst/>
              <a:ahLst/>
              <a:cxnLst/>
              <a:rect l="l" t="t" r="r" b="b"/>
              <a:pathLst>
                <a:path w="2618104" h="490219">
                  <a:moveTo>
                    <a:pt x="2519647" y="489965"/>
                  </a:moveTo>
                  <a:lnTo>
                    <a:pt x="98011" y="489965"/>
                  </a:lnTo>
                  <a:lnTo>
                    <a:pt x="59873" y="482259"/>
                  </a:lnTo>
                  <a:lnTo>
                    <a:pt x="28717" y="461248"/>
                  </a:lnTo>
                  <a:lnTo>
                    <a:pt x="7706" y="430092"/>
                  </a:lnTo>
                  <a:lnTo>
                    <a:pt x="0" y="391953"/>
                  </a:lnTo>
                  <a:lnTo>
                    <a:pt x="0" y="98012"/>
                  </a:lnTo>
                  <a:lnTo>
                    <a:pt x="7706" y="59873"/>
                  </a:lnTo>
                  <a:lnTo>
                    <a:pt x="28717" y="28717"/>
                  </a:lnTo>
                  <a:lnTo>
                    <a:pt x="59873" y="7706"/>
                  </a:lnTo>
                  <a:lnTo>
                    <a:pt x="98011" y="0"/>
                  </a:lnTo>
                  <a:lnTo>
                    <a:pt x="2519647" y="0"/>
                  </a:lnTo>
                  <a:lnTo>
                    <a:pt x="2557786" y="7706"/>
                  </a:lnTo>
                  <a:lnTo>
                    <a:pt x="2588942" y="28717"/>
                  </a:lnTo>
                  <a:lnTo>
                    <a:pt x="2609953" y="59873"/>
                  </a:lnTo>
                  <a:lnTo>
                    <a:pt x="2617660" y="98012"/>
                  </a:lnTo>
                  <a:lnTo>
                    <a:pt x="2617660" y="391953"/>
                  </a:lnTo>
                  <a:lnTo>
                    <a:pt x="2609953" y="430092"/>
                  </a:lnTo>
                  <a:lnTo>
                    <a:pt x="2588942" y="461248"/>
                  </a:lnTo>
                  <a:lnTo>
                    <a:pt x="2557786" y="482259"/>
                  </a:lnTo>
                  <a:lnTo>
                    <a:pt x="2519647" y="489965"/>
                  </a:lnTo>
                  <a:close/>
                </a:path>
              </a:pathLst>
            </a:custGeom>
            <a:solidFill>
              <a:srgbClr val="11111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172256" y="2191512"/>
              <a:ext cx="2618105" cy="485775"/>
            </a:xfrm>
            <a:custGeom>
              <a:avLst/>
              <a:gdLst/>
              <a:ahLst/>
              <a:cxnLst/>
              <a:rect l="l" t="t" r="r" b="b"/>
              <a:pathLst>
                <a:path w="2618104" h="485775">
                  <a:moveTo>
                    <a:pt x="77272" y="485765"/>
                  </a:moveTo>
                  <a:lnTo>
                    <a:pt x="59895" y="482274"/>
                  </a:lnTo>
                  <a:lnTo>
                    <a:pt x="28723" y="461255"/>
                  </a:lnTo>
                  <a:lnTo>
                    <a:pt x="7704" y="430082"/>
                  </a:lnTo>
                  <a:lnTo>
                    <a:pt x="0" y="391934"/>
                  </a:lnTo>
                  <a:lnTo>
                    <a:pt x="2" y="97997"/>
                  </a:lnTo>
                  <a:lnTo>
                    <a:pt x="7723" y="59847"/>
                  </a:lnTo>
                  <a:lnTo>
                    <a:pt x="59920" y="7696"/>
                  </a:lnTo>
                  <a:lnTo>
                    <a:pt x="98059" y="0"/>
                  </a:lnTo>
                  <a:lnTo>
                    <a:pt x="2519577" y="0"/>
                  </a:lnTo>
                  <a:lnTo>
                    <a:pt x="2557736" y="7672"/>
                  </a:lnTo>
                  <a:lnTo>
                    <a:pt x="2588918" y="28682"/>
                  </a:lnTo>
                  <a:lnTo>
                    <a:pt x="2609950" y="59856"/>
                  </a:lnTo>
                  <a:lnTo>
                    <a:pt x="2617660" y="98007"/>
                  </a:lnTo>
                  <a:lnTo>
                    <a:pt x="2617660" y="391949"/>
                  </a:lnTo>
                  <a:lnTo>
                    <a:pt x="2609939" y="430112"/>
                  </a:lnTo>
                  <a:lnTo>
                    <a:pt x="2588901" y="461275"/>
                  </a:lnTo>
                  <a:lnTo>
                    <a:pt x="2557721" y="482272"/>
                  </a:lnTo>
                  <a:lnTo>
                    <a:pt x="2540381" y="485738"/>
                  </a:lnTo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7041432" y="2290320"/>
            <a:ext cx="87947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>
                <a:solidFill>
                  <a:srgbClr val="FFFFFF"/>
                </a:solidFill>
                <a:latin typeface="Calibri"/>
                <a:cs typeface="Calibri"/>
              </a:rPr>
              <a:t>Gmail/Email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9045342" y="2181979"/>
            <a:ext cx="2637155" cy="504825"/>
            <a:chOff x="9045342" y="2181979"/>
            <a:chExt cx="2637155" cy="504825"/>
          </a:xfrm>
        </p:grpSpPr>
        <p:sp>
          <p:nvSpPr>
            <p:cNvPr id="19" name="object 19"/>
            <p:cNvSpPr/>
            <p:nvPr/>
          </p:nvSpPr>
          <p:spPr>
            <a:xfrm>
              <a:off x="9054874" y="2191511"/>
              <a:ext cx="2618105" cy="490220"/>
            </a:xfrm>
            <a:custGeom>
              <a:avLst/>
              <a:gdLst/>
              <a:ahLst/>
              <a:cxnLst/>
              <a:rect l="l" t="t" r="r" b="b"/>
              <a:pathLst>
                <a:path w="2618104" h="490219">
                  <a:moveTo>
                    <a:pt x="2519648" y="489965"/>
                  </a:moveTo>
                  <a:lnTo>
                    <a:pt x="98012" y="489965"/>
                  </a:lnTo>
                  <a:lnTo>
                    <a:pt x="59873" y="482259"/>
                  </a:lnTo>
                  <a:lnTo>
                    <a:pt x="28717" y="461248"/>
                  </a:lnTo>
                  <a:lnTo>
                    <a:pt x="7706" y="430092"/>
                  </a:lnTo>
                  <a:lnTo>
                    <a:pt x="0" y="391953"/>
                  </a:lnTo>
                  <a:lnTo>
                    <a:pt x="0" y="98012"/>
                  </a:lnTo>
                  <a:lnTo>
                    <a:pt x="7706" y="59873"/>
                  </a:lnTo>
                  <a:lnTo>
                    <a:pt x="28717" y="28717"/>
                  </a:lnTo>
                  <a:lnTo>
                    <a:pt x="59873" y="7706"/>
                  </a:lnTo>
                  <a:lnTo>
                    <a:pt x="98012" y="0"/>
                  </a:lnTo>
                  <a:lnTo>
                    <a:pt x="2519648" y="0"/>
                  </a:lnTo>
                  <a:lnTo>
                    <a:pt x="2557786" y="7706"/>
                  </a:lnTo>
                  <a:lnTo>
                    <a:pt x="2588942" y="28717"/>
                  </a:lnTo>
                  <a:lnTo>
                    <a:pt x="2609954" y="59873"/>
                  </a:lnTo>
                  <a:lnTo>
                    <a:pt x="2617660" y="98012"/>
                  </a:lnTo>
                  <a:lnTo>
                    <a:pt x="2617660" y="391953"/>
                  </a:lnTo>
                  <a:lnTo>
                    <a:pt x="2609954" y="430092"/>
                  </a:lnTo>
                  <a:lnTo>
                    <a:pt x="2588942" y="461248"/>
                  </a:lnTo>
                  <a:lnTo>
                    <a:pt x="2557786" y="482259"/>
                  </a:lnTo>
                  <a:lnTo>
                    <a:pt x="2519648" y="489965"/>
                  </a:lnTo>
                  <a:close/>
                </a:path>
              </a:pathLst>
            </a:custGeom>
            <a:solidFill>
              <a:srgbClr val="11111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9054874" y="2191512"/>
              <a:ext cx="2618105" cy="485775"/>
            </a:xfrm>
            <a:custGeom>
              <a:avLst/>
              <a:gdLst/>
              <a:ahLst/>
              <a:cxnLst/>
              <a:rect l="l" t="t" r="r" b="b"/>
              <a:pathLst>
                <a:path w="2618104" h="485775">
                  <a:moveTo>
                    <a:pt x="77272" y="485765"/>
                  </a:moveTo>
                  <a:lnTo>
                    <a:pt x="59896" y="482274"/>
                  </a:lnTo>
                  <a:lnTo>
                    <a:pt x="28723" y="461255"/>
                  </a:lnTo>
                  <a:lnTo>
                    <a:pt x="7704" y="430082"/>
                  </a:lnTo>
                  <a:lnTo>
                    <a:pt x="0" y="391934"/>
                  </a:lnTo>
                  <a:lnTo>
                    <a:pt x="2" y="97997"/>
                  </a:lnTo>
                  <a:lnTo>
                    <a:pt x="7723" y="59847"/>
                  </a:lnTo>
                  <a:lnTo>
                    <a:pt x="59920" y="7696"/>
                  </a:lnTo>
                  <a:lnTo>
                    <a:pt x="98058" y="0"/>
                  </a:lnTo>
                  <a:lnTo>
                    <a:pt x="2519577" y="0"/>
                  </a:lnTo>
                  <a:lnTo>
                    <a:pt x="2557736" y="7672"/>
                  </a:lnTo>
                  <a:lnTo>
                    <a:pt x="2588918" y="28682"/>
                  </a:lnTo>
                  <a:lnTo>
                    <a:pt x="2609950" y="59856"/>
                  </a:lnTo>
                  <a:lnTo>
                    <a:pt x="2617660" y="98007"/>
                  </a:lnTo>
                  <a:lnTo>
                    <a:pt x="2617661" y="391950"/>
                  </a:lnTo>
                  <a:lnTo>
                    <a:pt x="2609940" y="430112"/>
                  </a:lnTo>
                  <a:lnTo>
                    <a:pt x="2588901" y="461275"/>
                  </a:lnTo>
                  <a:lnTo>
                    <a:pt x="2557721" y="482272"/>
                  </a:lnTo>
                  <a:lnTo>
                    <a:pt x="2540381" y="485738"/>
                  </a:lnTo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9986547" y="2290320"/>
            <a:ext cx="754380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>
                <a:solidFill>
                  <a:srgbClr val="FFFFFF"/>
                </a:solidFill>
                <a:latin typeface="Calibri"/>
                <a:cs typeface="Calibri"/>
              </a:rPr>
              <a:t>WhatsApp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1927950" y="2181979"/>
            <a:ext cx="2637155" cy="504825"/>
            <a:chOff x="11927950" y="2181979"/>
            <a:chExt cx="2637155" cy="504825"/>
          </a:xfrm>
        </p:grpSpPr>
        <p:sp>
          <p:nvSpPr>
            <p:cNvPr id="23" name="object 23"/>
            <p:cNvSpPr/>
            <p:nvPr/>
          </p:nvSpPr>
          <p:spPr>
            <a:xfrm>
              <a:off x="11937483" y="2191511"/>
              <a:ext cx="2618105" cy="490220"/>
            </a:xfrm>
            <a:custGeom>
              <a:avLst/>
              <a:gdLst/>
              <a:ahLst/>
              <a:cxnLst/>
              <a:rect l="l" t="t" r="r" b="b"/>
              <a:pathLst>
                <a:path w="2618105" h="490219">
                  <a:moveTo>
                    <a:pt x="2519648" y="489965"/>
                  </a:moveTo>
                  <a:lnTo>
                    <a:pt x="98012" y="489965"/>
                  </a:lnTo>
                  <a:lnTo>
                    <a:pt x="59873" y="482259"/>
                  </a:lnTo>
                  <a:lnTo>
                    <a:pt x="28717" y="461248"/>
                  </a:lnTo>
                  <a:lnTo>
                    <a:pt x="7706" y="430092"/>
                  </a:lnTo>
                  <a:lnTo>
                    <a:pt x="0" y="391953"/>
                  </a:lnTo>
                  <a:lnTo>
                    <a:pt x="0" y="98012"/>
                  </a:lnTo>
                  <a:lnTo>
                    <a:pt x="7706" y="59873"/>
                  </a:lnTo>
                  <a:lnTo>
                    <a:pt x="28717" y="28717"/>
                  </a:lnTo>
                  <a:lnTo>
                    <a:pt x="59873" y="7706"/>
                  </a:lnTo>
                  <a:lnTo>
                    <a:pt x="98012" y="0"/>
                  </a:lnTo>
                  <a:lnTo>
                    <a:pt x="2519648" y="0"/>
                  </a:lnTo>
                  <a:lnTo>
                    <a:pt x="2557786" y="7706"/>
                  </a:lnTo>
                  <a:lnTo>
                    <a:pt x="2588942" y="28717"/>
                  </a:lnTo>
                  <a:lnTo>
                    <a:pt x="2609954" y="59873"/>
                  </a:lnTo>
                  <a:lnTo>
                    <a:pt x="2617660" y="98012"/>
                  </a:lnTo>
                  <a:lnTo>
                    <a:pt x="2617660" y="391953"/>
                  </a:lnTo>
                  <a:lnTo>
                    <a:pt x="2609954" y="430092"/>
                  </a:lnTo>
                  <a:lnTo>
                    <a:pt x="2588942" y="461248"/>
                  </a:lnTo>
                  <a:lnTo>
                    <a:pt x="2557786" y="482259"/>
                  </a:lnTo>
                  <a:lnTo>
                    <a:pt x="2519648" y="489965"/>
                  </a:lnTo>
                  <a:close/>
                </a:path>
              </a:pathLst>
            </a:custGeom>
            <a:solidFill>
              <a:srgbClr val="11111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1937482" y="2191512"/>
              <a:ext cx="2618105" cy="485775"/>
            </a:xfrm>
            <a:custGeom>
              <a:avLst/>
              <a:gdLst/>
              <a:ahLst/>
              <a:cxnLst/>
              <a:rect l="l" t="t" r="r" b="b"/>
              <a:pathLst>
                <a:path w="2618105" h="485775">
                  <a:moveTo>
                    <a:pt x="77272" y="485765"/>
                  </a:moveTo>
                  <a:lnTo>
                    <a:pt x="59895" y="482274"/>
                  </a:lnTo>
                  <a:lnTo>
                    <a:pt x="28723" y="461255"/>
                  </a:lnTo>
                  <a:lnTo>
                    <a:pt x="7704" y="430082"/>
                  </a:lnTo>
                  <a:lnTo>
                    <a:pt x="0" y="391934"/>
                  </a:lnTo>
                  <a:lnTo>
                    <a:pt x="2" y="97997"/>
                  </a:lnTo>
                  <a:lnTo>
                    <a:pt x="7723" y="59847"/>
                  </a:lnTo>
                  <a:lnTo>
                    <a:pt x="59920" y="7696"/>
                  </a:lnTo>
                  <a:lnTo>
                    <a:pt x="98058" y="0"/>
                  </a:lnTo>
                  <a:lnTo>
                    <a:pt x="2519577" y="0"/>
                  </a:lnTo>
                  <a:lnTo>
                    <a:pt x="2557736" y="7672"/>
                  </a:lnTo>
                  <a:lnTo>
                    <a:pt x="2588918" y="28682"/>
                  </a:lnTo>
                  <a:lnTo>
                    <a:pt x="2609950" y="59856"/>
                  </a:lnTo>
                  <a:lnTo>
                    <a:pt x="2617660" y="98007"/>
                  </a:lnTo>
                  <a:lnTo>
                    <a:pt x="2617661" y="391950"/>
                  </a:lnTo>
                  <a:lnTo>
                    <a:pt x="2609940" y="430112"/>
                  </a:lnTo>
                  <a:lnTo>
                    <a:pt x="2588901" y="461275"/>
                  </a:lnTo>
                  <a:lnTo>
                    <a:pt x="2557721" y="482272"/>
                  </a:lnTo>
                  <a:lnTo>
                    <a:pt x="2540381" y="485738"/>
                  </a:lnTo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12856515" y="2290320"/>
            <a:ext cx="779780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>
                <a:solidFill>
                  <a:srgbClr val="FFFFFF"/>
                </a:solidFill>
                <a:latin typeface="Calibri"/>
                <a:cs typeface="Calibri"/>
              </a:rPr>
              <a:t>PDFs/SOPs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4810567" y="2181979"/>
            <a:ext cx="2637155" cy="504825"/>
            <a:chOff x="14810567" y="2181979"/>
            <a:chExt cx="2637155" cy="504825"/>
          </a:xfrm>
        </p:grpSpPr>
        <p:sp>
          <p:nvSpPr>
            <p:cNvPr id="27" name="object 27"/>
            <p:cNvSpPr/>
            <p:nvPr/>
          </p:nvSpPr>
          <p:spPr>
            <a:xfrm>
              <a:off x="14820099" y="2191511"/>
              <a:ext cx="2618105" cy="490220"/>
            </a:xfrm>
            <a:custGeom>
              <a:avLst/>
              <a:gdLst/>
              <a:ahLst/>
              <a:cxnLst/>
              <a:rect l="l" t="t" r="r" b="b"/>
              <a:pathLst>
                <a:path w="2618105" h="490219">
                  <a:moveTo>
                    <a:pt x="2519648" y="489965"/>
                  </a:moveTo>
                  <a:lnTo>
                    <a:pt x="98012" y="489965"/>
                  </a:lnTo>
                  <a:lnTo>
                    <a:pt x="59873" y="482259"/>
                  </a:lnTo>
                  <a:lnTo>
                    <a:pt x="28717" y="461248"/>
                  </a:lnTo>
                  <a:lnTo>
                    <a:pt x="7706" y="430092"/>
                  </a:lnTo>
                  <a:lnTo>
                    <a:pt x="0" y="391953"/>
                  </a:lnTo>
                  <a:lnTo>
                    <a:pt x="0" y="98012"/>
                  </a:lnTo>
                  <a:lnTo>
                    <a:pt x="7706" y="59873"/>
                  </a:lnTo>
                  <a:lnTo>
                    <a:pt x="28717" y="28717"/>
                  </a:lnTo>
                  <a:lnTo>
                    <a:pt x="59873" y="7706"/>
                  </a:lnTo>
                  <a:lnTo>
                    <a:pt x="98012" y="0"/>
                  </a:lnTo>
                  <a:lnTo>
                    <a:pt x="2519648" y="0"/>
                  </a:lnTo>
                  <a:lnTo>
                    <a:pt x="2557787" y="7706"/>
                  </a:lnTo>
                  <a:lnTo>
                    <a:pt x="2588942" y="28717"/>
                  </a:lnTo>
                  <a:lnTo>
                    <a:pt x="2609954" y="59873"/>
                  </a:lnTo>
                  <a:lnTo>
                    <a:pt x="2617660" y="98012"/>
                  </a:lnTo>
                  <a:lnTo>
                    <a:pt x="2617660" y="391953"/>
                  </a:lnTo>
                  <a:lnTo>
                    <a:pt x="2609954" y="430092"/>
                  </a:lnTo>
                  <a:lnTo>
                    <a:pt x="2588942" y="461248"/>
                  </a:lnTo>
                  <a:lnTo>
                    <a:pt x="2557787" y="482259"/>
                  </a:lnTo>
                  <a:lnTo>
                    <a:pt x="2519648" y="489965"/>
                  </a:lnTo>
                  <a:close/>
                </a:path>
              </a:pathLst>
            </a:custGeom>
            <a:solidFill>
              <a:srgbClr val="11111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4820099" y="2191512"/>
              <a:ext cx="2618105" cy="485775"/>
            </a:xfrm>
            <a:custGeom>
              <a:avLst/>
              <a:gdLst/>
              <a:ahLst/>
              <a:cxnLst/>
              <a:rect l="l" t="t" r="r" b="b"/>
              <a:pathLst>
                <a:path w="2618105" h="485775">
                  <a:moveTo>
                    <a:pt x="77272" y="485765"/>
                  </a:moveTo>
                  <a:lnTo>
                    <a:pt x="59896" y="482274"/>
                  </a:lnTo>
                  <a:lnTo>
                    <a:pt x="28723" y="461255"/>
                  </a:lnTo>
                  <a:lnTo>
                    <a:pt x="7704" y="430082"/>
                  </a:lnTo>
                  <a:lnTo>
                    <a:pt x="0" y="391934"/>
                  </a:lnTo>
                  <a:lnTo>
                    <a:pt x="2" y="97997"/>
                  </a:lnTo>
                  <a:lnTo>
                    <a:pt x="7723" y="59847"/>
                  </a:lnTo>
                  <a:lnTo>
                    <a:pt x="59920" y="7696"/>
                  </a:lnTo>
                  <a:lnTo>
                    <a:pt x="98058" y="0"/>
                  </a:lnTo>
                  <a:lnTo>
                    <a:pt x="2519576" y="0"/>
                  </a:lnTo>
                  <a:lnTo>
                    <a:pt x="2557736" y="7672"/>
                  </a:lnTo>
                  <a:lnTo>
                    <a:pt x="2588918" y="28682"/>
                  </a:lnTo>
                  <a:lnTo>
                    <a:pt x="2609950" y="59856"/>
                  </a:lnTo>
                  <a:lnTo>
                    <a:pt x="2617660" y="98007"/>
                  </a:lnTo>
                  <a:lnTo>
                    <a:pt x="2617661" y="391950"/>
                  </a:lnTo>
                  <a:lnTo>
                    <a:pt x="2609940" y="430112"/>
                  </a:lnTo>
                  <a:lnTo>
                    <a:pt x="2588901" y="461275"/>
                  </a:lnTo>
                  <a:lnTo>
                    <a:pt x="2557721" y="482272"/>
                  </a:lnTo>
                  <a:lnTo>
                    <a:pt x="2540382" y="485738"/>
                  </a:lnTo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15695068" y="2290320"/>
            <a:ext cx="868044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>
                <a:solidFill>
                  <a:srgbClr val="FFFFFF"/>
                </a:solidFill>
                <a:latin typeface="Calibri"/>
                <a:cs typeface="Calibri"/>
              </a:rPr>
              <a:t>LMS/Notion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83204" y="2853994"/>
            <a:ext cx="17487900" cy="876935"/>
            <a:chOff x="383204" y="2853994"/>
            <a:chExt cx="17487900" cy="876935"/>
          </a:xfrm>
        </p:grpSpPr>
        <p:sp>
          <p:nvSpPr>
            <p:cNvPr id="31" name="object 31"/>
            <p:cNvSpPr/>
            <p:nvPr/>
          </p:nvSpPr>
          <p:spPr>
            <a:xfrm>
              <a:off x="402269" y="2873082"/>
              <a:ext cx="17452340" cy="843280"/>
            </a:xfrm>
            <a:custGeom>
              <a:avLst/>
              <a:gdLst/>
              <a:ahLst/>
              <a:cxnLst/>
              <a:rect l="l" t="t" r="r" b="b"/>
              <a:pathLst>
                <a:path w="17452340" h="843279">
                  <a:moveTo>
                    <a:pt x="17409891" y="842676"/>
                  </a:moveTo>
                  <a:lnTo>
                    <a:pt x="42100" y="842676"/>
                  </a:lnTo>
                  <a:lnTo>
                    <a:pt x="25717" y="839366"/>
                  </a:lnTo>
                  <a:lnTo>
                    <a:pt x="12334" y="830341"/>
                  </a:lnTo>
                  <a:lnTo>
                    <a:pt x="3309" y="816959"/>
                  </a:lnTo>
                  <a:lnTo>
                    <a:pt x="0" y="800576"/>
                  </a:lnTo>
                  <a:lnTo>
                    <a:pt x="0" y="42100"/>
                  </a:lnTo>
                  <a:lnTo>
                    <a:pt x="3309" y="25717"/>
                  </a:lnTo>
                  <a:lnTo>
                    <a:pt x="12334" y="12334"/>
                  </a:lnTo>
                  <a:lnTo>
                    <a:pt x="25717" y="3309"/>
                  </a:lnTo>
                  <a:lnTo>
                    <a:pt x="42100" y="0"/>
                  </a:lnTo>
                  <a:lnTo>
                    <a:pt x="17409891" y="0"/>
                  </a:lnTo>
                  <a:lnTo>
                    <a:pt x="17426274" y="3309"/>
                  </a:lnTo>
                  <a:lnTo>
                    <a:pt x="17439656" y="12334"/>
                  </a:lnTo>
                  <a:lnTo>
                    <a:pt x="17448681" y="25717"/>
                  </a:lnTo>
                  <a:lnTo>
                    <a:pt x="17451991" y="42100"/>
                  </a:lnTo>
                  <a:lnTo>
                    <a:pt x="17451991" y="800576"/>
                  </a:lnTo>
                  <a:lnTo>
                    <a:pt x="17448681" y="816959"/>
                  </a:lnTo>
                  <a:lnTo>
                    <a:pt x="17439656" y="830341"/>
                  </a:lnTo>
                  <a:lnTo>
                    <a:pt x="17426274" y="839366"/>
                  </a:lnTo>
                  <a:lnTo>
                    <a:pt x="17409891" y="842676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02269" y="2873059"/>
              <a:ext cx="17449800" cy="838835"/>
            </a:xfrm>
            <a:custGeom>
              <a:avLst/>
              <a:gdLst/>
              <a:ahLst/>
              <a:cxnLst/>
              <a:rect l="l" t="t" r="r" b="b"/>
              <a:pathLst>
                <a:path w="17449800" h="838835">
                  <a:moveTo>
                    <a:pt x="17449759" y="811441"/>
                  </a:moveTo>
                  <a:lnTo>
                    <a:pt x="17448657" y="816977"/>
                  </a:lnTo>
                  <a:lnTo>
                    <a:pt x="17439576" y="830418"/>
                  </a:lnTo>
                  <a:lnTo>
                    <a:pt x="17427972" y="838176"/>
                  </a:lnTo>
                </a:path>
                <a:path w="17449800" h="838835">
                  <a:moveTo>
                    <a:pt x="23989" y="838220"/>
                  </a:moveTo>
                  <a:lnTo>
                    <a:pt x="12333" y="830361"/>
                  </a:lnTo>
                  <a:lnTo>
                    <a:pt x="3309" y="816978"/>
                  </a:lnTo>
                  <a:lnTo>
                    <a:pt x="0" y="800595"/>
                  </a:lnTo>
                  <a:lnTo>
                    <a:pt x="0" y="42124"/>
                  </a:lnTo>
                  <a:lnTo>
                    <a:pt x="3309" y="25741"/>
                  </a:lnTo>
                  <a:lnTo>
                    <a:pt x="12334" y="12358"/>
                  </a:lnTo>
                  <a:lnTo>
                    <a:pt x="25717" y="3332"/>
                  </a:lnTo>
                  <a:lnTo>
                    <a:pt x="42100" y="22"/>
                  </a:lnTo>
                  <a:lnTo>
                    <a:pt x="17409777" y="0"/>
                  </a:lnTo>
                  <a:lnTo>
                    <a:pt x="17426193" y="3278"/>
                  </a:lnTo>
                  <a:lnTo>
                    <a:pt x="17439619" y="12303"/>
                  </a:lnTo>
                  <a:lnTo>
                    <a:pt x="17448651" y="25681"/>
                  </a:lnTo>
                  <a:lnTo>
                    <a:pt x="17449760" y="31281"/>
                  </a:lnTo>
                </a:path>
              </a:pathLst>
            </a:custGeom>
            <a:ln w="38129">
              <a:solidFill>
                <a:srgbClr val="00D4A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411803" y="2882607"/>
              <a:ext cx="55244" cy="824230"/>
            </a:xfrm>
            <a:custGeom>
              <a:avLst/>
              <a:gdLst/>
              <a:ahLst/>
              <a:cxnLst/>
              <a:rect l="l" t="t" r="r" b="b"/>
              <a:pathLst>
                <a:path w="55245" h="824229">
                  <a:moveTo>
                    <a:pt x="54911" y="823674"/>
                  </a:moveTo>
                  <a:lnTo>
                    <a:pt x="0" y="823674"/>
                  </a:lnTo>
                  <a:lnTo>
                    <a:pt x="0" y="0"/>
                  </a:lnTo>
                  <a:lnTo>
                    <a:pt x="54911" y="0"/>
                  </a:lnTo>
                  <a:lnTo>
                    <a:pt x="54911" y="823674"/>
                  </a:lnTo>
                  <a:close/>
                </a:path>
              </a:pathLst>
            </a:custGeom>
            <a:solidFill>
              <a:srgbClr val="00D4A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696445" y="2832316"/>
            <a:ext cx="8489315" cy="66548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dirty="0" sz="1350" b="1">
                <a:solidFill>
                  <a:srgbClr val="00D4AA"/>
                </a:solidFill>
                <a:latin typeface="Calibri"/>
                <a:cs typeface="Calibri"/>
              </a:rPr>
              <a:t>SYSTEM</a:t>
            </a:r>
            <a:r>
              <a:rPr dirty="0" sz="1350" spc="-35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00D4AA"/>
                </a:solidFill>
                <a:latin typeface="Calibri"/>
                <a:cs typeface="Calibri"/>
              </a:rPr>
              <a:t>1</a:t>
            </a:r>
            <a:r>
              <a:rPr dirty="0" sz="1350" spc="-30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00D4AA"/>
                </a:solidFill>
                <a:latin typeface="Calibri"/>
                <a:cs typeface="Calibri"/>
              </a:rPr>
              <a:t>·</a:t>
            </a:r>
            <a:r>
              <a:rPr dirty="0" sz="1350" spc="-30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00D4AA"/>
                </a:solidFill>
                <a:latin typeface="Calibri"/>
                <a:cs typeface="Calibri"/>
              </a:rPr>
              <a:t>BUSINESS</a:t>
            </a:r>
            <a:r>
              <a:rPr dirty="0" sz="1350" spc="-30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350" spc="-10" b="1">
                <a:solidFill>
                  <a:srgbClr val="00D4AA"/>
                </a:solidFill>
                <a:latin typeface="Calibri"/>
                <a:cs typeface="Calibri"/>
              </a:rPr>
              <a:t>INTELLIGENCE</a:t>
            </a: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1650">
                <a:solidFill>
                  <a:srgbClr val="001D31"/>
                </a:solidFill>
                <a:latin typeface="Calibri"/>
                <a:cs typeface="Calibri"/>
              </a:rPr>
              <a:t>Extracts:</a:t>
            </a:r>
            <a:r>
              <a:rPr dirty="0" sz="1650" spc="-4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1D31"/>
                </a:solidFill>
                <a:latin typeface="Calibri"/>
                <a:cs typeface="Calibri"/>
              </a:rPr>
              <a:t>Products</a:t>
            </a:r>
            <a:r>
              <a:rPr dirty="0" sz="1650" spc="-4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1D31"/>
                </a:solidFill>
                <a:latin typeface="Calibri"/>
                <a:cs typeface="Calibri"/>
              </a:rPr>
              <a:t>·</a:t>
            </a:r>
            <a:r>
              <a:rPr dirty="0" sz="1650" spc="-4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1D31"/>
                </a:solidFill>
                <a:latin typeface="Calibri"/>
                <a:cs typeface="Calibri"/>
              </a:rPr>
              <a:t>Pricing</a:t>
            </a:r>
            <a:r>
              <a:rPr dirty="0" sz="1650" spc="-4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1D31"/>
                </a:solidFill>
                <a:latin typeface="Calibri"/>
                <a:cs typeface="Calibri"/>
              </a:rPr>
              <a:t>·</a:t>
            </a:r>
            <a:r>
              <a:rPr dirty="0" sz="1650" spc="-4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1D31"/>
                </a:solidFill>
                <a:latin typeface="Calibri"/>
                <a:cs typeface="Calibri"/>
              </a:rPr>
              <a:t>Policies</a:t>
            </a:r>
            <a:r>
              <a:rPr dirty="0" sz="1650" spc="-4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1D31"/>
                </a:solidFill>
                <a:latin typeface="Calibri"/>
                <a:cs typeface="Calibri"/>
              </a:rPr>
              <a:t>·</a:t>
            </a:r>
            <a:r>
              <a:rPr dirty="0" sz="1650" spc="-4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001D31"/>
                </a:solidFill>
                <a:latin typeface="Calibri"/>
                <a:cs typeface="Calibri"/>
              </a:rPr>
              <a:t>Processes</a:t>
            </a:r>
            <a:r>
              <a:rPr dirty="0" sz="1650" spc="-4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1D31"/>
                </a:solidFill>
                <a:latin typeface="Calibri"/>
                <a:cs typeface="Calibri"/>
              </a:rPr>
              <a:t>·</a:t>
            </a:r>
            <a:r>
              <a:rPr dirty="0" sz="1650" spc="-4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1D31"/>
                </a:solidFill>
                <a:latin typeface="Calibri"/>
                <a:cs typeface="Calibri"/>
              </a:rPr>
              <a:t>Customer</a:t>
            </a:r>
            <a:r>
              <a:rPr dirty="0" sz="1650" spc="-4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1D31"/>
                </a:solidFill>
                <a:latin typeface="Calibri"/>
                <a:cs typeface="Calibri"/>
              </a:rPr>
              <a:t>Segments</a:t>
            </a:r>
            <a:r>
              <a:rPr dirty="0" sz="1650" spc="-4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1D31"/>
                </a:solidFill>
                <a:latin typeface="Calibri"/>
                <a:cs typeface="Calibri"/>
              </a:rPr>
              <a:t>→</a:t>
            </a:r>
            <a:r>
              <a:rPr dirty="0" sz="1650" spc="-4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1D31"/>
                </a:solidFill>
                <a:latin typeface="Calibri"/>
                <a:cs typeface="Calibri"/>
              </a:rPr>
              <a:t>Business</a:t>
            </a:r>
            <a:r>
              <a:rPr dirty="0" sz="1650" spc="-4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1D31"/>
                </a:solidFill>
                <a:latin typeface="Calibri"/>
                <a:cs typeface="Calibri"/>
              </a:rPr>
              <a:t>Knowledge</a:t>
            </a:r>
            <a:r>
              <a:rPr dirty="0" sz="1650" spc="-3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001D31"/>
                </a:solidFill>
                <a:latin typeface="Calibri"/>
                <a:cs typeface="Calibri"/>
              </a:rPr>
              <a:t>Graph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83204" y="3883517"/>
            <a:ext cx="5544185" cy="1979295"/>
            <a:chOff x="383204" y="3883517"/>
            <a:chExt cx="5544185" cy="1979295"/>
          </a:xfrm>
        </p:grpSpPr>
        <p:sp>
          <p:nvSpPr>
            <p:cNvPr id="36" name="object 36"/>
            <p:cNvSpPr/>
            <p:nvPr/>
          </p:nvSpPr>
          <p:spPr>
            <a:xfrm>
              <a:off x="402269" y="3902583"/>
              <a:ext cx="5509895" cy="1941195"/>
            </a:xfrm>
            <a:custGeom>
              <a:avLst/>
              <a:gdLst/>
              <a:ahLst/>
              <a:cxnLst/>
              <a:rect l="l" t="t" r="r" b="b"/>
              <a:pathLst>
                <a:path w="5509895" h="1941195">
                  <a:moveTo>
                    <a:pt x="5412676" y="1940814"/>
                  </a:moveTo>
                  <a:lnTo>
                    <a:pt x="97059" y="1940814"/>
                  </a:lnTo>
                  <a:lnTo>
                    <a:pt x="59270" y="1933189"/>
                  </a:lnTo>
                  <a:lnTo>
                    <a:pt x="28420" y="1912393"/>
                  </a:lnTo>
                  <a:lnTo>
                    <a:pt x="7624" y="1881543"/>
                  </a:lnTo>
                  <a:lnTo>
                    <a:pt x="0" y="1843754"/>
                  </a:lnTo>
                  <a:lnTo>
                    <a:pt x="0" y="97059"/>
                  </a:lnTo>
                  <a:lnTo>
                    <a:pt x="7624" y="59270"/>
                  </a:lnTo>
                  <a:lnTo>
                    <a:pt x="28420" y="28420"/>
                  </a:lnTo>
                  <a:lnTo>
                    <a:pt x="59270" y="7624"/>
                  </a:lnTo>
                  <a:lnTo>
                    <a:pt x="97059" y="0"/>
                  </a:lnTo>
                  <a:lnTo>
                    <a:pt x="5412676" y="0"/>
                  </a:lnTo>
                  <a:lnTo>
                    <a:pt x="5450465" y="7624"/>
                  </a:lnTo>
                  <a:lnTo>
                    <a:pt x="5481316" y="28420"/>
                  </a:lnTo>
                  <a:lnTo>
                    <a:pt x="5502111" y="59270"/>
                  </a:lnTo>
                  <a:lnTo>
                    <a:pt x="5509736" y="97059"/>
                  </a:lnTo>
                  <a:lnTo>
                    <a:pt x="5509736" y="1843754"/>
                  </a:lnTo>
                  <a:lnTo>
                    <a:pt x="5502111" y="1881543"/>
                  </a:lnTo>
                  <a:lnTo>
                    <a:pt x="5481316" y="1912393"/>
                  </a:lnTo>
                  <a:lnTo>
                    <a:pt x="5450465" y="1933189"/>
                  </a:lnTo>
                  <a:lnTo>
                    <a:pt x="5412676" y="1940814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02269" y="3902582"/>
              <a:ext cx="5505450" cy="1941195"/>
            </a:xfrm>
            <a:custGeom>
              <a:avLst/>
              <a:gdLst/>
              <a:ahLst/>
              <a:cxnLst/>
              <a:rect l="l" t="t" r="r" b="b"/>
              <a:pathLst>
                <a:path w="5505450" h="1941195">
                  <a:moveTo>
                    <a:pt x="5505449" y="1863971"/>
                  </a:moveTo>
                  <a:lnTo>
                    <a:pt x="5501921" y="1881460"/>
                  </a:lnTo>
                  <a:lnTo>
                    <a:pt x="5481126" y="1912309"/>
                  </a:lnTo>
                  <a:lnTo>
                    <a:pt x="5450277" y="1933104"/>
                  </a:lnTo>
                  <a:lnTo>
                    <a:pt x="5412490" y="1940728"/>
                  </a:lnTo>
                  <a:lnTo>
                    <a:pt x="97107" y="1940728"/>
                  </a:lnTo>
                  <a:lnTo>
                    <a:pt x="59320" y="1933104"/>
                  </a:lnTo>
                  <a:lnTo>
                    <a:pt x="28471" y="1912309"/>
                  </a:lnTo>
                  <a:lnTo>
                    <a:pt x="7676" y="1881460"/>
                  </a:lnTo>
                  <a:lnTo>
                    <a:pt x="0" y="1843672"/>
                  </a:lnTo>
                  <a:lnTo>
                    <a:pt x="2" y="97045"/>
                  </a:lnTo>
                  <a:lnTo>
                    <a:pt x="7676" y="59268"/>
                  </a:lnTo>
                  <a:lnTo>
                    <a:pt x="28471" y="28418"/>
                  </a:lnTo>
                  <a:lnTo>
                    <a:pt x="59320" y="7624"/>
                  </a:lnTo>
                  <a:lnTo>
                    <a:pt x="97107" y="0"/>
                  </a:lnTo>
                  <a:lnTo>
                    <a:pt x="5412490" y="0"/>
                  </a:lnTo>
                  <a:lnTo>
                    <a:pt x="5450277" y="7624"/>
                  </a:lnTo>
                  <a:lnTo>
                    <a:pt x="5481126" y="28418"/>
                  </a:lnTo>
                  <a:lnTo>
                    <a:pt x="5501921" y="59268"/>
                  </a:lnTo>
                  <a:lnTo>
                    <a:pt x="5505449" y="76757"/>
                  </a:lnTo>
                </a:path>
              </a:pathLst>
            </a:custGeom>
            <a:ln w="38129">
              <a:solidFill>
                <a:srgbClr val="00D4A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11803" y="3912117"/>
              <a:ext cx="55244" cy="1922145"/>
            </a:xfrm>
            <a:custGeom>
              <a:avLst/>
              <a:gdLst/>
              <a:ahLst/>
              <a:cxnLst/>
              <a:rect l="l" t="t" r="r" b="b"/>
              <a:pathLst>
                <a:path w="55245" h="1922145">
                  <a:moveTo>
                    <a:pt x="54911" y="1921692"/>
                  </a:moveTo>
                  <a:lnTo>
                    <a:pt x="0" y="1921692"/>
                  </a:lnTo>
                  <a:lnTo>
                    <a:pt x="0" y="0"/>
                  </a:lnTo>
                  <a:lnTo>
                    <a:pt x="54911" y="0"/>
                  </a:lnTo>
                  <a:lnTo>
                    <a:pt x="54911" y="1921692"/>
                  </a:lnTo>
                  <a:close/>
                </a:path>
              </a:pathLst>
            </a:custGeom>
            <a:solidFill>
              <a:srgbClr val="00D4A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696445" y="3957643"/>
            <a:ext cx="1779270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00D4AA"/>
                </a:solidFill>
                <a:latin typeface="Calibri"/>
                <a:cs typeface="Calibri"/>
              </a:rPr>
              <a:t>SYSTEM</a:t>
            </a:r>
            <a:r>
              <a:rPr dirty="0" sz="1350" spc="-20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00D4AA"/>
                </a:solidFill>
                <a:latin typeface="Calibri"/>
                <a:cs typeface="Calibri"/>
              </a:rPr>
              <a:t>2</a:t>
            </a:r>
            <a:r>
              <a:rPr dirty="0" sz="1350" spc="-20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00D4AA"/>
                </a:solidFill>
                <a:latin typeface="Calibri"/>
                <a:cs typeface="Calibri"/>
              </a:rPr>
              <a:t>·</a:t>
            </a:r>
            <a:r>
              <a:rPr dirty="0" sz="1350" spc="-20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350" spc="-10" b="1">
                <a:solidFill>
                  <a:srgbClr val="00D4AA"/>
                </a:solidFill>
                <a:latin typeface="Calibri"/>
                <a:cs typeface="Calibri"/>
              </a:rPr>
              <a:t>KNOWLEDGE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96445" y="4328271"/>
            <a:ext cx="1932939" cy="1261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160">
                <a:solidFill>
                  <a:srgbClr val="8B8FA2"/>
                </a:solidFill>
                <a:latin typeface="Lucida Sans Unicode"/>
                <a:cs typeface="Lucida Sans Unicode"/>
              </a:rPr>
              <a:t>▸</a:t>
            </a:r>
            <a:r>
              <a:rPr dirty="0" sz="1350" spc="-125">
                <a:solidFill>
                  <a:srgbClr val="8B8FA2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Structured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20">
                <a:solidFill>
                  <a:srgbClr val="8B8FA2"/>
                </a:solidFill>
                <a:latin typeface="Calibri"/>
                <a:cs typeface="Calibri"/>
              </a:rPr>
              <a:t>Store</a:t>
            </a: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1350" spc="160">
                <a:solidFill>
                  <a:srgbClr val="8B8FA2"/>
                </a:solidFill>
                <a:latin typeface="Lucida Sans Unicode"/>
                <a:cs typeface="Lucida Sans Unicode"/>
              </a:rPr>
              <a:t>▸</a:t>
            </a:r>
            <a:r>
              <a:rPr dirty="0" sz="1350" spc="-125">
                <a:solidFill>
                  <a:srgbClr val="8B8FA2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Vector</a:t>
            </a:r>
            <a:r>
              <a:rPr dirty="0" sz="135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DB</a:t>
            </a:r>
            <a:r>
              <a:rPr dirty="0" sz="1350" spc="-2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(Weaviate)</a:t>
            </a: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dirty="0" sz="1350" spc="160">
                <a:solidFill>
                  <a:srgbClr val="8B8FA2"/>
                </a:solidFill>
                <a:latin typeface="Lucida Sans Unicode"/>
                <a:cs typeface="Lucida Sans Unicode"/>
              </a:rPr>
              <a:t>▸</a:t>
            </a:r>
            <a:r>
              <a:rPr dirty="0" sz="1350" spc="-125">
                <a:solidFill>
                  <a:srgbClr val="8B8FA2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Knowledge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20">
                <a:solidFill>
                  <a:srgbClr val="8B8FA2"/>
                </a:solidFill>
                <a:latin typeface="Calibri"/>
                <a:cs typeface="Calibri"/>
              </a:rPr>
              <a:t>Graph</a:t>
            </a: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1350" spc="160">
                <a:solidFill>
                  <a:srgbClr val="8B8FA2"/>
                </a:solidFill>
                <a:latin typeface="Lucida Sans Unicode"/>
                <a:cs typeface="Lucida Sans Unicode"/>
              </a:rPr>
              <a:t>▸</a:t>
            </a:r>
            <a:r>
              <a:rPr dirty="0" sz="1350" spc="-125">
                <a:solidFill>
                  <a:srgbClr val="8B8FA2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Memory:</a:t>
            </a:r>
            <a:r>
              <a:rPr dirty="0" sz="1350" spc="-6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Long·Mid·Short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6217057" y="3883517"/>
            <a:ext cx="5544185" cy="1979295"/>
            <a:chOff x="6217057" y="3883517"/>
            <a:chExt cx="5544185" cy="1979295"/>
          </a:xfrm>
        </p:grpSpPr>
        <p:sp>
          <p:nvSpPr>
            <p:cNvPr id="42" name="object 42"/>
            <p:cNvSpPr/>
            <p:nvPr/>
          </p:nvSpPr>
          <p:spPr>
            <a:xfrm>
              <a:off x="6236122" y="3902583"/>
              <a:ext cx="5509895" cy="1941195"/>
            </a:xfrm>
            <a:custGeom>
              <a:avLst/>
              <a:gdLst/>
              <a:ahLst/>
              <a:cxnLst/>
              <a:rect l="l" t="t" r="r" b="b"/>
              <a:pathLst>
                <a:path w="5509895" h="1941195">
                  <a:moveTo>
                    <a:pt x="5412676" y="1940814"/>
                  </a:moveTo>
                  <a:lnTo>
                    <a:pt x="97059" y="1940814"/>
                  </a:lnTo>
                  <a:lnTo>
                    <a:pt x="59270" y="1933189"/>
                  </a:lnTo>
                  <a:lnTo>
                    <a:pt x="28420" y="1912393"/>
                  </a:lnTo>
                  <a:lnTo>
                    <a:pt x="7624" y="1881543"/>
                  </a:lnTo>
                  <a:lnTo>
                    <a:pt x="0" y="1843754"/>
                  </a:lnTo>
                  <a:lnTo>
                    <a:pt x="0" y="97059"/>
                  </a:lnTo>
                  <a:lnTo>
                    <a:pt x="7624" y="59270"/>
                  </a:lnTo>
                  <a:lnTo>
                    <a:pt x="28420" y="28420"/>
                  </a:lnTo>
                  <a:lnTo>
                    <a:pt x="59270" y="7624"/>
                  </a:lnTo>
                  <a:lnTo>
                    <a:pt x="97059" y="0"/>
                  </a:lnTo>
                  <a:lnTo>
                    <a:pt x="5412676" y="0"/>
                  </a:lnTo>
                  <a:lnTo>
                    <a:pt x="5450465" y="7624"/>
                  </a:lnTo>
                  <a:lnTo>
                    <a:pt x="5481316" y="28420"/>
                  </a:lnTo>
                  <a:lnTo>
                    <a:pt x="5502111" y="59270"/>
                  </a:lnTo>
                  <a:lnTo>
                    <a:pt x="5509736" y="97059"/>
                  </a:lnTo>
                  <a:lnTo>
                    <a:pt x="5509736" y="1843754"/>
                  </a:lnTo>
                  <a:lnTo>
                    <a:pt x="5502111" y="1881543"/>
                  </a:lnTo>
                  <a:lnTo>
                    <a:pt x="5481316" y="1912393"/>
                  </a:lnTo>
                  <a:lnTo>
                    <a:pt x="5450465" y="1933189"/>
                  </a:lnTo>
                  <a:lnTo>
                    <a:pt x="5412676" y="1940814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6236122" y="3902582"/>
              <a:ext cx="5505450" cy="1941195"/>
            </a:xfrm>
            <a:custGeom>
              <a:avLst/>
              <a:gdLst/>
              <a:ahLst/>
              <a:cxnLst/>
              <a:rect l="l" t="t" r="r" b="b"/>
              <a:pathLst>
                <a:path w="5505450" h="1941195">
                  <a:moveTo>
                    <a:pt x="5505450" y="1863969"/>
                  </a:moveTo>
                  <a:lnTo>
                    <a:pt x="5501921" y="1881460"/>
                  </a:lnTo>
                  <a:lnTo>
                    <a:pt x="5481126" y="1912309"/>
                  </a:lnTo>
                  <a:lnTo>
                    <a:pt x="5450277" y="1933104"/>
                  </a:lnTo>
                  <a:lnTo>
                    <a:pt x="5412490" y="1940728"/>
                  </a:lnTo>
                  <a:lnTo>
                    <a:pt x="97107" y="1940728"/>
                  </a:lnTo>
                  <a:lnTo>
                    <a:pt x="59320" y="1933104"/>
                  </a:lnTo>
                  <a:lnTo>
                    <a:pt x="28471" y="1912309"/>
                  </a:lnTo>
                  <a:lnTo>
                    <a:pt x="7676" y="1881460"/>
                  </a:lnTo>
                  <a:lnTo>
                    <a:pt x="0" y="1843672"/>
                  </a:lnTo>
                  <a:lnTo>
                    <a:pt x="2" y="97045"/>
                  </a:lnTo>
                  <a:lnTo>
                    <a:pt x="7676" y="59268"/>
                  </a:lnTo>
                  <a:lnTo>
                    <a:pt x="28471" y="28418"/>
                  </a:lnTo>
                  <a:lnTo>
                    <a:pt x="59320" y="7624"/>
                  </a:lnTo>
                  <a:lnTo>
                    <a:pt x="97107" y="0"/>
                  </a:lnTo>
                  <a:lnTo>
                    <a:pt x="5412490" y="0"/>
                  </a:lnTo>
                  <a:lnTo>
                    <a:pt x="5450277" y="7624"/>
                  </a:lnTo>
                  <a:lnTo>
                    <a:pt x="5481126" y="28418"/>
                  </a:lnTo>
                  <a:lnTo>
                    <a:pt x="5501920" y="59268"/>
                  </a:lnTo>
                  <a:lnTo>
                    <a:pt x="5505450" y="76759"/>
                  </a:lnTo>
                </a:path>
              </a:pathLst>
            </a:custGeom>
            <a:ln w="38129">
              <a:solidFill>
                <a:srgbClr val="F5C44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6245656" y="3912117"/>
              <a:ext cx="55244" cy="1922145"/>
            </a:xfrm>
            <a:custGeom>
              <a:avLst/>
              <a:gdLst/>
              <a:ahLst/>
              <a:cxnLst/>
              <a:rect l="l" t="t" r="r" b="b"/>
              <a:pathLst>
                <a:path w="55245" h="1922145">
                  <a:moveTo>
                    <a:pt x="54911" y="1921692"/>
                  </a:moveTo>
                  <a:lnTo>
                    <a:pt x="0" y="1921692"/>
                  </a:lnTo>
                  <a:lnTo>
                    <a:pt x="0" y="0"/>
                  </a:lnTo>
                  <a:lnTo>
                    <a:pt x="54911" y="0"/>
                  </a:lnTo>
                  <a:lnTo>
                    <a:pt x="54911" y="1921692"/>
                  </a:lnTo>
                  <a:close/>
                </a:path>
              </a:pathLst>
            </a:custGeom>
            <a:solidFill>
              <a:srgbClr val="F5C44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 txBox="1"/>
          <p:nvPr/>
        </p:nvSpPr>
        <p:spPr>
          <a:xfrm>
            <a:off x="6530298" y="3957643"/>
            <a:ext cx="255460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F5C441"/>
                </a:solidFill>
                <a:latin typeface="Calibri"/>
                <a:cs typeface="Calibri"/>
              </a:rPr>
              <a:t>SYSTEM</a:t>
            </a:r>
            <a:r>
              <a:rPr dirty="0" sz="1350" spc="-20" b="1">
                <a:solidFill>
                  <a:srgbClr val="F5C441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F5C441"/>
                </a:solidFill>
                <a:latin typeface="Calibri"/>
                <a:cs typeface="Calibri"/>
              </a:rPr>
              <a:t>3</a:t>
            </a:r>
            <a:r>
              <a:rPr dirty="0" sz="1350" spc="-15" b="1">
                <a:solidFill>
                  <a:srgbClr val="F5C441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F5C441"/>
                </a:solidFill>
                <a:latin typeface="Calibri"/>
                <a:cs typeface="Calibri"/>
              </a:rPr>
              <a:t>·</a:t>
            </a:r>
            <a:r>
              <a:rPr dirty="0" sz="1350" spc="-15" b="1">
                <a:solidFill>
                  <a:srgbClr val="F5C441"/>
                </a:solidFill>
                <a:latin typeface="Calibri"/>
                <a:cs typeface="Calibri"/>
              </a:rPr>
              <a:t> </a:t>
            </a:r>
            <a:r>
              <a:rPr dirty="0" sz="1350" spc="-10" b="1">
                <a:solidFill>
                  <a:srgbClr val="F5C441"/>
                </a:solidFill>
                <a:latin typeface="Calibri"/>
                <a:cs typeface="Calibri"/>
              </a:rPr>
              <a:t>REVENUE</a:t>
            </a:r>
            <a:r>
              <a:rPr dirty="0" sz="1350" spc="-20" b="1">
                <a:solidFill>
                  <a:srgbClr val="F5C441"/>
                </a:solidFill>
                <a:latin typeface="Calibri"/>
                <a:cs typeface="Calibri"/>
              </a:rPr>
              <a:t> </a:t>
            </a:r>
            <a:r>
              <a:rPr dirty="0" sz="1350" spc="-10" b="1">
                <a:solidFill>
                  <a:srgbClr val="F5C441"/>
                </a:solidFill>
                <a:latin typeface="Calibri"/>
                <a:cs typeface="Calibri"/>
              </a:rPr>
              <a:t>INTELLIGENCE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530298" y="4328271"/>
            <a:ext cx="3709035" cy="9182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160">
                <a:solidFill>
                  <a:srgbClr val="8B8FA2"/>
                </a:solidFill>
                <a:latin typeface="Lucida Sans Unicode"/>
                <a:cs typeface="Lucida Sans Unicode"/>
              </a:rPr>
              <a:t>▸</a:t>
            </a:r>
            <a:r>
              <a:rPr dirty="0" sz="1350" spc="-125">
                <a:solidFill>
                  <a:srgbClr val="8B8FA2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Lead</a:t>
            </a:r>
            <a:r>
              <a:rPr dirty="0" sz="135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Intelligence</a:t>
            </a:r>
            <a:r>
              <a:rPr dirty="0" sz="1350" spc="-2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Engine:</a:t>
            </a:r>
            <a:r>
              <a:rPr dirty="0" sz="1350" spc="-1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ICP</a:t>
            </a:r>
            <a:r>
              <a:rPr dirty="0" sz="1350" spc="-1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·</a:t>
            </a:r>
            <a:r>
              <a:rPr dirty="0" sz="1350" spc="-2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Intent</a:t>
            </a:r>
            <a:r>
              <a:rPr dirty="0" sz="1350" spc="-1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·</a:t>
            </a:r>
            <a:r>
              <a:rPr dirty="0" sz="1350" spc="-2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Engagement</a:t>
            </a: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1350" spc="160">
                <a:solidFill>
                  <a:srgbClr val="8B8FA2"/>
                </a:solidFill>
                <a:latin typeface="Lucida Sans Unicode"/>
                <a:cs typeface="Lucida Sans Unicode"/>
              </a:rPr>
              <a:t>▸</a:t>
            </a:r>
            <a:r>
              <a:rPr dirty="0" sz="1350" spc="-125">
                <a:solidFill>
                  <a:srgbClr val="8B8FA2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Qualification</a:t>
            </a:r>
            <a:r>
              <a:rPr dirty="0" sz="13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·</a:t>
            </a:r>
            <a:r>
              <a:rPr dirty="0" sz="1350" spc="-2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Buying</a:t>
            </a:r>
            <a:r>
              <a:rPr dirty="0" sz="1350" spc="-2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Signal</a:t>
            </a: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dirty="0" sz="1350" spc="160">
                <a:solidFill>
                  <a:srgbClr val="8B8FA2"/>
                </a:solidFill>
                <a:latin typeface="Lucida Sans Unicode"/>
                <a:cs typeface="Lucida Sans Unicode"/>
              </a:rPr>
              <a:t>▸</a:t>
            </a:r>
            <a:r>
              <a:rPr dirty="0" sz="1350" spc="-125">
                <a:solidFill>
                  <a:srgbClr val="8B8FA2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Revenue</a:t>
            </a:r>
            <a:r>
              <a:rPr dirty="0" sz="1350" spc="-2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Probability</a:t>
            </a:r>
            <a:r>
              <a:rPr dirty="0" sz="1350" spc="-1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Score</a:t>
            </a:r>
            <a:r>
              <a:rPr dirty="0" sz="1350" spc="-1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20">
                <a:solidFill>
                  <a:srgbClr val="8B8FA2"/>
                </a:solidFill>
                <a:latin typeface="Calibri"/>
                <a:cs typeface="Calibri"/>
              </a:rPr>
              <a:t>0–</a:t>
            </a:r>
            <a:r>
              <a:rPr dirty="0" sz="1350" spc="-25">
                <a:solidFill>
                  <a:srgbClr val="8B8FA2"/>
                </a:solidFill>
                <a:latin typeface="Calibri"/>
                <a:cs typeface="Calibri"/>
              </a:rPr>
              <a:t>100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12050918" y="3883517"/>
            <a:ext cx="5820410" cy="1979295"/>
            <a:chOff x="12050918" y="3883517"/>
            <a:chExt cx="5820410" cy="1979295"/>
          </a:xfrm>
        </p:grpSpPr>
        <p:sp>
          <p:nvSpPr>
            <p:cNvPr id="48" name="object 48"/>
            <p:cNvSpPr/>
            <p:nvPr/>
          </p:nvSpPr>
          <p:spPr>
            <a:xfrm>
              <a:off x="12069983" y="3902583"/>
              <a:ext cx="5784850" cy="1941195"/>
            </a:xfrm>
            <a:custGeom>
              <a:avLst/>
              <a:gdLst/>
              <a:ahLst/>
              <a:cxnLst/>
              <a:rect l="l" t="t" r="r" b="b"/>
              <a:pathLst>
                <a:path w="5784850" h="1941195">
                  <a:moveTo>
                    <a:pt x="5687283" y="1940814"/>
                  </a:moveTo>
                  <a:lnTo>
                    <a:pt x="97059" y="1940814"/>
                  </a:lnTo>
                  <a:lnTo>
                    <a:pt x="59270" y="1933189"/>
                  </a:lnTo>
                  <a:lnTo>
                    <a:pt x="28420" y="1912393"/>
                  </a:lnTo>
                  <a:lnTo>
                    <a:pt x="7624" y="1881543"/>
                  </a:lnTo>
                  <a:lnTo>
                    <a:pt x="0" y="1843754"/>
                  </a:lnTo>
                  <a:lnTo>
                    <a:pt x="0" y="97059"/>
                  </a:lnTo>
                  <a:lnTo>
                    <a:pt x="7624" y="59270"/>
                  </a:lnTo>
                  <a:lnTo>
                    <a:pt x="28420" y="28420"/>
                  </a:lnTo>
                  <a:lnTo>
                    <a:pt x="59270" y="7624"/>
                  </a:lnTo>
                  <a:lnTo>
                    <a:pt x="97059" y="0"/>
                  </a:lnTo>
                  <a:lnTo>
                    <a:pt x="5687283" y="0"/>
                  </a:lnTo>
                  <a:lnTo>
                    <a:pt x="5725072" y="7624"/>
                  </a:lnTo>
                  <a:lnTo>
                    <a:pt x="5755922" y="28420"/>
                  </a:lnTo>
                  <a:lnTo>
                    <a:pt x="5776718" y="59270"/>
                  </a:lnTo>
                  <a:lnTo>
                    <a:pt x="5784342" y="97059"/>
                  </a:lnTo>
                  <a:lnTo>
                    <a:pt x="5784342" y="1843754"/>
                  </a:lnTo>
                  <a:lnTo>
                    <a:pt x="5776718" y="1881543"/>
                  </a:lnTo>
                  <a:lnTo>
                    <a:pt x="5755922" y="1912393"/>
                  </a:lnTo>
                  <a:lnTo>
                    <a:pt x="5725072" y="1933189"/>
                  </a:lnTo>
                  <a:lnTo>
                    <a:pt x="5687283" y="1940814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12069983" y="3902582"/>
              <a:ext cx="5781675" cy="1941195"/>
            </a:xfrm>
            <a:custGeom>
              <a:avLst/>
              <a:gdLst/>
              <a:ahLst/>
              <a:cxnLst/>
              <a:rect l="l" t="t" r="r" b="b"/>
              <a:pathLst>
                <a:path w="5781675" h="1941195">
                  <a:moveTo>
                    <a:pt x="5781675" y="1856058"/>
                  </a:moveTo>
                  <a:lnTo>
                    <a:pt x="5755755" y="1912309"/>
                  </a:lnTo>
                  <a:lnTo>
                    <a:pt x="5687119" y="1940728"/>
                  </a:lnTo>
                  <a:lnTo>
                    <a:pt x="97143" y="1940728"/>
                  </a:lnTo>
                  <a:lnTo>
                    <a:pt x="59355" y="1933104"/>
                  </a:lnTo>
                  <a:lnTo>
                    <a:pt x="28506" y="1912309"/>
                  </a:lnTo>
                  <a:lnTo>
                    <a:pt x="7711" y="1881460"/>
                  </a:lnTo>
                  <a:lnTo>
                    <a:pt x="0" y="1843672"/>
                  </a:lnTo>
                  <a:lnTo>
                    <a:pt x="3" y="97038"/>
                  </a:lnTo>
                  <a:lnTo>
                    <a:pt x="7711" y="59268"/>
                  </a:lnTo>
                  <a:lnTo>
                    <a:pt x="59355" y="7624"/>
                  </a:lnTo>
                  <a:lnTo>
                    <a:pt x="97143" y="0"/>
                  </a:lnTo>
                  <a:lnTo>
                    <a:pt x="5687119" y="0"/>
                  </a:lnTo>
                  <a:lnTo>
                    <a:pt x="5724906" y="7624"/>
                  </a:lnTo>
                  <a:lnTo>
                    <a:pt x="5755755" y="28418"/>
                  </a:lnTo>
                  <a:lnTo>
                    <a:pt x="5776550" y="59268"/>
                  </a:lnTo>
                  <a:lnTo>
                    <a:pt x="5781675" y="84669"/>
                  </a:lnTo>
                </a:path>
              </a:pathLst>
            </a:custGeom>
            <a:ln w="38129">
              <a:solidFill>
                <a:srgbClr val="8B5CF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12079518" y="3912117"/>
              <a:ext cx="55244" cy="1922145"/>
            </a:xfrm>
            <a:custGeom>
              <a:avLst/>
              <a:gdLst/>
              <a:ahLst/>
              <a:cxnLst/>
              <a:rect l="l" t="t" r="r" b="b"/>
              <a:pathLst>
                <a:path w="55245" h="1922145">
                  <a:moveTo>
                    <a:pt x="54911" y="1921692"/>
                  </a:moveTo>
                  <a:lnTo>
                    <a:pt x="0" y="1921692"/>
                  </a:lnTo>
                  <a:lnTo>
                    <a:pt x="0" y="0"/>
                  </a:lnTo>
                  <a:lnTo>
                    <a:pt x="54911" y="0"/>
                  </a:lnTo>
                  <a:lnTo>
                    <a:pt x="54911" y="1921692"/>
                  </a:lnTo>
                  <a:close/>
                </a:path>
              </a:pathLst>
            </a:custGeom>
            <a:solidFill>
              <a:srgbClr val="8B5CF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/>
          <p:cNvSpPr txBox="1"/>
          <p:nvPr/>
        </p:nvSpPr>
        <p:spPr>
          <a:xfrm>
            <a:off x="12364160" y="3957643"/>
            <a:ext cx="269557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A68BFA"/>
                </a:solidFill>
                <a:latin typeface="Calibri"/>
                <a:cs typeface="Calibri"/>
              </a:rPr>
              <a:t>SYSTEM</a:t>
            </a:r>
            <a:r>
              <a:rPr dirty="0" sz="1350" spc="-35" b="1">
                <a:solidFill>
                  <a:srgbClr val="A68BFA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A68BFA"/>
                </a:solidFill>
                <a:latin typeface="Calibri"/>
                <a:cs typeface="Calibri"/>
              </a:rPr>
              <a:t>4</a:t>
            </a:r>
            <a:r>
              <a:rPr dirty="0" sz="1350" spc="-30" b="1">
                <a:solidFill>
                  <a:srgbClr val="A68BFA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A68BFA"/>
                </a:solidFill>
                <a:latin typeface="Calibri"/>
                <a:cs typeface="Calibri"/>
              </a:rPr>
              <a:t>·</a:t>
            </a:r>
            <a:r>
              <a:rPr dirty="0" sz="1350" spc="-30" b="1">
                <a:solidFill>
                  <a:srgbClr val="A68BFA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A68BFA"/>
                </a:solidFill>
                <a:latin typeface="Calibri"/>
                <a:cs typeface="Calibri"/>
              </a:rPr>
              <a:t>CUSTOMER</a:t>
            </a:r>
            <a:r>
              <a:rPr dirty="0" sz="1350" spc="-30" b="1">
                <a:solidFill>
                  <a:srgbClr val="A68BFA"/>
                </a:solidFill>
                <a:latin typeface="Calibri"/>
                <a:cs typeface="Calibri"/>
              </a:rPr>
              <a:t> </a:t>
            </a:r>
            <a:r>
              <a:rPr dirty="0" sz="1350" spc="-10" b="1">
                <a:solidFill>
                  <a:srgbClr val="A68BFA"/>
                </a:solidFill>
                <a:latin typeface="Calibri"/>
                <a:cs typeface="Calibri"/>
              </a:rPr>
              <a:t>INTELLIGENCE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2364160" y="4328271"/>
            <a:ext cx="1859914" cy="9182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160">
                <a:solidFill>
                  <a:srgbClr val="8B8FA2"/>
                </a:solidFill>
                <a:latin typeface="Lucida Sans Unicode"/>
                <a:cs typeface="Lucida Sans Unicode"/>
              </a:rPr>
              <a:t>▸</a:t>
            </a:r>
            <a:r>
              <a:rPr dirty="0" sz="1350" spc="-125">
                <a:solidFill>
                  <a:srgbClr val="8B8FA2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Health</a:t>
            </a:r>
            <a:r>
              <a:rPr dirty="0" sz="1350" spc="-7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Score</a:t>
            </a:r>
            <a:r>
              <a:rPr dirty="0" sz="1350" spc="-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Engine</a:t>
            </a: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1350" spc="160">
                <a:solidFill>
                  <a:srgbClr val="8B8FA2"/>
                </a:solidFill>
                <a:latin typeface="Lucida Sans Unicode"/>
                <a:cs typeface="Lucida Sans Unicode"/>
              </a:rPr>
              <a:t>▸</a:t>
            </a:r>
            <a:r>
              <a:rPr dirty="0" sz="1350" spc="-125">
                <a:solidFill>
                  <a:srgbClr val="8B8FA2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Churn</a:t>
            </a:r>
            <a:r>
              <a:rPr dirty="0" sz="1350" spc="-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Prediction</a:t>
            </a:r>
            <a:r>
              <a:rPr dirty="0" sz="1350" spc="-2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Engine</a:t>
            </a: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dirty="0" sz="1350" spc="160">
                <a:solidFill>
                  <a:srgbClr val="8B8FA2"/>
                </a:solidFill>
                <a:latin typeface="Lucida Sans Unicode"/>
                <a:cs typeface="Lucida Sans Unicode"/>
              </a:rPr>
              <a:t>▸</a:t>
            </a:r>
            <a:r>
              <a:rPr dirty="0" sz="1350" spc="-125">
                <a:solidFill>
                  <a:srgbClr val="8B8FA2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Expansion</a:t>
            </a:r>
            <a:r>
              <a:rPr dirty="0" sz="1350" spc="-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Engine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368885" y="5996564"/>
            <a:ext cx="17517110" cy="1457960"/>
            <a:chOff x="368885" y="5996564"/>
            <a:chExt cx="17517110" cy="1457960"/>
          </a:xfrm>
        </p:grpSpPr>
        <p:sp>
          <p:nvSpPr>
            <p:cNvPr id="54" name="object 54"/>
            <p:cNvSpPr/>
            <p:nvPr/>
          </p:nvSpPr>
          <p:spPr>
            <a:xfrm>
              <a:off x="397506" y="6025457"/>
              <a:ext cx="17461230" cy="1401445"/>
            </a:xfrm>
            <a:custGeom>
              <a:avLst/>
              <a:gdLst/>
              <a:ahLst/>
              <a:cxnLst/>
              <a:rect l="l" t="t" r="r" b="b"/>
              <a:pathLst>
                <a:path w="17461230" h="1401445">
                  <a:moveTo>
                    <a:pt x="17391507" y="1401270"/>
                  </a:moveTo>
                  <a:lnTo>
                    <a:pt x="70104" y="1401270"/>
                  </a:lnTo>
                  <a:lnTo>
                    <a:pt x="42835" y="1395816"/>
                  </a:lnTo>
                  <a:lnTo>
                    <a:pt x="20550" y="1380803"/>
                  </a:lnTo>
                  <a:lnTo>
                    <a:pt x="5515" y="1358522"/>
                  </a:lnTo>
                  <a:lnTo>
                    <a:pt x="0" y="1331214"/>
                  </a:lnTo>
                  <a:lnTo>
                    <a:pt x="0" y="70104"/>
                  </a:lnTo>
                  <a:lnTo>
                    <a:pt x="5502" y="42795"/>
                  </a:lnTo>
                  <a:lnTo>
                    <a:pt x="20514" y="20514"/>
                  </a:lnTo>
                  <a:lnTo>
                    <a:pt x="42795" y="5502"/>
                  </a:lnTo>
                  <a:lnTo>
                    <a:pt x="70104" y="0"/>
                  </a:lnTo>
                  <a:lnTo>
                    <a:pt x="17391507" y="0"/>
                  </a:lnTo>
                  <a:lnTo>
                    <a:pt x="17418775" y="5502"/>
                  </a:lnTo>
                  <a:lnTo>
                    <a:pt x="17441061" y="20514"/>
                  </a:lnTo>
                  <a:lnTo>
                    <a:pt x="17456096" y="42795"/>
                  </a:lnTo>
                  <a:lnTo>
                    <a:pt x="17461143" y="67781"/>
                  </a:lnTo>
                  <a:lnTo>
                    <a:pt x="17461143" y="1333531"/>
                  </a:lnTo>
                  <a:lnTo>
                    <a:pt x="17456083" y="1358522"/>
                  </a:lnTo>
                  <a:lnTo>
                    <a:pt x="17441045" y="1380803"/>
                  </a:lnTo>
                  <a:lnTo>
                    <a:pt x="17418750" y="1395816"/>
                  </a:lnTo>
                  <a:lnTo>
                    <a:pt x="17391507" y="1401270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397777" y="6025457"/>
              <a:ext cx="17459325" cy="1400175"/>
            </a:xfrm>
            <a:custGeom>
              <a:avLst/>
              <a:gdLst/>
              <a:ahLst/>
              <a:cxnLst/>
              <a:rect l="l" t="t" r="r" b="b"/>
              <a:pathLst>
                <a:path w="17459325" h="1400175">
                  <a:moveTo>
                    <a:pt x="17459058" y="1340490"/>
                  </a:moveTo>
                  <a:lnTo>
                    <a:pt x="17455438" y="1358430"/>
                  </a:lnTo>
                  <a:lnTo>
                    <a:pt x="17440426" y="1380715"/>
                  </a:lnTo>
                  <a:lnTo>
                    <a:pt x="17418146" y="1395748"/>
                  </a:lnTo>
                  <a:lnTo>
                    <a:pt x="17396232" y="1400174"/>
                  </a:lnTo>
                </a:path>
                <a:path w="17459325" h="1400175">
                  <a:moveTo>
                    <a:pt x="64702" y="1400174"/>
                  </a:moveTo>
                  <a:lnTo>
                    <a:pt x="42833" y="1395762"/>
                  </a:lnTo>
                  <a:lnTo>
                    <a:pt x="20549" y="1380750"/>
                  </a:lnTo>
                  <a:lnTo>
                    <a:pt x="5515" y="1358470"/>
                  </a:lnTo>
                  <a:lnTo>
                    <a:pt x="0" y="1331162"/>
                  </a:lnTo>
                  <a:lnTo>
                    <a:pt x="0" y="70101"/>
                  </a:lnTo>
                  <a:lnTo>
                    <a:pt x="5502" y="42793"/>
                  </a:lnTo>
                  <a:lnTo>
                    <a:pt x="20513" y="20513"/>
                  </a:lnTo>
                  <a:lnTo>
                    <a:pt x="42793" y="5501"/>
                  </a:lnTo>
                  <a:lnTo>
                    <a:pt x="70101" y="0"/>
                  </a:lnTo>
                  <a:lnTo>
                    <a:pt x="17390839" y="0"/>
                  </a:lnTo>
                  <a:lnTo>
                    <a:pt x="17418106" y="5501"/>
                  </a:lnTo>
                  <a:lnTo>
                    <a:pt x="17440391" y="20513"/>
                  </a:lnTo>
                  <a:lnTo>
                    <a:pt x="17455425" y="42793"/>
                  </a:lnTo>
                  <a:lnTo>
                    <a:pt x="17459051" y="60751"/>
                  </a:lnTo>
                </a:path>
              </a:pathLst>
            </a:custGeom>
            <a:ln w="57194">
              <a:solidFill>
                <a:srgbClr val="00D4A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411803" y="6039754"/>
              <a:ext cx="55244" cy="1372870"/>
            </a:xfrm>
            <a:custGeom>
              <a:avLst/>
              <a:gdLst/>
              <a:ahLst/>
              <a:cxnLst/>
              <a:rect l="l" t="t" r="r" b="b"/>
              <a:pathLst>
                <a:path w="55245" h="1372870">
                  <a:moveTo>
                    <a:pt x="54911" y="1372576"/>
                  </a:moveTo>
                  <a:lnTo>
                    <a:pt x="0" y="1372576"/>
                  </a:lnTo>
                  <a:lnTo>
                    <a:pt x="0" y="0"/>
                  </a:lnTo>
                  <a:lnTo>
                    <a:pt x="54911" y="0"/>
                  </a:lnTo>
                  <a:lnTo>
                    <a:pt x="54911" y="1372576"/>
                  </a:lnTo>
                  <a:close/>
                </a:path>
              </a:pathLst>
            </a:custGeom>
            <a:solidFill>
              <a:srgbClr val="00D4A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/>
          <p:cNvSpPr txBox="1"/>
          <p:nvPr/>
        </p:nvSpPr>
        <p:spPr>
          <a:xfrm>
            <a:off x="696445" y="6112741"/>
            <a:ext cx="3816350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00D4AA"/>
                </a:solidFill>
                <a:latin typeface="Calibri"/>
                <a:cs typeface="Calibri"/>
              </a:rPr>
              <a:t>SYSTEM</a:t>
            </a:r>
            <a:r>
              <a:rPr dirty="0" sz="1350" spc="-25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00D4AA"/>
                </a:solidFill>
                <a:latin typeface="Calibri"/>
                <a:cs typeface="Calibri"/>
              </a:rPr>
              <a:t>5</a:t>
            </a:r>
            <a:r>
              <a:rPr dirty="0" sz="1350" spc="-20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00D4AA"/>
                </a:solidFill>
                <a:latin typeface="Calibri"/>
                <a:cs typeface="Calibri"/>
              </a:rPr>
              <a:t>·</a:t>
            </a:r>
            <a:r>
              <a:rPr dirty="0" sz="1350" spc="-25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00D4AA"/>
                </a:solidFill>
                <a:latin typeface="Calibri"/>
                <a:cs typeface="Calibri"/>
              </a:rPr>
              <a:t>AI</a:t>
            </a:r>
            <a:r>
              <a:rPr dirty="0" sz="1350" spc="-20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350" spc="-10" b="1">
                <a:solidFill>
                  <a:srgbClr val="00D4AA"/>
                </a:solidFill>
                <a:latin typeface="Calibri"/>
                <a:cs typeface="Calibri"/>
              </a:rPr>
              <a:t>WORKFORCE</a:t>
            </a:r>
            <a:r>
              <a:rPr dirty="0" sz="1350" spc="-20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00D4AA"/>
                </a:solidFill>
                <a:latin typeface="Calibri"/>
                <a:cs typeface="Calibri"/>
              </a:rPr>
              <a:t>—</a:t>
            </a:r>
            <a:r>
              <a:rPr dirty="0" sz="1350" spc="-25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00D4AA"/>
                </a:solidFill>
                <a:latin typeface="Calibri"/>
                <a:cs typeface="Calibri"/>
              </a:rPr>
              <a:t>THE</a:t>
            </a:r>
            <a:r>
              <a:rPr dirty="0" sz="1350" spc="-20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00D4AA"/>
                </a:solidFill>
                <a:latin typeface="Calibri"/>
                <a:cs typeface="Calibri"/>
              </a:rPr>
              <a:t>EXECUTION</a:t>
            </a:r>
            <a:r>
              <a:rPr dirty="0" sz="1350" spc="-25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350" spc="-10" b="1">
                <a:solidFill>
                  <a:srgbClr val="00D4AA"/>
                </a:solidFill>
                <a:latin typeface="Calibri"/>
                <a:cs typeface="Calibri"/>
              </a:rPr>
              <a:t>LAYER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671862" y="6505581"/>
            <a:ext cx="2568575" cy="781685"/>
            <a:chOff x="671862" y="6505581"/>
            <a:chExt cx="2568575" cy="781685"/>
          </a:xfrm>
        </p:grpSpPr>
        <p:sp>
          <p:nvSpPr>
            <p:cNvPr id="59" name="object 59"/>
            <p:cNvSpPr/>
            <p:nvPr/>
          </p:nvSpPr>
          <p:spPr>
            <a:xfrm>
              <a:off x="681570" y="6515423"/>
              <a:ext cx="2548890" cy="764540"/>
            </a:xfrm>
            <a:custGeom>
              <a:avLst/>
              <a:gdLst/>
              <a:ahLst/>
              <a:cxnLst/>
              <a:rect l="l" t="t" r="r" b="b"/>
              <a:pathLst>
                <a:path w="2548890" h="764540">
                  <a:moveTo>
                    <a:pt x="2396013" y="764476"/>
                  </a:moveTo>
                  <a:lnTo>
                    <a:pt x="152876" y="764476"/>
                  </a:lnTo>
                  <a:lnTo>
                    <a:pt x="104570" y="756688"/>
                  </a:lnTo>
                  <a:lnTo>
                    <a:pt x="62606" y="734996"/>
                  </a:lnTo>
                  <a:lnTo>
                    <a:pt x="29507" y="701910"/>
                  </a:lnTo>
                  <a:lnTo>
                    <a:pt x="7797" y="659942"/>
                  </a:lnTo>
                  <a:lnTo>
                    <a:pt x="0" y="611600"/>
                  </a:lnTo>
                  <a:lnTo>
                    <a:pt x="0" y="152876"/>
                  </a:lnTo>
                  <a:lnTo>
                    <a:pt x="7797" y="104570"/>
                  </a:lnTo>
                  <a:lnTo>
                    <a:pt x="29507" y="62606"/>
                  </a:lnTo>
                  <a:lnTo>
                    <a:pt x="62606" y="29507"/>
                  </a:lnTo>
                  <a:lnTo>
                    <a:pt x="104570" y="7797"/>
                  </a:lnTo>
                  <a:lnTo>
                    <a:pt x="152876" y="0"/>
                  </a:lnTo>
                  <a:lnTo>
                    <a:pt x="2396013" y="0"/>
                  </a:lnTo>
                  <a:lnTo>
                    <a:pt x="2444355" y="7797"/>
                  </a:lnTo>
                  <a:lnTo>
                    <a:pt x="2486324" y="29507"/>
                  </a:lnTo>
                  <a:lnTo>
                    <a:pt x="2519409" y="62606"/>
                  </a:lnTo>
                  <a:lnTo>
                    <a:pt x="2541101" y="104570"/>
                  </a:lnTo>
                  <a:lnTo>
                    <a:pt x="2548889" y="152876"/>
                  </a:lnTo>
                  <a:lnTo>
                    <a:pt x="2548889" y="611600"/>
                  </a:lnTo>
                  <a:lnTo>
                    <a:pt x="2541092" y="659942"/>
                  </a:lnTo>
                  <a:lnTo>
                    <a:pt x="2519382" y="701910"/>
                  </a:lnTo>
                  <a:lnTo>
                    <a:pt x="2486283" y="734996"/>
                  </a:lnTo>
                  <a:lnTo>
                    <a:pt x="2444319" y="756688"/>
                  </a:lnTo>
                  <a:lnTo>
                    <a:pt x="2396013" y="764476"/>
                  </a:lnTo>
                  <a:close/>
                </a:path>
              </a:pathLst>
            </a:custGeom>
            <a:solidFill>
              <a:srgbClr val="0929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681704" y="6515423"/>
              <a:ext cx="2548890" cy="762000"/>
            </a:xfrm>
            <a:custGeom>
              <a:avLst/>
              <a:gdLst/>
              <a:ahLst/>
              <a:cxnLst/>
              <a:rect l="l" t="t" r="r" b="b"/>
              <a:pathLst>
                <a:path w="2548890" h="762000">
                  <a:moveTo>
                    <a:pt x="138257" y="761999"/>
                  </a:moveTo>
                  <a:lnTo>
                    <a:pt x="62596" y="734877"/>
                  </a:lnTo>
                  <a:lnTo>
                    <a:pt x="29502" y="701797"/>
                  </a:lnTo>
                  <a:lnTo>
                    <a:pt x="7796" y="659835"/>
                  </a:lnTo>
                  <a:lnTo>
                    <a:pt x="0" y="611500"/>
                  </a:lnTo>
                  <a:lnTo>
                    <a:pt x="0" y="152851"/>
                  </a:lnTo>
                  <a:lnTo>
                    <a:pt x="7796" y="104553"/>
                  </a:lnTo>
                  <a:lnTo>
                    <a:pt x="29502" y="62596"/>
                  </a:lnTo>
                  <a:lnTo>
                    <a:pt x="62596" y="29502"/>
                  </a:lnTo>
                  <a:lnTo>
                    <a:pt x="104553" y="7796"/>
                  </a:lnTo>
                  <a:lnTo>
                    <a:pt x="152851" y="0"/>
                  </a:lnTo>
                  <a:lnTo>
                    <a:pt x="2395625" y="0"/>
                  </a:lnTo>
                  <a:lnTo>
                    <a:pt x="2443959" y="7796"/>
                  </a:lnTo>
                  <a:lnTo>
                    <a:pt x="2485921" y="29502"/>
                  </a:lnTo>
                  <a:lnTo>
                    <a:pt x="2519001" y="62596"/>
                  </a:lnTo>
                  <a:lnTo>
                    <a:pt x="2540689" y="104553"/>
                  </a:lnTo>
                  <a:lnTo>
                    <a:pt x="2548477" y="152851"/>
                  </a:lnTo>
                  <a:lnTo>
                    <a:pt x="2548477" y="611501"/>
                  </a:lnTo>
                  <a:lnTo>
                    <a:pt x="2540680" y="659835"/>
                  </a:lnTo>
                  <a:lnTo>
                    <a:pt x="2518974" y="701797"/>
                  </a:lnTo>
                  <a:lnTo>
                    <a:pt x="2485880" y="734877"/>
                  </a:lnTo>
                  <a:lnTo>
                    <a:pt x="2443923" y="756565"/>
                  </a:lnTo>
                  <a:lnTo>
                    <a:pt x="2410219" y="761999"/>
                  </a:lnTo>
                </a:path>
              </a:pathLst>
            </a:custGeom>
            <a:ln w="19064">
              <a:solidFill>
                <a:srgbClr val="00D4A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/>
          <p:cNvSpPr txBox="1"/>
          <p:nvPr/>
        </p:nvSpPr>
        <p:spPr>
          <a:xfrm>
            <a:off x="1768770" y="6708634"/>
            <a:ext cx="374650" cy="277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25" b="1">
                <a:solidFill>
                  <a:srgbClr val="00D4AA"/>
                </a:solidFill>
                <a:latin typeface="Calibri"/>
                <a:cs typeface="Calibri"/>
              </a:rPr>
              <a:t>SDR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3485842" y="6505581"/>
            <a:ext cx="2568575" cy="781685"/>
            <a:chOff x="3485842" y="6505581"/>
            <a:chExt cx="2568575" cy="781685"/>
          </a:xfrm>
        </p:grpSpPr>
        <p:sp>
          <p:nvSpPr>
            <p:cNvPr id="63" name="object 63"/>
            <p:cNvSpPr/>
            <p:nvPr/>
          </p:nvSpPr>
          <p:spPr>
            <a:xfrm>
              <a:off x="3495550" y="6515423"/>
              <a:ext cx="2548890" cy="764540"/>
            </a:xfrm>
            <a:custGeom>
              <a:avLst/>
              <a:gdLst/>
              <a:ahLst/>
              <a:cxnLst/>
              <a:rect l="l" t="t" r="r" b="b"/>
              <a:pathLst>
                <a:path w="2548890" h="764540">
                  <a:moveTo>
                    <a:pt x="2396013" y="764476"/>
                  </a:moveTo>
                  <a:lnTo>
                    <a:pt x="152876" y="764476"/>
                  </a:lnTo>
                  <a:lnTo>
                    <a:pt x="104570" y="756688"/>
                  </a:lnTo>
                  <a:lnTo>
                    <a:pt x="62606" y="734996"/>
                  </a:lnTo>
                  <a:lnTo>
                    <a:pt x="29507" y="701910"/>
                  </a:lnTo>
                  <a:lnTo>
                    <a:pt x="7797" y="659942"/>
                  </a:lnTo>
                  <a:lnTo>
                    <a:pt x="0" y="611600"/>
                  </a:lnTo>
                  <a:lnTo>
                    <a:pt x="0" y="152876"/>
                  </a:lnTo>
                  <a:lnTo>
                    <a:pt x="7797" y="104570"/>
                  </a:lnTo>
                  <a:lnTo>
                    <a:pt x="29507" y="62606"/>
                  </a:lnTo>
                  <a:lnTo>
                    <a:pt x="62606" y="29507"/>
                  </a:lnTo>
                  <a:lnTo>
                    <a:pt x="104570" y="7797"/>
                  </a:lnTo>
                  <a:lnTo>
                    <a:pt x="152876" y="0"/>
                  </a:lnTo>
                  <a:lnTo>
                    <a:pt x="2396013" y="0"/>
                  </a:lnTo>
                  <a:lnTo>
                    <a:pt x="2444355" y="7797"/>
                  </a:lnTo>
                  <a:lnTo>
                    <a:pt x="2486324" y="29507"/>
                  </a:lnTo>
                  <a:lnTo>
                    <a:pt x="2519409" y="62606"/>
                  </a:lnTo>
                  <a:lnTo>
                    <a:pt x="2541101" y="104570"/>
                  </a:lnTo>
                  <a:lnTo>
                    <a:pt x="2548889" y="152876"/>
                  </a:lnTo>
                  <a:lnTo>
                    <a:pt x="2548889" y="611600"/>
                  </a:lnTo>
                  <a:lnTo>
                    <a:pt x="2541092" y="659942"/>
                  </a:lnTo>
                  <a:lnTo>
                    <a:pt x="2519382" y="701910"/>
                  </a:lnTo>
                  <a:lnTo>
                    <a:pt x="2486283" y="734996"/>
                  </a:lnTo>
                  <a:lnTo>
                    <a:pt x="2444319" y="756688"/>
                  </a:lnTo>
                  <a:lnTo>
                    <a:pt x="2396013" y="764476"/>
                  </a:lnTo>
                  <a:close/>
                </a:path>
              </a:pathLst>
            </a:custGeom>
            <a:solidFill>
              <a:srgbClr val="0929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3495684" y="6515423"/>
              <a:ext cx="2548890" cy="762000"/>
            </a:xfrm>
            <a:custGeom>
              <a:avLst/>
              <a:gdLst/>
              <a:ahLst/>
              <a:cxnLst/>
              <a:rect l="l" t="t" r="r" b="b"/>
              <a:pathLst>
                <a:path w="2548890" h="762000">
                  <a:moveTo>
                    <a:pt x="138257" y="761999"/>
                  </a:moveTo>
                  <a:lnTo>
                    <a:pt x="62596" y="734877"/>
                  </a:lnTo>
                  <a:lnTo>
                    <a:pt x="29502" y="701797"/>
                  </a:lnTo>
                  <a:lnTo>
                    <a:pt x="7796" y="659835"/>
                  </a:lnTo>
                  <a:lnTo>
                    <a:pt x="0" y="611500"/>
                  </a:lnTo>
                  <a:lnTo>
                    <a:pt x="0" y="152851"/>
                  </a:lnTo>
                  <a:lnTo>
                    <a:pt x="7796" y="104553"/>
                  </a:lnTo>
                  <a:lnTo>
                    <a:pt x="29502" y="62596"/>
                  </a:lnTo>
                  <a:lnTo>
                    <a:pt x="62596" y="29502"/>
                  </a:lnTo>
                  <a:lnTo>
                    <a:pt x="104553" y="7796"/>
                  </a:lnTo>
                  <a:lnTo>
                    <a:pt x="152851" y="0"/>
                  </a:lnTo>
                  <a:lnTo>
                    <a:pt x="2395625" y="0"/>
                  </a:lnTo>
                  <a:lnTo>
                    <a:pt x="2443959" y="7796"/>
                  </a:lnTo>
                  <a:lnTo>
                    <a:pt x="2485921" y="29502"/>
                  </a:lnTo>
                  <a:lnTo>
                    <a:pt x="2519001" y="62596"/>
                  </a:lnTo>
                  <a:lnTo>
                    <a:pt x="2540689" y="104553"/>
                  </a:lnTo>
                  <a:lnTo>
                    <a:pt x="2548477" y="152851"/>
                  </a:lnTo>
                  <a:lnTo>
                    <a:pt x="2548477" y="611501"/>
                  </a:lnTo>
                  <a:lnTo>
                    <a:pt x="2540680" y="659835"/>
                  </a:lnTo>
                  <a:lnTo>
                    <a:pt x="2518974" y="701797"/>
                  </a:lnTo>
                  <a:lnTo>
                    <a:pt x="2485880" y="734877"/>
                  </a:lnTo>
                  <a:lnTo>
                    <a:pt x="2443922" y="756565"/>
                  </a:lnTo>
                  <a:lnTo>
                    <a:pt x="2410219" y="761999"/>
                  </a:lnTo>
                </a:path>
              </a:pathLst>
            </a:custGeom>
            <a:ln w="19064">
              <a:solidFill>
                <a:srgbClr val="00D4A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/>
          <p:cNvSpPr txBox="1"/>
          <p:nvPr/>
        </p:nvSpPr>
        <p:spPr>
          <a:xfrm>
            <a:off x="4535720" y="6708634"/>
            <a:ext cx="468630" cy="277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10" b="1">
                <a:solidFill>
                  <a:srgbClr val="00D4AA"/>
                </a:solidFill>
                <a:latin typeface="Calibri"/>
                <a:cs typeface="Calibri"/>
              </a:rPr>
              <a:t>Sales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6299823" y="6505581"/>
            <a:ext cx="2568575" cy="781685"/>
            <a:chOff x="6299823" y="6505581"/>
            <a:chExt cx="2568575" cy="781685"/>
          </a:xfrm>
        </p:grpSpPr>
        <p:sp>
          <p:nvSpPr>
            <p:cNvPr id="67" name="object 67"/>
            <p:cNvSpPr/>
            <p:nvPr/>
          </p:nvSpPr>
          <p:spPr>
            <a:xfrm>
              <a:off x="6309531" y="6515423"/>
              <a:ext cx="2548890" cy="764540"/>
            </a:xfrm>
            <a:custGeom>
              <a:avLst/>
              <a:gdLst/>
              <a:ahLst/>
              <a:cxnLst/>
              <a:rect l="l" t="t" r="r" b="b"/>
              <a:pathLst>
                <a:path w="2548890" h="764540">
                  <a:moveTo>
                    <a:pt x="2396013" y="764476"/>
                  </a:moveTo>
                  <a:lnTo>
                    <a:pt x="152876" y="764476"/>
                  </a:lnTo>
                  <a:lnTo>
                    <a:pt x="104570" y="756688"/>
                  </a:lnTo>
                  <a:lnTo>
                    <a:pt x="62606" y="734996"/>
                  </a:lnTo>
                  <a:lnTo>
                    <a:pt x="29507" y="701910"/>
                  </a:lnTo>
                  <a:lnTo>
                    <a:pt x="7797" y="659942"/>
                  </a:lnTo>
                  <a:lnTo>
                    <a:pt x="0" y="611600"/>
                  </a:lnTo>
                  <a:lnTo>
                    <a:pt x="0" y="152876"/>
                  </a:lnTo>
                  <a:lnTo>
                    <a:pt x="7797" y="104570"/>
                  </a:lnTo>
                  <a:lnTo>
                    <a:pt x="29507" y="62606"/>
                  </a:lnTo>
                  <a:lnTo>
                    <a:pt x="62606" y="29507"/>
                  </a:lnTo>
                  <a:lnTo>
                    <a:pt x="104570" y="7797"/>
                  </a:lnTo>
                  <a:lnTo>
                    <a:pt x="152876" y="0"/>
                  </a:lnTo>
                  <a:lnTo>
                    <a:pt x="2396013" y="0"/>
                  </a:lnTo>
                  <a:lnTo>
                    <a:pt x="2444355" y="7797"/>
                  </a:lnTo>
                  <a:lnTo>
                    <a:pt x="2486324" y="29507"/>
                  </a:lnTo>
                  <a:lnTo>
                    <a:pt x="2519409" y="62606"/>
                  </a:lnTo>
                  <a:lnTo>
                    <a:pt x="2541101" y="104570"/>
                  </a:lnTo>
                  <a:lnTo>
                    <a:pt x="2548889" y="152876"/>
                  </a:lnTo>
                  <a:lnTo>
                    <a:pt x="2548889" y="611600"/>
                  </a:lnTo>
                  <a:lnTo>
                    <a:pt x="2541092" y="659942"/>
                  </a:lnTo>
                  <a:lnTo>
                    <a:pt x="2519382" y="701910"/>
                  </a:lnTo>
                  <a:lnTo>
                    <a:pt x="2486283" y="734996"/>
                  </a:lnTo>
                  <a:lnTo>
                    <a:pt x="2444318" y="756688"/>
                  </a:lnTo>
                  <a:lnTo>
                    <a:pt x="2396013" y="764476"/>
                  </a:lnTo>
                  <a:close/>
                </a:path>
              </a:pathLst>
            </a:custGeom>
            <a:solidFill>
              <a:srgbClr val="0929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6309665" y="6515423"/>
              <a:ext cx="2548890" cy="762000"/>
            </a:xfrm>
            <a:custGeom>
              <a:avLst/>
              <a:gdLst/>
              <a:ahLst/>
              <a:cxnLst/>
              <a:rect l="l" t="t" r="r" b="b"/>
              <a:pathLst>
                <a:path w="2548890" h="762000">
                  <a:moveTo>
                    <a:pt x="138257" y="761999"/>
                  </a:moveTo>
                  <a:lnTo>
                    <a:pt x="62596" y="734877"/>
                  </a:lnTo>
                  <a:lnTo>
                    <a:pt x="29502" y="701797"/>
                  </a:lnTo>
                  <a:lnTo>
                    <a:pt x="7796" y="659835"/>
                  </a:lnTo>
                  <a:lnTo>
                    <a:pt x="0" y="611500"/>
                  </a:lnTo>
                  <a:lnTo>
                    <a:pt x="0" y="152851"/>
                  </a:lnTo>
                  <a:lnTo>
                    <a:pt x="7796" y="104553"/>
                  </a:lnTo>
                  <a:lnTo>
                    <a:pt x="29502" y="62596"/>
                  </a:lnTo>
                  <a:lnTo>
                    <a:pt x="62596" y="29502"/>
                  </a:lnTo>
                  <a:lnTo>
                    <a:pt x="104553" y="7796"/>
                  </a:lnTo>
                  <a:lnTo>
                    <a:pt x="152851" y="0"/>
                  </a:lnTo>
                  <a:lnTo>
                    <a:pt x="2395625" y="0"/>
                  </a:lnTo>
                  <a:lnTo>
                    <a:pt x="2443959" y="7796"/>
                  </a:lnTo>
                  <a:lnTo>
                    <a:pt x="2485921" y="29502"/>
                  </a:lnTo>
                  <a:lnTo>
                    <a:pt x="2519001" y="62596"/>
                  </a:lnTo>
                  <a:lnTo>
                    <a:pt x="2540689" y="104553"/>
                  </a:lnTo>
                  <a:lnTo>
                    <a:pt x="2548476" y="152851"/>
                  </a:lnTo>
                  <a:lnTo>
                    <a:pt x="2548476" y="611501"/>
                  </a:lnTo>
                  <a:lnTo>
                    <a:pt x="2540680" y="659835"/>
                  </a:lnTo>
                  <a:lnTo>
                    <a:pt x="2518974" y="701797"/>
                  </a:lnTo>
                  <a:lnTo>
                    <a:pt x="2485880" y="734877"/>
                  </a:lnTo>
                  <a:lnTo>
                    <a:pt x="2443922" y="756565"/>
                  </a:lnTo>
                  <a:lnTo>
                    <a:pt x="2410220" y="761999"/>
                  </a:lnTo>
                </a:path>
              </a:pathLst>
            </a:custGeom>
            <a:ln w="19064">
              <a:solidFill>
                <a:srgbClr val="00D4A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9" name="object 69"/>
          <p:cNvSpPr txBox="1"/>
          <p:nvPr/>
        </p:nvSpPr>
        <p:spPr>
          <a:xfrm>
            <a:off x="7466233" y="6708634"/>
            <a:ext cx="235585" cy="277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25" b="1">
                <a:solidFill>
                  <a:srgbClr val="00D4AA"/>
                </a:solidFill>
                <a:latin typeface="Calibri"/>
                <a:cs typeface="Calibri"/>
              </a:rPr>
              <a:t>CS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9113794" y="6505581"/>
            <a:ext cx="2568575" cy="781685"/>
            <a:chOff x="9113794" y="6505581"/>
            <a:chExt cx="2568575" cy="781685"/>
          </a:xfrm>
        </p:grpSpPr>
        <p:sp>
          <p:nvSpPr>
            <p:cNvPr id="71" name="object 71"/>
            <p:cNvSpPr/>
            <p:nvPr/>
          </p:nvSpPr>
          <p:spPr>
            <a:xfrm>
              <a:off x="9123501" y="6515423"/>
              <a:ext cx="2548890" cy="764540"/>
            </a:xfrm>
            <a:custGeom>
              <a:avLst/>
              <a:gdLst/>
              <a:ahLst/>
              <a:cxnLst/>
              <a:rect l="l" t="t" r="r" b="b"/>
              <a:pathLst>
                <a:path w="2548890" h="764540">
                  <a:moveTo>
                    <a:pt x="2396013" y="764476"/>
                  </a:moveTo>
                  <a:lnTo>
                    <a:pt x="152876" y="764476"/>
                  </a:lnTo>
                  <a:lnTo>
                    <a:pt x="104570" y="756688"/>
                  </a:lnTo>
                  <a:lnTo>
                    <a:pt x="62606" y="734996"/>
                  </a:lnTo>
                  <a:lnTo>
                    <a:pt x="29507" y="701910"/>
                  </a:lnTo>
                  <a:lnTo>
                    <a:pt x="7797" y="659942"/>
                  </a:lnTo>
                  <a:lnTo>
                    <a:pt x="0" y="611600"/>
                  </a:lnTo>
                  <a:lnTo>
                    <a:pt x="0" y="152876"/>
                  </a:lnTo>
                  <a:lnTo>
                    <a:pt x="7797" y="104570"/>
                  </a:lnTo>
                  <a:lnTo>
                    <a:pt x="29507" y="62606"/>
                  </a:lnTo>
                  <a:lnTo>
                    <a:pt x="62606" y="29507"/>
                  </a:lnTo>
                  <a:lnTo>
                    <a:pt x="104570" y="7797"/>
                  </a:lnTo>
                  <a:lnTo>
                    <a:pt x="152876" y="0"/>
                  </a:lnTo>
                  <a:lnTo>
                    <a:pt x="2396013" y="0"/>
                  </a:lnTo>
                  <a:lnTo>
                    <a:pt x="2444355" y="7797"/>
                  </a:lnTo>
                  <a:lnTo>
                    <a:pt x="2486324" y="29507"/>
                  </a:lnTo>
                  <a:lnTo>
                    <a:pt x="2519409" y="62606"/>
                  </a:lnTo>
                  <a:lnTo>
                    <a:pt x="2541101" y="104570"/>
                  </a:lnTo>
                  <a:lnTo>
                    <a:pt x="2548889" y="152876"/>
                  </a:lnTo>
                  <a:lnTo>
                    <a:pt x="2548889" y="611600"/>
                  </a:lnTo>
                  <a:lnTo>
                    <a:pt x="2541092" y="659942"/>
                  </a:lnTo>
                  <a:lnTo>
                    <a:pt x="2519382" y="701910"/>
                  </a:lnTo>
                  <a:lnTo>
                    <a:pt x="2486283" y="734996"/>
                  </a:lnTo>
                  <a:lnTo>
                    <a:pt x="2444319" y="756688"/>
                  </a:lnTo>
                  <a:lnTo>
                    <a:pt x="2396013" y="764476"/>
                  </a:lnTo>
                  <a:close/>
                </a:path>
              </a:pathLst>
            </a:custGeom>
            <a:solidFill>
              <a:srgbClr val="0929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9123636" y="6515423"/>
              <a:ext cx="2548890" cy="762000"/>
            </a:xfrm>
            <a:custGeom>
              <a:avLst/>
              <a:gdLst/>
              <a:ahLst/>
              <a:cxnLst/>
              <a:rect l="l" t="t" r="r" b="b"/>
              <a:pathLst>
                <a:path w="2548890" h="762000">
                  <a:moveTo>
                    <a:pt x="138257" y="761999"/>
                  </a:moveTo>
                  <a:lnTo>
                    <a:pt x="62596" y="734876"/>
                  </a:lnTo>
                  <a:lnTo>
                    <a:pt x="29502" y="701796"/>
                  </a:lnTo>
                  <a:lnTo>
                    <a:pt x="7796" y="659835"/>
                  </a:lnTo>
                  <a:lnTo>
                    <a:pt x="0" y="611500"/>
                  </a:lnTo>
                  <a:lnTo>
                    <a:pt x="0" y="152851"/>
                  </a:lnTo>
                  <a:lnTo>
                    <a:pt x="7796" y="104553"/>
                  </a:lnTo>
                  <a:lnTo>
                    <a:pt x="29502" y="62596"/>
                  </a:lnTo>
                  <a:lnTo>
                    <a:pt x="62596" y="29503"/>
                  </a:lnTo>
                  <a:lnTo>
                    <a:pt x="104553" y="7796"/>
                  </a:lnTo>
                  <a:lnTo>
                    <a:pt x="152850" y="0"/>
                  </a:lnTo>
                  <a:lnTo>
                    <a:pt x="2395624" y="0"/>
                  </a:lnTo>
                  <a:lnTo>
                    <a:pt x="2443959" y="7795"/>
                  </a:lnTo>
                  <a:lnTo>
                    <a:pt x="2485921" y="29502"/>
                  </a:lnTo>
                  <a:lnTo>
                    <a:pt x="2519001" y="62596"/>
                  </a:lnTo>
                  <a:lnTo>
                    <a:pt x="2540689" y="104553"/>
                  </a:lnTo>
                  <a:lnTo>
                    <a:pt x="2548476" y="152851"/>
                  </a:lnTo>
                  <a:lnTo>
                    <a:pt x="2548476" y="611501"/>
                  </a:lnTo>
                  <a:lnTo>
                    <a:pt x="2540680" y="659835"/>
                  </a:lnTo>
                  <a:lnTo>
                    <a:pt x="2518973" y="701797"/>
                  </a:lnTo>
                  <a:lnTo>
                    <a:pt x="2485880" y="734877"/>
                  </a:lnTo>
                  <a:lnTo>
                    <a:pt x="2443922" y="756565"/>
                  </a:lnTo>
                  <a:lnTo>
                    <a:pt x="2410219" y="761999"/>
                  </a:lnTo>
                </a:path>
              </a:pathLst>
            </a:custGeom>
            <a:ln w="19064">
              <a:solidFill>
                <a:srgbClr val="00D4A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3" name="object 73"/>
          <p:cNvSpPr txBox="1"/>
          <p:nvPr/>
        </p:nvSpPr>
        <p:spPr>
          <a:xfrm>
            <a:off x="10037177" y="6708634"/>
            <a:ext cx="721995" cy="277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10" b="1">
                <a:solidFill>
                  <a:srgbClr val="00D4AA"/>
                </a:solidFill>
                <a:latin typeface="Calibri"/>
                <a:cs typeface="Calibri"/>
              </a:rPr>
              <a:t>Support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11927773" y="6505581"/>
            <a:ext cx="2568575" cy="781685"/>
            <a:chOff x="11927773" y="6505581"/>
            <a:chExt cx="2568575" cy="781685"/>
          </a:xfrm>
        </p:grpSpPr>
        <p:sp>
          <p:nvSpPr>
            <p:cNvPr id="75" name="object 75"/>
            <p:cNvSpPr/>
            <p:nvPr/>
          </p:nvSpPr>
          <p:spPr>
            <a:xfrm>
              <a:off x="11937482" y="6515423"/>
              <a:ext cx="2548890" cy="764540"/>
            </a:xfrm>
            <a:custGeom>
              <a:avLst/>
              <a:gdLst/>
              <a:ahLst/>
              <a:cxnLst/>
              <a:rect l="l" t="t" r="r" b="b"/>
              <a:pathLst>
                <a:path w="2548890" h="764540">
                  <a:moveTo>
                    <a:pt x="2396013" y="764476"/>
                  </a:moveTo>
                  <a:lnTo>
                    <a:pt x="152876" y="764476"/>
                  </a:lnTo>
                  <a:lnTo>
                    <a:pt x="104570" y="756688"/>
                  </a:lnTo>
                  <a:lnTo>
                    <a:pt x="62606" y="734996"/>
                  </a:lnTo>
                  <a:lnTo>
                    <a:pt x="29507" y="701910"/>
                  </a:lnTo>
                  <a:lnTo>
                    <a:pt x="7797" y="659942"/>
                  </a:lnTo>
                  <a:lnTo>
                    <a:pt x="0" y="611600"/>
                  </a:lnTo>
                  <a:lnTo>
                    <a:pt x="0" y="152876"/>
                  </a:lnTo>
                  <a:lnTo>
                    <a:pt x="7797" y="104570"/>
                  </a:lnTo>
                  <a:lnTo>
                    <a:pt x="29507" y="62606"/>
                  </a:lnTo>
                  <a:lnTo>
                    <a:pt x="62606" y="29507"/>
                  </a:lnTo>
                  <a:lnTo>
                    <a:pt x="104570" y="7797"/>
                  </a:lnTo>
                  <a:lnTo>
                    <a:pt x="152876" y="0"/>
                  </a:lnTo>
                  <a:lnTo>
                    <a:pt x="2396013" y="0"/>
                  </a:lnTo>
                  <a:lnTo>
                    <a:pt x="2444355" y="7797"/>
                  </a:lnTo>
                  <a:lnTo>
                    <a:pt x="2486324" y="29507"/>
                  </a:lnTo>
                  <a:lnTo>
                    <a:pt x="2519409" y="62606"/>
                  </a:lnTo>
                  <a:lnTo>
                    <a:pt x="2541101" y="104570"/>
                  </a:lnTo>
                  <a:lnTo>
                    <a:pt x="2548889" y="152876"/>
                  </a:lnTo>
                  <a:lnTo>
                    <a:pt x="2548889" y="611600"/>
                  </a:lnTo>
                  <a:lnTo>
                    <a:pt x="2541092" y="659942"/>
                  </a:lnTo>
                  <a:lnTo>
                    <a:pt x="2519382" y="701910"/>
                  </a:lnTo>
                  <a:lnTo>
                    <a:pt x="2486283" y="734996"/>
                  </a:lnTo>
                  <a:lnTo>
                    <a:pt x="2444318" y="756688"/>
                  </a:lnTo>
                  <a:lnTo>
                    <a:pt x="2396013" y="764476"/>
                  </a:lnTo>
                  <a:close/>
                </a:path>
              </a:pathLst>
            </a:custGeom>
            <a:solidFill>
              <a:srgbClr val="0929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11937615" y="6515423"/>
              <a:ext cx="2548890" cy="762000"/>
            </a:xfrm>
            <a:custGeom>
              <a:avLst/>
              <a:gdLst/>
              <a:ahLst/>
              <a:cxnLst/>
              <a:rect l="l" t="t" r="r" b="b"/>
              <a:pathLst>
                <a:path w="2548890" h="762000">
                  <a:moveTo>
                    <a:pt x="138257" y="761999"/>
                  </a:moveTo>
                  <a:lnTo>
                    <a:pt x="62596" y="734877"/>
                  </a:lnTo>
                  <a:lnTo>
                    <a:pt x="29502" y="701797"/>
                  </a:lnTo>
                  <a:lnTo>
                    <a:pt x="7796" y="659835"/>
                  </a:lnTo>
                  <a:lnTo>
                    <a:pt x="0" y="611500"/>
                  </a:lnTo>
                  <a:lnTo>
                    <a:pt x="0" y="152851"/>
                  </a:lnTo>
                  <a:lnTo>
                    <a:pt x="7796" y="104553"/>
                  </a:lnTo>
                  <a:lnTo>
                    <a:pt x="29502" y="62596"/>
                  </a:lnTo>
                  <a:lnTo>
                    <a:pt x="62596" y="29503"/>
                  </a:lnTo>
                  <a:lnTo>
                    <a:pt x="104553" y="7796"/>
                  </a:lnTo>
                  <a:lnTo>
                    <a:pt x="152851" y="0"/>
                  </a:lnTo>
                  <a:lnTo>
                    <a:pt x="2395625" y="0"/>
                  </a:lnTo>
                  <a:lnTo>
                    <a:pt x="2443959" y="7796"/>
                  </a:lnTo>
                  <a:lnTo>
                    <a:pt x="2485921" y="29502"/>
                  </a:lnTo>
                  <a:lnTo>
                    <a:pt x="2519001" y="62596"/>
                  </a:lnTo>
                  <a:lnTo>
                    <a:pt x="2540690" y="104553"/>
                  </a:lnTo>
                  <a:lnTo>
                    <a:pt x="2548477" y="152851"/>
                  </a:lnTo>
                  <a:lnTo>
                    <a:pt x="2548477" y="611501"/>
                  </a:lnTo>
                  <a:lnTo>
                    <a:pt x="2540681" y="659835"/>
                  </a:lnTo>
                  <a:lnTo>
                    <a:pt x="2518974" y="701797"/>
                  </a:lnTo>
                  <a:lnTo>
                    <a:pt x="2485880" y="734877"/>
                  </a:lnTo>
                  <a:lnTo>
                    <a:pt x="2443922" y="756565"/>
                  </a:lnTo>
                  <a:lnTo>
                    <a:pt x="2410219" y="761999"/>
                  </a:lnTo>
                </a:path>
              </a:pathLst>
            </a:custGeom>
            <a:ln w="19064">
              <a:solidFill>
                <a:srgbClr val="00D4A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7" name="object 77"/>
          <p:cNvSpPr txBox="1"/>
          <p:nvPr/>
        </p:nvSpPr>
        <p:spPr>
          <a:xfrm>
            <a:off x="12723007" y="6708634"/>
            <a:ext cx="978535" cy="277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10" b="1">
                <a:solidFill>
                  <a:srgbClr val="00D4AA"/>
                </a:solidFill>
                <a:latin typeface="Calibri"/>
                <a:cs typeface="Calibri"/>
              </a:rPr>
              <a:t>Collections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14742064" y="6505891"/>
            <a:ext cx="2567940" cy="781685"/>
            <a:chOff x="14742064" y="6505891"/>
            <a:chExt cx="2567940" cy="781685"/>
          </a:xfrm>
        </p:grpSpPr>
        <p:sp>
          <p:nvSpPr>
            <p:cNvPr id="79" name="object 79"/>
            <p:cNvSpPr/>
            <p:nvPr/>
          </p:nvSpPr>
          <p:spPr>
            <a:xfrm>
              <a:off x="14751462" y="6515423"/>
              <a:ext cx="2548890" cy="764540"/>
            </a:xfrm>
            <a:custGeom>
              <a:avLst/>
              <a:gdLst/>
              <a:ahLst/>
              <a:cxnLst/>
              <a:rect l="l" t="t" r="r" b="b"/>
              <a:pathLst>
                <a:path w="2548890" h="764540">
                  <a:moveTo>
                    <a:pt x="2396013" y="764476"/>
                  </a:moveTo>
                  <a:lnTo>
                    <a:pt x="152876" y="764476"/>
                  </a:lnTo>
                  <a:lnTo>
                    <a:pt x="104570" y="756688"/>
                  </a:lnTo>
                  <a:lnTo>
                    <a:pt x="62606" y="734996"/>
                  </a:lnTo>
                  <a:lnTo>
                    <a:pt x="29507" y="701910"/>
                  </a:lnTo>
                  <a:lnTo>
                    <a:pt x="7797" y="659942"/>
                  </a:lnTo>
                  <a:lnTo>
                    <a:pt x="0" y="611600"/>
                  </a:lnTo>
                  <a:lnTo>
                    <a:pt x="0" y="152876"/>
                  </a:lnTo>
                  <a:lnTo>
                    <a:pt x="7797" y="104570"/>
                  </a:lnTo>
                  <a:lnTo>
                    <a:pt x="29507" y="62606"/>
                  </a:lnTo>
                  <a:lnTo>
                    <a:pt x="62606" y="29507"/>
                  </a:lnTo>
                  <a:lnTo>
                    <a:pt x="104570" y="7797"/>
                  </a:lnTo>
                  <a:lnTo>
                    <a:pt x="152876" y="0"/>
                  </a:lnTo>
                  <a:lnTo>
                    <a:pt x="2396013" y="0"/>
                  </a:lnTo>
                  <a:lnTo>
                    <a:pt x="2444355" y="7797"/>
                  </a:lnTo>
                  <a:lnTo>
                    <a:pt x="2486324" y="29507"/>
                  </a:lnTo>
                  <a:lnTo>
                    <a:pt x="2519409" y="62606"/>
                  </a:lnTo>
                  <a:lnTo>
                    <a:pt x="2541101" y="104570"/>
                  </a:lnTo>
                  <a:lnTo>
                    <a:pt x="2548889" y="152876"/>
                  </a:lnTo>
                  <a:lnTo>
                    <a:pt x="2548889" y="611600"/>
                  </a:lnTo>
                  <a:lnTo>
                    <a:pt x="2541092" y="659942"/>
                  </a:lnTo>
                  <a:lnTo>
                    <a:pt x="2519382" y="701910"/>
                  </a:lnTo>
                  <a:lnTo>
                    <a:pt x="2486283" y="734996"/>
                  </a:lnTo>
                  <a:lnTo>
                    <a:pt x="2444318" y="756688"/>
                  </a:lnTo>
                  <a:lnTo>
                    <a:pt x="2396013" y="764476"/>
                  </a:lnTo>
                  <a:close/>
                </a:path>
              </a:pathLst>
            </a:custGeom>
            <a:solidFill>
              <a:srgbClr val="0929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14751596" y="6515423"/>
              <a:ext cx="2548890" cy="762000"/>
            </a:xfrm>
            <a:custGeom>
              <a:avLst/>
              <a:gdLst/>
              <a:ahLst/>
              <a:cxnLst/>
              <a:rect l="l" t="t" r="r" b="b"/>
              <a:pathLst>
                <a:path w="2548890" h="762000">
                  <a:moveTo>
                    <a:pt x="138256" y="761999"/>
                  </a:moveTo>
                  <a:lnTo>
                    <a:pt x="62596" y="734877"/>
                  </a:lnTo>
                  <a:lnTo>
                    <a:pt x="29502" y="701796"/>
                  </a:lnTo>
                  <a:lnTo>
                    <a:pt x="7796" y="659835"/>
                  </a:lnTo>
                  <a:lnTo>
                    <a:pt x="0" y="611500"/>
                  </a:lnTo>
                  <a:lnTo>
                    <a:pt x="0" y="152851"/>
                  </a:lnTo>
                  <a:lnTo>
                    <a:pt x="7796" y="104553"/>
                  </a:lnTo>
                  <a:lnTo>
                    <a:pt x="29502" y="62596"/>
                  </a:lnTo>
                  <a:lnTo>
                    <a:pt x="62596" y="29503"/>
                  </a:lnTo>
                  <a:lnTo>
                    <a:pt x="104553" y="7796"/>
                  </a:lnTo>
                  <a:lnTo>
                    <a:pt x="152851" y="0"/>
                  </a:lnTo>
                  <a:lnTo>
                    <a:pt x="2395625" y="0"/>
                  </a:lnTo>
                  <a:lnTo>
                    <a:pt x="2443959" y="7796"/>
                  </a:lnTo>
                  <a:lnTo>
                    <a:pt x="2485921" y="29502"/>
                  </a:lnTo>
                  <a:lnTo>
                    <a:pt x="2519001" y="62596"/>
                  </a:lnTo>
                  <a:lnTo>
                    <a:pt x="2540690" y="104553"/>
                  </a:lnTo>
                  <a:lnTo>
                    <a:pt x="2548477" y="152851"/>
                  </a:lnTo>
                  <a:lnTo>
                    <a:pt x="2548477" y="611501"/>
                  </a:lnTo>
                  <a:lnTo>
                    <a:pt x="2540681" y="659835"/>
                  </a:lnTo>
                  <a:lnTo>
                    <a:pt x="2518974" y="701797"/>
                  </a:lnTo>
                  <a:lnTo>
                    <a:pt x="2485880" y="734877"/>
                  </a:lnTo>
                  <a:lnTo>
                    <a:pt x="2443922" y="756565"/>
                  </a:lnTo>
                  <a:lnTo>
                    <a:pt x="2410219" y="761999"/>
                  </a:lnTo>
                </a:path>
              </a:pathLst>
            </a:custGeom>
            <a:ln w="19064">
              <a:solidFill>
                <a:srgbClr val="00D4A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1" name="object 81"/>
          <p:cNvSpPr txBox="1"/>
          <p:nvPr/>
        </p:nvSpPr>
        <p:spPr>
          <a:xfrm>
            <a:off x="15656941" y="6708634"/>
            <a:ext cx="738505" cy="277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10" b="1">
                <a:solidFill>
                  <a:srgbClr val="00D4AA"/>
                </a:solidFill>
                <a:latin typeface="Calibri"/>
                <a:cs typeface="Calibri"/>
              </a:rPr>
              <a:t>Account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397554" y="7603718"/>
            <a:ext cx="17459960" cy="505459"/>
            <a:chOff x="397554" y="7603718"/>
            <a:chExt cx="17459960" cy="505459"/>
          </a:xfrm>
        </p:grpSpPr>
        <p:sp>
          <p:nvSpPr>
            <p:cNvPr id="83" name="object 83"/>
            <p:cNvSpPr/>
            <p:nvPr/>
          </p:nvSpPr>
          <p:spPr>
            <a:xfrm>
              <a:off x="407031" y="7613560"/>
              <a:ext cx="17442180" cy="490220"/>
            </a:xfrm>
            <a:custGeom>
              <a:avLst/>
              <a:gdLst/>
              <a:ahLst/>
              <a:cxnLst/>
              <a:rect l="l" t="t" r="r" b="b"/>
              <a:pathLst>
                <a:path w="17442180" h="490220">
                  <a:moveTo>
                    <a:pt x="17344453" y="489965"/>
                  </a:moveTo>
                  <a:lnTo>
                    <a:pt x="98012" y="489965"/>
                  </a:lnTo>
                  <a:lnTo>
                    <a:pt x="59873" y="482259"/>
                  </a:lnTo>
                  <a:lnTo>
                    <a:pt x="28717" y="461248"/>
                  </a:lnTo>
                  <a:lnTo>
                    <a:pt x="7706" y="430092"/>
                  </a:lnTo>
                  <a:lnTo>
                    <a:pt x="0" y="391953"/>
                  </a:lnTo>
                  <a:lnTo>
                    <a:pt x="0" y="98012"/>
                  </a:lnTo>
                  <a:lnTo>
                    <a:pt x="7706" y="59873"/>
                  </a:lnTo>
                  <a:lnTo>
                    <a:pt x="59873" y="7706"/>
                  </a:lnTo>
                  <a:lnTo>
                    <a:pt x="98012" y="0"/>
                  </a:lnTo>
                  <a:lnTo>
                    <a:pt x="17344453" y="0"/>
                  </a:lnTo>
                  <a:lnTo>
                    <a:pt x="17382591" y="7706"/>
                  </a:lnTo>
                  <a:lnTo>
                    <a:pt x="17413747" y="28718"/>
                  </a:lnTo>
                  <a:lnTo>
                    <a:pt x="17434759" y="59873"/>
                  </a:lnTo>
                  <a:lnTo>
                    <a:pt x="17441640" y="93930"/>
                  </a:lnTo>
                  <a:lnTo>
                    <a:pt x="17441640" y="396035"/>
                  </a:lnTo>
                  <a:lnTo>
                    <a:pt x="17434759" y="430092"/>
                  </a:lnTo>
                  <a:lnTo>
                    <a:pt x="17413747" y="461248"/>
                  </a:lnTo>
                  <a:lnTo>
                    <a:pt x="17382591" y="482259"/>
                  </a:lnTo>
                  <a:lnTo>
                    <a:pt x="17344453" y="489965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407397" y="7613560"/>
              <a:ext cx="17440275" cy="485775"/>
            </a:xfrm>
            <a:custGeom>
              <a:avLst/>
              <a:gdLst/>
              <a:ahLst/>
              <a:cxnLst/>
              <a:rect l="l" t="t" r="r" b="b"/>
              <a:pathLst>
                <a:path w="17440275" h="485775">
                  <a:moveTo>
                    <a:pt x="17439907" y="400388"/>
                  </a:moveTo>
                  <a:lnTo>
                    <a:pt x="17433910" y="430072"/>
                  </a:lnTo>
                  <a:lnTo>
                    <a:pt x="17412899" y="461226"/>
                  </a:lnTo>
                  <a:lnTo>
                    <a:pt x="17381744" y="482236"/>
                  </a:lnTo>
                  <a:lnTo>
                    <a:pt x="17364231" y="485775"/>
                  </a:lnTo>
                </a:path>
                <a:path w="17440275" h="485775">
                  <a:moveTo>
                    <a:pt x="77385" y="485775"/>
                  </a:moveTo>
                  <a:lnTo>
                    <a:pt x="59870" y="482236"/>
                  </a:lnTo>
                  <a:lnTo>
                    <a:pt x="28716" y="461225"/>
                  </a:lnTo>
                  <a:lnTo>
                    <a:pt x="7705" y="430071"/>
                  </a:lnTo>
                  <a:lnTo>
                    <a:pt x="0" y="391934"/>
                  </a:lnTo>
                  <a:lnTo>
                    <a:pt x="0" y="98007"/>
                  </a:lnTo>
                  <a:lnTo>
                    <a:pt x="7705" y="59870"/>
                  </a:lnTo>
                  <a:lnTo>
                    <a:pt x="59870" y="7706"/>
                  </a:lnTo>
                  <a:lnTo>
                    <a:pt x="98007" y="0"/>
                  </a:lnTo>
                  <a:lnTo>
                    <a:pt x="17343607" y="0"/>
                  </a:lnTo>
                  <a:lnTo>
                    <a:pt x="17381745" y="7705"/>
                  </a:lnTo>
                  <a:lnTo>
                    <a:pt x="17412899" y="28715"/>
                  </a:lnTo>
                  <a:lnTo>
                    <a:pt x="17433910" y="59870"/>
                  </a:lnTo>
                  <a:lnTo>
                    <a:pt x="17439907" y="89553"/>
                  </a:lnTo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5" name="object 85"/>
          <p:cNvSpPr txBox="1"/>
          <p:nvPr/>
        </p:nvSpPr>
        <p:spPr>
          <a:xfrm>
            <a:off x="3204996" y="7663639"/>
            <a:ext cx="45339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3B4575"/>
                </a:solidFill>
                <a:latin typeface="Calibri"/>
                <a:cs typeface="Calibri"/>
              </a:rPr>
              <a:t>Voice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4529810" y="7755610"/>
            <a:ext cx="9498965" cy="206375"/>
          </a:xfrm>
          <a:custGeom>
            <a:avLst/>
            <a:gdLst/>
            <a:ahLst/>
            <a:cxnLst/>
            <a:rect l="l" t="t" r="r" b="b"/>
            <a:pathLst>
              <a:path w="9498965" h="206375">
                <a:moveTo>
                  <a:pt x="27457" y="0"/>
                </a:moveTo>
                <a:lnTo>
                  <a:pt x="0" y="0"/>
                </a:lnTo>
                <a:lnTo>
                  <a:pt x="0" y="205879"/>
                </a:lnTo>
                <a:lnTo>
                  <a:pt x="27457" y="205879"/>
                </a:lnTo>
                <a:lnTo>
                  <a:pt x="27457" y="0"/>
                </a:lnTo>
                <a:close/>
              </a:path>
              <a:path w="9498965" h="206375">
                <a:moveTo>
                  <a:pt x="3184588" y="0"/>
                </a:moveTo>
                <a:lnTo>
                  <a:pt x="3157143" y="0"/>
                </a:lnTo>
                <a:lnTo>
                  <a:pt x="3157143" y="205879"/>
                </a:lnTo>
                <a:lnTo>
                  <a:pt x="3184588" y="205879"/>
                </a:lnTo>
                <a:lnTo>
                  <a:pt x="3184588" y="0"/>
                </a:lnTo>
                <a:close/>
              </a:path>
              <a:path w="9498965" h="206375">
                <a:moveTo>
                  <a:pt x="6341745" y="0"/>
                </a:moveTo>
                <a:lnTo>
                  <a:pt x="6314287" y="0"/>
                </a:lnTo>
                <a:lnTo>
                  <a:pt x="6314287" y="205879"/>
                </a:lnTo>
                <a:lnTo>
                  <a:pt x="6341745" y="205879"/>
                </a:lnTo>
                <a:lnTo>
                  <a:pt x="6341745" y="0"/>
                </a:lnTo>
                <a:close/>
              </a:path>
              <a:path w="9498965" h="206375">
                <a:moveTo>
                  <a:pt x="9498889" y="0"/>
                </a:moveTo>
                <a:lnTo>
                  <a:pt x="9471431" y="0"/>
                </a:lnTo>
                <a:lnTo>
                  <a:pt x="9471431" y="205879"/>
                </a:lnTo>
                <a:lnTo>
                  <a:pt x="9498889" y="205879"/>
                </a:lnTo>
                <a:lnTo>
                  <a:pt x="9498889" y="0"/>
                </a:lnTo>
                <a:close/>
              </a:path>
            </a:pathLst>
          </a:custGeom>
          <a:solidFill>
            <a:srgbClr val="2121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 txBox="1"/>
          <p:nvPr/>
        </p:nvSpPr>
        <p:spPr>
          <a:xfrm>
            <a:off x="6171196" y="7663639"/>
            <a:ext cx="83502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3B4575"/>
                </a:solidFill>
                <a:latin typeface="Calibri"/>
                <a:cs typeface="Calibri"/>
              </a:rPr>
              <a:t>WhatsApp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9521225" y="7663639"/>
            <a:ext cx="44958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3B4575"/>
                </a:solidFill>
                <a:latin typeface="Calibri"/>
                <a:cs typeface="Calibri"/>
              </a:rPr>
              <a:t>Email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12721383" y="7663639"/>
            <a:ext cx="36385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25">
                <a:solidFill>
                  <a:srgbClr val="3B4575"/>
                </a:solidFill>
                <a:latin typeface="Calibri"/>
                <a:cs typeface="Calibri"/>
              </a:rPr>
              <a:t>SMS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5665408" y="7663639"/>
            <a:ext cx="78994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3B4575"/>
                </a:solidFill>
                <a:latin typeface="Calibri"/>
                <a:cs typeface="Calibri"/>
              </a:rPr>
              <a:t>Web</a:t>
            </a:r>
            <a:r>
              <a:rPr dirty="0" sz="1500" spc="-40">
                <a:solidFill>
                  <a:srgbClr val="3B4575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3B4575"/>
                </a:solidFill>
                <a:latin typeface="Calibri"/>
                <a:cs typeface="Calibri"/>
              </a:rPr>
              <a:t>Chat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91" name="object 91"/>
          <p:cNvGrpSpPr/>
          <p:nvPr/>
        </p:nvGrpSpPr>
        <p:grpSpPr>
          <a:xfrm>
            <a:off x="384542" y="8276066"/>
            <a:ext cx="17486630" cy="810260"/>
            <a:chOff x="384542" y="8276066"/>
            <a:chExt cx="17486630" cy="810260"/>
          </a:xfrm>
        </p:grpSpPr>
        <p:sp>
          <p:nvSpPr>
            <p:cNvPr id="92" name="object 92"/>
            <p:cNvSpPr/>
            <p:nvPr/>
          </p:nvSpPr>
          <p:spPr>
            <a:xfrm>
              <a:off x="402269" y="8295131"/>
              <a:ext cx="17452340" cy="774065"/>
            </a:xfrm>
            <a:custGeom>
              <a:avLst/>
              <a:gdLst/>
              <a:ahLst/>
              <a:cxnLst/>
              <a:rect l="l" t="t" r="r" b="b"/>
              <a:pathLst>
                <a:path w="17452340" h="774065">
                  <a:moveTo>
                    <a:pt x="17413317" y="774001"/>
                  </a:moveTo>
                  <a:lnTo>
                    <a:pt x="38671" y="774001"/>
                  </a:lnTo>
                  <a:lnTo>
                    <a:pt x="23627" y="770959"/>
                  </a:lnTo>
                  <a:lnTo>
                    <a:pt x="11334" y="762666"/>
                  </a:lnTo>
                  <a:lnTo>
                    <a:pt x="3042" y="750373"/>
                  </a:lnTo>
                  <a:lnTo>
                    <a:pt x="0" y="735329"/>
                  </a:lnTo>
                  <a:lnTo>
                    <a:pt x="0" y="38671"/>
                  </a:lnTo>
                  <a:lnTo>
                    <a:pt x="3042" y="23627"/>
                  </a:lnTo>
                  <a:lnTo>
                    <a:pt x="11334" y="11334"/>
                  </a:lnTo>
                  <a:lnTo>
                    <a:pt x="23627" y="3042"/>
                  </a:lnTo>
                  <a:lnTo>
                    <a:pt x="38671" y="0"/>
                  </a:lnTo>
                  <a:lnTo>
                    <a:pt x="17413317" y="0"/>
                  </a:lnTo>
                  <a:lnTo>
                    <a:pt x="17428361" y="3042"/>
                  </a:lnTo>
                  <a:lnTo>
                    <a:pt x="17440653" y="11334"/>
                  </a:lnTo>
                  <a:lnTo>
                    <a:pt x="17448945" y="23627"/>
                  </a:lnTo>
                  <a:lnTo>
                    <a:pt x="17451987" y="38671"/>
                  </a:lnTo>
                  <a:lnTo>
                    <a:pt x="17451987" y="735329"/>
                  </a:lnTo>
                  <a:lnTo>
                    <a:pt x="17448945" y="750373"/>
                  </a:lnTo>
                  <a:lnTo>
                    <a:pt x="17440653" y="762666"/>
                  </a:lnTo>
                  <a:lnTo>
                    <a:pt x="17428361" y="770959"/>
                  </a:lnTo>
                  <a:lnTo>
                    <a:pt x="17413317" y="774001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403607" y="8295131"/>
              <a:ext cx="17448530" cy="771525"/>
            </a:xfrm>
            <a:custGeom>
              <a:avLst/>
              <a:gdLst/>
              <a:ahLst/>
              <a:cxnLst/>
              <a:rect l="l" t="t" r="r" b="b"/>
              <a:pathLst>
                <a:path w="17448530" h="771525">
                  <a:moveTo>
                    <a:pt x="17448460" y="738853"/>
                  </a:moveTo>
                  <a:lnTo>
                    <a:pt x="17446155" y="750253"/>
                  </a:lnTo>
                  <a:lnTo>
                    <a:pt x="17437864" y="762544"/>
                  </a:lnTo>
                  <a:lnTo>
                    <a:pt x="17425573" y="770836"/>
                  </a:lnTo>
                  <a:lnTo>
                    <a:pt x="17422167" y="771524"/>
                  </a:lnTo>
                </a:path>
                <a:path w="17448530" h="771525">
                  <a:moveTo>
                    <a:pt x="27029" y="771524"/>
                  </a:moveTo>
                  <a:lnTo>
                    <a:pt x="23623" y="770836"/>
                  </a:lnTo>
                  <a:lnTo>
                    <a:pt x="11332" y="762544"/>
                  </a:lnTo>
                  <a:lnTo>
                    <a:pt x="3041" y="750253"/>
                  </a:lnTo>
                  <a:lnTo>
                    <a:pt x="0" y="735212"/>
                  </a:lnTo>
                  <a:lnTo>
                    <a:pt x="0" y="38665"/>
                  </a:lnTo>
                  <a:lnTo>
                    <a:pt x="3041" y="23624"/>
                  </a:lnTo>
                  <a:lnTo>
                    <a:pt x="11332" y="11332"/>
                  </a:lnTo>
                  <a:lnTo>
                    <a:pt x="23624" y="3041"/>
                  </a:lnTo>
                  <a:lnTo>
                    <a:pt x="38665" y="0"/>
                  </a:lnTo>
                  <a:lnTo>
                    <a:pt x="17410532" y="0"/>
                  </a:lnTo>
                  <a:lnTo>
                    <a:pt x="17425573" y="3041"/>
                  </a:lnTo>
                  <a:lnTo>
                    <a:pt x="17437864" y="11332"/>
                  </a:lnTo>
                  <a:lnTo>
                    <a:pt x="17446155" y="23623"/>
                  </a:lnTo>
                  <a:lnTo>
                    <a:pt x="17448460" y="35024"/>
                  </a:lnTo>
                </a:path>
              </a:pathLst>
            </a:custGeom>
            <a:ln w="38129">
              <a:solidFill>
                <a:srgbClr val="F5C44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411803" y="8304666"/>
              <a:ext cx="55244" cy="755650"/>
            </a:xfrm>
            <a:custGeom>
              <a:avLst/>
              <a:gdLst/>
              <a:ahLst/>
              <a:cxnLst/>
              <a:rect l="l" t="t" r="r" b="b"/>
              <a:pathLst>
                <a:path w="55245" h="755650">
                  <a:moveTo>
                    <a:pt x="54911" y="755034"/>
                  </a:moveTo>
                  <a:lnTo>
                    <a:pt x="0" y="755034"/>
                  </a:lnTo>
                  <a:lnTo>
                    <a:pt x="0" y="0"/>
                  </a:lnTo>
                  <a:lnTo>
                    <a:pt x="54911" y="0"/>
                  </a:lnTo>
                  <a:lnTo>
                    <a:pt x="54911" y="755034"/>
                  </a:lnTo>
                  <a:close/>
                </a:path>
              </a:pathLst>
            </a:custGeom>
            <a:solidFill>
              <a:srgbClr val="F5C44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5" name="object 95"/>
          <p:cNvSpPr txBox="1"/>
          <p:nvPr/>
        </p:nvSpPr>
        <p:spPr>
          <a:xfrm>
            <a:off x="696445" y="8340676"/>
            <a:ext cx="987425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F5C441"/>
                </a:solidFill>
                <a:latin typeface="Calibri"/>
                <a:cs typeface="Calibri"/>
              </a:rPr>
              <a:t>SYSTEM</a:t>
            </a:r>
            <a:r>
              <a:rPr dirty="0" sz="1500" spc="-35">
                <a:solidFill>
                  <a:srgbClr val="F5C441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5C441"/>
                </a:solidFill>
                <a:latin typeface="Calibri"/>
                <a:cs typeface="Calibri"/>
              </a:rPr>
              <a:t>6</a:t>
            </a:r>
            <a:r>
              <a:rPr dirty="0" sz="1500" spc="-30">
                <a:solidFill>
                  <a:srgbClr val="F5C441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5C441"/>
                </a:solidFill>
                <a:latin typeface="Calibri"/>
                <a:cs typeface="Calibri"/>
              </a:rPr>
              <a:t>·</a:t>
            </a:r>
            <a:r>
              <a:rPr dirty="0" sz="1500" spc="-30">
                <a:solidFill>
                  <a:srgbClr val="F5C441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5C441"/>
                </a:solidFill>
                <a:latin typeface="Calibri"/>
                <a:cs typeface="Calibri"/>
              </a:rPr>
              <a:t>LEARNING</a:t>
            </a:r>
            <a:r>
              <a:rPr dirty="0" sz="1500" spc="-30">
                <a:solidFill>
                  <a:srgbClr val="F5C441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5C441"/>
                </a:solidFill>
                <a:latin typeface="Calibri"/>
                <a:cs typeface="Calibri"/>
              </a:rPr>
              <a:t>LOOP</a:t>
            </a:r>
            <a:r>
              <a:rPr dirty="0" sz="1500" spc="-30">
                <a:solidFill>
                  <a:srgbClr val="F5C441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5C441"/>
                </a:solidFill>
                <a:latin typeface="Calibri"/>
                <a:cs typeface="Calibri"/>
              </a:rPr>
              <a:t>—</a:t>
            </a:r>
            <a:r>
              <a:rPr dirty="0" sz="1500" spc="-35">
                <a:solidFill>
                  <a:srgbClr val="F5C441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5C441"/>
                </a:solidFill>
                <a:latin typeface="Calibri"/>
                <a:cs typeface="Calibri"/>
              </a:rPr>
              <a:t>Every</a:t>
            </a:r>
            <a:r>
              <a:rPr dirty="0" sz="1500" spc="-30">
                <a:solidFill>
                  <a:srgbClr val="F5C441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5C441"/>
                </a:solidFill>
                <a:latin typeface="Calibri"/>
                <a:cs typeface="Calibri"/>
              </a:rPr>
              <a:t>outcome</a:t>
            </a:r>
            <a:r>
              <a:rPr dirty="0" sz="1500" spc="-30">
                <a:solidFill>
                  <a:srgbClr val="F5C441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5C441"/>
                </a:solidFill>
                <a:latin typeface="Calibri"/>
                <a:cs typeface="Calibri"/>
              </a:rPr>
              <a:t>→</a:t>
            </a:r>
            <a:r>
              <a:rPr dirty="0" sz="1500" spc="-30">
                <a:solidFill>
                  <a:srgbClr val="F5C441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F5C441"/>
                </a:solidFill>
                <a:latin typeface="Calibri"/>
                <a:cs typeface="Calibri"/>
              </a:rPr>
              <a:t>positive/negative</a:t>
            </a:r>
            <a:r>
              <a:rPr dirty="0" sz="1500" spc="-30">
                <a:solidFill>
                  <a:srgbClr val="F5C441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5C441"/>
                </a:solidFill>
                <a:latin typeface="Calibri"/>
                <a:cs typeface="Calibri"/>
              </a:rPr>
              <a:t>signal</a:t>
            </a:r>
            <a:r>
              <a:rPr dirty="0" sz="1500" spc="-30">
                <a:solidFill>
                  <a:srgbClr val="F5C441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5C441"/>
                </a:solidFill>
                <a:latin typeface="Calibri"/>
                <a:cs typeface="Calibri"/>
              </a:rPr>
              <a:t>→</a:t>
            </a:r>
            <a:r>
              <a:rPr dirty="0" sz="1500" spc="-35">
                <a:solidFill>
                  <a:srgbClr val="F5C441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5C441"/>
                </a:solidFill>
                <a:latin typeface="Calibri"/>
                <a:cs typeface="Calibri"/>
              </a:rPr>
              <a:t>model</a:t>
            </a:r>
            <a:r>
              <a:rPr dirty="0" sz="1500" spc="-30">
                <a:solidFill>
                  <a:srgbClr val="F5C441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5C441"/>
                </a:solidFill>
                <a:latin typeface="Calibri"/>
                <a:cs typeface="Calibri"/>
              </a:rPr>
              <a:t>update</a:t>
            </a:r>
            <a:r>
              <a:rPr dirty="0" sz="1500" spc="-30">
                <a:solidFill>
                  <a:srgbClr val="F5C441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5C441"/>
                </a:solidFill>
                <a:latin typeface="Calibri"/>
                <a:cs typeface="Calibri"/>
              </a:rPr>
              <a:t>→</a:t>
            </a:r>
            <a:r>
              <a:rPr dirty="0" sz="1500" spc="-30">
                <a:solidFill>
                  <a:srgbClr val="F5C441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5C441"/>
                </a:solidFill>
                <a:latin typeface="Calibri"/>
                <a:cs typeface="Calibri"/>
              </a:rPr>
              <a:t>feeds</a:t>
            </a:r>
            <a:r>
              <a:rPr dirty="0" sz="1500" spc="-30">
                <a:solidFill>
                  <a:srgbClr val="F5C441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5C441"/>
                </a:solidFill>
                <a:latin typeface="Calibri"/>
                <a:cs typeface="Calibri"/>
              </a:rPr>
              <a:t>back</a:t>
            </a:r>
            <a:r>
              <a:rPr dirty="0" sz="1500" spc="-30">
                <a:solidFill>
                  <a:srgbClr val="F5C441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5C441"/>
                </a:solidFill>
                <a:latin typeface="Calibri"/>
                <a:cs typeface="Calibri"/>
              </a:rPr>
              <a:t>to</a:t>
            </a:r>
            <a:r>
              <a:rPr dirty="0" sz="1500" spc="-35">
                <a:solidFill>
                  <a:srgbClr val="F5C441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5C441"/>
                </a:solidFill>
                <a:latin typeface="Calibri"/>
                <a:cs typeface="Calibri"/>
              </a:rPr>
              <a:t>all</a:t>
            </a:r>
            <a:r>
              <a:rPr dirty="0" sz="1500" spc="-30">
                <a:solidFill>
                  <a:srgbClr val="F5C441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5C441"/>
                </a:solidFill>
                <a:latin typeface="Calibri"/>
                <a:cs typeface="Calibri"/>
              </a:rPr>
              <a:t>5</a:t>
            </a:r>
            <a:r>
              <a:rPr dirty="0" sz="1500" spc="-30">
                <a:solidFill>
                  <a:srgbClr val="F5C441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5C441"/>
                </a:solidFill>
                <a:latin typeface="Calibri"/>
                <a:cs typeface="Calibri"/>
              </a:rPr>
              <a:t>systems</a:t>
            </a:r>
            <a:r>
              <a:rPr dirty="0" sz="1500" spc="-30">
                <a:solidFill>
                  <a:srgbClr val="F5C441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F5C441"/>
                </a:solidFill>
                <a:latin typeface="Calibri"/>
                <a:cs typeface="Calibri"/>
              </a:rPr>
              <a:t>above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17249167" y="9655941"/>
            <a:ext cx="516890" cy="1974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85"/>
              </a:lnSpc>
            </a:pPr>
            <a:r>
              <a:rPr dirty="0" sz="1350">
                <a:solidFill>
                  <a:srgbClr val="6A6F82"/>
                </a:solidFill>
                <a:latin typeface="Calibri"/>
                <a:cs typeface="Calibri"/>
              </a:rPr>
              <a:t>07</a:t>
            </a:r>
            <a:r>
              <a:rPr dirty="0" sz="1350" spc="-20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6A6F82"/>
                </a:solidFill>
                <a:latin typeface="Calibri"/>
                <a:cs typeface="Calibri"/>
              </a:rPr>
              <a:t>/</a:t>
            </a:r>
            <a:r>
              <a:rPr dirty="0" sz="1350" spc="-15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350" spc="-35">
                <a:solidFill>
                  <a:srgbClr val="6A6F82"/>
                </a:solidFill>
                <a:latin typeface="Calibri"/>
                <a:cs typeface="Calibri"/>
              </a:rPr>
              <a:t>16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6401103" y="9191725"/>
            <a:ext cx="545465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6A6F82"/>
                </a:solidFill>
                <a:latin typeface="Calibri"/>
                <a:cs typeface="Calibri"/>
              </a:rPr>
              <a:t>FastAPI</a:t>
            </a:r>
            <a:r>
              <a:rPr dirty="0" sz="1200" spc="-25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6A6F82"/>
                </a:solidFill>
                <a:latin typeface="Calibri"/>
                <a:cs typeface="Calibri"/>
              </a:rPr>
              <a:t>·</a:t>
            </a:r>
            <a:r>
              <a:rPr dirty="0" sz="1200" spc="-25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6A6F82"/>
                </a:solidFill>
                <a:latin typeface="Calibri"/>
                <a:cs typeface="Calibri"/>
              </a:rPr>
              <a:t>LangGraph</a:t>
            </a:r>
            <a:r>
              <a:rPr dirty="0" sz="1200" spc="-25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6A6F82"/>
                </a:solidFill>
                <a:latin typeface="Calibri"/>
                <a:cs typeface="Calibri"/>
              </a:rPr>
              <a:t>·</a:t>
            </a:r>
            <a:r>
              <a:rPr dirty="0" sz="1200" spc="-25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6A6F82"/>
                </a:solidFill>
                <a:latin typeface="Calibri"/>
                <a:cs typeface="Calibri"/>
              </a:rPr>
              <a:t>PostgreSQL</a:t>
            </a:r>
            <a:r>
              <a:rPr dirty="0" sz="1200" spc="-25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6A6F82"/>
                </a:solidFill>
                <a:latin typeface="Calibri"/>
                <a:cs typeface="Calibri"/>
              </a:rPr>
              <a:t>·</a:t>
            </a:r>
            <a:r>
              <a:rPr dirty="0" sz="1200" spc="-25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6A6F82"/>
                </a:solidFill>
                <a:latin typeface="Calibri"/>
                <a:cs typeface="Calibri"/>
              </a:rPr>
              <a:t>Weaviate</a:t>
            </a:r>
            <a:r>
              <a:rPr dirty="0" sz="1200" spc="-25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6A6F82"/>
                </a:solidFill>
                <a:latin typeface="Calibri"/>
                <a:cs typeface="Calibri"/>
              </a:rPr>
              <a:t>·</a:t>
            </a:r>
            <a:r>
              <a:rPr dirty="0" sz="1200" spc="-25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6A6F82"/>
                </a:solidFill>
                <a:latin typeface="Calibri"/>
                <a:cs typeface="Calibri"/>
              </a:rPr>
              <a:t>Redis</a:t>
            </a:r>
            <a:r>
              <a:rPr dirty="0" sz="1200" spc="-20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6A6F82"/>
                </a:solidFill>
                <a:latin typeface="Calibri"/>
                <a:cs typeface="Calibri"/>
              </a:rPr>
              <a:t>·</a:t>
            </a:r>
            <a:r>
              <a:rPr dirty="0" sz="1200" spc="-25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6A6F82"/>
                </a:solidFill>
                <a:latin typeface="Calibri"/>
                <a:cs typeface="Calibri"/>
              </a:rPr>
              <a:t>OpenAI</a:t>
            </a:r>
            <a:r>
              <a:rPr dirty="0" sz="1200" spc="-25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6A6F82"/>
                </a:solidFill>
                <a:latin typeface="Calibri"/>
                <a:cs typeface="Calibri"/>
              </a:rPr>
              <a:t>·</a:t>
            </a:r>
            <a:r>
              <a:rPr dirty="0" sz="1200" spc="-25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6A6F82"/>
                </a:solidFill>
                <a:latin typeface="Calibri"/>
                <a:cs typeface="Calibri"/>
              </a:rPr>
              <a:t>Claude</a:t>
            </a:r>
            <a:r>
              <a:rPr dirty="0" sz="1200" spc="-25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6A6F82"/>
                </a:solidFill>
                <a:latin typeface="Calibri"/>
                <a:cs typeface="Calibri"/>
              </a:rPr>
              <a:t>·</a:t>
            </a:r>
            <a:r>
              <a:rPr dirty="0" sz="1200" spc="-25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6A6F82"/>
                </a:solidFill>
                <a:latin typeface="Calibri"/>
                <a:cs typeface="Calibri"/>
              </a:rPr>
              <a:t>Twilio</a:t>
            </a:r>
            <a:r>
              <a:rPr dirty="0" sz="1200" spc="-25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6A6F82"/>
                </a:solidFill>
                <a:latin typeface="Calibri"/>
                <a:cs typeface="Calibri"/>
              </a:rPr>
              <a:t>·</a:t>
            </a:r>
            <a:r>
              <a:rPr dirty="0" sz="1200" spc="-25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6A6F82"/>
                </a:solidFill>
                <a:latin typeface="Calibri"/>
                <a:cs typeface="Calibri"/>
              </a:rPr>
              <a:t>AWS</a:t>
            </a:r>
            <a:r>
              <a:rPr dirty="0" sz="1200" spc="-25">
                <a:solidFill>
                  <a:srgbClr val="6A6F82"/>
                </a:solidFill>
                <a:latin typeface="Calibri"/>
                <a:cs typeface="Calibri"/>
              </a:rPr>
              <a:t> ECS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726723" y="6866601"/>
            <a:ext cx="4118610" cy="3420745"/>
          </a:xfrm>
          <a:custGeom>
            <a:avLst/>
            <a:gdLst/>
            <a:ahLst/>
            <a:cxnLst/>
            <a:rect l="l" t="t" r="r" b="b"/>
            <a:pathLst>
              <a:path w="4118609" h="3420745">
                <a:moveTo>
                  <a:pt x="2203986" y="12699"/>
                </a:moveTo>
                <a:lnTo>
                  <a:pt x="1914051" y="12699"/>
                </a:lnTo>
                <a:lnTo>
                  <a:pt x="1962089" y="0"/>
                </a:lnTo>
                <a:lnTo>
                  <a:pt x="2155948" y="0"/>
                </a:lnTo>
                <a:lnTo>
                  <a:pt x="2203986" y="12699"/>
                </a:lnTo>
                <a:close/>
              </a:path>
              <a:path w="4118609" h="3420745">
                <a:moveTo>
                  <a:pt x="2346247" y="25399"/>
                </a:moveTo>
                <a:lnTo>
                  <a:pt x="1771790" y="25399"/>
                </a:lnTo>
                <a:lnTo>
                  <a:pt x="1818889" y="12699"/>
                </a:lnTo>
                <a:lnTo>
                  <a:pt x="2299148" y="12699"/>
                </a:lnTo>
                <a:lnTo>
                  <a:pt x="2346247" y="25399"/>
                </a:lnTo>
                <a:close/>
              </a:path>
              <a:path w="4118609" h="3420745">
                <a:moveTo>
                  <a:pt x="2531141" y="63499"/>
                </a:moveTo>
                <a:lnTo>
                  <a:pt x="1586896" y="63499"/>
                </a:lnTo>
                <a:lnTo>
                  <a:pt x="1725029" y="25399"/>
                </a:lnTo>
                <a:lnTo>
                  <a:pt x="2393008" y="25399"/>
                </a:lnTo>
                <a:lnTo>
                  <a:pt x="2531141" y="63499"/>
                </a:lnTo>
                <a:close/>
              </a:path>
              <a:path w="4118609" h="3420745">
                <a:moveTo>
                  <a:pt x="3604354" y="3420398"/>
                </a:moveTo>
                <a:lnTo>
                  <a:pt x="513683" y="3420398"/>
                </a:lnTo>
                <a:lnTo>
                  <a:pt x="510439" y="3416299"/>
                </a:lnTo>
                <a:lnTo>
                  <a:pt x="481014" y="3390899"/>
                </a:lnTo>
                <a:lnTo>
                  <a:pt x="452335" y="3352799"/>
                </a:lnTo>
                <a:lnTo>
                  <a:pt x="424414" y="3314699"/>
                </a:lnTo>
                <a:lnTo>
                  <a:pt x="397264" y="3276599"/>
                </a:lnTo>
                <a:lnTo>
                  <a:pt x="370896" y="3238499"/>
                </a:lnTo>
                <a:lnTo>
                  <a:pt x="345323" y="3200399"/>
                </a:lnTo>
                <a:lnTo>
                  <a:pt x="320558" y="3162299"/>
                </a:lnTo>
                <a:lnTo>
                  <a:pt x="296612" y="3124199"/>
                </a:lnTo>
                <a:lnTo>
                  <a:pt x="273499" y="3086099"/>
                </a:lnTo>
                <a:lnTo>
                  <a:pt x="251231" y="3047999"/>
                </a:lnTo>
                <a:lnTo>
                  <a:pt x="229819" y="3009899"/>
                </a:lnTo>
                <a:lnTo>
                  <a:pt x="209276" y="2971799"/>
                </a:lnTo>
                <a:lnTo>
                  <a:pt x="189615" y="2920999"/>
                </a:lnTo>
                <a:lnTo>
                  <a:pt x="170848" y="2882899"/>
                </a:lnTo>
                <a:lnTo>
                  <a:pt x="152988" y="2844799"/>
                </a:lnTo>
                <a:lnTo>
                  <a:pt x="136046" y="2793999"/>
                </a:lnTo>
                <a:lnTo>
                  <a:pt x="120035" y="2755899"/>
                </a:lnTo>
                <a:lnTo>
                  <a:pt x="104967" y="2717799"/>
                </a:lnTo>
                <a:lnTo>
                  <a:pt x="90856" y="2666999"/>
                </a:lnTo>
                <a:lnTo>
                  <a:pt x="77712" y="2628899"/>
                </a:lnTo>
                <a:lnTo>
                  <a:pt x="65549" y="2578099"/>
                </a:lnTo>
                <a:lnTo>
                  <a:pt x="54378" y="2539999"/>
                </a:lnTo>
                <a:lnTo>
                  <a:pt x="44213" y="2489199"/>
                </a:lnTo>
                <a:lnTo>
                  <a:pt x="35066" y="2438399"/>
                </a:lnTo>
                <a:lnTo>
                  <a:pt x="26948" y="2400299"/>
                </a:lnTo>
                <a:lnTo>
                  <a:pt x="19872" y="2349499"/>
                </a:lnTo>
                <a:lnTo>
                  <a:pt x="13852" y="2298699"/>
                </a:lnTo>
                <a:lnTo>
                  <a:pt x="8898" y="2260599"/>
                </a:lnTo>
                <a:lnTo>
                  <a:pt x="5023" y="2209799"/>
                </a:lnTo>
                <a:lnTo>
                  <a:pt x="2241" y="2158999"/>
                </a:lnTo>
                <a:lnTo>
                  <a:pt x="562" y="2108199"/>
                </a:lnTo>
                <a:lnTo>
                  <a:pt x="0" y="2057399"/>
                </a:lnTo>
                <a:lnTo>
                  <a:pt x="562" y="2019299"/>
                </a:lnTo>
                <a:lnTo>
                  <a:pt x="2241" y="1968499"/>
                </a:lnTo>
                <a:lnTo>
                  <a:pt x="5023" y="1917699"/>
                </a:lnTo>
                <a:lnTo>
                  <a:pt x="8898" y="1866899"/>
                </a:lnTo>
                <a:lnTo>
                  <a:pt x="13852" y="1816099"/>
                </a:lnTo>
                <a:lnTo>
                  <a:pt x="19872" y="1777999"/>
                </a:lnTo>
                <a:lnTo>
                  <a:pt x="26948" y="1727199"/>
                </a:lnTo>
                <a:lnTo>
                  <a:pt x="35066" y="1676399"/>
                </a:lnTo>
                <a:lnTo>
                  <a:pt x="44213" y="1638299"/>
                </a:lnTo>
                <a:lnTo>
                  <a:pt x="54378" y="1587499"/>
                </a:lnTo>
                <a:lnTo>
                  <a:pt x="65549" y="1549399"/>
                </a:lnTo>
                <a:lnTo>
                  <a:pt x="77712" y="1498599"/>
                </a:lnTo>
                <a:lnTo>
                  <a:pt x="90856" y="1460499"/>
                </a:lnTo>
                <a:lnTo>
                  <a:pt x="104967" y="1409699"/>
                </a:lnTo>
                <a:lnTo>
                  <a:pt x="120035" y="1371599"/>
                </a:lnTo>
                <a:lnTo>
                  <a:pt x="136046" y="1320799"/>
                </a:lnTo>
                <a:lnTo>
                  <a:pt x="152988" y="1282699"/>
                </a:lnTo>
                <a:lnTo>
                  <a:pt x="170848" y="1244599"/>
                </a:lnTo>
                <a:lnTo>
                  <a:pt x="189615" y="1193799"/>
                </a:lnTo>
                <a:lnTo>
                  <a:pt x="209276" y="1155699"/>
                </a:lnTo>
                <a:lnTo>
                  <a:pt x="229819" y="1117599"/>
                </a:lnTo>
                <a:lnTo>
                  <a:pt x="251231" y="1079499"/>
                </a:lnTo>
                <a:lnTo>
                  <a:pt x="273499" y="1041399"/>
                </a:lnTo>
                <a:lnTo>
                  <a:pt x="296612" y="990599"/>
                </a:lnTo>
                <a:lnTo>
                  <a:pt x="320558" y="952499"/>
                </a:lnTo>
                <a:lnTo>
                  <a:pt x="345323" y="914399"/>
                </a:lnTo>
                <a:lnTo>
                  <a:pt x="370896" y="888999"/>
                </a:lnTo>
                <a:lnTo>
                  <a:pt x="397264" y="850899"/>
                </a:lnTo>
                <a:lnTo>
                  <a:pt x="424414" y="812799"/>
                </a:lnTo>
                <a:lnTo>
                  <a:pt x="452335" y="774699"/>
                </a:lnTo>
                <a:lnTo>
                  <a:pt x="481014" y="736599"/>
                </a:lnTo>
                <a:lnTo>
                  <a:pt x="510439" y="711199"/>
                </a:lnTo>
                <a:lnTo>
                  <a:pt x="540597" y="673099"/>
                </a:lnTo>
                <a:lnTo>
                  <a:pt x="571475" y="634999"/>
                </a:lnTo>
                <a:lnTo>
                  <a:pt x="603063" y="609599"/>
                </a:lnTo>
                <a:lnTo>
                  <a:pt x="635347" y="571499"/>
                </a:lnTo>
                <a:lnTo>
                  <a:pt x="668314" y="546099"/>
                </a:lnTo>
                <a:lnTo>
                  <a:pt x="701953" y="507999"/>
                </a:lnTo>
                <a:lnTo>
                  <a:pt x="736252" y="482599"/>
                </a:lnTo>
                <a:lnTo>
                  <a:pt x="771197" y="457199"/>
                </a:lnTo>
                <a:lnTo>
                  <a:pt x="806776" y="431799"/>
                </a:lnTo>
                <a:lnTo>
                  <a:pt x="842978" y="406399"/>
                </a:lnTo>
                <a:lnTo>
                  <a:pt x="879789" y="368299"/>
                </a:lnTo>
                <a:lnTo>
                  <a:pt x="917198" y="342899"/>
                </a:lnTo>
                <a:lnTo>
                  <a:pt x="955192" y="317499"/>
                </a:lnTo>
                <a:lnTo>
                  <a:pt x="993758" y="304799"/>
                </a:lnTo>
                <a:lnTo>
                  <a:pt x="1072560" y="253999"/>
                </a:lnTo>
                <a:lnTo>
                  <a:pt x="1112770" y="228599"/>
                </a:lnTo>
                <a:lnTo>
                  <a:pt x="1153503" y="215899"/>
                </a:lnTo>
                <a:lnTo>
                  <a:pt x="1194748" y="190499"/>
                </a:lnTo>
                <a:lnTo>
                  <a:pt x="1236490" y="177799"/>
                </a:lnTo>
                <a:lnTo>
                  <a:pt x="1278719" y="152399"/>
                </a:lnTo>
                <a:lnTo>
                  <a:pt x="1408200" y="114299"/>
                </a:lnTo>
                <a:lnTo>
                  <a:pt x="1452250" y="88899"/>
                </a:lnTo>
                <a:lnTo>
                  <a:pt x="1541610" y="63499"/>
                </a:lnTo>
                <a:lnTo>
                  <a:pt x="2576427" y="63499"/>
                </a:lnTo>
                <a:lnTo>
                  <a:pt x="2665787" y="88899"/>
                </a:lnTo>
                <a:lnTo>
                  <a:pt x="2709837" y="114299"/>
                </a:lnTo>
                <a:lnTo>
                  <a:pt x="2839318" y="152399"/>
                </a:lnTo>
                <a:lnTo>
                  <a:pt x="2881547" y="177799"/>
                </a:lnTo>
                <a:lnTo>
                  <a:pt x="2923290" y="190499"/>
                </a:lnTo>
                <a:lnTo>
                  <a:pt x="2964534" y="215899"/>
                </a:lnTo>
                <a:lnTo>
                  <a:pt x="3005267" y="228599"/>
                </a:lnTo>
                <a:lnTo>
                  <a:pt x="3045478" y="253999"/>
                </a:lnTo>
                <a:lnTo>
                  <a:pt x="3124279" y="304799"/>
                </a:lnTo>
                <a:lnTo>
                  <a:pt x="3162845" y="317499"/>
                </a:lnTo>
                <a:lnTo>
                  <a:pt x="3200839" y="342899"/>
                </a:lnTo>
                <a:lnTo>
                  <a:pt x="3238248" y="368299"/>
                </a:lnTo>
                <a:lnTo>
                  <a:pt x="3275059" y="406399"/>
                </a:lnTo>
                <a:lnTo>
                  <a:pt x="3311261" y="431799"/>
                </a:lnTo>
                <a:lnTo>
                  <a:pt x="3346840" y="457199"/>
                </a:lnTo>
                <a:lnTo>
                  <a:pt x="3381786" y="482599"/>
                </a:lnTo>
                <a:lnTo>
                  <a:pt x="3416084" y="507999"/>
                </a:lnTo>
                <a:lnTo>
                  <a:pt x="3449723" y="546099"/>
                </a:lnTo>
                <a:lnTo>
                  <a:pt x="3482691" y="571499"/>
                </a:lnTo>
                <a:lnTo>
                  <a:pt x="3514974" y="609599"/>
                </a:lnTo>
                <a:lnTo>
                  <a:pt x="3546562" y="634999"/>
                </a:lnTo>
                <a:lnTo>
                  <a:pt x="3577441" y="673099"/>
                </a:lnTo>
                <a:lnTo>
                  <a:pt x="3607599" y="711199"/>
                </a:lnTo>
                <a:lnTo>
                  <a:pt x="3637023" y="736599"/>
                </a:lnTo>
                <a:lnTo>
                  <a:pt x="3665702" y="774699"/>
                </a:lnTo>
                <a:lnTo>
                  <a:pt x="3693623" y="812799"/>
                </a:lnTo>
                <a:lnTo>
                  <a:pt x="3720774" y="850899"/>
                </a:lnTo>
                <a:lnTo>
                  <a:pt x="3747141" y="888999"/>
                </a:lnTo>
                <a:lnTo>
                  <a:pt x="3772714" y="914399"/>
                </a:lnTo>
                <a:lnTo>
                  <a:pt x="3797479" y="952499"/>
                </a:lnTo>
                <a:lnTo>
                  <a:pt x="3821425" y="990599"/>
                </a:lnTo>
                <a:lnTo>
                  <a:pt x="3844538" y="1041399"/>
                </a:lnTo>
                <a:lnTo>
                  <a:pt x="3866807" y="1079499"/>
                </a:lnTo>
                <a:lnTo>
                  <a:pt x="3888218" y="1117599"/>
                </a:lnTo>
                <a:lnTo>
                  <a:pt x="3908761" y="1155699"/>
                </a:lnTo>
                <a:lnTo>
                  <a:pt x="3928422" y="1193799"/>
                </a:lnTo>
                <a:lnTo>
                  <a:pt x="3947189" y="1244599"/>
                </a:lnTo>
                <a:lnTo>
                  <a:pt x="3965050" y="1282699"/>
                </a:lnTo>
                <a:lnTo>
                  <a:pt x="3981991" y="1320799"/>
                </a:lnTo>
                <a:lnTo>
                  <a:pt x="3998002" y="1371599"/>
                </a:lnTo>
                <a:lnTo>
                  <a:pt x="4013070" y="1409699"/>
                </a:lnTo>
                <a:lnTo>
                  <a:pt x="4027182" y="1460499"/>
                </a:lnTo>
                <a:lnTo>
                  <a:pt x="4040325" y="1498599"/>
                </a:lnTo>
                <a:lnTo>
                  <a:pt x="4052488" y="1549399"/>
                </a:lnTo>
                <a:lnTo>
                  <a:pt x="4063659" y="1587499"/>
                </a:lnTo>
                <a:lnTo>
                  <a:pt x="4073824" y="1638299"/>
                </a:lnTo>
                <a:lnTo>
                  <a:pt x="4082972" y="1676399"/>
                </a:lnTo>
                <a:lnTo>
                  <a:pt x="4091089" y="1727199"/>
                </a:lnTo>
                <a:lnTo>
                  <a:pt x="4098165" y="1777999"/>
                </a:lnTo>
                <a:lnTo>
                  <a:pt x="4104186" y="1816099"/>
                </a:lnTo>
                <a:lnTo>
                  <a:pt x="4109139" y="1866899"/>
                </a:lnTo>
                <a:lnTo>
                  <a:pt x="4113014" y="1917699"/>
                </a:lnTo>
                <a:lnTo>
                  <a:pt x="4115797" y="1968499"/>
                </a:lnTo>
                <a:lnTo>
                  <a:pt x="4117475" y="2019299"/>
                </a:lnTo>
                <a:lnTo>
                  <a:pt x="4118038" y="2057399"/>
                </a:lnTo>
                <a:lnTo>
                  <a:pt x="4117475" y="2108199"/>
                </a:lnTo>
                <a:lnTo>
                  <a:pt x="4115797" y="2158999"/>
                </a:lnTo>
                <a:lnTo>
                  <a:pt x="4113014" y="2209799"/>
                </a:lnTo>
                <a:lnTo>
                  <a:pt x="4109139" y="2260599"/>
                </a:lnTo>
                <a:lnTo>
                  <a:pt x="4104186" y="2298699"/>
                </a:lnTo>
                <a:lnTo>
                  <a:pt x="4098165" y="2349499"/>
                </a:lnTo>
                <a:lnTo>
                  <a:pt x="4091089" y="2400299"/>
                </a:lnTo>
                <a:lnTo>
                  <a:pt x="4082972" y="2438399"/>
                </a:lnTo>
                <a:lnTo>
                  <a:pt x="4073824" y="2489199"/>
                </a:lnTo>
                <a:lnTo>
                  <a:pt x="4063659" y="2539999"/>
                </a:lnTo>
                <a:lnTo>
                  <a:pt x="4052488" y="2578099"/>
                </a:lnTo>
                <a:lnTo>
                  <a:pt x="4040325" y="2628899"/>
                </a:lnTo>
                <a:lnTo>
                  <a:pt x="4027182" y="2666999"/>
                </a:lnTo>
                <a:lnTo>
                  <a:pt x="4013070" y="2717799"/>
                </a:lnTo>
                <a:lnTo>
                  <a:pt x="3998002" y="2755899"/>
                </a:lnTo>
                <a:lnTo>
                  <a:pt x="3981991" y="2793999"/>
                </a:lnTo>
                <a:lnTo>
                  <a:pt x="3965050" y="2844799"/>
                </a:lnTo>
                <a:lnTo>
                  <a:pt x="3947189" y="2882899"/>
                </a:lnTo>
                <a:lnTo>
                  <a:pt x="3928422" y="2920999"/>
                </a:lnTo>
                <a:lnTo>
                  <a:pt x="3908761" y="2971799"/>
                </a:lnTo>
                <a:lnTo>
                  <a:pt x="3888218" y="3009899"/>
                </a:lnTo>
                <a:lnTo>
                  <a:pt x="3866807" y="3047999"/>
                </a:lnTo>
                <a:lnTo>
                  <a:pt x="3844538" y="3086099"/>
                </a:lnTo>
                <a:lnTo>
                  <a:pt x="3821425" y="3124199"/>
                </a:lnTo>
                <a:lnTo>
                  <a:pt x="3797479" y="3162299"/>
                </a:lnTo>
                <a:lnTo>
                  <a:pt x="3772714" y="3200399"/>
                </a:lnTo>
                <a:lnTo>
                  <a:pt x="3747141" y="3238499"/>
                </a:lnTo>
                <a:lnTo>
                  <a:pt x="3720774" y="3276599"/>
                </a:lnTo>
                <a:lnTo>
                  <a:pt x="3693623" y="3314699"/>
                </a:lnTo>
                <a:lnTo>
                  <a:pt x="3665702" y="3352799"/>
                </a:lnTo>
                <a:lnTo>
                  <a:pt x="3637023" y="3390899"/>
                </a:lnTo>
                <a:lnTo>
                  <a:pt x="3607599" y="3416299"/>
                </a:lnTo>
                <a:lnTo>
                  <a:pt x="3604354" y="3420398"/>
                </a:lnTo>
                <a:close/>
              </a:path>
            </a:pathLst>
          </a:custGeom>
          <a:solidFill>
            <a:srgbClr val="8B5CF5">
              <a:alpha val="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23607" y="562794"/>
            <a:ext cx="343535" cy="20955"/>
          </a:xfrm>
          <a:custGeom>
            <a:avLst/>
            <a:gdLst/>
            <a:ahLst/>
            <a:cxnLst/>
            <a:rect l="l" t="t" r="r" b="b"/>
            <a:pathLst>
              <a:path w="343534" h="20954">
                <a:moveTo>
                  <a:pt x="343163" y="20593"/>
                </a:moveTo>
                <a:lnTo>
                  <a:pt x="0" y="20593"/>
                </a:lnTo>
                <a:lnTo>
                  <a:pt x="0" y="0"/>
                </a:lnTo>
                <a:lnTo>
                  <a:pt x="343163" y="0"/>
                </a:lnTo>
                <a:lnTo>
                  <a:pt x="343163" y="20593"/>
                </a:lnTo>
                <a:close/>
              </a:path>
            </a:pathLst>
          </a:custGeom>
          <a:solidFill>
            <a:srgbClr val="00D4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41602" y="475256"/>
            <a:ext cx="145034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00D4AA"/>
                </a:solidFill>
                <a:latin typeface="Calibri"/>
                <a:cs typeface="Calibri"/>
              </a:rPr>
              <a:t>DIFFERENTIATION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1D31"/>
                </a:solidFill>
              </a:rPr>
              <a:t>Others</a:t>
            </a:r>
            <a:r>
              <a:rPr dirty="0" spc="-120">
                <a:solidFill>
                  <a:srgbClr val="001D31"/>
                </a:solidFill>
              </a:rPr>
              <a:t> </a:t>
            </a:r>
            <a:r>
              <a:rPr dirty="0">
                <a:solidFill>
                  <a:srgbClr val="001D31"/>
                </a:solidFill>
              </a:rPr>
              <a:t>provide</a:t>
            </a:r>
            <a:r>
              <a:rPr dirty="0" spc="-120">
                <a:solidFill>
                  <a:srgbClr val="001D31"/>
                </a:solidFill>
              </a:rPr>
              <a:t> </a:t>
            </a:r>
            <a:r>
              <a:rPr dirty="0">
                <a:solidFill>
                  <a:srgbClr val="001D31"/>
                </a:solidFill>
              </a:rPr>
              <a:t>tools.</a:t>
            </a:r>
            <a:r>
              <a:rPr dirty="0" spc="-120">
                <a:solidFill>
                  <a:srgbClr val="001D31"/>
                </a:solidFill>
              </a:rPr>
              <a:t> </a:t>
            </a:r>
            <a:r>
              <a:rPr dirty="0">
                <a:solidFill>
                  <a:srgbClr val="001D31"/>
                </a:solidFill>
              </a:rPr>
              <a:t>Follei</a:t>
            </a:r>
            <a:r>
              <a:rPr dirty="0" spc="-120">
                <a:solidFill>
                  <a:srgbClr val="001D31"/>
                </a:solidFill>
              </a:rPr>
              <a:t> </a:t>
            </a:r>
            <a:r>
              <a:rPr dirty="0">
                <a:solidFill>
                  <a:srgbClr val="001D31"/>
                </a:solidFill>
              </a:rPr>
              <a:t>provides</a:t>
            </a:r>
            <a:r>
              <a:rPr dirty="0" spc="-120">
                <a:solidFill>
                  <a:srgbClr val="001D31"/>
                </a:solidFill>
              </a:rPr>
              <a:t> </a:t>
            </a:r>
            <a:r>
              <a:rPr dirty="0" spc="-10">
                <a:solidFill>
                  <a:srgbClr val="001D31"/>
                </a:solidFill>
              </a:rPr>
              <a:t>workers.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657743" y="2030410"/>
            <a:ext cx="8293734" cy="6234430"/>
            <a:chOff x="657743" y="2030410"/>
            <a:chExt cx="8293734" cy="6234430"/>
          </a:xfrm>
        </p:grpSpPr>
        <p:sp>
          <p:nvSpPr>
            <p:cNvPr id="7" name="object 7"/>
            <p:cNvSpPr/>
            <p:nvPr/>
          </p:nvSpPr>
          <p:spPr>
            <a:xfrm>
              <a:off x="676808" y="2049475"/>
              <a:ext cx="8252459" cy="6196330"/>
            </a:xfrm>
            <a:custGeom>
              <a:avLst/>
              <a:gdLst/>
              <a:ahLst/>
              <a:cxnLst/>
              <a:rect l="l" t="t" r="r" b="b"/>
              <a:pathLst>
                <a:path w="8252459" h="6196330">
                  <a:moveTo>
                    <a:pt x="7945278" y="6196088"/>
                  </a:moveTo>
                  <a:lnTo>
                    <a:pt x="309848" y="6196088"/>
                  </a:lnTo>
                  <a:lnTo>
                    <a:pt x="264052" y="6192748"/>
                  </a:lnTo>
                  <a:lnTo>
                    <a:pt x="220345" y="6182992"/>
                  </a:lnTo>
                  <a:lnTo>
                    <a:pt x="179206" y="6167315"/>
                  </a:lnTo>
                  <a:lnTo>
                    <a:pt x="141115" y="6146199"/>
                  </a:lnTo>
                  <a:lnTo>
                    <a:pt x="106548" y="6120120"/>
                  </a:lnTo>
                  <a:lnTo>
                    <a:pt x="75987" y="6089558"/>
                  </a:lnTo>
                  <a:lnTo>
                    <a:pt x="49908" y="6054992"/>
                  </a:lnTo>
                  <a:lnTo>
                    <a:pt x="28791" y="6016900"/>
                  </a:lnTo>
                  <a:lnTo>
                    <a:pt x="13115" y="5975762"/>
                  </a:lnTo>
                  <a:lnTo>
                    <a:pt x="3358" y="5932055"/>
                  </a:lnTo>
                  <a:lnTo>
                    <a:pt x="0" y="5886259"/>
                  </a:lnTo>
                  <a:lnTo>
                    <a:pt x="0" y="309848"/>
                  </a:lnTo>
                  <a:lnTo>
                    <a:pt x="3358" y="264052"/>
                  </a:lnTo>
                  <a:lnTo>
                    <a:pt x="13115" y="220345"/>
                  </a:lnTo>
                  <a:lnTo>
                    <a:pt x="28791" y="179206"/>
                  </a:lnTo>
                  <a:lnTo>
                    <a:pt x="49908" y="141115"/>
                  </a:lnTo>
                  <a:lnTo>
                    <a:pt x="75987" y="106548"/>
                  </a:lnTo>
                  <a:lnTo>
                    <a:pt x="106548" y="75987"/>
                  </a:lnTo>
                  <a:lnTo>
                    <a:pt x="141115" y="49908"/>
                  </a:lnTo>
                  <a:lnTo>
                    <a:pt x="179206" y="28791"/>
                  </a:lnTo>
                  <a:lnTo>
                    <a:pt x="220345" y="13115"/>
                  </a:lnTo>
                  <a:lnTo>
                    <a:pt x="264052" y="3358"/>
                  </a:lnTo>
                  <a:lnTo>
                    <a:pt x="309848" y="0"/>
                  </a:lnTo>
                  <a:lnTo>
                    <a:pt x="7945278" y="0"/>
                  </a:lnTo>
                  <a:lnTo>
                    <a:pt x="7991053" y="3358"/>
                  </a:lnTo>
                  <a:lnTo>
                    <a:pt x="8034746" y="13115"/>
                  </a:lnTo>
                  <a:lnTo>
                    <a:pt x="8075879" y="28791"/>
                  </a:lnTo>
                  <a:lnTo>
                    <a:pt x="8113969" y="49908"/>
                  </a:lnTo>
                  <a:lnTo>
                    <a:pt x="8148539" y="75987"/>
                  </a:lnTo>
                  <a:lnTo>
                    <a:pt x="8179107" y="106548"/>
                  </a:lnTo>
                  <a:lnTo>
                    <a:pt x="8205194" y="141115"/>
                  </a:lnTo>
                  <a:lnTo>
                    <a:pt x="8226319" y="179206"/>
                  </a:lnTo>
                  <a:lnTo>
                    <a:pt x="8242003" y="220345"/>
                  </a:lnTo>
                  <a:lnTo>
                    <a:pt x="8251766" y="264052"/>
                  </a:lnTo>
                  <a:lnTo>
                    <a:pt x="8251933" y="266335"/>
                  </a:lnTo>
                  <a:lnTo>
                    <a:pt x="8251933" y="5929737"/>
                  </a:lnTo>
                  <a:lnTo>
                    <a:pt x="8241998" y="5975762"/>
                  </a:lnTo>
                  <a:lnTo>
                    <a:pt x="8226312" y="6016900"/>
                  </a:lnTo>
                  <a:lnTo>
                    <a:pt x="8205186" y="6054992"/>
                  </a:lnTo>
                  <a:lnTo>
                    <a:pt x="8179101" y="6089558"/>
                  </a:lnTo>
                  <a:lnTo>
                    <a:pt x="8148535" y="6120120"/>
                  </a:lnTo>
                  <a:lnTo>
                    <a:pt x="8113968" y="6146199"/>
                  </a:lnTo>
                  <a:lnTo>
                    <a:pt x="8075879" y="6167315"/>
                  </a:lnTo>
                  <a:lnTo>
                    <a:pt x="8034746" y="6182992"/>
                  </a:lnTo>
                  <a:lnTo>
                    <a:pt x="7991045" y="6192748"/>
                  </a:lnTo>
                  <a:lnTo>
                    <a:pt x="7945278" y="6196088"/>
                  </a:lnTo>
                  <a:close/>
                </a:path>
              </a:pathLst>
            </a:custGeom>
            <a:solidFill>
              <a:srgbClr val="290F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76808" y="2049475"/>
              <a:ext cx="8255634" cy="6196330"/>
            </a:xfrm>
            <a:custGeom>
              <a:avLst/>
              <a:gdLst/>
              <a:ahLst/>
              <a:cxnLst/>
              <a:rect l="l" t="t" r="r" b="b"/>
              <a:pathLst>
                <a:path w="8255634" h="6196330">
                  <a:moveTo>
                    <a:pt x="0" y="309842"/>
                  </a:moveTo>
                  <a:lnTo>
                    <a:pt x="3360" y="264043"/>
                  </a:lnTo>
                  <a:lnTo>
                    <a:pt x="13119" y="220334"/>
                  </a:lnTo>
                  <a:lnTo>
                    <a:pt x="28798" y="179194"/>
                  </a:lnTo>
                  <a:lnTo>
                    <a:pt x="49918" y="141101"/>
                  </a:lnTo>
                  <a:lnTo>
                    <a:pt x="76000" y="106535"/>
                  </a:lnTo>
                  <a:lnTo>
                    <a:pt x="106565" y="75974"/>
                  </a:lnTo>
                  <a:lnTo>
                    <a:pt x="141134" y="49897"/>
                  </a:lnTo>
                  <a:lnTo>
                    <a:pt x="179227" y="28783"/>
                  </a:lnTo>
                  <a:lnTo>
                    <a:pt x="220367" y="13110"/>
                  </a:lnTo>
                  <a:lnTo>
                    <a:pt x="264075" y="3356"/>
                  </a:lnTo>
                  <a:lnTo>
                    <a:pt x="309870" y="0"/>
                  </a:lnTo>
                  <a:lnTo>
                    <a:pt x="7945206" y="0"/>
                  </a:lnTo>
                  <a:lnTo>
                    <a:pt x="7990983" y="3343"/>
                  </a:lnTo>
                  <a:lnTo>
                    <a:pt x="8034682" y="13091"/>
                  </a:lnTo>
                  <a:lnTo>
                    <a:pt x="8075822" y="28760"/>
                  </a:lnTo>
                  <a:lnTo>
                    <a:pt x="8113921" y="49872"/>
                  </a:lnTo>
                  <a:lnTo>
                    <a:pt x="8148501" y="75949"/>
                  </a:lnTo>
                  <a:lnTo>
                    <a:pt x="8179079" y="106512"/>
                  </a:lnTo>
                  <a:lnTo>
                    <a:pt x="8205175" y="141081"/>
                  </a:lnTo>
                  <a:lnTo>
                    <a:pt x="8226309" y="179179"/>
                  </a:lnTo>
                  <a:lnTo>
                    <a:pt x="8241999" y="220326"/>
                  </a:lnTo>
                  <a:lnTo>
                    <a:pt x="8251764" y="264043"/>
                  </a:lnTo>
                  <a:lnTo>
                    <a:pt x="8255126" y="309844"/>
                  </a:lnTo>
                  <a:lnTo>
                    <a:pt x="8255131" y="5886192"/>
                  </a:lnTo>
                  <a:lnTo>
                    <a:pt x="8251779" y="5931979"/>
                  </a:lnTo>
                  <a:lnTo>
                    <a:pt x="8242025" y="5975687"/>
                  </a:lnTo>
                  <a:lnTo>
                    <a:pt x="8226348" y="6016834"/>
                  </a:lnTo>
                  <a:lnTo>
                    <a:pt x="8205226" y="6054938"/>
                  </a:lnTo>
                  <a:lnTo>
                    <a:pt x="8179139" y="6089519"/>
                  </a:lnTo>
                  <a:lnTo>
                    <a:pt x="8148566" y="6120096"/>
                  </a:lnTo>
                  <a:lnTo>
                    <a:pt x="8113986" y="6146188"/>
                  </a:lnTo>
                  <a:lnTo>
                    <a:pt x="8075880" y="6167314"/>
                  </a:lnTo>
                  <a:lnTo>
                    <a:pt x="8034727" y="6182995"/>
                  </a:lnTo>
                  <a:lnTo>
                    <a:pt x="7991007" y="6192751"/>
                  </a:lnTo>
                  <a:lnTo>
                    <a:pt x="7945206" y="6196107"/>
                  </a:lnTo>
                  <a:lnTo>
                    <a:pt x="309864" y="6196108"/>
                  </a:lnTo>
                  <a:lnTo>
                    <a:pt x="264057" y="6192749"/>
                  </a:lnTo>
                  <a:lnTo>
                    <a:pt x="220340" y="6182989"/>
                  </a:lnTo>
                  <a:lnTo>
                    <a:pt x="179193" y="6167307"/>
                  </a:lnTo>
                  <a:lnTo>
                    <a:pt x="141094" y="6146183"/>
                  </a:lnTo>
                  <a:lnTo>
                    <a:pt x="106523" y="6120094"/>
                  </a:lnTo>
                  <a:lnTo>
                    <a:pt x="75960" y="6089522"/>
                  </a:lnTo>
                  <a:lnTo>
                    <a:pt x="49882" y="6054945"/>
                  </a:lnTo>
                  <a:lnTo>
                    <a:pt x="28770" y="6016844"/>
                  </a:lnTo>
                  <a:lnTo>
                    <a:pt x="13101" y="5975697"/>
                  </a:lnTo>
                  <a:lnTo>
                    <a:pt x="3353" y="5931984"/>
                  </a:lnTo>
                  <a:lnTo>
                    <a:pt x="0" y="5886186"/>
                  </a:lnTo>
                  <a:lnTo>
                    <a:pt x="0" y="309842"/>
                  </a:lnTo>
                </a:path>
              </a:pathLst>
            </a:custGeom>
            <a:ln w="38129">
              <a:solidFill>
                <a:srgbClr val="FF444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039612" y="2259736"/>
            <a:ext cx="2185670" cy="277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b="1">
                <a:solidFill>
                  <a:srgbClr val="FF6666"/>
                </a:solidFill>
                <a:latin typeface="Calibri"/>
                <a:cs typeface="Calibri"/>
              </a:rPr>
              <a:t>EVERY</a:t>
            </a:r>
            <a:r>
              <a:rPr dirty="0" sz="1650" spc="-40" b="1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 b="1">
                <a:solidFill>
                  <a:srgbClr val="FF6666"/>
                </a:solidFill>
                <a:latin typeface="Calibri"/>
                <a:cs typeface="Calibri"/>
              </a:rPr>
              <a:t>EXISTING</a:t>
            </a:r>
            <a:r>
              <a:rPr dirty="0" sz="1650" spc="-40" b="1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 b="1">
                <a:solidFill>
                  <a:srgbClr val="FF6666"/>
                </a:solidFill>
                <a:latin typeface="Calibri"/>
                <a:cs typeface="Calibri"/>
              </a:rPr>
              <a:t>AI</a:t>
            </a:r>
            <a:r>
              <a:rPr dirty="0" sz="1650" spc="-35" b="1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 spc="-20" b="1">
                <a:solidFill>
                  <a:srgbClr val="FF6666"/>
                </a:solidFill>
                <a:latin typeface="Calibri"/>
                <a:cs typeface="Calibri"/>
              </a:rPr>
              <a:t>TOOL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9612" y="2847746"/>
            <a:ext cx="5020945" cy="3130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850" spc="254">
                <a:solidFill>
                  <a:srgbClr val="FF6666"/>
                </a:solidFill>
                <a:latin typeface="Segoe UI Symbol"/>
                <a:cs typeface="Segoe UI Symbol"/>
              </a:rPr>
              <a:t>❌</a:t>
            </a:r>
            <a:r>
              <a:rPr dirty="0" sz="1850" spc="120">
                <a:solidFill>
                  <a:srgbClr val="FF6666"/>
                </a:solidFill>
                <a:latin typeface="Segoe UI Symbol"/>
                <a:cs typeface="Segoe UI Symbol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Generic</a:t>
            </a:r>
            <a:r>
              <a:rPr dirty="0" sz="1650" spc="-30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—</a:t>
            </a:r>
            <a:r>
              <a:rPr dirty="0" sz="1650" spc="-35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knows</a:t>
            </a:r>
            <a:r>
              <a:rPr dirty="0" sz="1650" spc="-35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nothing</a:t>
            </a:r>
            <a:r>
              <a:rPr dirty="0" sz="1650" spc="-30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specific</a:t>
            </a:r>
            <a:r>
              <a:rPr dirty="0" sz="1650" spc="-35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about</a:t>
            </a:r>
            <a:r>
              <a:rPr dirty="0" sz="1650" spc="-30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your</a:t>
            </a:r>
            <a:r>
              <a:rPr dirty="0" sz="1650" spc="-35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FF6666"/>
                </a:solidFill>
                <a:latin typeface="Calibri"/>
                <a:cs typeface="Calibri"/>
              </a:rPr>
              <a:t>business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39612" y="3602716"/>
            <a:ext cx="4957445" cy="3130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850" spc="254">
                <a:solidFill>
                  <a:srgbClr val="FF6666"/>
                </a:solidFill>
                <a:latin typeface="Segoe UI Symbol"/>
                <a:cs typeface="Segoe UI Symbol"/>
              </a:rPr>
              <a:t>❌</a:t>
            </a:r>
            <a:r>
              <a:rPr dirty="0" sz="1850" spc="125">
                <a:solidFill>
                  <a:srgbClr val="FF6666"/>
                </a:solidFill>
                <a:latin typeface="Segoe UI Symbol"/>
                <a:cs typeface="Segoe UI Symbol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Stateless</a:t>
            </a:r>
            <a:r>
              <a:rPr dirty="0" sz="1650" spc="-35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—</a:t>
            </a:r>
            <a:r>
              <a:rPr dirty="0" sz="1650" spc="-30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no</a:t>
            </a:r>
            <a:r>
              <a:rPr dirty="0" sz="1650" spc="-30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memory</a:t>
            </a:r>
            <a:r>
              <a:rPr dirty="0" sz="1650" spc="-35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of</a:t>
            </a:r>
            <a:r>
              <a:rPr dirty="0" sz="1650" spc="-30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past</a:t>
            </a:r>
            <a:r>
              <a:rPr dirty="0" sz="1650" spc="-35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customer</a:t>
            </a:r>
            <a:r>
              <a:rPr dirty="0" sz="1650" spc="-30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FF6666"/>
                </a:solidFill>
                <a:latin typeface="Calibri"/>
                <a:cs typeface="Calibri"/>
              </a:rPr>
              <a:t>interactions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39612" y="4357687"/>
            <a:ext cx="5063490" cy="3130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850" spc="254">
                <a:solidFill>
                  <a:srgbClr val="FF6666"/>
                </a:solidFill>
                <a:latin typeface="Segoe UI Symbol"/>
                <a:cs typeface="Segoe UI Symbol"/>
              </a:rPr>
              <a:t>❌</a:t>
            </a:r>
            <a:r>
              <a:rPr dirty="0" sz="1850" spc="130">
                <a:solidFill>
                  <a:srgbClr val="FF6666"/>
                </a:solidFill>
                <a:latin typeface="Segoe UI Symbol"/>
                <a:cs typeface="Segoe UI Symbol"/>
              </a:rPr>
              <a:t> </a:t>
            </a:r>
            <a:r>
              <a:rPr dirty="0" sz="1650" spc="-10">
                <a:solidFill>
                  <a:srgbClr val="FF6666"/>
                </a:solidFill>
                <a:latin typeface="Calibri"/>
                <a:cs typeface="Calibri"/>
              </a:rPr>
              <a:t>Single-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purpose</a:t>
            </a:r>
            <a:r>
              <a:rPr dirty="0" sz="1650" spc="-25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—</a:t>
            </a:r>
            <a:r>
              <a:rPr dirty="0" sz="1650" spc="-30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solves</a:t>
            </a:r>
            <a:r>
              <a:rPr dirty="0" sz="1650" spc="-25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one</a:t>
            </a:r>
            <a:r>
              <a:rPr dirty="0" sz="1650" spc="-30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problem,</a:t>
            </a:r>
            <a:r>
              <a:rPr dirty="0" sz="1650" spc="-30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blind</a:t>
            </a:r>
            <a:r>
              <a:rPr dirty="0" sz="1650" spc="-25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to</a:t>
            </a:r>
            <a:r>
              <a:rPr dirty="0" sz="1650" spc="-30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the</a:t>
            </a:r>
            <a:r>
              <a:rPr dirty="0" sz="1650" spc="-25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 spc="-20">
                <a:solidFill>
                  <a:srgbClr val="FF6666"/>
                </a:solidFill>
                <a:latin typeface="Calibri"/>
                <a:cs typeface="Calibri"/>
              </a:rPr>
              <a:t>rest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39612" y="5112657"/>
            <a:ext cx="5431790" cy="3130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850" spc="254">
                <a:solidFill>
                  <a:srgbClr val="FF6666"/>
                </a:solidFill>
                <a:latin typeface="Segoe UI Symbol"/>
                <a:cs typeface="Segoe UI Symbol"/>
              </a:rPr>
              <a:t>❌</a:t>
            </a:r>
            <a:r>
              <a:rPr dirty="0" sz="1850" spc="105">
                <a:solidFill>
                  <a:srgbClr val="FF6666"/>
                </a:solidFill>
                <a:latin typeface="Segoe UI Symbol"/>
                <a:cs typeface="Segoe UI Symbol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No</a:t>
            </a:r>
            <a:r>
              <a:rPr dirty="0" sz="1650" spc="-45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execution</a:t>
            </a:r>
            <a:r>
              <a:rPr dirty="0" sz="1650" spc="-45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—</a:t>
            </a:r>
            <a:r>
              <a:rPr dirty="0" sz="1650" spc="-40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answers</a:t>
            </a:r>
            <a:r>
              <a:rPr dirty="0" sz="1650" spc="-45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questions,</a:t>
            </a:r>
            <a:r>
              <a:rPr dirty="0" sz="1650" spc="-40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doesn't</a:t>
            </a:r>
            <a:r>
              <a:rPr dirty="0" sz="1650" spc="-45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complete</a:t>
            </a:r>
            <a:r>
              <a:rPr dirty="0" sz="1650" spc="-40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 spc="-20">
                <a:solidFill>
                  <a:srgbClr val="FF6666"/>
                </a:solidFill>
                <a:latin typeface="Calibri"/>
                <a:cs typeface="Calibri"/>
              </a:rPr>
              <a:t>work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39612" y="5867628"/>
            <a:ext cx="6412865" cy="3130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850" spc="254">
                <a:solidFill>
                  <a:srgbClr val="FF6666"/>
                </a:solidFill>
                <a:latin typeface="Segoe UI Symbol"/>
                <a:cs typeface="Segoe UI Symbol"/>
              </a:rPr>
              <a:t>❌</a:t>
            </a:r>
            <a:r>
              <a:rPr dirty="0" sz="1850" spc="130">
                <a:solidFill>
                  <a:srgbClr val="FF6666"/>
                </a:solidFill>
                <a:latin typeface="Segoe UI Symbol"/>
                <a:cs typeface="Segoe UI Symbol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Manually</a:t>
            </a:r>
            <a:r>
              <a:rPr dirty="0" sz="1650" spc="-30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maintained</a:t>
            </a:r>
            <a:r>
              <a:rPr dirty="0" sz="1650" spc="-25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—</a:t>
            </a:r>
            <a:r>
              <a:rPr dirty="0" sz="1650" spc="-30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rules</a:t>
            </a:r>
            <a:r>
              <a:rPr dirty="0" sz="1650" spc="-30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must</a:t>
            </a:r>
            <a:r>
              <a:rPr dirty="0" sz="1650" spc="-25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be</a:t>
            </a:r>
            <a:r>
              <a:rPr dirty="0" sz="1650" spc="-30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written</a:t>
            </a:r>
            <a:r>
              <a:rPr dirty="0" sz="1650" spc="-25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and</a:t>
            </a:r>
            <a:r>
              <a:rPr dirty="0" sz="1650" spc="-30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updated</a:t>
            </a:r>
            <a:r>
              <a:rPr dirty="0" sz="1650" spc="-30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by</a:t>
            </a:r>
            <a:r>
              <a:rPr dirty="0" sz="1650" spc="-25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FF6666"/>
                </a:solidFill>
                <a:latin typeface="Calibri"/>
                <a:cs typeface="Calibri"/>
              </a:rPr>
              <a:t>humans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39612" y="6622598"/>
            <a:ext cx="5464175" cy="3130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850" spc="254">
                <a:solidFill>
                  <a:srgbClr val="FF6666"/>
                </a:solidFill>
                <a:latin typeface="Segoe UI Symbol"/>
                <a:cs typeface="Segoe UI Symbol"/>
              </a:rPr>
              <a:t>❌</a:t>
            </a:r>
            <a:r>
              <a:rPr dirty="0" sz="1850" spc="135">
                <a:solidFill>
                  <a:srgbClr val="FF6666"/>
                </a:solidFill>
                <a:latin typeface="Segoe UI Symbol"/>
                <a:cs typeface="Segoe UI Symbol"/>
              </a:rPr>
              <a:t> </a:t>
            </a:r>
            <a:r>
              <a:rPr dirty="0" sz="1650" spc="-10">
                <a:solidFill>
                  <a:srgbClr val="FF6666"/>
                </a:solidFill>
                <a:latin typeface="Calibri"/>
                <a:cs typeface="Calibri"/>
              </a:rPr>
              <a:t>Channel-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isolated</a:t>
            </a:r>
            <a:r>
              <a:rPr dirty="0" sz="1650" spc="-20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—</a:t>
            </a:r>
            <a:r>
              <a:rPr dirty="0" sz="1650" spc="-25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chat</a:t>
            </a:r>
            <a:r>
              <a:rPr dirty="0" sz="1650" spc="-25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lives</a:t>
            </a:r>
            <a:r>
              <a:rPr dirty="0" sz="1650" spc="-25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in</a:t>
            </a:r>
            <a:r>
              <a:rPr dirty="0" sz="1650" spc="-20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one</a:t>
            </a:r>
            <a:r>
              <a:rPr dirty="0" sz="1650" spc="-25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place,</a:t>
            </a:r>
            <a:r>
              <a:rPr dirty="0" sz="1650" spc="-25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6666"/>
                </a:solidFill>
                <a:latin typeface="Calibri"/>
                <a:cs typeface="Calibri"/>
              </a:rPr>
              <a:t>email</a:t>
            </a:r>
            <a:r>
              <a:rPr dirty="0" sz="1650" spc="-25">
                <a:solidFill>
                  <a:srgbClr val="FF6666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FF6666"/>
                </a:solidFill>
                <a:latin typeface="Calibri"/>
                <a:cs typeface="Calibri"/>
              </a:rPr>
              <a:t>elsewhere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305576" y="2030410"/>
            <a:ext cx="8293734" cy="6234430"/>
            <a:chOff x="9305576" y="2030410"/>
            <a:chExt cx="8293734" cy="6234430"/>
          </a:xfrm>
        </p:grpSpPr>
        <p:sp>
          <p:nvSpPr>
            <p:cNvPr id="17" name="object 17"/>
            <p:cNvSpPr/>
            <p:nvPr/>
          </p:nvSpPr>
          <p:spPr>
            <a:xfrm>
              <a:off x="9324641" y="2049475"/>
              <a:ext cx="8252459" cy="6196330"/>
            </a:xfrm>
            <a:custGeom>
              <a:avLst/>
              <a:gdLst/>
              <a:ahLst/>
              <a:cxnLst/>
              <a:rect l="l" t="t" r="r" b="b"/>
              <a:pathLst>
                <a:path w="8252459" h="6196330">
                  <a:moveTo>
                    <a:pt x="7945278" y="6196088"/>
                  </a:moveTo>
                  <a:lnTo>
                    <a:pt x="309848" y="6196088"/>
                  </a:lnTo>
                  <a:lnTo>
                    <a:pt x="264052" y="6192748"/>
                  </a:lnTo>
                  <a:lnTo>
                    <a:pt x="220345" y="6182992"/>
                  </a:lnTo>
                  <a:lnTo>
                    <a:pt x="179206" y="6167315"/>
                  </a:lnTo>
                  <a:lnTo>
                    <a:pt x="141115" y="6146199"/>
                  </a:lnTo>
                  <a:lnTo>
                    <a:pt x="106549" y="6120120"/>
                  </a:lnTo>
                  <a:lnTo>
                    <a:pt x="75987" y="6089558"/>
                  </a:lnTo>
                  <a:lnTo>
                    <a:pt x="49908" y="6054992"/>
                  </a:lnTo>
                  <a:lnTo>
                    <a:pt x="28791" y="6016900"/>
                  </a:lnTo>
                  <a:lnTo>
                    <a:pt x="13115" y="5975762"/>
                  </a:lnTo>
                  <a:lnTo>
                    <a:pt x="3358" y="5932055"/>
                  </a:lnTo>
                  <a:lnTo>
                    <a:pt x="0" y="5886259"/>
                  </a:lnTo>
                  <a:lnTo>
                    <a:pt x="0" y="309848"/>
                  </a:lnTo>
                  <a:lnTo>
                    <a:pt x="3358" y="264052"/>
                  </a:lnTo>
                  <a:lnTo>
                    <a:pt x="13115" y="220345"/>
                  </a:lnTo>
                  <a:lnTo>
                    <a:pt x="28791" y="179206"/>
                  </a:lnTo>
                  <a:lnTo>
                    <a:pt x="49908" y="141115"/>
                  </a:lnTo>
                  <a:lnTo>
                    <a:pt x="75987" y="106548"/>
                  </a:lnTo>
                  <a:lnTo>
                    <a:pt x="106549" y="75987"/>
                  </a:lnTo>
                  <a:lnTo>
                    <a:pt x="141115" y="49908"/>
                  </a:lnTo>
                  <a:lnTo>
                    <a:pt x="179206" y="28791"/>
                  </a:lnTo>
                  <a:lnTo>
                    <a:pt x="220345" y="13115"/>
                  </a:lnTo>
                  <a:lnTo>
                    <a:pt x="264052" y="3358"/>
                  </a:lnTo>
                  <a:lnTo>
                    <a:pt x="309848" y="0"/>
                  </a:lnTo>
                  <a:lnTo>
                    <a:pt x="7945278" y="0"/>
                  </a:lnTo>
                  <a:lnTo>
                    <a:pt x="7991053" y="3358"/>
                  </a:lnTo>
                  <a:lnTo>
                    <a:pt x="8034746" y="13115"/>
                  </a:lnTo>
                  <a:lnTo>
                    <a:pt x="8075879" y="28791"/>
                  </a:lnTo>
                  <a:lnTo>
                    <a:pt x="8113970" y="49908"/>
                  </a:lnTo>
                  <a:lnTo>
                    <a:pt x="8148539" y="75987"/>
                  </a:lnTo>
                  <a:lnTo>
                    <a:pt x="8179107" y="106548"/>
                  </a:lnTo>
                  <a:lnTo>
                    <a:pt x="8205194" y="141115"/>
                  </a:lnTo>
                  <a:lnTo>
                    <a:pt x="8226320" y="179206"/>
                  </a:lnTo>
                  <a:lnTo>
                    <a:pt x="8242003" y="220345"/>
                  </a:lnTo>
                  <a:lnTo>
                    <a:pt x="8251766" y="264052"/>
                  </a:lnTo>
                  <a:lnTo>
                    <a:pt x="8251933" y="266334"/>
                  </a:lnTo>
                  <a:lnTo>
                    <a:pt x="8251933" y="5929738"/>
                  </a:lnTo>
                  <a:lnTo>
                    <a:pt x="8241998" y="5975762"/>
                  </a:lnTo>
                  <a:lnTo>
                    <a:pt x="8226312" y="6016900"/>
                  </a:lnTo>
                  <a:lnTo>
                    <a:pt x="8205186" y="6054992"/>
                  </a:lnTo>
                  <a:lnTo>
                    <a:pt x="8179101" y="6089558"/>
                  </a:lnTo>
                  <a:lnTo>
                    <a:pt x="8148535" y="6120120"/>
                  </a:lnTo>
                  <a:lnTo>
                    <a:pt x="8113968" y="6146199"/>
                  </a:lnTo>
                  <a:lnTo>
                    <a:pt x="8075879" y="6167315"/>
                  </a:lnTo>
                  <a:lnTo>
                    <a:pt x="8034747" y="6182992"/>
                  </a:lnTo>
                  <a:lnTo>
                    <a:pt x="7991045" y="6192748"/>
                  </a:lnTo>
                  <a:lnTo>
                    <a:pt x="7945278" y="6196088"/>
                  </a:lnTo>
                  <a:close/>
                </a:path>
              </a:pathLst>
            </a:custGeom>
            <a:solidFill>
              <a:srgbClr val="0929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9324641" y="2049475"/>
              <a:ext cx="8255634" cy="6196330"/>
            </a:xfrm>
            <a:custGeom>
              <a:avLst/>
              <a:gdLst/>
              <a:ahLst/>
              <a:cxnLst/>
              <a:rect l="l" t="t" r="r" b="b"/>
              <a:pathLst>
                <a:path w="8255634" h="6196330">
                  <a:moveTo>
                    <a:pt x="0" y="309842"/>
                  </a:moveTo>
                  <a:lnTo>
                    <a:pt x="3360" y="264043"/>
                  </a:lnTo>
                  <a:lnTo>
                    <a:pt x="13119" y="220334"/>
                  </a:lnTo>
                  <a:lnTo>
                    <a:pt x="28798" y="179194"/>
                  </a:lnTo>
                  <a:lnTo>
                    <a:pt x="49918" y="141101"/>
                  </a:lnTo>
                  <a:lnTo>
                    <a:pt x="76000" y="106535"/>
                  </a:lnTo>
                  <a:lnTo>
                    <a:pt x="106565" y="75974"/>
                  </a:lnTo>
                  <a:lnTo>
                    <a:pt x="141133" y="49897"/>
                  </a:lnTo>
                  <a:lnTo>
                    <a:pt x="179227" y="28783"/>
                  </a:lnTo>
                  <a:lnTo>
                    <a:pt x="220367" y="13110"/>
                  </a:lnTo>
                  <a:lnTo>
                    <a:pt x="264074" y="3356"/>
                  </a:lnTo>
                  <a:lnTo>
                    <a:pt x="309870" y="0"/>
                  </a:lnTo>
                  <a:lnTo>
                    <a:pt x="7945206" y="0"/>
                  </a:lnTo>
                  <a:lnTo>
                    <a:pt x="7990983" y="3343"/>
                  </a:lnTo>
                  <a:lnTo>
                    <a:pt x="8034682" y="13091"/>
                  </a:lnTo>
                  <a:lnTo>
                    <a:pt x="8075821" y="28760"/>
                  </a:lnTo>
                  <a:lnTo>
                    <a:pt x="8113921" y="49872"/>
                  </a:lnTo>
                  <a:lnTo>
                    <a:pt x="8148501" y="75949"/>
                  </a:lnTo>
                  <a:lnTo>
                    <a:pt x="8179079" y="106512"/>
                  </a:lnTo>
                  <a:lnTo>
                    <a:pt x="8205175" y="141081"/>
                  </a:lnTo>
                  <a:lnTo>
                    <a:pt x="8226309" y="179179"/>
                  </a:lnTo>
                  <a:lnTo>
                    <a:pt x="8241999" y="220326"/>
                  </a:lnTo>
                  <a:lnTo>
                    <a:pt x="8251764" y="264043"/>
                  </a:lnTo>
                  <a:lnTo>
                    <a:pt x="8255126" y="309844"/>
                  </a:lnTo>
                  <a:lnTo>
                    <a:pt x="8255131" y="5886192"/>
                  </a:lnTo>
                  <a:lnTo>
                    <a:pt x="8251779" y="5931980"/>
                  </a:lnTo>
                  <a:lnTo>
                    <a:pt x="8242025" y="5975687"/>
                  </a:lnTo>
                  <a:lnTo>
                    <a:pt x="8226348" y="6016834"/>
                  </a:lnTo>
                  <a:lnTo>
                    <a:pt x="8205226" y="6054938"/>
                  </a:lnTo>
                  <a:lnTo>
                    <a:pt x="8179139" y="6089519"/>
                  </a:lnTo>
                  <a:lnTo>
                    <a:pt x="8148566" y="6120096"/>
                  </a:lnTo>
                  <a:lnTo>
                    <a:pt x="8113986" y="6146188"/>
                  </a:lnTo>
                  <a:lnTo>
                    <a:pt x="8075880" y="6167314"/>
                  </a:lnTo>
                  <a:lnTo>
                    <a:pt x="8034727" y="6182995"/>
                  </a:lnTo>
                  <a:lnTo>
                    <a:pt x="7991007" y="6192751"/>
                  </a:lnTo>
                  <a:lnTo>
                    <a:pt x="7945206" y="6196107"/>
                  </a:lnTo>
                  <a:lnTo>
                    <a:pt x="309864" y="6196108"/>
                  </a:lnTo>
                  <a:lnTo>
                    <a:pt x="264057" y="6192749"/>
                  </a:lnTo>
                  <a:lnTo>
                    <a:pt x="220340" y="6182989"/>
                  </a:lnTo>
                  <a:lnTo>
                    <a:pt x="179192" y="6167307"/>
                  </a:lnTo>
                  <a:lnTo>
                    <a:pt x="141094" y="6146182"/>
                  </a:lnTo>
                  <a:lnTo>
                    <a:pt x="106523" y="6120094"/>
                  </a:lnTo>
                  <a:lnTo>
                    <a:pt x="75960" y="6089522"/>
                  </a:lnTo>
                  <a:lnTo>
                    <a:pt x="49882" y="6054945"/>
                  </a:lnTo>
                  <a:lnTo>
                    <a:pt x="28770" y="6016844"/>
                  </a:lnTo>
                  <a:lnTo>
                    <a:pt x="13101" y="5975697"/>
                  </a:lnTo>
                  <a:lnTo>
                    <a:pt x="3353" y="5931984"/>
                  </a:lnTo>
                  <a:lnTo>
                    <a:pt x="0" y="5886186"/>
                  </a:lnTo>
                  <a:lnTo>
                    <a:pt x="0" y="309842"/>
                  </a:lnTo>
                </a:path>
              </a:pathLst>
            </a:custGeom>
            <a:ln w="38129">
              <a:solidFill>
                <a:srgbClr val="00D4A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9687445" y="2259736"/>
            <a:ext cx="598805" cy="277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10" b="1">
                <a:solidFill>
                  <a:srgbClr val="00D4AA"/>
                </a:solidFill>
                <a:latin typeface="Calibri"/>
                <a:cs typeface="Calibri"/>
              </a:rPr>
              <a:t>FOLLEI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687445" y="2877432"/>
            <a:ext cx="5092700" cy="277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9554" indent="-236854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249554" algn="l"/>
              </a:tabLst>
            </a:pPr>
            <a:r>
              <a:rPr dirty="0" sz="1650" spc="-10">
                <a:solidFill>
                  <a:srgbClr val="00D4AA"/>
                </a:solidFill>
                <a:latin typeface="Calibri"/>
                <a:cs typeface="Calibri"/>
              </a:rPr>
              <a:t>Business-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specific</a:t>
            </a:r>
            <a:r>
              <a:rPr dirty="0" sz="1650" spc="-35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—</a:t>
            </a:r>
            <a:r>
              <a:rPr dirty="0" sz="1650" spc="-35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trained</a:t>
            </a:r>
            <a:r>
              <a:rPr dirty="0" sz="1650" spc="-35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on</a:t>
            </a:r>
            <a:r>
              <a:rPr dirty="0" sz="1650" spc="-3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your</a:t>
            </a:r>
            <a:r>
              <a:rPr dirty="0" sz="1650" spc="-35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products</a:t>
            </a:r>
            <a:r>
              <a:rPr dirty="0" sz="1650" spc="-35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and</a:t>
            </a:r>
            <a:r>
              <a:rPr dirty="0" sz="1650" spc="-35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00D4AA"/>
                </a:solidFill>
                <a:latin typeface="Calibri"/>
                <a:cs typeface="Calibri"/>
              </a:rPr>
              <a:t>pricing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687445" y="3632403"/>
            <a:ext cx="6149975" cy="277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9554" indent="-236854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249554" algn="l"/>
              </a:tabLst>
            </a:pPr>
            <a:r>
              <a:rPr dirty="0" sz="1650" spc="-10">
                <a:solidFill>
                  <a:srgbClr val="00D4AA"/>
                </a:solidFill>
                <a:latin typeface="Calibri"/>
                <a:cs typeface="Calibri"/>
              </a:rPr>
              <a:t>Memory-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driven</a:t>
            </a:r>
            <a:r>
              <a:rPr dirty="0" sz="1650" spc="-5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—</a:t>
            </a:r>
            <a:r>
              <a:rPr dirty="0" sz="1650" spc="-45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00D4AA"/>
                </a:solidFill>
                <a:latin typeface="Calibri"/>
                <a:cs typeface="Calibri"/>
              </a:rPr>
              <a:t>3-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tier</a:t>
            </a:r>
            <a:r>
              <a:rPr dirty="0" sz="1650" spc="-5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memory</a:t>
            </a:r>
            <a:r>
              <a:rPr dirty="0" sz="1650" spc="-45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across</a:t>
            </a:r>
            <a:r>
              <a:rPr dirty="0" sz="1650" spc="-5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company,</a:t>
            </a:r>
            <a:r>
              <a:rPr dirty="0" sz="1650" spc="-45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customer,</a:t>
            </a:r>
            <a:r>
              <a:rPr dirty="0" sz="1650" spc="-5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00D4AA"/>
                </a:solidFill>
                <a:latin typeface="Calibri"/>
                <a:cs typeface="Calibri"/>
              </a:rPr>
              <a:t>session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687445" y="4387373"/>
            <a:ext cx="6216015" cy="277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9554" indent="-236854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249554" algn="l"/>
              </a:tabLst>
            </a:pPr>
            <a:r>
              <a:rPr dirty="0" sz="1650" spc="-10">
                <a:solidFill>
                  <a:srgbClr val="00D4AA"/>
                </a:solidFill>
                <a:latin typeface="Calibri"/>
                <a:cs typeface="Calibri"/>
              </a:rPr>
              <a:t>End-to-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end</a:t>
            </a:r>
            <a:r>
              <a:rPr dirty="0" sz="1650" spc="-15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—</a:t>
            </a:r>
            <a:r>
              <a:rPr dirty="0" sz="1650" spc="-1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SDR</a:t>
            </a:r>
            <a:r>
              <a:rPr dirty="0" sz="1650" spc="-15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→</a:t>
            </a:r>
            <a:r>
              <a:rPr dirty="0" sz="1650" spc="-1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Sales</a:t>
            </a:r>
            <a:r>
              <a:rPr dirty="0" sz="1650" spc="-15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→</a:t>
            </a:r>
            <a:r>
              <a:rPr dirty="0" sz="1650" spc="-1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CS</a:t>
            </a:r>
            <a:r>
              <a:rPr dirty="0" sz="1650" spc="-15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→</a:t>
            </a:r>
            <a:r>
              <a:rPr dirty="0" sz="1650" spc="-1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Support</a:t>
            </a:r>
            <a:r>
              <a:rPr dirty="0" sz="1650" spc="-15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→</a:t>
            </a:r>
            <a:r>
              <a:rPr dirty="0" sz="1650" spc="-10">
                <a:solidFill>
                  <a:srgbClr val="00D4AA"/>
                </a:solidFill>
                <a:latin typeface="Calibri"/>
                <a:cs typeface="Calibri"/>
              </a:rPr>
              <a:t> Collections</a:t>
            </a:r>
            <a:r>
              <a:rPr dirty="0" sz="1650" spc="-15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→</a:t>
            </a:r>
            <a:r>
              <a:rPr dirty="0" sz="1650" spc="-10">
                <a:solidFill>
                  <a:srgbClr val="00D4AA"/>
                </a:solidFill>
                <a:latin typeface="Calibri"/>
                <a:cs typeface="Calibri"/>
              </a:rPr>
              <a:t> Account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687445" y="5142343"/>
            <a:ext cx="6098540" cy="277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9554" indent="-236854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249554" algn="l"/>
              </a:tabLst>
            </a:pPr>
            <a:r>
              <a:rPr dirty="0" sz="1650" spc="-10">
                <a:solidFill>
                  <a:srgbClr val="00D4AA"/>
                </a:solidFill>
                <a:latin typeface="Calibri"/>
                <a:cs typeface="Calibri"/>
              </a:rPr>
              <a:t>Action-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oriented</a:t>
            </a:r>
            <a:r>
              <a:rPr dirty="0" sz="1650" spc="-55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—</a:t>
            </a:r>
            <a:r>
              <a:rPr dirty="0" sz="1650" spc="-55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books</a:t>
            </a:r>
            <a:r>
              <a:rPr dirty="0" sz="1650" spc="-55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meetings,</a:t>
            </a:r>
            <a:r>
              <a:rPr dirty="0" sz="1650" spc="-55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sends</a:t>
            </a:r>
            <a:r>
              <a:rPr dirty="0" sz="1650" spc="-55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proposals,</a:t>
            </a:r>
            <a:r>
              <a:rPr dirty="0" sz="1650" spc="-55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resolves</a:t>
            </a:r>
            <a:r>
              <a:rPr dirty="0" sz="1650" spc="-55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00D4AA"/>
                </a:solidFill>
                <a:latin typeface="Calibri"/>
                <a:cs typeface="Calibri"/>
              </a:rPr>
              <a:t>tickets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687445" y="5897314"/>
            <a:ext cx="5981700" cy="277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9554" indent="-236854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249554" algn="l"/>
              </a:tabLst>
            </a:pPr>
            <a:r>
              <a:rPr dirty="0" sz="1650" spc="-10">
                <a:solidFill>
                  <a:srgbClr val="00D4AA"/>
                </a:solidFill>
                <a:latin typeface="Calibri"/>
                <a:cs typeface="Calibri"/>
              </a:rPr>
              <a:t>Self-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improving</a:t>
            </a:r>
            <a:r>
              <a:rPr dirty="0" sz="1650" spc="-45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—</a:t>
            </a:r>
            <a:r>
              <a:rPr dirty="0" sz="1650" spc="-4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learns</a:t>
            </a:r>
            <a:r>
              <a:rPr dirty="0" sz="1650" spc="-4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from</a:t>
            </a:r>
            <a:r>
              <a:rPr dirty="0" sz="1650" spc="-4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every</a:t>
            </a:r>
            <a:r>
              <a:rPr dirty="0" sz="1650" spc="-4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outcome,</a:t>
            </a:r>
            <a:r>
              <a:rPr dirty="0" sz="1650" spc="-4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zero</a:t>
            </a:r>
            <a:r>
              <a:rPr dirty="0" sz="1650" spc="-45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manual</a:t>
            </a:r>
            <a:r>
              <a:rPr dirty="0" sz="1650" spc="-4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00D4AA"/>
                </a:solidFill>
                <a:latin typeface="Calibri"/>
                <a:cs typeface="Calibri"/>
              </a:rPr>
              <a:t>updates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687445" y="6652284"/>
            <a:ext cx="6412230" cy="277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9554" indent="-236854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249554" algn="l"/>
              </a:tabLst>
            </a:pP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Omnichannel</a:t>
            </a:r>
            <a:r>
              <a:rPr dirty="0" sz="1650" spc="-5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—</a:t>
            </a:r>
            <a:r>
              <a:rPr dirty="0" sz="1650" spc="-45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same</a:t>
            </a:r>
            <a:r>
              <a:rPr dirty="0" sz="1650" spc="-5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worker</a:t>
            </a:r>
            <a:r>
              <a:rPr dirty="0" sz="1650" spc="-45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across</a:t>
            </a:r>
            <a:r>
              <a:rPr dirty="0" sz="1650" spc="-5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Voice,</a:t>
            </a:r>
            <a:r>
              <a:rPr dirty="0" sz="1650" spc="-45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WhatsApp,</a:t>
            </a:r>
            <a:r>
              <a:rPr dirty="0" sz="1650" spc="-5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Email,</a:t>
            </a:r>
            <a:r>
              <a:rPr dirty="0" sz="1650" spc="-45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D4AA"/>
                </a:solidFill>
                <a:latin typeface="Calibri"/>
                <a:cs typeface="Calibri"/>
              </a:rPr>
              <a:t>SMS,</a:t>
            </a:r>
            <a:r>
              <a:rPr dirty="0" sz="1650" spc="-5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50" spc="-20">
                <a:solidFill>
                  <a:srgbClr val="00D4AA"/>
                </a:solidFill>
                <a:latin typeface="Calibri"/>
                <a:cs typeface="Calibri"/>
              </a:rPr>
              <a:t>Chat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72415" y="8496272"/>
            <a:ext cx="16911955" cy="989965"/>
            <a:chOff x="672415" y="8496272"/>
            <a:chExt cx="16911955" cy="989965"/>
          </a:xfrm>
        </p:grpSpPr>
        <p:sp>
          <p:nvSpPr>
            <p:cNvPr id="27" name="object 27"/>
            <p:cNvSpPr/>
            <p:nvPr/>
          </p:nvSpPr>
          <p:spPr>
            <a:xfrm>
              <a:off x="681570" y="8505805"/>
              <a:ext cx="16893540" cy="970915"/>
            </a:xfrm>
            <a:custGeom>
              <a:avLst/>
              <a:gdLst/>
              <a:ahLst/>
              <a:cxnLst/>
              <a:rect l="l" t="t" r="r" b="b"/>
              <a:pathLst>
                <a:path w="16893540" h="970915">
                  <a:moveTo>
                    <a:pt x="16844866" y="970406"/>
                  </a:moveTo>
                  <a:lnTo>
                    <a:pt x="48482" y="970406"/>
                  </a:lnTo>
                  <a:lnTo>
                    <a:pt x="29615" y="966595"/>
                  </a:lnTo>
                  <a:lnTo>
                    <a:pt x="14204" y="956202"/>
                  </a:lnTo>
                  <a:lnTo>
                    <a:pt x="3811" y="940791"/>
                  </a:lnTo>
                  <a:lnTo>
                    <a:pt x="0" y="921924"/>
                  </a:lnTo>
                  <a:lnTo>
                    <a:pt x="0" y="48482"/>
                  </a:lnTo>
                  <a:lnTo>
                    <a:pt x="3811" y="29615"/>
                  </a:lnTo>
                  <a:lnTo>
                    <a:pt x="14204" y="14204"/>
                  </a:lnTo>
                  <a:lnTo>
                    <a:pt x="29615" y="3811"/>
                  </a:lnTo>
                  <a:lnTo>
                    <a:pt x="48482" y="0"/>
                  </a:lnTo>
                  <a:lnTo>
                    <a:pt x="16844866" y="0"/>
                  </a:lnTo>
                  <a:lnTo>
                    <a:pt x="16863733" y="3811"/>
                  </a:lnTo>
                  <a:lnTo>
                    <a:pt x="16879144" y="14204"/>
                  </a:lnTo>
                  <a:lnTo>
                    <a:pt x="16889537" y="29615"/>
                  </a:lnTo>
                  <a:lnTo>
                    <a:pt x="16893348" y="48482"/>
                  </a:lnTo>
                  <a:lnTo>
                    <a:pt x="16893348" y="921924"/>
                  </a:lnTo>
                  <a:lnTo>
                    <a:pt x="16889537" y="940791"/>
                  </a:lnTo>
                  <a:lnTo>
                    <a:pt x="16879144" y="956202"/>
                  </a:lnTo>
                  <a:lnTo>
                    <a:pt x="16863733" y="966595"/>
                  </a:lnTo>
                  <a:lnTo>
                    <a:pt x="16844866" y="970406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81947" y="8505805"/>
              <a:ext cx="16892905" cy="970915"/>
            </a:xfrm>
            <a:custGeom>
              <a:avLst/>
              <a:gdLst/>
              <a:ahLst/>
              <a:cxnLst/>
              <a:rect l="l" t="t" r="r" b="b"/>
              <a:pathLst>
                <a:path w="16892905" h="970915">
                  <a:moveTo>
                    <a:pt x="0" y="48479"/>
                  </a:moveTo>
                  <a:lnTo>
                    <a:pt x="3811" y="29613"/>
                  </a:lnTo>
                  <a:lnTo>
                    <a:pt x="14203" y="14203"/>
                  </a:lnTo>
                  <a:lnTo>
                    <a:pt x="29613" y="3811"/>
                  </a:lnTo>
                  <a:lnTo>
                    <a:pt x="48479" y="0"/>
                  </a:lnTo>
                  <a:lnTo>
                    <a:pt x="16844037" y="0"/>
                  </a:lnTo>
                  <a:lnTo>
                    <a:pt x="16862904" y="3810"/>
                  </a:lnTo>
                  <a:lnTo>
                    <a:pt x="16878315" y="14203"/>
                  </a:lnTo>
                  <a:lnTo>
                    <a:pt x="16888707" y="29613"/>
                  </a:lnTo>
                  <a:lnTo>
                    <a:pt x="16892518" y="48479"/>
                  </a:lnTo>
                  <a:lnTo>
                    <a:pt x="16892518" y="921879"/>
                  </a:lnTo>
                  <a:lnTo>
                    <a:pt x="16888707" y="940745"/>
                  </a:lnTo>
                  <a:lnTo>
                    <a:pt x="16878315" y="956155"/>
                  </a:lnTo>
                  <a:lnTo>
                    <a:pt x="16862904" y="966547"/>
                  </a:lnTo>
                  <a:lnTo>
                    <a:pt x="16844037" y="970359"/>
                  </a:lnTo>
                  <a:lnTo>
                    <a:pt x="48479" y="970359"/>
                  </a:lnTo>
                  <a:lnTo>
                    <a:pt x="29613" y="966547"/>
                  </a:lnTo>
                  <a:lnTo>
                    <a:pt x="14203" y="956155"/>
                  </a:lnTo>
                  <a:lnTo>
                    <a:pt x="3811" y="940745"/>
                  </a:lnTo>
                  <a:lnTo>
                    <a:pt x="0" y="921879"/>
                  </a:lnTo>
                  <a:lnTo>
                    <a:pt x="0" y="48479"/>
                  </a:lnTo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1039612" y="8669386"/>
            <a:ext cx="14905355" cy="3390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50">
                <a:solidFill>
                  <a:srgbClr val="00426F"/>
                </a:solidFill>
                <a:latin typeface="Segoe UI Symbol"/>
                <a:cs typeface="Segoe UI Symbol"/>
              </a:rPr>
              <a:t>💡</a:t>
            </a:r>
            <a:r>
              <a:rPr dirty="0" sz="2050" spc="484">
                <a:solidFill>
                  <a:srgbClr val="00426F"/>
                </a:solidFill>
                <a:latin typeface="Segoe UI Symbol"/>
                <a:cs typeface="Segoe UI Symbol"/>
              </a:rPr>
              <a:t> </a:t>
            </a:r>
            <a:r>
              <a:rPr dirty="0" sz="1800">
                <a:solidFill>
                  <a:srgbClr val="00426F"/>
                </a:solidFill>
                <a:latin typeface="Calibri"/>
                <a:cs typeface="Calibri"/>
              </a:rPr>
              <a:t>The</a:t>
            </a:r>
            <a:r>
              <a:rPr dirty="0" sz="1800" spc="-55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426F"/>
                </a:solidFill>
                <a:latin typeface="Calibri"/>
                <a:cs typeface="Calibri"/>
              </a:rPr>
              <a:t>key</a:t>
            </a:r>
            <a:r>
              <a:rPr dirty="0" sz="1800" spc="-50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426F"/>
                </a:solidFill>
                <a:latin typeface="Calibri"/>
                <a:cs typeface="Calibri"/>
              </a:rPr>
              <a:t>insight:</a:t>
            </a:r>
            <a:r>
              <a:rPr dirty="0" sz="1800" spc="-50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426F"/>
                </a:solidFill>
                <a:latin typeface="Calibri"/>
                <a:cs typeface="Calibri"/>
              </a:rPr>
              <a:t>Businesses</a:t>
            </a:r>
            <a:r>
              <a:rPr dirty="0" sz="1800" spc="-50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426F"/>
                </a:solidFill>
                <a:latin typeface="Calibri"/>
                <a:cs typeface="Calibri"/>
              </a:rPr>
              <a:t>don't</a:t>
            </a:r>
            <a:r>
              <a:rPr dirty="0" sz="1800" spc="-50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426F"/>
                </a:solidFill>
                <a:latin typeface="Calibri"/>
                <a:cs typeface="Calibri"/>
              </a:rPr>
              <a:t>buy</a:t>
            </a:r>
            <a:r>
              <a:rPr dirty="0" sz="1800" spc="-50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426F"/>
                </a:solidFill>
                <a:latin typeface="Calibri"/>
                <a:cs typeface="Calibri"/>
              </a:rPr>
              <a:t>software</a:t>
            </a:r>
            <a:r>
              <a:rPr dirty="0" sz="1800" spc="-55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426F"/>
                </a:solidFill>
                <a:latin typeface="Calibri"/>
                <a:cs typeface="Calibri"/>
              </a:rPr>
              <a:t>to</a:t>
            </a:r>
            <a:r>
              <a:rPr dirty="0" sz="1800" spc="-50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426F"/>
                </a:solidFill>
                <a:latin typeface="Calibri"/>
                <a:cs typeface="Calibri"/>
              </a:rPr>
              <a:t>have</a:t>
            </a:r>
            <a:r>
              <a:rPr dirty="0" sz="1800" spc="-50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426F"/>
                </a:solidFill>
                <a:latin typeface="Calibri"/>
                <a:cs typeface="Calibri"/>
              </a:rPr>
              <a:t>software.</a:t>
            </a:r>
            <a:r>
              <a:rPr dirty="0" sz="1800" spc="-50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426F"/>
                </a:solidFill>
                <a:latin typeface="Calibri"/>
                <a:cs typeface="Calibri"/>
              </a:rPr>
              <a:t>They</a:t>
            </a:r>
            <a:r>
              <a:rPr dirty="0" sz="1800" spc="-50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426F"/>
                </a:solidFill>
                <a:latin typeface="Calibri"/>
                <a:cs typeface="Calibri"/>
              </a:rPr>
              <a:t>buy</a:t>
            </a:r>
            <a:r>
              <a:rPr dirty="0" sz="1800" spc="-50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426F"/>
                </a:solidFill>
                <a:latin typeface="Calibri"/>
                <a:cs typeface="Calibri"/>
              </a:rPr>
              <a:t>software</a:t>
            </a:r>
            <a:r>
              <a:rPr dirty="0" sz="1800" spc="-50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426F"/>
                </a:solidFill>
                <a:latin typeface="Calibri"/>
                <a:cs typeface="Calibri"/>
              </a:rPr>
              <a:t>to</a:t>
            </a:r>
            <a:r>
              <a:rPr dirty="0" sz="1800" spc="-50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426F"/>
                </a:solidFill>
                <a:latin typeface="Calibri"/>
                <a:cs typeface="Calibri"/>
              </a:rPr>
              <a:t>get</a:t>
            </a:r>
            <a:r>
              <a:rPr dirty="0" sz="1800" spc="-50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426F"/>
                </a:solidFill>
                <a:latin typeface="Calibri"/>
                <a:cs typeface="Calibri"/>
              </a:rPr>
              <a:t>work</a:t>
            </a:r>
            <a:r>
              <a:rPr dirty="0" sz="1800" spc="-50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426F"/>
                </a:solidFill>
                <a:latin typeface="Calibri"/>
                <a:cs typeface="Calibri"/>
              </a:rPr>
              <a:t>done.</a:t>
            </a:r>
            <a:r>
              <a:rPr dirty="0" sz="1800" spc="-55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426F"/>
                </a:solidFill>
                <a:latin typeface="Calibri"/>
                <a:cs typeface="Calibri"/>
              </a:rPr>
              <a:t>Follei</a:t>
            </a:r>
            <a:r>
              <a:rPr dirty="0" sz="1800" spc="-50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426F"/>
                </a:solidFill>
                <a:latin typeface="Calibri"/>
                <a:cs typeface="Calibri"/>
              </a:rPr>
              <a:t>is</a:t>
            </a:r>
            <a:r>
              <a:rPr dirty="0" sz="1800" spc="-50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426F"/>
                </a:solidFill>
                <a:latin typeface="Calibri"/>
                <a:cs typeface="Calibri"/>
              </a:rPr>
              <a:t>the</a:t>
            </a:r>
            <a:r>
              <a:rPr dirty="0" sz="1800" spc="-50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426F"/>
                </a:solidFill>
                <a:latin typeface="Calibri"/>
                <a:cs typeface="Calibri"/>
              </a:rPr>
              <a:t>first</a:t>
            </a:r>
            <a:r>
              <a:rPr dirty="0" sz="1800" spc="-50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426F"/>
                </a:solidFill>
                <a:latin typeface="Calibri"/>
                <a:cs typeface="Calibri"/>
              </a:rPr>
              <a:t>platform</a:t>
            </a:r>
            <a:r>
              <a:rPr dirty="0" sz="1800" spc="-50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426F"/>
                </a:solidFill>
                <a:latin typeface="Calibri"/>
                <a:cs typeface="Calibri"/>
              </a:rPr>
              <a:t>that</a:t>
            </a:r>
            <a:r>
              <a:rPr dirty="0" sz="1800" spc="-50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426F"/>
                </a:solidFill>
                <a:latin typeface="Calibri"/>
                <a:cs typeface="Calibri"/>
              </a:rPr>
              <a:t>actually</a:t>
            </a:r>
            <a:r>
              <a:rPr dirty="0" sz="1800" spc="-50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426F"/>
                </a:solidFill>
                <a:latin typeface="Calibri"/>
                <a:cs typeface="Calibri"/>
              </a:rPr>
              <a:t>does</a:t>
            </a:r>
            <a:r>
              <a:rPr dirty="0" sz="1800" spc="-50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426F"/>
                </a:solidFill>
                <a:latin typeface="Calibri"/>
                <a:cs typeface="Calibri"/>
              </a:rPr>
              <a:t>the</a:t>
            </a:r>
            <a:r>
              <a:rPr dirty="0" sz="1800" spc="-50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00426F"/>
                </a:solidFill>
                <a:latin typeface="Calibri"/>
                <a:cs typeface="Calibri"/>
              </a:rPr>
              <a:t>work.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7249167" y="9655941"/>
            <a:ext cx="516890" cy="1974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85"/>
              </a:lnSpc>
            </a:pPr>
            <a:r>
              <a:rPr dirty="0" sz="1350">
                <a:solidFill>
                  <a:srgbClr val="6A6F82"/>
                </a:solidFill>
                <a:latin typeface="Calibri"/>
                <a:cs typeface="Calibri"/>
              </a:rPr>
              <a:t>08</a:t>
            </a:r>
            <a:r>
              <a:rPr dirty="0" sz="1350" spc="-20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6A6F82"/>
                </a:solidFill>
                <a:latin typeface="Calibri"/>
                <a:cs typeface="Calibri"/>
              </a:rPr>
              <a:t>/</a:t>
            </a:r>
            <a:r>
              <a:rPr dirty="0" sz="1350" spc="-15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350" spc="-35">
                <a:solidFill>
                  <a:srgbClr val="6A6F82"/>
                </a:solidFill>
                <a:latin typeface="Calibri"/>
                <a:cs typeface="Calibri"/>
              </a:rPr>
              <a:t>16</a:t>
            </a:r>
            <a:endParaRPr sz="1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5914"/>
            <a:ext cx="3432175" cy="4114800"/>
          </a:xfrm>
          <a:custGeom>
            <a:avLst/>
            <a:gdLst/>
            <a:ahLst/>
            <a:cxnLst/>
            <a:rect l="l" t="t" r="r" b="b"/>
            <a:pathLst>
              <a:path w="3432175" h="4114800">
                <a:moveTo>
                  <a:pt x="1517653" y="12699"/>
                </a:moveTo>
                <a:lnTo>
                  <a:pt x="1227717" y="12699"/>
                </a:lnTo>
                <a:lnTo>
                  <a:pt x="1275756" y="0"/>
                </a:lnTo>
                <a:lnTo>
                  <a:pt x="1469615" y="0"/>
                </a:lnTo>
                <a:lnTo>
                  <a:pt x="1517653" y="12699"/>
                </a:lnTo>
                <a:close/>
              </a:path>
              <a:path w="3432175" h="4114800">
                <a:moveTo>
                  <a:pt x="1659914" y="25399"/>
                </a:moveTo>
                <a:lnTo>
                  <a:pt x="1085457" y="25399"/>
                </a:lnTo>
                <a:lnTo>
                  <a:pt x="1132556" y="12699"/>
                </a:lnTo>
                <a:lnTo>
                  <a:pt x="1612815" y="12699"/>
                </a:lnTo>
                <a:lnTo>
                  <a:pt x="1659914" y="25399"/>
                </a:lnTo>
                <a:close/>
              </a:path>
              <a:path w="3432175" h="4114800">
                <a:moveTo>
                  <a:pt x="1844807" y="63499"/>
                </a:moveTo>
                <a:lnTo>
                  <a:pt x="900563" y="63499"/>
                </a:lnTo>
                <a:lnTo>
                  <a:pt x="1038696" y="25399"/>
                </a:lnTo>
                <a:lnTo>
                  <a:pt x="1706675" y="25399"/>
                </a:lnTo>
                <a:lnTo>
                  <a:pt x="1844807" y="63499"/>
                </a:lnTo>
                <a:close/>
              </a:path>
              <a:path w="3432175" h="4114800">
                <a:moveTo>
                  <a:pt x="1753086" y="4089399"/>
                </a:moveTo>
                <a:lnTo>
                  <a:pt x="992285" y="4089399"/>
                </a:lnTo>
                <a:lnTo>
                  <a:pt x="678253" y="4000499"/>
                </a:lnTo>
                <a:lnTo>
                  <a:pt x="635089" y="3987799"/>
                </a:lnTo>
                <a:lnTo>
                  <a:pt x="592386" y="3962399"/>
                </a:lnTo>
                <a:lnTo>
                  <a:pt x="508414" y="3936999"/>
                </a:lnTo>
                <a:lnTo>
                  <a:pt x="426436" y="3886199"/>
                </a:lnTo>
                <a:lnTo>
                  <a:pt x="386226" y="3873499"/>
                </a:lnTo>
                <a:lnTo>
                  <a:pt x="307425" y="3822699"/>
                </a:lnTo>
                <a:lnTo>
                  <a:pt x="230865" y="3771899"/>
                </a:lnTo>
                <a:lnTo>
                  <a:pt x="193456" y="3746499"/>
                </a:lnTo>
                <a:lnTo>
                  <a:pt x="156645" y="3721099"/>
                </a:lnTo>
                <a:lnTo>
                  <a:pt x="120443" y="3695699"/>
                </a:lnTo>
                <a:lnTo>
                  <a:pt x="84863" y="3670299"/>
                </a:lnTo>
                <a:lnTo>
                  <a:pt x="49918" y="3644899"/>
                </a:lnTo>
                <a:lnTo>
                  <a:pt x="15620" y="3606799"/>
                </a:lnTo>
                <a:lnTo>
                  <a:pt x="0" y="3595005"/>
                </a:lnTo>
                <a:lnTo>
                  <a:pt x="0" y="525691"/>
                </a:lnTo>
                <a:lnTo>
                  <a:pt x="15620" y="507999"/>
                </a:lnTo>
                <a:lnTo>
                  <a:pt x="49918" y="482599"/>
                </a:lnTo>
                <a:lnTo>
                  <a:pt x="84863" y="457199"/>
                </a:lnTo>
                <a:lnTo>
                  <a:pt x="120443" y="431799"/>
                </a:lnTo>
                <a:lnTo>
                  <a:pt x="156645" y="406399"/>
                </a:lnTo>
                <a:lnTo>
                  <a:pt x="193456" y="368299"/>
                </a:lnTo>
                <a:lnTo>
                  <a:pt x="230865" y="342899"/>
                </a:lnTo>
                <a:lnTo>
                  <a:pt x="268858" y="317499"/>
                </a:lnTo>
                <a:lnTo>
                  <a:pt x="307425" y="304799"/>
                </a:lnTo>
                <a:lnTo>
                  <a:pt x="386226" y="253999"/>
                </a:lnTo>
                <a:lnTo>
                  <a:pt x="426436" y="228599"/>
                </a:lnTo>
                <a:lnTo>
                  <a:pt x="467170" y="215899"/>
                </a:lnTo>
                <a:lnTo>
                  <a:pt x="508414" y="190499"/>
                </a:lnTo>
                <a:lnTo>
                  <a:pt x="550157" y="177799"/>
                </a:lnTo>
                <a:lnTo>
                  <a:pt x="592386" y="152399"/>
                </a:lnTo>
                <a:lnTo>
                  <a:pt x="721866" y="114299"/>
                </a:lnTo>
                <a:lnTo>
                  <a:pt x="765916" y="88899"/>
                </a:lnTo>
                <a:lnTo>
                  <a:pt x="855277" y="63499"/>
                </a:lnTo>
                <a:lnTo>
                  <a:pt x="1890093" y="63499"/>
                </a:lnTo>
                <a:lnTo>
                  <a:pt x="1979454" y="88899"/>
                </a:lnTo>
                <a:lnTo>
                  <a:pt x="2023504" y="114299"/>
                </a:lnTo>
                <a:lnTo>
                  <a:pt x="2152984" y="152399"/>
                </a:lnTo>
                <a:lnTo>
                  <a:pt x="2195213" y="177799"/>
                </a:lnTo>
                <a:lnTo>
                  <a:pt x="2236956" y="190499"/>
                </a:lnTo>
                <a:lnTo>
                  <a:pt x="2278201" y="215899"/>
                </a:lnTo>
                <a:lnTo>
                  <a:pt x="2318934" y="228599"/>
                </a:lnTo>
                <a:lnTo>
                  <a:pt x="2359144" y="253999"/>
                </a:lnTo>
                <a:lnTo>
                  <a:pt x="2437946" y="304799"/>
                </a:lnTo>
                <a:lnTo>
                  <a:pt x="2476512" y="317499"/>
                </a:lnTo>
                <a:lnTo>
                  <a:pt x="2514506" y="342899"/>
                </a:lnTo>
                <a:lnTo>
                  <a:pt x="2551915" y="368299"/>
                </a:lnTo>
                <a:lnTo>
                  <a:pt x="2588726" y="406399"/>
                </a:lnTo>
                <a:lnTo>
                  <a:pt x="2624928" y="431799"/>
                </a:lnTo>
                <a:lnTo>
                  <a:pt x="2660507" y="457199"/>
                </a:lnTo>
                <a:lnTo>
                  <a:pt x="2695452" y="482599"/>
                </a:lnTo>
                <a:lnTo>
                  <a:pt x="2729750" y="507999"/>
                </a:lnTo>
                <a:lnTo>
                  <a:pt x="2763390" y="546099"/>
                </a:lnTo>
                <a:lnTo>
                  <a:pt x="2796357" y="571499"/>
                </a:lnTo>
                <a:lnTo>
                  <a:pt x="2828641" y="609599"/>
                </a:lnTo>
                <a:lnTo>
                  <a:pt x="2860228" y="634999"/>
                </a:lnTo>
                <a:lnTo>
                  <a:pt x="2891107" y="673099"/>
                </a:lnTo>
                <a:lnTo>
                  <a:pt x="2921265" y="711199"/>
                </a:lnTo>
                <a:lnTo>
                  <a:pt x="2950690" y="736599"/>
                </a:lnTo>
                <a:lnTo>
                  <a:pt x="2979369" y="774699"/>
                </a:lnTo>
                <a:lnTo>
                  <a:pt x="3007290" y="812799"/>
                </a:lnTo>
                <a:lnTo>
                  <a:pt x="3034440" y="850899"/>
                </a:lnTo>
                <a:lnTo>
                  <a:pt x="3060808" y="888999"/>
                </a:lnTo>
                <a:lnTo>
                  <a:pt x="3086381" y="914399"/>
                </a:lnTo>
                <a:lnTo>
                  <a:pt x="3111146" y="952499"/>
                </a:lnTo>
                <a:lnTo>
                  <a:pt x="3135091" y="990599"/>
                </a:lnTo>
                <a:lnTo>
                  <a:pt x="3158204" y="1041399"/>
                </a:lnTo>
                <a:lnTo>
                  <a:pt x="3180473" y="1079499"/>
                </a:lnTo>
                <a:lnTo>
                  <a:pt x="3201885" y="1117599"/>
                </a:lnTo>
                <a:lnTo>
                  <a:pt x="3222427" y="1155699"/>
                </a:lnTo>
                <a:lnTo>
                  <a:pt x="3242088" y="1193799"/>
                </a:lnTo>
                <a:lnTo>
                  <a:pt x="3260855" y="1244599"/>
                </a:lnTo>
                <a:lnTo>
                  <a:pt x="3278716" y="1282699"/>
                </a:lnTo>
                <a:lnTo>
                  <a:pt x="3295658" y="1320799"/>
                </a:lnTo>
                <a:lnTo>
                  <a:pt x="3311669" y="1371599"/>
                </a:lnTo>
                <a:lnTo>
                  <a:pt x="3326736" y="1409699"/>
                </a:lnTo>
                <a:lnTo>
                  <a:pt x="3340848" y="1460499"/>
                </a:lnTo>
                <a:lnTo>
                  <a:pt x="3353992" y="1498599"/>
                </a:lnTo>
                <a:lnTo>
                  <a:pt x="3366155" y="1549399"/>
                </a:lnTo>
                <a:lnTo>
                  <a:pt x="3377325" y="1587499"/>
                </a:lnTo>
                <a:lnTo>
                  <a:pt x="3387490" y="1638299"/>
                </a:lnTo>
                <a:lnTo>
                  <a:pt x="3396638" y="1676399"/>
                </a:lnTo>
                <a:lnTo>
                  <a:pt x="3404756" y="1727199"/>
                </a:lnTo>
                <a:lnTo>
                  <a:pt x="3411831" y="1777999"/>
                </a:lnTo>
                <a:lnTo>
                  <a:pt x="3417852" y="1816099"/>
                </a:lnTo>
                <a:lnTo>
                  <a:pt x="3422806" y="1866899"/>
                </a:lnTo>
                <a:lnTo>
                  <a:pt x="3426680" y="1917699"/>
                </a:lnTo>
                <a:lnTo>
                  <a:pt x="3429463" y="1968499"/>
                </a:lnTo>
                <a:lnTo>
                  <a:pt x="3431142" y="2019299"/>
                </a:lnTo>
                <a:lnTo>
                  <a:pt x="3431704" y="2057399"/>
                </a:lnTo>
                <a:lnTo>
                  <a:pt x="3431142" y="2108199"/>
                </a:lnTo>
                <a:lnTo>
                  <a:pt x="3429463" y="2158999"/>
                </a:lnTo>
                <a:lnTo>
                  <a:pt x="3426680" y="2209799"/>
                </a:lnTo>
                <a:lnTo>
                  <a:pt x="3422806" y="2260599"/>
                </a:lnTo>
                <a:lnTo>
                  <a:pt x="3417852" y="2298699"/>
                </a:lnTo>
                <a:lnTo>
                  <a:pt x="3411831" y="2349499"/>
                </a:lnTo>
                <a:lnTo>
                  <a:pt x="3404756" y="2400299"/>
                </a:lnTo>
                <a:lnTo>
                  <a:pt x="3396638" y="2438399"/>
                </a:lnTo>
                <a:lnTo>
                  <a:pt x="3387490" y="2489199"/>
                </a:lnTo>
                <a:lnTo>
                  <a:pt x="3377325" y="2539999"/>
                </a:lnTo>
                <a:lnTo>
                  <a:pt x="3366155" y="2578099"/>
                </a:lnTo>
                <a:lnTo>
                  <a:pt x="3353992" y="2628899"/>
                </a:lnTo>
                <a:lnTo>
                  <a:pt x="3340848" y="2666999"/>
                </a:lnTo>
                <a:lnTo>
                  <a:pt x="3326736" y="2717799"/>
                </a:lnTo>
                <a:lnTo>
                  <a:pt x="3311669" y="2755899"/>
                </a:lnTo>
                <a:lnTo>
                  <a:pt x="3295658" y="2793999"/>
                </a:lnTo>
                <a:lnTo>
                  <a:pt x="3278716" y="2844799"/>
                </a:lnTo>
                <a:lnTo>
                  <a:pt x="3260855" y="2882899"/>
                </a:lnTo>
                <a:lnTo>
                  <a:pt x="3242088" y="2920999"/>
                </a:lnTo>
                <a:lnTo>
                  <a:pt x="3222427" y="2971799"/>
                </a:lnTo>
                <a:lnTo>
                  <a:pt x="3201885" y="3009899"/>
                </a:lnTo>
                <a:lnTo>
                  <a:pt x="3180473" y="3047999"/>
                </a:lnTo>
                <a:lnTo>
                  <a:pt x="3158204" y="3086099"/>
                </a:lnTo>
                <a:lnTo>
                  <a:pt x="3135091" y="3124199"/>
                </a:lnTo>
                <a:lnTo>
                  <a:pt x="3111146" y="3162299"/>
                </a:lnTo>
                <a:lnTo>
                  <a:pt x="3086381" y="3200399"/>
                </a:lnTo>
                <a:lnTo>
                  <a:pt x="3060808" y="3238499"/>
                </a:lnTo>
                <a:lnTo>
                  <a:pt x="3034440" y="3276599"/>
                </a:lnTo>
                <a:lnTo>
                  <a:pt x="3007290" y="3314699"/>
                </a:lnTo>
                <a:lnTo>
                  <a:pt x="2979369" y="3352799"/>
                </a:lnTo>
                <a:lnTo>
                  <a:pt x="2950690" y="3390899"/>
                </a:lnTo>
                <a:lnTo>
                  <a:pt x="2921265" y="3416299"/>
                </a:lnTo>
                <a:lnTo>
                  <a:pt x="2891107" y="3454399"/>
                </a:lnTo>
                <a:lnTo>
                  <a:pt x="2860228" y="3479799"/>
                </a:lnTo>
                <a:lnTo>
                  <a:pt x="2828641" y="3517899"/>
                </a:lnTo>
                <a:lnTo>
                  <a:pt x="2796357" y="3555999"/>
                </a:lnTo>
                <a:lnTo>
                  <a:pt x="2763390" y="3581399"/>
                </a:lnTo>
                <a:lnTo>
                  <a:pt x="2729750" y="3606799"/>
                </a:lnTo>
                <a:lnTo>
                  <a:pt x="2695452" y="3644899"/>
                </a:lnTo>
                <a:lnTo>
                  <a:pt x="2660507" y="3670299"/>
                </a:lnTo>
                <a:lnTo>
                  <a:pt x="2624928" y="3695699"/>
                </a:lnTo>
                <a:lnTo>
                  <a:pt x="2588726" y="3721099"/>
                </a:lnTo>
                <a:lnTo>
                  <a:pt x="2551915" y="3746499"/>
                </a:lnTo>
                <a:lnTo>
                  <a:pt x="2514506" y="3771899"/>
                </a:lnTo>
                <a:lnTo>
                  <a:pt x="2437946" y="3822699"/>
                </a:lnTo>
                <a:lnTo>
                  <a:pt x="2359144" y="3873499"/>
                </a:lnTo>
                <a:lnTo>
                  <a:pt x="2318934" y="3886199"/>
                </a:lnTo>
                <a:lnTo>
                  <a:pt x="2236956" y="3936999"/>
                </a:lnTo>
                <a:lnTo>
                  <a:pt x="2152984" y="3962399"/>
                </a:lnTo>
                <a:lnTo>
                  <a:pt x="2110282" y="3987799"/>
                </a:lnTo>
                <a:lnTo>
                  <a:pt x="2067117" y="4000499"/>
                </a:lnTo>
                <a:lnTo>
                  <a:pt x="1753086" y="4089399"/>
                </a:lnTo>
                <a:close/>
              </a:path>
              <a:path w="3432175" h="4114800">
                <a:moveTo>
                  <a:pt x="1659914" y="4102099"/>
                </a:moveTo>
                <a:lnTo>
                  <a:pt x="1085457" y="4102099"/>
                </a:lnTo>
                <a:lnTo>
                  <a:pt x="1038696" y="4089399"/>
                </a:lnTo>
                <a:lnTo>
                  <a:pt x="1706675" y="4089399"/>
                </a:lnTo>
                <a:lnTo>
                  <a:pt x="1659914" y="4102099"/>
                </a:lnTo>
                <a:close/>
              </a:path>
              <a:path w="3432175" h="4114800">
                <a:moveTo>
                  <a:pt x="1565391" y="4114799"/>
                </a:moveTo>
                <a:lnTo>
                  <a:pt x="1179980" y="4114799"/>
                </a:lnTo>
                <a:lnTo>
                  <a:pt x="1132556" y="4102099"/>
                </a:lnTo>
                <a:lnTo>
                  <a:pt x="1612815" y="4102099"/>
                </a:lnTo>
                <a:lnTo>
                  <a:pt x="1565391" y="4114799"/>
                </a:lnTo>
                <a:close/>
              </a:path>
            </a:pathLst>
          </a:custGeom>
          <a:solidFill>
            <a:srgbClr val="00D4AA">
              <a:alpha val="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57116" y="652014"/>
            <a:ext cx="343535" cy="20955"/>
          </a:xfrm>
          <a:custGeom>
            <a:avLst/>
            <a:gdLst/>
            <a:ahLst/>
            <a:cxnLst/>
            <a:rect l="l" t="t" r="r" b="b"/>
            <a:pathLst>
              <a:path w="343534" h="20954">
                <a:moveTo>
                  <a:pt x="343163" y="20593"/>
                </a:moveTo>
                <a:lnTo>
                  <a:pt x="0" y="20593"/>
                </a:lnTo>
                <a:lnTo>
                  <a:pt x="0" y="0"/>
                </a:lnTo>
                <a:lnTo>
                  <a:pt x="343163" y="0"/>
                </a:lnTo>
                <a:lnTo>
                  <a:pt x="343163" y="20593"/>
                </a:lnTo>
                <a:close/>
              </a:path>
            </a:pathLst>
          </a:custGeom>
          <a:solidFill>
            <a:srgbClr val="0029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41602" y="475256"/>
            <a:ext cx="190563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00426F"/>
                </a:solidFill>
                <a:latin typeface="Calibri"/>
                <a:cs typeface="Calibri"/>
              </a:rPr>
              <a:t>MARKET</a:t>
            </a:r>
            <a:r>
              <a:rPr dirty="0" sz="1500" spc="-80" b="1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00426F"/>
                </a:solidFill>
                <a:latin typeface="Calibri"/>
                <a:cs typeface="Calibri"/>
              </a:rPr>
              <a:t>OPPORTUNITY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1D31"/>
                </a:solidFill>
              </a:rPr>
              <a:t>$200B+</a:t>
            </a:r>
            <a:r>
              <a:rPr dirty="0" spc="-114">
                <a:solidFill>
                  <a:srgbClr val="001D31"/>
                </a:solidFill>
              </a:rPr>
              <a:t> </a:t>
            </a:r>
            <a:r>
              <a:rPr dirty="0">
                <a:solidFill>
                  <a:srgbClr val="001D31"/>
                </a:solidFill>
              </a:rPr>
              <a:t>addressable</a:t>
            </a:r>
            <a:r>
              <a:rPr dirty="0" spc="-110">
                <a:solidFill>
                  <a:srgbClr val="001D31"/>
                </a:solidFill>
              </a:rPr>
              <a:t> </a:t>
            </a:r>
            <a:r>
              <a:rPr dirty="0">
                <a:solidFill>
                  <a:srgbClr val="001D31"/>
                </a:solidFill>
              </a:rPr>
              <a:t>market,</a:t>
            </a:r>
            <a:r>
              <a:rPr dirty="0" spc="-110">
                <a:solidFill>
                  <a:srgbClr val="001D31"/>
                </a:solidFill>
              </a:rPr>
              <a:t> </a:t>
            </a:r>
            <a:r>
              <a:rPr dirty="0">
                <a:solidFill>
                  <a:srgbClr val="001D31"/>
                </a:solidFill>
              </a:rPr>
              <a:t>and</a:t>
            </a:r>
            <a:r>
              <a:rPr dirty="0" spc="-114">
                <a:solidFill>
                  <a:srgbClr val="001D31"/>
                </a:solidFill>
              </a:rPr>
              <a:t> </a:t>
            </a:r>
            <a:r>
              <a:rPr dirty="0">
                <a:solidFill>
                  <a:srgbClr val="001D31"/>
                </a:solidFill>
              </a:rPr>
              <a:t>no</a:t>
            </a:r>
            <a:r>
              <a:rPr dirty="0" spc="-110">
                <a:solidFill>
                  <a:srgbClr val="001D31"/>
                </a:solidFill>
              </a:rPr>
              <a:t> </a:t>
            </a:r>
            <a:r>
              <a:rPr dirty="0">
                <a:solidFill>
                  <a:srgbClr val="001D31"/>
                </a:solidFill>
              </a:rPr>
              <a:t>clear</a:t>
            </a:r>
            <a:r>
              <a:rPr dirty="0" spc="-110">
                <a:solidFill>
                  <a:srgbClr val="001D31"/>
                </a:solidFill>
              </a:rPr>
              <a:t> </a:t>
            </a:r>
            <a:r>
              <a:rPr dirty="0">
                <a:solidFill>
                  <a:srgbClr val="001D31"/>
                </a:solidFill>
              </a:rPr>
              <a:t>winner</a:t>
            </a:r>
            <a:r>
              <a:rPr dirty="0" spc="-110">
                <a:solidFill>
                  <a:srgbClr val="001D31"/>
                </a:solidFill>
              </a:rPr>
              <a:t> </a:t>
            </a:r>
            <a:r>
              <a:rPr dirty="0" spc="-20">
                <a:solidFill>
                  <a:srgbClr val="001D31"/>
                </a:solidFill>
              </a:rPr>
              <a:t>yet.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672231" y="2044395"/>
            <a:ext cx="7990205" cy="715010"/>
            <a:chOff x="672231" y="2044395"/>
            <a:chExt cx="7990205" cy="715010"/>
          </a:xfrm>
        </p:grpSpPr>
        <p:sp>
          <p:nvSpPr>
            <p:cNvPr id="7" name="object 7"/>
            <p:cNvSpPr/>
            <p:nvPr/>
          </p:nvSpPr>
          <p:spPr>
            <a:xfrm>
              <a:off x="681570" y="2054237"/>
              <a:ext cx="7969884" cy="695960"/>
            </a:xfrm>
            <a:custGeom>
              <a:avLst/>
              <a:gdLst/>
              <a:ahLst/>
              <a:cxnLst/>
              <a:rect l="l" t="t" r="r" b="b"/>
              <a:pathLst>
                <a:path w="7969884" h="695960">
                  <a:moveTo>
                    <a:pt x="7901463" y="695867"/>
                  </a:moveTo>
                  <a:lnTo>
                    <a:pt x="69627" y="695867"/>
                  </a:lnTo>
                  <a:lnTo>
                    <a:pt x="42514" y="690428"/>
                  </a:lnTo>
                  <a:lnTo>
                    <a:pt x="20383" y="675512"/>
                  </a:lnTo>
                  <a:lnTo>
                    <a:pt x="5467" y="653382"/>
                  </a:lnTo>
                  <a:lnTo>
                    <a:pt x="0" y="626268"/>
                  </a:lnTo>
                  <a:lnTo>
                    <a:pt x="0" y="69627"/>
                  </a:lnTo>
                  <a:lnTo>
                    <a:pt x="20383" y="20383"/>
                  </a:lnTo>
                  <a:lnTo>
                    <a:pt x="69627" y="0"/>
                  </a:lnTo>
                  <a:lnTo>
                    <a:pt x="7901463" y="0"/>
                  </a:lnTo>
                  <a:lnTo>
                    <a:pt x="7928536" y="5467"/>
                  </a:lnTo>
                  <a:lnTo>
                    <a:pt x="7950671" y="20383"/>
                  </a:lnTo>
                  <a:lnTo>
                    <a:pt x="7965609" y="42514"/>
                  </a:lnTo>
                  <a:lnTo>
                    <a:pt x="7969861" y="63549"/>
                  </a:lnTo>
                  <a:lnTo>
                    <a:pt x="7969861" y="632331"/>
                  </a:lnTo>
                  <a:lnTo>
                    <a:pt x="7965595" y="653382"/>
                  </a:lnTo>
                  <a:lnTo>
                    <a:pt x="7950654" y="675512"/>
                  </a:lnTo>
                  <a:lnTo>
                    <a:pt x="7928510" y="690428"/>
                  </a:lnTo>
                  <a:lnTo>
                    <a:pt x="7901463" y="695867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82074" y="2054238"/>
              <a:ext cx="7970520" cy="695325"/>
            </a:xfrm>
            <a:custGeom>
              <a:avLst/>
              <a:gdLst/>
              <a:ahLst/>
              <a:cxnLst/>
              <a:rect l="l" t="t" r="r" b="b"/>
              <a:pathLst>
                <a:path w="7970520" h="695325">
                  <a:moveTo>
                    <a:pt x="67262" y="695324"/>
                  </a:moveTo>
                  <a:lnTo>
                    <a:pt x="42508" y="690332"/>
                  </a:lnTo>
                  <a:lnTo>
                    <a:pt x="20380" y="675419"/>
                  </a:lnTo>
                  <a:lnTo>
                    <a:pt x="5467" y="653291"/>
                  </a:lnTo>
                  <a:lnTo>
                    <a:pt x="0" y="626181"/>
                  </a:lnTo>
                  <a:lnTo>
                    <a:pt x="0" y="69618"/>
                  </a:lnTo>
                  <a:lnTo>
                    <a:pt x="5467" y="42508"/>
                  </a:lnTo>
                  <a:lnTo>
                    <a:pt x="20380" y="20380"/>
                  </a:lnTo>
                  <a:lnTo>
                    <a:pt x="42508" y="5467"/>
                  </a:lnTo>
                  <a:lnTo>
                    <a:pt x="69618" y="0"/>
                  </a:lnTo>
                  <a:lnTo>
                    <a:pt x="7900369" y="0"/>
                  </a:lnTo>
                  <a:lnTo>
                    <a:pt x="7949570" y="20380"/>
                  </a:lnTo>
                  <a:lnTo>
                    <a:pt x="7969987" y="69618"/>
                  </a:lnTo>
                  <a:lnTo>
                    <a:pt x="7969987" y="626181"/>
                  </a:lnTo>
                  <a:lnTo>
                    <a:pt x="7964519" y="653251"/>
                  </a:lnTo>
                  <a:lnTo>
                    <a:pt x="7949606" y="675383"/>
                  </a:lnTo>
                  <a:lnTo>
                    <a:pt x="7927478" y="690319"/>
                  </a:lnTo>
                  <a:lnTo>
                    <a:pt x="7902719" y="695324"/>
                  </a:lnTo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039612" y="2229199"/>
            <a:ext cx="2398395" cy="277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>
                <a:solidFill>
                  <a:srgbClr val="00426F"/>
                </a:solidFill>
                <a:latin typeface="Calibri"/>
                <a:cs typeface="Calibri"/>
              </a:rPr>
              <a:t>Customer</a:t>
            </a:r>
            <a:r>
              <a:rPr dirty="0" sz="1650" spc="-60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00426F"/>
                </a:solidFill>
                <a:latin typeface="Calibri"/>
                <a:cs typeface="Calibri"/>
              </a:rPr>
              <a:t>Support</a:t>
            </a:r>
            <a:r>
              <a:rPr dirty="0" sz="1650" spc="-55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00426F"/>
                </a:solidFill>
                <a:latin typeface="Calibri"/>
                <a:cs typeface="Calibri"/>
              </a:rPr>
              <a:t>Software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36413" y="2229199"/>
            <a:ext cx="458470" cy="277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20">
                <a:solidFill>
                  <a:srgbClr val="00D4AA"/>
                </a:solidFill>
                <a:latin typeface="Calibri"/>
                <a:cs typeface="Calibri"/>
              </a:rPr>
              <a:t>$17B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72541" y="2799675"/>
            <a:ext cx="7989570" cy="3734435"/>
            <a:chOff x="672541" y="2799675"/>
            <a:chExt cx="7989570" cy="3734435"/>
          </a:xfrm>
        </p:grpSpPr>
        <p:sp>
          <p:nvSpPr>
            <p:cNvPr id="12" name="object 12"/>
            <p:cNvSpPr/>
            <p:nvPr/>
          </p:nvSpPr>
          <p:spPr>
            <a:xfrm>
              <a:off x="681570" y="2809208"/>
              <a:ext cx="7969884" cy="695960"/>
            </a:xfrm>
            <a:custGeom>
              <a:avLst/>
              <a:gdLst/>
              <a:ahLst/>
              <a:cxnLst/>
              <a:rect l="l" t="t" r="r" b="b"/>
              <a:pathLst>
                <a:path w="7969884" h="695960">
                  <a:moveTo>
                    <a:pt x="7901463" y="695867"/>
                  </a:moveTo>
                  <a:lnTo>
                    <a:pt x="69627" y="695867"/>
                  </a:lnTo>
                  <a:lnTo>
                    <a:pt x="42514" y="690428"/>
                  </a:lnTo>
                  <a:lnTo>
                    <a:pt x="20383" y="675513"/>
                  </a:lnTo>
                  <a:lnTo>
                    <a:pt x="5467" y="653382"/>
                  </a:lnTo>
                  <a:lnTo>
                    <a:pt x="0" y="626268"/>
                  </a:lnTo>
                  <a:lnTo>
                    <a:pt x="0" y="69627"/>
                  </a:lnTo>
                  <a:lnTo>
                    <a:pt x="20383" y="20383"/>
                  </a:lnTo>
                  <a:lnTo>
                    <a:pt x="69627" y="0"/>
                  </a:lnTo>
                  <a:lnTo>
                    <a:pt x="7901463" y="0"/>
                  </a:lnTo>
                  <a:lnTo>
                    <a:pt x="7928536" y="5467"/>
                  </a:lnTo>
                  <a:lnTo>
                    <a:pt x="7950671" y="20383"/>
                  </a:lnTo>
                  <a:lnTo>
                    <a:pt x="7965609" y="42514"/>
                  </a:lnTo>
                  <a:lnTo>
                    <a:pt x="7969861" y="63549"/>
                  </a:lnTo>
                  <a:lnTo>
                    <a:pt x="7969861" y="632331"/>
                  </a:lnTo>
                  <a:lnTo>
                    <a:pt x="7965595" y="653382"/>
                  </a:lnTo>
                  <a:lnTo>
                    <a:pt x="7950654" y="675513"/>
                  </a:lnTo>
                  <a:lnTo>
                    <a:pt x="7928510" y="690428"/>
                  </a:lnTo>
                  <a:lnTo>
                    <a:pt x="7901463" y="695867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82074" y="2809208"/>
              <a:ext cx="7970520" cy="695325"/>
            </a:xfrm>
            <a:custGeom>
              <a:avLst/>
              <a:gdLst/>
              <a:ahLst/>
              <a:cxnLst/>
              <a:rect l="l" t="t" r="r" b="b"/>
              <a:pathLst>
                <a:path w="7970520" h="695325">
                  <a:moveTo>
                    <a:pt x="67262" y="695324"/>
                  </a:moveTo>
                  <a:lnTo>
                    <a:pt x="42508" y="690332"/>
                  </a:lnTo>
                  <a:lnTo>
                    <a:pt x="20380" y="675419"/>
                  </a:lnTo>
                  <a:lnTo>
                    <a:pt x="5467" y="653291"/>
                  </a:lnTo>
                  <a:lnTo>
                    <a:pt x="0" y="626181"/>
                  </a:lnTo>
                  <a:lnTo>
                    <a:pt x="0" y="69618"/>
                  </a:lnTo>
                  <a:lnTo>
                    <a:pt x="5467" y="42508"/>
                  </a:lnTo>
                  <a:lnTo>
                    <a:pt x="20380" y="20380"/>
                  </a:lnTo>
                  <a:lnTo>
                    <a:pt x="42508" y="5467"/>
                  </a:lnTo>
                  <a:lnTo>
                    <a:pt x="69618" y="0"/>
                  </a:lnTo>
                  <a:lnTo>
                    <a:pt x="7900369" y="0"/>
                  </a:lnTo>
                  <a:lnTo>
                    <a:pt x="7949570" y="20380"/>
                  </a:lnTo>
                  <a:lnTo>
                    <a:pt x="7969987" y="69618"/>
                  </a:lnTo>
                  <a:lnTo>
                    <a:pt x="7969987" y="626181"/>
                  </a:lnTo>
                  <a:lnTo>
                    <a:pt x="7964519" y="653251"/>
                  </a:lnTo>
                  <a:lnTo>
                    <a:pt x="7949606" y="675383"/>
                  </a:lnTo>
                  <a:lnTo>
                    <a:pt x="7927478" y="690319"/>
                  </a:lnTo>
                  <a:lnTo>
                    <a:pt x="7902719" y="695324"/>
                  </a:lnTo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81570" y="3564178"/>
              <a:ext cx="7969884" cy="695960"/>
            </a:xfrm>
            <a:custGeom>
              <a:avLst/>
              <a:gdLst/>
              <a:ahLst/>
              <a:cxnLst/>
              <a:rect l="l" t="t" r="r" b="b"/>
              <a:pathLst>
                <a:path w="7969884" h="695960">
                  <a:moveTo>
                    <a:pt x="7901463" y="695867"/>
                  </a:moveTo>
                  <a:lnTo>
                    <a:pt x="69627" y="695867"/>
                  </a:lnTo>
                  <a:lnTo>
                    <a:pt x="42514" y="690428"/>
                  </a:lnTo>
                  <a:lnTo>
                    <a:pt x="20383" y="675513"/>
                  </a:lnTo>
                  <a:lnTo>
                    <a:pt x="5467" y="653382"/>
                  </a:lnTo>
                  <a:lnTo>
                    <a:pt x="0" y="626268"/>
                  </a:lnTo>
                  <a:lnTo>
                    <a:pt x="0" y="69627"/>
                  </a:lnTo>
                  <a:lnTo>
                    <a:pt x="5467" y="42514"/>
                  </a:lnTo>
                  <a:lnTo>
                    <a:pt x="20383" y="20383"/>
                  </a:lnTo>
                  <a:lnTo>
                    <a:pt x="42514" y="5468"/>
                  </a:lnTo>
                  <a:lnTo>
                    <a:pt x="69627" y="0"/>
                  </a:lnTo>
                  <a:lnTo>
                    <a:pt x="7901463" y="0"/>
                  </a:lnTo>
                  <a:lnTo>
                    <a:pt x="7928536" y="5468"/>
                  </a:lnTo>
                  <a:lnTo>
                    <a:pt x="7950671" y="20383"/>
                  </a:lnTo>
                  <a:lnTo>
                    <a:pt x="7965609" y="42514"/>
                  </a:lnTo>
                  <a:lnTo>
                    <a:pt x="7969861" y="63549"/>
                  </a:lnTo>
                  <a:lnTo>
                    <a:pt x="7969861" y="632331"/>
                  </a:lnTo>
                  <a:lnTo>
                    <a:pt x="7965595" y="653382"/>
                  </a:lnTo>
                  <a:lnTo>
                    <a:pt x="7950654" y="675513"/>
                  </a:lnTo>
                  <a:lnTo>
                    <a:pt x="7928510" y="690428"/>
                  </a:lnTo>
                  <a:lnTo>
                    <a:pt x="7901463" y="695867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82074" y="3564178"/>
              <a:ext cx="7970520" cy="695325"/>
            </a:xfrm>
            <a:custGeom>
              <a:avLst/>
              <a:gdLst/>
              <a:ahLst/>
              <a:cxnLst/>
              <a:rect l="l" t="t" r="r" b="b"/>
              <a:pathLst>
                <a:path w="7970520" h="695325">
                  <a:moveTo>
                    <a:pt x="67262" y="695324"/>
                  </a:moveTo>
                  <a:lnTo>
                    <a:pt x="42508" y="690332"/>
                  </a:lnTo>
                  <a:lnTo>
                    <a:pt x="20380" y="675419"/>
                  </a:lnTo>
                  <a:lnTo>
                    <a:pt x="5467" y="653291"/>
                  </a:lnTo>
                  <a:lnTo>
                    <a:pt x="0" y="626181"/>
                  </a:lnTo>
                  <a:lnTo>
                    <a:pt x="0" y="69618"/>
                  </a:lnTo>
                  <a:lnTo>
                    <a:pt x="5467" y="42508"/>
                  </a:lnTo>
                  <a:lnTo>
                    <a:pt x="20380" y="20380"/>
                  </a:lnTo>
                  <a:lnTo>
                    <a:pt x="42508" y="5467"/>
                  </a:lnTo>
                  <a:lnTo>
                    <a:pt x="69618" y="0"/>
                  </a:lnTo>
                  <a:lnTo>
                    <a:pt x="7900369" y="0"/>
                  </a:lnTo>
                  <a:lnTo>
                    <a:pt x="7949570" y="20380"/>
                  </a:lnTo>
                  <a:lnTo>
                    <a:pt x="7969987" y="69618"/>
                  </a:lnTo>
                  <a:lnTo>
                    <a:pt x="7969987" y="626181"/>
                  </a:lnTo>
                  <a:lnTo>
                    <a:pt x="7964519" y="653251"/>
                  </a:lnTo>
                  <a:lnTo>
                    <a:pt x="7949606" y="675383"/>
                  </a:lnTo>
                  <a:lnTo>
                    <a:pt x="7927478" y="690319"/>
                  </a:lnTo>
                  <a:lnTo>
                    <a:pt x="7902719" y="695324"/>
                  </a:lnTo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81570" y="4319149"/>
              <a:ext cx="7969884" cy="695960"/>
            </a:xfrm>
            <a:custGeom>
              <a:avLst/>
              <a:gdLst/>
              <a:ahLst/>
              <a:cxnLst/>
              <a:rect l="l" t="t" r="r" b="b"/>
              <a:pathLst>
                <a:path w="7969884" h="695960">
                  <a:moveTo>
                    <a:pt x="7901463" y="695867"/>
                  </a:moveTo>
                  <a:lnTo>
                    <a:pt x="69627" y="695867"/>
                  </a:lnTo>
                  <a:lnTo>
                    <a:pt x="42514" y="690428"/>
                  </a:lnTo>
                  <a:lnTo>
                    <a:pt x="20383" y="675513"/>
                  </a:lnTo>
                  <a:lnTo>
                    <a:pt x="5467" y="653382"/>
                  </a:lnTo>
                  <a:lnTo>
                    <a:pt x="0" y="626268"/>
                  </a:lnTo>
                  <a:lnTo>
                    <a:pt x="0" y="69627"/>
                  </a:lnTo>
                  <a:lnTo>
                    <a:pt x="20383" y="20383"/>
                  </a:lnTo>
                  <a:lnTo>
                    <a:pt x="69627" y="0"/>
                  </a:lnTo>
                  <a:lnTo>
                    <a:pt x="7901463" y="0"/>
                  </a:lnTo>
                  <a:lnTo>
                    <a:pt x="7928536" y="5468"/>
                  </a:lnTo>
                  <a:lnTo>
                    <a:pt x="7950671" y="20383"/>
                  </a:lnTo>
                  <a:lnTo>
                    <a:pt x="7965609" y="42514"/>
                  </a:lnTo>
                  <a:lnTo>
                    <a:pt x="7969861" y="63549"/>
                  </a:lnTo>
                  <a:lnTo>
                    <a:pt x="7969861" y="632331"/>
                  </a:lnTo>
                  <a:lnTo>
                    <a:pt x="7965595" y="653382"/>
                  </a:lnTo>
                  <a:lnTo>
                    <a:pt x="7950654" y="675513"/>
                  </a:lnTo>
                  <a:lnTo>
                    <a:pt x="7928510" y="690428"/>
                  </a:lnTo>
                  <a:lnTo>
                    <a:pt x="7901463" y="695867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82074" y="4319149"/>
              <a:ext cx="7970520" cy="695325"/>
            </a:xfrm>
            <a:custGeom>
              <a:avLst/>
              <a:gdLst/>
              <a:ahLst/>
              <a:cxnLst/>
              <a:rect l="l" t="t" r="r" b="b"/>
              <a:pathLst>
                <a:path w="7970520" h="695325">
                  <a:moveTo>
                    <a:pt x="67262" y="695324"/>
                  </a:moveTo>
                  <a:lnTo>
                    <a:pt x="42508" y="690332"/>
                  </a:lnTo>
                  <a:lnTo>
                    <a:pt x="20380" y="675419"/>
                  </a:lnTo>
                  <a:lnTo>
                    <a:pt x="5467" y="653291"/>
                  </a:lnTo>
                  <a:lnTo>
                    <a:pt x="0" y="626181"/>
                  </a:lnTo>
                  <a:lnTo>
                    <a:pt x="0" y="69618"/>
                  </a:lnTo>
                  <a:lnTo>
                    <a:pt x="5467" y="42508"/>
                  </a:lnTo>
                  <a:lnTo>
                    <a:pt x="20380" y="20380"/>
                  </a:lnTo>
                  <a:lnTo>
                    <a:pt x="42508" y="5467"/>
                  </a:lnTo>
                  <a:lnTo>
                    <a:pt x="69618" y="0"/>
                  </a:lnTo>
                  <a:lnTo>
                    <a:pt x="7900369" y="0"/>
                  </a:lnTo>
                  <a:lnTo>
                    <a:pt x="7949570" y="20380"/>
                  </a:lnTo>
                  <a:lnTo>
                    <a:pt x="7969987" y="69618"/>
                  </a:lnTo>
                  <a:lnTo>
                    <a:pt x="7969987" y="626181"/>
                  </a:lnTo>
                  <a:lnTo>
                    <a:pt x="7964519" y="653251"/>
                  </a:lnTo>
                  <a:lnTo>
                    <a:pt x="7949606" y="675383"/>
                  </a:lnTo>
                  <a:lnTo>
                    <a:pt x="7927478" y="690319"/>
                  </a:lnTo>
                  <a:lnTo>
                    <a:pt x="7902719" y="695324"/>
                  </a:lnTo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81570" y="5074120"/>
              <a:ext cx="7969884" cy="695960"/>
            </a:xfrm>
            <a:custGeom>
              <a:avLst/>
              <a:gdLst/>
              <a:ahLst/>
              <a:cxnLst/>
              <a:rect l="l" t="t" r="r" b="b"/>
              <a:pathLst>
                <a:path w="7969884" h="695960">
                  <a:moveTo>
                    <a:pt x="7901463" y="695867"/>
                  </a:moveTo>
                  <a:lnTo>
                    <a:pt x="69627" y="695867"/>
                  </a:lnTo>
                  <a:lnTo>
                    <a:pt x="42514" y="690428"/>
                  </a:lnTo>
                  <a:lnTo>
                    <a:pt x="20383" y="675512"/>
                  </a:lnTo>
                  <a:lnTo>
                    <a:pt x="5467" y="653382"/>
                  </a:lnTo>
                  <a:lnTo>
                    <a:pt x="0" y="626268"/>
                  </a:lnTo>
                  <a:lnTo>
                    <a:pt x="0" y="69627"/>
                  </a:lnTo>
                  <a:lnTo>
                    <a:pt x="20383" y="20383"/>
                  </a:lnTo>
                  <a:lnTo>
                    <a:pt x="69627" y="0"/>
                  </a:lnTo>
                  <a:lnTo>
                    <a:pt x="7901463" y="0"/>
                  </a:lnTo>
                  <a:lnTo>
                    <a:pt x="7928536" y="5468"/>
                  </a:lnTo>
                  <a:lnTo>
                    <a:pt x="7950671" y="20383"/>
                  </a:lnTo>
                  <a:lnTo>
                    <a:pt x="7965609" y="42514"/>
                  </a:lnTo>
                  <a:lnTo>
                    <a:pt x="7969861" y="63549"/>
                  </a:lnTo>
                  <a:lnTo>
                    <a:pt x="7969861" y="632331"/>
                  </a:lnTo>
                  <a:lnTo>
                    <a:pt x="7965595" y="653382"/>
                  </a:lnTo>
                  <a:lnTo>
                    <a:pt x="7950654" y="675512"/>
                  </a:lnTo>
                  <a:lnTo>
                    <a:pt x="7928510" y="690428"/>
                  </a:lnTo>
                  <a:lnTo>
                    <a:pt x="7901463" y="695867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82074" y="5074119"/>
              <a:ext cx="7970520" cy="695325"/>
            </a:xfrm>
            <a:custGeom>
              <a:avLst/>
              <a:gdLst/>
              <a:ahLst/>
              <a:cxnLst/>
              <a:rect l="l" t="t" r="r" b="b"/>
              <a:pathLst>
                <a:path w="7970520" h="695325">
                  <a:moveTo>
                    <a:pt x="67262" y="695324"/>
                  </a:moveTo>
                  <a:lnTo>
                    <a:pt x="20380" y="675419"/>
                  </a:lnTo>
                  <a:lnTo>
                    <a:pt x="0" y="626181"/>
                  </a:lnTo>
                  <a:lnTo>
                    <a:pt x="0" y="69618"/>
                  </a:lnTo>
                  <a:lnTo>
                    <a:pt x="5467" y="42508"/>
                  </a:lnTo>
                  <a:lnTo>
                    <a:pt x="20380" y="20380"/>
                  </a:lnTo>
                  <a:lnTo>
                    <a:pt x="42508" y="5467"/>
                  </a:lnTo>
                  <a:lnTo>
                    <a:pt x="69618" y="0"/>
                  </a:lnTo>
                  <a:lnTo>
                    <a:pt x="7900369" y="0"/>
                  </a:lnTo>
                  <a:lnTo>
                    <a:pt x="7949570" y="20380"/>
                  </a:lnTo>
                  <a:lnTo>
                    <a:pt x="7969987" y="69618"/>
                  </a:lnTo>
                  <a:lnTo>
                    <a:pt x="7969987" y="626181"/>
                  </a:lnTo>
                  <a:lnTo>
                    <a:pt x="7964519" y="653251"/>
                  </a:lnTo>
                  <a:lnTo>
                    <a:pt x="7949606" y="675383"/>
                  </a:lnTo>
                  <a:lnTo>
                    <a:pt x="7927478" y="690319"/>
                  </a:lnTo>
                  <a:lnTo>
                    <a:pt x="7902718" y="695324"/>
                  </a:lnTo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81570" y="5829090"/>
              <a:ext cx="7969884" cy="695960"/>
            </a:xfrm>
            <a:custGeom>
              <a:avLst/>
              <a:gdLst/>
              <a:ahLst/>
              <a:cxnLst/>
              <a:rect l="l" t="t" r="r" b="b"/>
              <a:pathLst>
                <a:path w="7969884" h="695959">
                  <a:moveTo>
                    <a:pt x="7901463" y="695867"/>
                  </a:moveTo>
                  <a:lnTo>
                    <a:pt x="69627" y="695867"/>
                  </a:lnTo>
                  <a:lnTo>
                    <a:pt x="42514" y="690428"/>
                  </a:lnTo>
                  <a:lnTo>
                    <a:pt x="20383" y="675513"/>
                  </a:lnTo>
                  <a:lnTo>
                    <a:pt x="5467" y="653382"/>
                  </a:lnTo>
                  <a:lnTo>
                    <a:pt x="0" y="626268"/>
                  </a:lnTo>
                  <a:lnTo>
                    <a:pt x="0" y="69627"/>
                  </a:lnTo>
                  <a:lnTo>
                    <a:pt x="20383" y="20383"/>
                  </a:lnTo>
                  <a:lnTo>
                    <a:pt x="69627" y="0"/>
                  </a:lnTo>
                  <a:lnTo>
                    <a:pt x="7901463" y="0"/>
                  </a:lnTo>
                  <a:lnTo>
                    <a:pt x="7928536" y="5468"/>
                  </a:lnTo>
                  <a:lnTo>
                    <a:pt x="7950671" y="20383"/>
                  </a:lnTo>
                  <a:lnTo>
                    <a:pt x="7965609" y="42514"/>
                  </a:lnTo>
                  <a:lnTo>
                    <a:pt x="7969861" y="63549"/>
                  </a:lnTo>
                  <a:lnTo>
                    <a:pt x="7969861" y="632331"/>
                  </a:lnTo>
                  <a:lnTo>
                    <a:pt x="7965595" y="653382"/>
                  </a:lnTo>
                  <a:lnTo>
                    <a:pt x="7950654" y="675513"/>
                  </a:lnTo>
                  <a:lnTo>
                    <a:pt x="7928510" y="690428"/>
                  </a:lnTo>
                  <a:lnTo>
                    <a:pt x="7901463" y="695867"/>
                  </a:lnTo>
                  <a:close/>
                </a:path>
              </a:pathLst>
            </a:custGeom>
            <a:solidFill>
              <a:srgbClr val="0929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82074" y="5829090"/>
              <a:ext cx="7970520" cy="695325"/>
            </a:xfrm>
            <a:custGeom>
              <a:avLst/>
              <a:gdLst/>
              <a:ahLst/>
              <a:cxnLst/>
              <a:rect l="l" t="t" r="r" b="b"/>
              <a:pathLst>
                <a:path w="7970520" h="695325">
                  <a:moveTo>
                    <a:pt x="67263" y="695325"/>
                  </a:moveTo>
                  <a:lnTo>
                    <a:pt x="42508" y="690332"/>
                  </a:lnTo>
                  <a:lnTo>
                    <a:pt x="20380" y="675419"/>
                  </a:lnTo>
                  <a:lnTo>
                    <a:pt x="5467" y="653291"/>
                  </a:lnTo>
                  <a:lnTo>
                    <a:pt x="0" y="626181"/>
                  </a:lnTo>
                  <a:lnTo>
                    <a:pt x="0" y="69617"/>
                  </a:lnTo>
                  <a:lnTo>
                    <a:pt x="5467" y="42508"/>
                  </a:lnTo>
                  <a:lnTo>
                    <a:pt x="20380" y="20380"/>
                  </a:lnTo>
                  <a:lnTo>
                    <a:pt x="42508" y="5467"/>
                  </a:lnTo>
                  <a:lnTo>
                    <a:pt x="69618" y="0"/>
                  </a:lnTo>
                  <a:lnTo>
                    <a:pt x="7900369" y="0"/>
                  </a:lnTo>
                  <a:lnTo>
                    <a:pt x="7927438" y="5467"/>
                  </a:lnTo>
                  <a:lnTo>
                    <a:pt x="7949570" y="20380"/>
                  </a:lnTo>
                  <a:lnTo>
                    <a:pt x="7964506" y="42508"/>
                  </a:lnTo>
                  <a:lnTo>
                    <a:pt x="7969987" y="69617"/>
                  </a:lnTo>
                  <a:lnTo>
                    <a:pt x="7969986" y="626181"/>
                  </a:lnTo>
                  <a:lnTo>
                    <a:pt x="7964519" y="653251"/>
                  </a:lnTo>
                  <a:lnTo>
                    <a:pt x="7949606" y="675383"/>
                  </a:lnTo>
                  <a:lnTo>
                    <a:pt x="7927478" y="690319"/>
                  </a:lnTo>
                  <a:lnTo>
                    <a:pt x="7902717" y="695325"/>
                  </a:lnTo>
                </a:path>
              </a:pathLst>
            </a:custGeom>
            <a:ln w="19064">
              <a:solidFill>
                <a:srgbClr val="00D4A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1020562" y="2776613"/>
          <a:ext cx="7369809" cy="34994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3105"/>
                <a:gridCol w="2770504"/>
              </a:tblGrid>
              <a:tr h="75438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735"/>
                        </a:spcBef>
                      </a:pPr>
                      <a:r>
                        <a:rPr dirty="0" sz="1650">
                          <a:solidFill>
                            <a:srgbClr val="00426F"/>
                          </a:solidFill>
                          <a:latin typeface="Calibri"/>
                          <a:cs typeface="Calibri"/>
                        </a:rPr>
                        <a:t>Sales</a:t>
                      </a:r>
                      <a:r>
                        <a:rPr dirty="0" sz="1650" spc="-40">
                          <a:solidFill>
                            <a:srgbClr val="00426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50">
                          <a:solidFill>
                            <a:srgbClr val="00426F"/>
                          </a:solidFill>
                          <a:latin typeface="Calibri"/>
                          <a:cs typeface="Calibri"/>
                        </a:rPr>
                        <a:t>Automation</a:t>
                      </a:r>
                      <a:r>
                        <a:rPr dirty="0" sz="1650" spc="-40">
                          <a:solidFill>
                            <a:srgbClr val="00426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50">
                          <a:solidFill>
                            <a:srgbClr val="00426F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650" spc="-40">
                          <a:solidFill>
                            <a:srgbClr val="00426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50" spc="-25">
                          <a:solidFill>
                            <a:srgbClr val="00426F"/>
                          </a:solidFill>
                          <a:latin typeface="Calibri"/>
                          <a:cs typeface="Calibri"/>
                        </a:rPr>
                        <a:t>CRM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B="0" marT="220345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1735"/>
                        </a:spcBef>
                      </a:pPr>
                      <a:r>
                        <a:rPr dirty="0" sz="1650" spc="-20">
                          <a:solidFill>
                            <a:srgbClr val="00D4AA"/>
                          </a:solidFill>
                          <a:latin typeface="Calibri"/>
                          <a:cs typeface="Calibri"/>
                        </a:rPr>
                        <a:t>$96B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B="0" marT="220345"/>
                </a:tc>
              </a:tr>
              <a:tr h="75438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735"/>
                        </a:spcBef>
                      </a:pPr>
                      <a:r>
                        <a:rPr dirty="0" sz="1650">
                          <a:solidFill>
                            <a:srgbClr val="00426F"/>
                          </a:solidFill>
                          <a:latin typeface="Calibri"/>
                          <a:cs typeface="Calibri"/>
                        </a:rPr>
                        <a:t>Customer</a:t>
                      </a:r>
                      <a:r>
                        <a:rPr dirty="0" sz="1650" spc="-75">
                          <a:solidFill>
                            <a:srgbClr val="00426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50">
                          <a:solidFill>
                            <a:srgbClr val="00426F"/>
                          </a:solidFill>
                          <a:latin typeface="Calibri"/>
                          <a:cs typeface="Calibri"/>
                        </a:rPr>
                        <a:t>Success</a:t>
                      </a:r>
                      <a:r>
                        <a:rPr dirty="0" sz="1650" spc="-70">
                          <a:solidFill>
                            <a:srgbClr val="00426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50" spc="-10">
                          <a:solidFill>
                            <a:srgbClr val="00426F"/>
                          </a:solidFill>
                          <a:latin typeface="Calibri"/>
                          <a:cs typeface="Calibri"/>
                        </a:rPr>
                        <a:t>Platforms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B="0" marT="220345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1735"/>
                        </a:spcBef>
                      </a:pPr>
                      <a:r>
                        <a:rPr dirty="0" sz="1650" spc="-25">
                          <a:solidFill>
                            <a:srgbClr val="00D4AA"/>
                          </a:solidFill>
                          <a:latin typeface="Calibri"/>
                          <a:cs typeface="Calibri"/>
                        </a:rPr>
                        <a:t>$3B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B="0" marT="220345"/>
                </a:tc>
              </a:tr>
              <a:tr h="75438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735"/>
                        </a:spcBef>
                      </a:pPr>
                      <a:r>
                        <a:rPr dirty="0" sz="1650">
                          <a:solidFill>
                            <a:srgbClr val="00426F"/>
                          </a:solidFill>
                          <a:latin typeface="Calibri"/>
                          <a:cs typeface="Calibri"/>
                        </a:rPr>
                        <a:t>Contact</a:t>
                      </a:r>
                      <a:r>
                        <a:rPr dirty="0" sz="1650" spc="-50">
                          <a:solidFill>
                            <a:srgbClr val="00426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50">
                          <a:solidFill>
                            <a:srgbClr val="00426F"/>
                          </a:solidFill>
                          <a:latin typeface="Calibri"/>
                          <a:cs typeface="Calibri"/>
                        </a:rPr>
                        <a:t>Center</a:t>
                      </a:r>
                      <a:r>
                        <a:rPr dirty="0" sz="1650" spc="-50">
                          <a:solidFill>
                            <a:srgbClr val="00426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50" spc="-25">
                          <a:solidFill>
                            <a:srgbClr val="00426F"/>
                          </a:solidFill>
                          <a:latin typeface="Calibri"/>
                          <a:cs typeface="Calibri"/>
                        </a:rPr>
                        <a:t>AI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B="0" marT="220345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1735"/>
                        </a:spcBef>
                      </a:pPr>
                      <a:r>
                        <a:rPr dirty="0" sz="1650" spc="-20">
                          <a:solidFill>
                            <a:srgbClr val="00D4AA"/>
                          </a:solidFill>
                          <a:latin typeface="Calibri"/>
                          <a:cs typeface="Calibri"/>
                        </a:rPr>
                        <a:t>$28B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B="0" marT="220345"/>
                </a:tc>
              </a:tr>
              <a:tr h="75438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735"/>
                        </a:spcBef>
                      </a:pPr>
                      <a:r>
                        <a:rPr dirty="0" sz="1650">
                          <a:solidFill>
                            <a:srgbClr val="00426F"/>
                          </a:solidFill>
                          <a:latin typeface="Calibri"/>
                          <a:cs typeface="Calibri"/>
                        </a:rPr>
                        <a:t>AI</a:t>
                      </a:r>
                      <a:r>
                        <a:rPr dirty="0" sz="1650" spc="-35">
                          <a:solidFill>
                            <a:srgbClr val="00426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50">
                          <a:solidFill>
                            <a:srgbClr val="00426F"/>
                          </a:solidFill>
                          <a:latin typeface="Calibri"/>
                          <a:cs typeface="Calibri"/>
                        </a:rPr>
                        <a:t>Agent</a:t>
                      </a:r>
                      <a:r>
                        <a:rPr dirty="0" sz="1650" spc="-30">
                          <a:solidFill>
                            <a:srgbClr val="00426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50">
                          <a:solidFill>
                            <a:srgbClr val="00426F"/>
                          </a:solidFill>
                          <a:latin typeface="Calibri"/>
                          <a:cs typeface="Calibri"/>
                        </a:rPr>
                        <a:t>Market</a:t>
                      </a:r>
                      <a:r>
                        <a:rPr dirty="0" sz="1650" spc="-35">
                          <a:solidFill>
                            <a:srgbClr val="00426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50" spc="-10">
                          <a:solidFill>
                            <a:srgbClr val="00426F"/>
                          </a:solidFill>
                          <a:latin typeface="Calibri"/>
                          <a:cs typeface="Calibri"/>
                        </a:rPr>
                        <a:t>(2030E)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B="0" marT="220345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1735"/>
                        </a:spcBef>
                      </a:pPr>
                      <a:r>
                        <a:rPr dirty="0" sz="1650" spc="-20">
                          <a:solidFill>
                            <a:srgbClr val="00D4AA"/>
                          </a:solidFill>
                          <a:latin typeface="Calibri"/>
                          <a:cs typeface="Calibri"/>
                        </a:rPr>
                        <a:t>$47B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B="0" marT="220345"/>
                </a:tc>
              </a:tr>
              <a:tr h="481965">
                <a:tc>
                  <a:txBody>
                    <a:bodyPr/>
                    <a:lstStyle/>
                    <a:p>
                      <a:pPr marL="31750">
                        <a:lnSpc>
                          <a:spcPts val="1964"/>
                        </a:lnSpc>
                        <a:spcBef>
                          <a:spcPts val="1735"/>
                        </a:spcBef>
                      </a:pPr>
                      <a:r>
                        <a:rPr dirty="0" sz="1650" b="1">
                          <a:solidFill>
                            <a:srgbClr val="00D4AA"/>
                          </a:solidFill>
                          <a:latin typeface="Calibri"/>
                          <a:cs typeface="Calibri"/>
                        </a:rPr>
                        <a:t>Total</a:t>
                      </a:r>
                      <a:r>
                        <a:rPr dirty="0" sz="1650" spc="-20" b="1">
                          <a:solidFill>
                            <a:srgbClr val="00D4A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50" spc="-10" b="1">
                          <a:solidFill>
                            <a:srgbClr val="00D4AA"/>
                          </a:solidFill>
                          <a:latin typeface="Calibri"/>
                          <a:cs typeface="Calibri"/>
                        </a:rPr>
                        <a:t>Addressable</a:t>
                      </a:r>
                      <a:r>
                        <a:rPr dirty="0" sz="1650" spc="-15" b="1">
                          <a:solidFill>
                            <a:srgbClr val="00D4A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50" spc="-10" b="1">
                          <a:solidFill>
                            <a:srgbClr val="00D4AA"/>
                          </a:solidFill>
                          <a:latin typeface="Calibri"/>
                          <a:cs typeface="Calibri"/>
                        </a:rPr>
                        <a:t>Market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B="0" marT="220345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964"/>
                        </a:lnSpc>
                        <a:spcBef>
                          <a:spcPts val="1735"/>
                        </a:spcBef>
                      </a:pPr>
                      <a:r>
                        <a:rPr dirty="0" sz="1650" spc="-10" b="1">
                          <a:solidFill>
                            <a:srgbClr val="00D4AA"/>
                          </a:solidFill>
                          <a:latin typeface="Calibri"/>
                          <a:cs typeface="Calibri"/>
                        </a:rPr>
                        <a:t>$200B+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B="0" marT="220345"/>
                </a:tc>
              </a:tr>
            </a:tbl>
          </a:graphicData>
        </a:graphic>
      </p:graphicFrame>
      <p:grpSp>
        <p:nvGrpSpPr>
          <p:cNvPr id="23" name="object 23"/>
          <p:cNvGrpSpPr/>
          <p:nvPr/>
        </p:nvGrpSpPr>
        <p:grpSpPr>
          <a:xfrm>
            <a:off x="9168435" y="2030410"/>
            <a:ext cx="8293100" cy="1910714"/>
            <a:chOff x="9168435" y="2030410"/>
            <a:chExt cx="8293100" cy="1910714"/>
          </a:xfrm>
        </p:grpSpPr>
        <p:sp>
          <p:nvSpPr>
            <p:cNvPr id="24" name="object 24"/>
            <p:cNvSpPr/>
            <p:nvPr/>
          </p:nvSpPr>
          <p:spPr>
            <a:xfrm>
              <a:off x="9187376" y="2049475"/>
              <a:ext cx="8255634" cy="1872614"/>
            </a:xfrm>
            <a:custGeom>
              <a:avLst/>
              <a:gdLst/>
              <a:ahLst/>
              <a:cxnLst/>
              <a:rect l="l" t="t" r="r" b="b"/>
              <a:pathLst>
                <a:path w="8255634" h="1872614">
                  <a:moveTo>
                    <a:pt x="8161496" y="1872233"/>
                  </a:moveTo>
                  <a:lnTo>
                    <a:pt x="93630" y="1872233"/>
                  </a:lnTo>
                  <a:lnTo>
                    <a:pt x="57181" y="1864877"/>
                  </a:lnTo>
                  <a:lnTo>
                    <a:pt x="27420" y="1844813"/>
                  </a:lnTo>
                  <a:lnTo>
                    <a:pt x="7356" y="1815052"/>
                  </a:lnTo>
                  <a:lnTo>
                    <a:pt x="0" y="1778603"/>
                  </a:lnTo>
                  <a:lnTo>
                    <a:pt x="0" y="93630"/>
                  </a:lnTo>
                  <a:lnTo>
                    <a:pt x="7356" y="57181"/>
                  </a:lnTo>
                  <a:lnTo>
                    <a:pt x="27420" y="27420"/>
                  </a:lnTo>
                  <a:lnTo>
                    <a:pt x="57181" y="7356"/>
                  </a:lnTo>
                  <a:lnTo>
                    <a:pt x="93630" y="0"/>
                  </a:lnTo>
                  <a:lnTo>
                    <a:pt x="8161496" y="0"/>
                  </a:lnTo>
                  <a:lnTo>
                    <a:pt x="8197946" y="7356"/>
                  </a:lnTo>
                  <a:lnTo>
                    <a:pt x="8227707" y="27420"/>
                  </a:lnTo>
                  <a:lnTo>
                    <a:pt x="8247770" y="57181"/>
                  </a:lnTo>
                  <a:lnTo>
                    <a:pt x="8255127" y="93630"/>
                  </a:lnTo>
                  <a:lnTo>
                    <a:pt x="8255127" y="1778603"/>
                  </a:lnTo>
                  <a:lnTo>
                    <a:pt x="8247770" y="1815052"/>
                  </a:lnTo>
                  <a:lnTo>
                    <a:pt x="8227707" y="1844813"/>
                  </a:lnTo>
                  <a:lnTo>
                    <a:pt x="8197946" y="1864877"/>
                  </a:lnTo>
                  <a:lnTo>
                    <a:pt x="8161496" y="1872233"/>
                  </a:lnTo>
                  <a:close/>
                </a:path>
              </a:pathLst>
            </a:custGeom>
            <a:solidFill>
              <a:srgbClr val="0929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9187500" y="2049475"/>
              <a:ext cx="8255000" cy="1872614"/>
            </a:xfrm>
            <a:custGeom>
              <a:avLst/>
              <a:gdLst/>
              <a:ahLst/>
              <a:cxnLst/>
              <a:rect l="l" t="t" r="r" b="b"/>
              <a:pathLst>
                <a:path w="8255000" h="1872614">
                  <a:moveTo>
                    <a:pt x="0" y="93627"/>
                  </a:moveTo>
                  <a:lnTo>
                    <a:pt x="7356" y="57179"/>
                  </a:lnTo>
                  <a:lnTo>
                    <a:pt x="27419" y="27419"/>
                  </a:lnTo>
                  <a:lnTo>
                    <a:pt x="57179" y="7356"/>
                  </a:lnTo>
                  <a:lnTo>
                    <a:pt x="93627" y="0"/>
                  </a:lnTo>
                  <a:lnTo>
                    <a:pt x="8161198" y="0"/>
                  </a:lnTo>
                  <a:lnTo>
                    <a:pt x="8227407" y="27418"/>
                  </a:lnTo>
                  <a:lnTo>
                    <a:pt x="8254826" y="93627"/>
                  </a:lnTo>
                  <a:lnTo>
                    <a:pt x="8254826" y="1778538"/>
                  </a:lnTo>
                  <a:lnTo>
                    <a:pt x="8247470" y="1814986"/>
                  </a:lnTo>
                  <a:lnTo>
                    <a:pt x="8227407" y="1844747"/>
                  </a:lnTo>
                  <a:lnTo>
                    <a:pt x="8197647" y="1864809"/>
                  </a:lnTo>
                  <a:lnTo>
                    <a:pt x="8161198" y="1872165"/>
                  </a:lnTo>
                  <a:lnTo>
                    <a:pt x="93627" y="1872165"/>
                  </a:lnTo>
                  <a:lnTo>
                    <a:pt x="57179" y="1864809"/>
                  </a:lnTo>
                  <a:lnTo>
                    <a:pt x="27419" y="1844746"/>
                  </a:lnTo>
                  <a:lnTo>
                    <a:pt x="7356" y="1814986"/>
                  </a:lnTo>
                  <a:lnTo>
                    <a:pt x="0" y="1778538"/>
                  </a:lnTo>
                  <a:lnTo>
                    <a:pt x="0" y="93627"/>
                  </a:lnTo>
                </a:path>
              </a:pathLst>
            </a:custGeom>
            <a:ln w="38129">
              <a:solidFill>
                <a:srgbClr val="00D4A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9481543" y="2517373"/>
            <a:ext cx="6847840" cy="8674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00D4AA"/>
                </a:solidFill>
                <a:latin typeface="Calibri"/>
                <a:cs typeface="Calibri"/>
              </a:rPr>
              <a:t>Why</a:t>
            </a:r>
            <a:r>
              <a:rPr dirty="0" sz="1500" spc="-30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00D4AA"/>
                </a:solidFill>
                <a:latin typeface="Calibri"/>
                <a:cs typeface="Calibri"/>
              </a:rPr>
              <a:t>We</a:t>
            </a:r>
            <a:r>
              <a:rPr dirty="0" sz="1500" spc="-30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500" spc="-25" b="1">
                <a:solidFill>
                  <a:srgbClr val="00D4AA"/>
                </a:solidFill>
                <a:latin typeface="Calibri"/>
                <a:cs typeface="Calibri"/>
              </a:rPr>
              <a:t>Win</a:t>
            </a:r>
            <a:endParaRPr sz="15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225"/>
              </a:spcBef>
            </a:pP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Follei</a:t>
            </a:r>
            <a:r>
              <a:rPr dirty="0" sz="150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replaces</a:t>
            </a:r>
            <a:r>
              <a:rPr dirty="0" sz="150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the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need</a:t>
            </a:r>
            <a:r>
              <a:rPr dirty="0" sz="150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for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tools</a:t>
            </a:r>
            <a:r>
              <a:rPr dirty="0" sz="150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in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all</a:t>
            </a:r>
            <a:r>
              <a:rPr dirty="0" sz="150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of</a:t>
            </a:r>
            <a:r>
              <a:rPr dirty="0" sz="150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these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simultaneously,</a:t>
            </a:r>
            <a:r>
              <a:rPr dirty="0" sz="150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creating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a</a:t>
            </a:r>
            <a:r>
              <a:rPr dirty="0" sz="150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new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category: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Autonomous</a:t>
            </a:r>
            <a:r>
              <a:rPr dirty="0" sz="1500" spc="-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Workforce</a:t>
            </a:r>
            <a:r>
              <a:rPr dirty="0" sz="1500" spc="-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Platforms.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9168435" y="4089419"/>
            <a:ext cx="8293100" cy="1910714"/>
            <a:chOff x="9168435" y="4089419"/>
            <a:chExt cx="8293100" cy="1910714"/>
          </a:xfrm>
        </p:grpSpPr>
        <p:sp>
          <p:nvSpPr>
            <p:cNvPr id="28" name="object 28"/>
            <p:cNvSpPr/>
            <p:nvPr/>
          </p:nvSpPr>
          <p:spPr>
            <a:xfrm>
              <a:off x="9187376" y="4108485"/>
              <a:ext cx="8255634" cy="1872614"/>
            </a:xfrm>
            <a:custGeom>
              <a:avLst/>
              <a:gdLst/>
              <a:ahLst/>
              <a:cxnLst/>
              <a:rect l="l" t="t" r="r" b="b"/>
              <a:pathLst>
                <a:path w="8255634" h="1872614">
                  <a:moveTo>
                    <a:pt x="8161496" y="1872233"/>
                  </a:moveTo>
                  <a:lnTo>
                    <a:pt x="93630" y="1872233"/>
                  </a:lnTo>
                  <a:lnTo>
                    <a:pt x="57181" y="1864877"/>
                  </a:lnTo>
                  <a:lnTo>
                    <a:pt x="27420" y="1844813"/>
                  </a:lnTo>
                  <a:lnTo>
                    <a:pt x="7356" y="1815052"/>
                  </a:lnTo>
                  <a:lnTo>
                    <a:pt x="0" y="1778603"/>
                  </a:lnTo>
                  <a:lnTo>
                    <a:pt x="0" y="93630"/>
                  </a:lnTo>
                  <a:lnTo>
                    <a:pt x="7356" y="57181"/>
                  </a:lnTo>
                  <a:lnTo>
                    <a:pt x="27420" y="27420"/>
                  </a:lnTo>
                  <a:lnTo>
                    <a:pt x="57181" y="7356"/>
                  </a:lnTo>
                  <a:lnTo>
                    <a:pt x="93630" y="0"/>
                  </a:lnTo>
                  <a:lnTo>
                    <a:pt x="8161496" y="0"/>
                  </a:lnTo>
                  <a:lnTo>
                    <a:pt x="8197946" y="7356"/>
                  </a:lnTo>
                  <a:lnTo>
                    <a:pt x="8227707" y="27420"/>
                  </a:lnTo>
                  <a:lnTo>
                    <a:pt x="8247770" y="57181"/>
                  </a:lnTo>
                  <a:lnTo>
                    <a:pt x="8255127" y="93630"/>
                  </a:lnTo>
                  <a:lnTo>
                    <a:pt x="8255127" y="1778603"/>
                  </a:lnTo>
                  <a:lnTo>
                    <a:pt x="8247770" y="1815052"/>
                  </a:lnTo>
                  <a:lnTo>
                    <a:pt x="8227707" y="1844813"/>
                  </a:lnTo>
                  <a:lnTo>
                    <a:pt x="8197946" y="1864877"/>
                  </a:lnTo>
                  <a:lnTo>
                    <a:pt x="8161496" y="1872233"/>
                  </a:lnTo>
                  <a:close/>
                </a:path>
              </a:pathLst>
            </a:custGeom>
            <a:solidFill>
              <a:srgbClr val="1313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9187500" y="4108484"/>
              <a:ext cx="8255000" cy="1872614"/>
            </a:xfrm>
            <a:custGeom>
              <a:avLst/>
              <a:gdLst/>
              <a:ahLst/>
              <a:cxnLst/>
              <a:rect l="l" t="t" r="r" b="b"/>
              <a:pathLst>
                <a:path w="8255000" h="1872614">
                  <a:moveTo>
                    <a:pt x="0" y="93627"/>
                  </a:moveTo>
                  <a:lnTo>
                    <a:pt x="27419" y="27419"/>
                  </a:lnTo>
                  <a:lnTo>
                    <a:pt x="93627" y="0"/>
                  </a:lnTo>
                  <a:lnTo>
                    <a:pt x="8161198" y="0"/>
                  </a:lnTo>
                  <a:lnTo>
                    <a:pt x="8197647" y="7356"/>
                  </a:lnTo>
                  <a:lnTo>
                    <a:pt x="8227407" y="27418"/>
                  </a:lnTo>
                  <a:lnTo>
                    <a:pt x="8247470" y="57179"/>
                  </a:lnTo>
                  <a:lnTo>
                    <a:pt x="8254826" y="93627"/>
                  </a:lnTo>
                  <a:lnTo>
                    <a:pt x="8254826" y="1778538"/>
                  </a:lnTo>
                  <a:lnTo>
                    <a:pt x="8247470" y="1814986"/>
                  </a:lnTo>
                  <a:lnTo>
                    <a:pt x="8227407" y="1844747"/>
                  </a:lnTo>
                  <a:lnTo>
                    <a:pt x="8197647" y="1864809"/>
                  </a:lnTo>
                  <a:lnTo>
                    <a:pt x="8161198" y="1872165"/>
                  </a:lnTo>
                  <a:lnTo>
                    <a:pt x="93627" y="1872165"/>
                  </a:lnTo>
                  <a:lnTo>
                    <a:pt x="57179" y="1864809"/>
                  </a:lnTo>
                  <a:lnTo>
                    <a:pt x="27419" y="1844746"/>
                  </a:lnTo>
                  <a:lnTo>
                    <a:pt x="7356" y="1814986"/>
                  </a:lnTo>
                  <a:lnTo>
                    <a:pt x="0" y="1778538"/>
                  </a:lnTo>
                  <a:lnTo>
                    <a:pt x="0" y="93627"/>
                  </a:lnTo>
                </a:path>
              </a:pathLst>
            </a:custGeom>
            <a:ln w="38129">
              <a:solidFill>
                <a:srgbClr val="8B8FA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9481543" y="4576383"/>
            <a:ext cx="7240270" cy="8674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8B8FA2"/>
                </a:solidFill>
                <a:latin typeface="Calibri"/>
                <a:cs typeface="Calibri"/>
              </a:rPr>
              <a:t>Serviceable</a:t>
            </a:r>
            <a:r>
              <a:rPr dirty="0" sz="1500" spc="-55" b="1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8B8FA2"/>
                </a:solidFill>
                <a:latin typeface="Calibri"/>
                <a:cs typeface="Calibri"/>
              </a:rPr>
              <a:t>Market</a:t>
            </a:r>
            <a:r>
              <a:rPr dirty="0" sz="1500" spc="-50" b="1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8B8FA2"/>
                </a:solidFill>
                <a:latin typeface="Calibri"/>
                <a:cs typeface="Calibri"/>
              </a:rPr>
              <a:t>(Year</a:t>
            </a:r>
            <a:r>
              <a:rPr dirty="0" sz="1500" spc="-50" b="1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25" b="1">
                <a:solidFill>
                  <a:srgbClr val="8B8FA2"/>
                </a:solidFill>
                <a:latin typeface="Calibri"/>
                <a:cs typeface="Calibri"/>
              </a:rPr>
              <a:t>1)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B2B</a:t>
            </a:r>
            <a:r>
              <a:rPr dirty="0" sz="1500" spc="-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SaaS,</a:t>
            </a:r>
            <a:r>
              <a:rPr dirty="0" sz="1500" spc="-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EdTech,</a:t>
            </a:r>
            <a:r>
              <a:rPr dirty="0" sz="150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Healthcare,</a:t>
            </a:r>
            <a:r>
              <a:rPr dirty="0" sz="1500" spc="-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8B8FA2"/>
                </a:solidFill>
                <a:latin typeface="Calibri"/>
                <a:cs typeface="Calibri"/>
              </a:rPr>
              <a:t>20–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500</a:t>
            </a:r>
            <a:r>
              <a:rPr dirty="0" sz="150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employees.</a:t>
            </a:r>
            <a:r>
              <a:rPr dirty="0" sz="1500" spc="-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50,000+</a:t>
            </a:r>
            <a:r>
              <a:rPr dirty="0" sz="150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companies</a:t>
            </a:r>
            <a:r>
              <a:rPr dirty="0" sz="1500" spc="-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globally.</a:t>
            </a:r>
            <a:r>
              <a:rPr dirty="0" sz="1500" spc="-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ACV:</a:t>
            </a:r>
            <a:r>
              <a:rPr dirty="0" sz="150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$8,400–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$36,000/year.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9168435" y="6148429"/>
            <a:ext cx="8293100" cy="1910714"/>
            <a:chOff x="9168435" y="6148429"/>
            <a:chExt cx="8293100" cy="1910714"/>
          </a:xfrm>
        </p:grpSpPr>
        <p:sp>
          <p:nvSpPr>
            <p:cNvPr id="32" name="object 32"/>
            <p:cNvSpPr/>
            <p:nvPr/>
          </p:nvSpPr>
          <p:spPr>
            <a:xfrm>
              <a:off x="9187376" y="6167494"/>
              <a:ext cx="8255634" cy="1872614"/>
            </a:xfrm>
            <a:custGeom>
              <a:avLst/>
              <a:gdLst/>
              <a:ahLst/>
              <a:cxnLst/>
              <a:rect l="l" t="t" r="r" b="b"/>
              <a:pathLst>
                <a:path w="8255634" h="1872615">
                  <a:moveTo>
                    <a:pt x="8161496" y="1872233"/>
                  </a:moveTo>
                  <a:lnTo>
                    <a:pt x="93630" y="1872233"/>
                  </a:lnTo>
                  <a:lnTo>
                    <a:pt x="57181" y="1864877"/>
                  </a:lnTo>
                  <a:lnTo>
                    <a:pt x="27420" y="1844813"/>
                  </a:lnTo>
                  <a:lnTo>
                    <a:pt x="7356" y="1815052"/>
                  </a:lnTo>
                  <a:lnTo>
                    <a:pt x="0" y="1778602"/>
                  </a:lnTo>
                  <a:lnTo>
                    <a:pt x="0" y="93630"/>
                  </a:lnTo>
                  <a:lnTo>
                    <a:pt x="7356" y="57181"/>
                  </a:lnTo>
                  <a:lnTo>
                    <a:pt x="27420" y="27420"/>
                  </a:lnTo>
                  <a:lnTo>
                    <a:pt x="57181" y="7356"/>
                  </a:lnTo>
                  <a:lnTo>
                    <a:pt x="93630" y="0"/>
                  </a:lnTo>
                  <a:lnTo>
                    <a:pt x="8161496" y="0"/>
                  </a:lnTo>
                  <a:lnTo>
                    <a:pt x="8197946" y="7356"/>
                  </a:lnTo>
                  <a:lnTo>
                    <a:pt x="8227707" y="27420"/>
                  </a:lnTo>
                  <a:lnTo>
                    <a:pt x="8247770" y="57181"/>
                  </a:lnTo>
                  <a:lnTo>
                    <a:pt x="8255127" y="93630"/>
                  </a:lnTo>
                  <a:lnTo>
                    <a:pt x="8255127" y="1778602"/>
                  </a:lnTo>
                  <a:lnTo>
                    <a:pt x="8247770" y="1815052"/>
                  </a:lnTo>
                  <a:lnTo>
                    <a:pt x="8227707" y="1844813"/>
                  </a:lnTo>
                  <a:lnTo>
                    <a:pt x="8197946" y="1864877"/>
                  </a:lnTo>
                  <a:lnTo>
                    <a:pt x="8161496" y="1872233"/>
                  </a:lnTo>
                  <a:close/>
                </a:path>
              </a:pathLst>
            </a:custGeom>
            <a:solidFill>
              <a:srgbClr val="2921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9187500" y="6167494"/>
              <a:ext cx="8255000" cy="1872614"/>
            </a:xfrm>
            <a:custGeom>
              <a:avLst/>
              <a:gdLst/>
              <a:ahLst/>
              <a:cxnLst/>
              <a:rect l="l" t="t" r="r" b="b"/>
              <a:pathLst>
                <a:path w="8255000" h="1872615">
                  <a:moveTo>
                    <a:pt x="0" y="93627"/>
                  </a:moveTo>
                  <a:lnTo>
                    <a:pt x="27419" y="27418"/>
                  </a:lnTo>
                  <a:lnTo>
                    <a:pt x="93627" y="0"/>
                  </a:lnTo>
                  <a:lnTo>
                    <a:pt x="8161198" y="0"/>
                  </a:lnTo>
                  <a:lnTo>
                    <a:pt x="8197647" y="7356"/>
                  </a:lnTo>
                  <a:lnTo>
                    <a:pt x="8227407" y="27418"/>
                  </a:lnTo>
                  <a:lnTo>
                    <a:pt x="8247470" y="57178"/>
                  </a:lnTo>
                  <a:lnTo>
                    <a:pt x="8254826" y="93627"/>
                  </a:lnTo>
                  <a:lnTo>
                    <a:pt x="8254826" y="1778538"/>
                  </a:lnTo>
                  <a:lnTo>
                    <a:pt x="8247470" y="1814986"/>
                  </a:lnTo>
                  <a:lnTo>
                    <a:pt x="8227407" y="1844747"/>
                  </a:lnTo>
                  <a:lnTo>
                    <a:pt x="8197647" y="1864809"/>
                  </a:lnTo>
                  <a:lnTo>
                    <a:pt x="8161198" y="1872165"/>
                  </a:lnTo>
                  <a:lnTo>
                    <a:pt x="93627" y="1872165"/>
                  </a:lnTo>
                  <a:lnTo>
                    <a:pt x="57179" y="1864809"/>
                  </a:lnTo>
                  <a:lnTo>
                    <a:pt x="27419" y="1844746"/>
                  </a:lnTo>
                  <a:lnTo>
                    <a:pt x="7356" y="1814986"/>
                  </a:lnTo>
                  <a:lnTo>
                    <a:pt x="0" y="1778538"/>
                  </a:lnTo>
                  <a:lnTo>
                    <a:pt x="0" y="93627"/>
                  </a:lnTo>
                </a:path>
              </a:pathLst>
            </a:custGeom>
            <a:ln w="38129">
              <a:solidFill>
                <a:srgbClr val="F5C44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9481543" y="6635392"/>
            <a:ext cx="7425690" cy="8674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F5C441"/>
                </a:solidFill>
                <a:latin typeface="Calibri"/>
                <a:cs typeface="Calibri"/>
              </a:rPr>
              <a:t>Land</a:t>
            </a:r>
            <a:r>
              <a:rPr dirty="0" sz="1500" spc="-25" b="1">
                <a:solidFill>
                  <a:srgbClr val="F5C441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F5C441"/>
                </a:solidFill>
                <a:latin typeface="Calibri"/>
                <a:cs typeface="Calibri"/>
              </a:rPr>
              <a:t>&amp;</a:t>
            </a:r>
            <a:r>
              <a:rPr dirty="0" sz="1500" spc="-20" b="1">
                <a:solidFill>
                  <a:srgbClr val="F5C441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F5C441"/>
                </a:solidFill>
                <a:latin typeface="Calibri"/>
                <a:cs typeface="Calibri"/>
              </a:rPr>
              <a:t>Expand</a:t>
            </a:r>
            <a:endParaRPr sz="15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225"/>
              </a:spcBef>
            </a:pP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Land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with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one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worker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(Support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or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SDR).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Expand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to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full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8B8FA2"/>
                </a:solidFill>
                <a:latin typeface="Calibri"/>
                <a:cs typeface="Calibri"/>
              </a:rPr>
              <a:t>6-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worker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workforce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as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trust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and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revenue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impact</a:t>
            </a:r>
            <a:r>
              <a:rPr dirty="0" sz="1500" spc="-6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compound.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7249167" y="9655941"/>
            <a:ext cx="516890" cy="1974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85"/>
              </a:lnSpc>
            </a:pPr>
            <a:r>
              <a:rPr dirty="0" sz="1350">
                <a:solidFill>
                  <a:srgbClr val="6A6F82"/>
                </a:solidFill>
                <a:latin typeface="Calibri"/>
                <a:cs typeface="Calibri"/>
              </a:rPr>
              <a:t>09</a:t>
            </a:r>
            <a:r>
              <a:rPr dirty="0" sz="1350" spc="-20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6A6F82"/>
                </a:solidFill>
                <a:latin typeface="Calibri"/>
                <a:cs typeface="Calibri"/>
              </a:rPr>
              <a:t>/</a:t>
            </a:r>
            <a:r>
              <a:rPr dirty="0" sz="1350" spc="-15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350" spc="-35">
                <a:solidFill>
                  <a:srgbClr val="6A6F82"/>
                </a:solidFill>
                <a:latin typeface="Calibri"/>
                <a:cs typeface="Calibri"/>
              </a:rPr>
              <a:t>16</a:t>
            </a:r>
            <a:endParaRPr sz="1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866601"/>
            <a:ext cx="3432175" cy="3420745"/>
          </a:xfrm>
          <a:custGeom>
            <a:avLst/>
            <a:gdLst/>
            <a:ahLst/>
            <a:cxnLst/>
            <a:rect l="l" t="t" r="r" b="b"/>
            <a:pathLst>
              <a:path w="3432175" h="3420745">
                <a:moveTo>
                  <a:pt x="1517653" y="12699"/>
                </a:moveTo>
                <a:lnTo>
                  <a:pt x="1227717" y="12699"/>
                </a:lnTo>
                <a:lnTo>
                  <a:pt x="1275756" y="0"/>
                </a:lnTo>
                <a:lnTo>
                  <a:pt x="1469615" y="0"/>
                </a:lnTo>
                <a:lnTo>
                  <a:pt x="1517653" y="12699"/>
                </a:lnTo>
                <a:close/>
              </a:path>
              <a:path w="3432175" h="3420745">
                <a:moveTo>
                  <a:pt x="1659914" y="25399"/>
                </a:moveTo>
                <a:lnTo>
                  <a:pt x="1085457" y="25399"/>
                </a:lnTo>
                <a:lnTo>
                  <a:pt x="1132556" y="12699"/>
                </a:lnTo>
                <a:lnTo>
                  <a:pt x="1612815" y="12699"/>
                </a:lnTo>
                <a:lnTo>
                  <a:pt x="1659914" y="25399"/>
                </a:lnTo>
                <a:close/>
              </a:path>
              <a:path w="3432175" h="3420745">
                <a:moveTo>
                  <a:pt x="1844807" y="63499"/>
                </a:moveTo>
                <a:lnTo>
                  <a:pt x="900563" y="63499"/>
                </a:lnTo>
                <a:lnTo>
                  <a:pt x="1038696" y="25399"/>
                </a:lnTo>
                <a:lnTo>
                  <a:pt x="1706675" y="25399"/>
                </a:lnTo>
                <a:lnTo>
                  <a:pt x="1844807" y="63499"/>
                </a:lnTo>
                <a:close/>
              </a:path>
              <a:path w="3432175" h="3420745">
                <a:moveTo>
                  <a:pt x="2918021" y="3420398"/>
                </a:moveTo>
                <a:lnTo>
                  <a:pt x="0" y="3420398"/>
                </a:lnTo>
                <a:lnTo>
                  <a:pt x="0" y="525691"/>
                </a:lnTo>
                <a:lnTo>
                  <a:pt x="49918" y="482599"/>
                </a:lnTo>
                <a:lnTo>
                  <a:pt x="84863" y="457199"/>
                </a:lnTo>
                <a:lnTo>
                  <a:pt x="120443" y="431799"/>
                </a:lnTo>
                <a:lnTo>
                  <a:pt x="156645" y="406399"/>
                </a:lnTo>
                <a:lnTo>
                  <a:pt x="193456" y="368299"/>
                </a:lnTo>
                <a:lnTo>
                  <a:pt x="230865" y="342899"/>
                </a:lnTo>
                <a:lnTo>
                  <a:pt x="268858" y="317499"/>
                </a:lnTo>
                <a:lnTo>
                  <a:pt x="307425" y="304799"/>
                </a:lnTo>
                <a:lnTo>
                  <a:pt x="386226" y="253999"/>
                </a:lnTo>
                <a:lnTo>
                  <a:pt x="426436" y="228599"/>
                </a:lnTo>
                <a:lnTo>
                  <a:pt x="467170" y="215899"/>
                </a:lnTo>
                <a:lnTo>
                  <a:pt x="508414" y="190499"/>
                </a:lnTo>
                <a:lnTo>
                  <a:pt x="550157" y="177799"/>
                </a:lnTo>
                <a:lnTo>
                  <a:pt x="592386" y="152399"/>
                </a:lnTo>
                <a:lnTo>
                  <a:pt x="721866" y="114299"/>
                </a:lnTo>
                <a:lnTo>
                  <a:pt x="765916" y="88899"/>
                </a:lnTo>
                <a:lnTo>
                  <a:pt x="855277" y="63499"/>
                </a:lnTo>
                <a:lnTo>
                  <a:pt x="1890093" y="63499"/>
                </a:lnTo>
                <a:lnTo>
                  <a:pt x="1979454" y="88899"/>
                </a:lnTo>
                <a:lnTo>
                  <a:pt x="2023504" y="114299"/>
                </a:lnTo>
                <a:lnTo>
                  <a:pt x="2152984" y="152399"/>
                </a:lnTo>
                <a:lnTo>
                  <a:pt x="2195213" y="177799"/>
                </a:lnTo>
                <a:lnTo>
                  <a:pt x="2236956" y="190499"/>
                </a:lnTo>
                <a:lnTo>
                  <a:pt x="2278201" y="215899"/>
                </a:lnTo>
                <a:lnTo>
                  <a:pt x="2318934" y="228599"/>
                </a:lnTo>
                <a:lnTo>
                  <a:pt x="2359144" y="253999"/>
                </a:lnTo>
                <a:lnTo>
                  <a:pt x="2437946" y="304799"/>
                </a:lnTo>
                <a:lnTo>
                  <a:pt x="2476512" y="317499"/>
                </a:lnTo>
                <a:lnTo>
                  <a:pt x="2514506" y="342899"/>
                </a:lnTo>
                <a:lnTo>
                  <a:pt x="2551915" y="368299"/>
                </a:lnTo>
                <a:lnTo>
                  <a:pt x="2588726" y="406399"/>
                </a:lnTo>
                <a:lnTo>
                  <a:pt x="2624928" y="431799"/>
                </a:lnTo>
                <a:lnTo>
                  <a:pt x="2660507" y="457199"/>
                </a:lnTo>
                <a:lnTo>
                  <a:pt x="2695452" y="482599"/>
                </a:lnTo>
                <a:lnTo>
                  <a:pt x="2729750" y="507999"/>
                </a:lnTo>
                <a:lnTo>
                  <a:pt x="2763390" y="546099"/>
                </a:lnTo>
                <a:lnTo>
                  <a:pt x="2796357" y="571499"/>
                </a:lnTo>
                <a:lnTo>
                  <a:pt x="2828641" y="609599"/>
                </a:lnTo>
                <a:lnTo>
                  <a:pt x="2860228" y="634999"/>
                </a:lnTo>
                <a:lnTo>
                  <a:pt x="2891107" y="673099"/>
                </a:lnTo>
                <a:lnTo>
                  <a:pt x="2921265" y="711199"/>
                </a:lnTo>
                <a:lnTo>
                  <a:pt x="2950690" y="736599"/>
                </a:lnTo>
                <a:lnTo>
                  <a:pt x="2979369" y="774699"/>
                </a:lnTo>
                <a:lnTo>
                  <a:pt x="3007290" y="812799"/>
                </a:lnTo>
                <a:lnTo>
                  <a:pt x="3034440" y="850899"/>
                </a:lnTo>
                <a:lnTo>
                  <a:pt x="3060808" y="888999"/>
                </a:lnTo>
                <a:lnTo>
                  <a:pt x="3086381" y="914399"/>
                </a:lnTo>
                <a:lnTo>
                  <a:pt x="3111146" y="952499"/>
                </a:lnTo>
                <a:lnTo>
                  <a:pt x="3135091" y="990599"/>
                </a:lnTo>
                <a:lnTo>
                  <a:pt x="3158204" y="1041399"/>
                </a:lnTo>
                <a:lnTo>
                  <a:pt x="3180473" y="1079499"/>
                </a:lnTo>
                <a:lnTo>
                  <a:pt x="3201885" y="1117599"/>
                </a:lnTo>
                <a:lnTo>
                  <a:pt x="3222427" y="1155699"/>
                </a:lnTo>
                <a:lnTo>
                  <a:pt x="3242088" y="1193799"/>
                </a:lnTo>
                <a:lnTo>
                  <a:pt x="3260855" y="1244599"/>
                </a:lnTo>
                <a:lnTo>
                  <a:pt x="3278716" y="1282699"/>
                </a:lnTo>
                <a:lnTo>
                  <a:pt x="3295658" y="1320799"/>
                </a:lnTo>
                <a:lnTo>
                  <a:pt x="3311669" y="1371599"/>
                </a:lnTo>
                <a:lnTo>
                  <a:pt x="3326736" y="1409699"/>
                </a:lnTo>
                <a:lnTo>
                  <a:pt x="3340848" y="1460499"/>
                </a:lnTo>
                <a:lnTo>
                  <a:pt x="3353992" y="1498599"/>
                </a:lnTo>
                <a:lnTo>
                  <a:pt x="3366155" y="1549399"/>
                </a:lnTo>
                <a:lnTo>
                  <a:pt x="3377325" y="1587499"/>
                </a:lnTo>
                <a:lnTo>
                  <a:pt x="3387490" y="1638299"/>
                </a:lnTo>
                <a:lnTo>
                  <a:pt x="3396638" y="1676399"/>
                </a:lnTo>
                <a:lnTo>
                  <a:pt x="3404756" y="1727199"/>
                </a:lnTo>
                <a:lnTo>
                  <a:pt x="3411831" y="1777999"/>
                </a:lnTo>
                <a:lnTo>
                  <a:pt x="3417852" y="1816099"/>
                </a:lnTo>
                <a:lnTo>
                  <a:pt x="3422806" y="1866899"/>
                </a:lnTo>
                <a:lnTo>
                  <a:pt x="3426680" y="1917699"/>
                </a:lnTo>
                <a:lnTo>
                  <a:pt x="3429463" y="1968499"/>
                </a:lnTo>
                <a:lnTo>
                  <a:pt x="3431142" y="2019299"/>
                </a:lnTo>
                <a:lnTo>
                  <a:pt x="3431704" y="2057399"/>
                </a:lnTo>
                <a:lnTo>
                  <a:pt x="3431142" y="2108199"/>
                </a:lnTo>
                <a:lnTo>
                  <a:pt x="3429463" y="2158999"/>
                </a:lnTo>
                <a:lnTo>
                  <a:pt x="3426680" y="2209799"/>
                </a:lnTo>
                <a:lnTo>
                  <a:pt x="3422806" y="2260599"/>
                </a:lnTo>
                <a:lnTo>
                  <a:pt x="3417852" y="2298699"/>
                </a:lnTo>
                <a:lnTo>
                  <a:pt x="3411831" y="2349499"/>
                </a:lnTo>
                <a:lnTo>
                  <a:pt x="3404756" y="2400299"/>
                </a:lnTo>
                <a:lnTo>
                  <a:pt x="3396638" y="2438399"/>
                </a:lnTo>
                <a:lnTo>
                  <a:pt x="3387490" y="2489199"/>
                </a:lnTo>
                <a:lnTo>
                  <a:pt x="3377325" y="2539999"/>
                </a:lnTo>
                <a:lnTo>
                  <a:pt x="3366155" y="2578099"/>
                </a:lnTo>
                <a:lnTo>
                  <a:pt x="3353992" y="2628899"/>
                </a:lnTo>
                <a:lnTo>
                  <a:pt x="3340848" y="2666999"/>
                </a:lnTo>
                <a:lnTo>
                  <a:pt x="3326736" y="2717799"/>
                </a:lnTo>
                <a:lnTo>
                  <a:pt x="3311669" y="2755899"/>
                </a:lnTo>
                <a:lnTo>
                  <a:pt x="3295658" y="2793999"/>
                </a:lnTo>
                <a:lnTo>
                  <a:pt x="3278716" y="2844799"/>
                </a:lnTo>
                <a:lnTo>
                  <a:pt x="3260855" y="2882899"/>
                </a:lnTo>
                <a:lnTo>
                  <a:pt x="3242088" y="2920999"/>
                </a:lnTo>
                <a:lnTo>
                  <a:pt x="3222427" y="2971799"/>
                </a:lnTo>
                <a:lnTo>
                  <a:pt x="3201885" y="3009899"/>
                </a:lnTo>
                <a:lnTo>
                  <a:pt x="3180473" y="3047999"/>
                </a:lnTo>
                <a:lnTo>
                  <a:pt x="3158204" y="3086099"/>
                </a:lnTo>
                <a:lnTo>
                  <a:pt x="3135091" y="3124199"/>
                </a:lnTo>
                <a:lnTo>
                  <a:pt x="3111146" y="3162299"/>
                </a:lnTo>
                <a:lnTo>
                  <a:pt x="3086381" y="3200399"/>
                </a:lnTo>
                <a:lnTo>
                  <a:pt x="3060808" y="3238499"/>
                </a:lnTo>
                <a:lnTo>
                  <a:pt x="3034440" y="3276599"/>
                </a:lnTo>
                <a:lnTo>
                  <a:pt x="3007290" y="3314699"/>
                </a:lnTo>
                <a:lnTo>
                  <a:pt x="2979369" y="3352799"/>
                </a:lnTo>
                <a:lnTo>
                  <a:pt x="2950690" y="3390899"/>
                </a:lnTo>
                <a:lnTo>
                  <a:pt x="2921265" y="3416299"/>
                </a:lnTo>
                <a:lnTo>
                  <a:pt x="2918021" y="3420398"/>
                </a:lnTo>
                <a:close/>
              </a:path>
            </a:pathLst>
          </a:custGeom>
          <a:solidFill>
            <a:srgbClr val="00D4AA">
              <a:alpha val="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23607" y="562794"/>
            <a:ext cx="343535" cy="20955"/>
          </a:xfrm>
          <a:custGeom>
            <a:avLst/>
            <a:gdLst/>
            <a:ahLst/>
            <a:cxnLst/>
            <a:rect l="l" t="t" r="r" b="b"/>
            <a:pathLst>
              <a:path w="343534" h="20954">
                <a:moveTo>
                  <a:pt x="343163" y="20593"/>
                </a:moveTo>
                <a:lnTo>
                  <a:pt x="0" y="20593"/>
                </a:lnTo>
                <a:lnTo>
                  <a:pt x="0" y="0"/>
                </a:lnTo>
                <a:lnTo>
                  <a:pt x="343163" y="0"/>
                </a:lnTo>
                <a:lnTo>
                  <a:pt x="343163" y="20593"/>
                </a:lnTo>
                <a:close/>
              </a:path>
            </a:pathLst>
          </a:custGeom>
          <a:solidFill>
            <a:srgbClr val="00D4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59976" y="386035"/>
            <a:ext cx="209740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00426F"/>
                </a:solidFill>
                <a:latin typeface="Calibri"/>
                <a:cs typeface="Calibri"/>
              </a:rPr>
              <a:t>COMPETITIVE LANDSCAPE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Everyone</a:t>
            </a:r>
            <a:r>
              <a:rPr dirty="0" spc="-80"/>
              <a:t> </a:t>
            </a:r>
            <a:r>
              <a:rPr dirty="0"/>
              <a:t>else</a:t>
            </a:r>
            <a:r>
              <a:rPr dirty="0" spc="-75"/>
              <a:t> </a:t>
            </a:r>
            <a:r>
              <a:rPr dirty="0"/>
              <a:t>is</a:t>
            </a:r>
            <a:r>
              <a:rPr dirty="0" spc="-80"/>
              <a:t> </a:t>
            </a:r>
            <a:r>
              <a:rPr dirty="0"/>
              <a:t>a</a:t>
            </a:r>
            <a:r>
              <a:rPr dirty="0" spc="-75"/>
              <a:t> </a:t>
            </a:r>
            <a:r>
              <a:rPr dirty="0"/>
              <a:t>tool.</a:t>
            </a:r>
            <a:r>
              <a:rPr dirty="0" spc="-80"/>
              <a:t> </a:t>
            </a:r>
            <a:r>
              <a:rPr dirty="0"/>
              <a:t>We're</a:t>
            </a:r>
            <a:r>
              <a:rPr dirty="0" spc="-75"/>
              <a:t> </a:t>
            </a:r>
            <a:r>
              <a:rPr dirty="0"/>
              <a:t>the</a:t>
            </a:r>
            <a:r>
              <a:rPr dirty="0" spc="-75"/>
              <a:t> </a:t>
            </a:r>
            <a:r>
              <a:rPr dirty="0" spc="-10"/>
              <a:t>workforce.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398339" y="2044395"/>
            <a:ext cx="17459960" cy="715645"/>
            <a:chOff x="398339" y="2044395"/>
            <a:chExt cx="17459960" cy="715645"/>
          </a:xfrm>
        </p:grpSpPr>
        <p:sp>
          <p:nvSpPr>
            <p:cNvPr id="7" name="object 7"/>
            <p:cNvSpPr/>
            <p:nvPr/>
          </p:nvSpPr>
          <p:spPr>
            <a:xfrm>
              <a:off x="407031" y="2054237"/>
              <a:ext cx="17443450" cy="695960"/>
            </a:xfrm>
            <a:custGeom>
              <a:avLst/>
              <a:gdLst/>
              <a:ahLst/>
              <a:cxnLst/>
              <a:rect l="l" t="t" r="r" b="b"/>
              <a:pathLst>
                <a:path w="17443450" h="695960">
                  <a:moveTo>
                    <a:pt x="17442907" y="695867"/>
                  </a:moveTo>
                  <a:lnTo>
                    <a:pt x="0" y="695867"/>
                  </a:lnTo>
                  <a:lnTo>
                    <a:pt x="0" y="0"/>
                  </a:lnTo>
                  <a:lnTo>
                    <a:pt x="17442907" y="0"/>
                  </a:lnTo>
                  <a:lnTo>
                    <a:pt x="17442907" y="695867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08182" y="2054237"/>
              <a:ext cx="17440275" cy="695960"/>
            </a:xfrm>
            <a:custGeom>
              <a:avLst/>
              <a:gdLst/>
              <a:ahLst/>
              <a:cxnLst/>
              <a:rect l="l" t="t" r="r" b="b"/>
              <a:pathLst>
                <a:path w="17440275" h="695960">
                  <a:moveTo>
                    <a:pt x="0" y="0"/>
                  </a:moveTo>
                  <a:lnTo>
                    <a:pt x="17440048" y="0"/>
                  </a:lnTo>
                  <a:lnTo>
                    <a:pt x="17440048" y="695800"/>
                  </a:lnTo>
                  <a:lnTo>
                    <a:pt x="0" y="695800"/>
                  </a:lnTo>
                  <a:lnTo>
                    <a:pt x="0" y="0"/>
                  </a:lnTo>
                  <a:close/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609501" y="2190609"/>
            <a:ext cx="637540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350" spc="-10" b="1">
                <a:solidFill>
                  <a:srgbClr val="8B8FA2"/>
                </a:solidFill>
                <a:latin typeface="Calibri"/>
                <a:cs typeface="Calibri"/>
              </a:rPr>
              <a:t>Platform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54174" y="2190609"/>
            <a:ext cx="626745" cy="43180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27305" marR="5080" indent="-27940">
              <a:lnSpc>
                <a:spcPts val="1580"/>
              </a:lnSpc>
              <a:spcBef>
                <a:spcPts val="185"/>
              </a:spcBef>
            </a:pPr>
            <a:r>
              <a:rPr dirty="0" sz="1350" spc="-10" b="1">
                <a:solidFill>
                  <a:srgbClr val="8B8FA2"/>
                </a:solidFill>
                <a:latin typeface="Calibri"/>
                <a:cs typeface="Calibri"/>
              </a:rPr>
              <a:t>Business Context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22262" y="2190609"/>
            <a:ext cx="608965" cy="43180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R="5080" indent="78740">
              <a:lnSpc>
                <a:spcPts val="1580"/>
              </a:lnSpc>
              <a:spcBef>
                <a:spcPts val="185"/>
              </a:spcBef>
            </a:pPr>
            <a:r>
              <a:rPr dirty="0" sz="1350" b="1">
                <a:solidFill>
                  <a:srgbClr val="8B8FA2"/>
                </a:solidFill>
                <a:latin typeface="Calibri"/>
                <a:cs typeface="Calibri"/>
              </a:rPr>
              <a:t>Multi-</a:t>
            </a:r>
            <a:r>
              <a:rPr dirty="0" sz="1350" spc="-10" b="1">
                <a:solidFill>
                  <a:srgbClr val="8B8FA2"/>
                </a:solidFill>
                <a:latin typeface="Calibri"/>
                <a:cs typeface="Calibri"/>
              </a:rPr>
              <a:t>function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17264" y="2190609"/>
            <a:ext cx="936625" cy="43180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12395" marR="5080" indent="-113030">
              <a:lnSpc>
                <a:spcPts val="1580"/>
              </a:lnSpc>
              <a:spcBef>
                <a:spcPts val="185"/>
              </a:spcBef>
            </a:pPr>
            <a:r>
              <a:rPr dirty="0" sz="1350" spc="-10" b="1">
                <a:solidFill>
                  <a:srgbClr val="8B8FA2"/>
                </a:solidFill>
                <a:latin typeface="Calibri"/>
                <a:cs typeface="Calibri"/>
              </a:rPr>
              <a:t>Autonomous Execution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276434" y="2190609"/>
            <a:ext cx="735965" cy="43180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R="5080" indent="203200">
              <a:lnSpc>
                <a:spcPts val="1580"/>
              </a:lnSpc>
              <a:spcBef>
                <a:spcPts val="185"/>
              </a:spcBef>
            </a:pPr>
            <a:r>
              <a:rPr dirty="0" sz="1350" b="1">
                <a:solidFill>
                  <a:srgbClr val="8B8FA2"/>
                </a:solidFill>
                <a:latin typeface="Calibri"/>
                <a:cs typeface="Calibri"/>
              </a:rPr>
              <a:t>Self-</a:t>
            </a:r>
            <a:r>
              <a:rPr dirty="0" sz="1350" spc="-10" b="1">
                <a:solidFill>
                  <a:srgbClr val="8B8FA2"/>
                </a:solidFill>
                <a:latin typeface="Calibri"/>
                <a:cs typeface="Calibri"/>
              </a:rPr>
              <a:t>improving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221888" y="2190609"/>
            <a:ext cx="963294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350" spc="-10" b="1">
                <a:solidFill>
                  <a:srgbClr val="8B8FA2"/>
                </a:solidFill>
                <a:latin typeface="Calibri"/>
                <a:cs typeface="Calibri"/>
              </a:rPr>
              <a:t>Omnichannel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358289" y="2190609"/>
            <a:ext cx="808355" cy="43180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R="5080" indent="86995">
              <a:lnSpc>
                <a:spcPts val="1580"/>
              </a:lnSpc>
              <a:spcBef>
                <a:spcPts val="185"/>
              </a:spcBef>
            </a:pPr>
            <a:r>
              <a:rPr dirty="0" sz="1350" spc="-10" b="1">
                <a:solidFill>
                  <a:srgbClr val="8B8FA2"/>
                </a:solidFill>
                <a:latin typeface="Calibri"/>
                <a:cs typeface="Calibri"/>
              </a:rPr>
              <a:t>Revenue Attribution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98339" y="2799365"/>
            <a:ext cx="17459960" cy="715645"/>
            <a:chOff x="398339" y="2799365"/>
            <a:chExt cx="17459960" cy="715645"/>
          </a:xfrm>
        </p:grpSpPr>
        <p:sp>
          <p:nvSpPr>
            <p:cNvPr id="17" name="object 17"/>
            <p:cNvSpPr/>
            <p:nvPr/>
          </p:nvSpPr>
          <p:spPr>
            <a:xfrm>
              <a:off x="407031" y="2809208"/>
              <a:ext cx="17443450" cy="695960"/>
            </a:xfrm>
            <a:custGeom>
              <a:avLst/>
              <a:gdLst/>
              <a:ahLst/>
              <a:cxnLst/>
              <a:rect l="l" t="t" r="r" b="b"/>
              <a:pathLst>
                <a:path w="17443450" h="695960">
                  <a:moveTo>
                    <a:pt x="17442907" y="695867"/>
                  </a:moveTo>
                  <a:lnTo>
                    <a:pt x="0" y="695867"/>
                  </a:lnTo>
                  <a:lnTo>
                    <a:pt x="0" y="0"/>
                  </a:lnTo>
                  <a:lnTo>
                    <a:pt x="17442907" y="0"/>
                  </a:lnTo>
                  <a:lnTo>
                    <a:pt x="17442907" y="695867"/>
                  </a:lnTo>
                  <a:close/>
                </a:path>
              </a:pathLst>
            </a:custGeom>
            <a:solidFill>
              <a:srgbClr val="215B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08182" y="2809208"/>
              <a:ext cx="17440275" cy="695960"/>
            </a:xfrm>
            <a:custGeom>
              <a:avLst/>
              <a:gdLst/>
              <a:ahLst/>
              <a:cxnLst/>
              <a:rect l="l" t="t" r="r" b="b"/>
              <a:pathLst>
                <a:path w="17440275" h="695960">
                  <a:moveTo>
                    <a:pt x="0" y="0"/>
                  </a:moveTo>
                  <a:lnTo>
                    <a:pt x="17440048" y="0"/>
                  </a:lnTo>
                  <a:lnTo>
                    <a:pt x="17440048" y="695800"/>
                  </a:lnTo>
                  <a:lnTo>
                    <a:pt x="0" y="695800"/>
                  </a:lnTo>
                  <a:lnTo>
                    <a:pt x="0" y="0"/>
                  </a:lnTo>
                  <a:close/>
                </a:path>
              </a:pathLst>
            </a:custGeom>
            <a:ln w="19064">
              <a:solidFill>
                <a:srgbClr val="00D4A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571880" y="3010683"/>
            <a:ext cx="63309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00D4AA"/>
                </a:solidFill>
                <a:latin typeface="Calibri"/>
                <a:cs typeface="Calibri"/>
              </a:rPr>
              <a:t>Follei</a:t>
            </a:r>
            <a:r>
              <a:rPr dirty="0" sz="1500" spc="-30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500" spc="-50">
                <a:solidFill>
                  <a:srgbClr val="00D4AA"/>
                </a:solidFill>
                <a:latin typeface="Segoe UI Symbol"/>
                <a:cs typeface="Segoe UI Symbol"/>
              </a:rPr>
              <a:t>✦</a:t>
            </a:r>
            <a:endParaRPr sz="1500">
              <a:latin typeface="Segoe UI Symbol"/>
              <a:cs typeface="Segoe UI 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95962" y="2983797"/>
            <a:ext cx="225425" cy="3549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2150" spc="-545" b="1">
                <a:solidFill>
                  <a:srgbClr val="00D4AA"/>
                </a:solidFill>
                <a:latin typeface="Yu Gothic"/>
                <a:cs typeface="Yu Gothic"/>
              </a:rPr>
              <a:t>✓</a:t>
            </a:r>
            <a:endParaRPr sz="2150">
              <a:latin typeface="Yu Gothic"/>
              <a:cs typeface="Yu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354972" y="2983797"/>
            <a:ext cx="225425" cy="3549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2150" spc="-545" b="1">
                <a:solidFill>
                  <a:srgbClr val="00D4AA"/>
                </a:solidFill>
                <a:latin typeface="Yu Gothic"/>
                <a:cs typeface="Yu Gothic"/>
              </a:rPr>
              <a:t>✓</a:t>
            </a:r>
            <a:endParaRPr sz="2150">
              <a:latin typeface="Yu Gothic"/>
              <a:cs typeface="Yu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413981" y="2983797"/>
            <a:ext cx="225425" cy="3549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2150" spc="-545" b="1">
                <a:solidFill>
                  <a:srgbClr val="00D4AA"/>
                </a:solidFill>
                <a:latin typeface="Yu Gothic"/>
                <a:cs typeface="Yu Gothic"/>
              </a:rPr>
              <a:t>✓</a:t>
            </a:r>
            <a:endParaRPr sz="2150">
              <a:latin typeface="Yu Gothic"/>
              <a:cs typeface="Yu Gothic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541619" y="2983797"/>
            <a:ext cx="225425" cy="3549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2150" spc="-545" b="1">
                <a:solidFill>
                  <a:srgbClr val="00D4AA"/>
                </a:solidFill>
                <a:latin typeface="Yu Gothic"/>
                <a:cs typeface="Yu Gothic"/>
              </a:rPr>
              <a:t>✓</a:t>
            </a:r>
            <a:endParaRPr sz="2150">
              <a:latin typeface="Yu Gothic"/>
              <a:cs typeface="Yu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600629" y="2983797"/>
            <a:ext cx="225425" cy="3549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2150" spc="-545" b="1">
                <a:solidFill>
                  <a:srgbClr val="00D4AA"/>
                </a:solidFill>
                <a:latin typeface="Yu Gothic"/>
                <a:cs typeface="Yu Gothic"/>
              </a:rPr>
              <a:t>✓</a:t>
            </a:r>
            <a:endParaRPr sz="2150">
              <a:latin typeface="Yu Gothic"/>
              <a:cs typeface="Yu Gothic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659638" y="2850547"/>
            <a:ext cx="225425" cy="3549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2150" spc="-545" b="1">
                <a:solidFill>
                  <a:srgbClr val="00D4AA"/>
                </a:solidFill>
                <a:latin typeface="Yu Gothic"/>
                <a:cs typeface="Yu Gothic"/>
              </a:rPr>
              <a:t>✓</a:t>
            </a:r>
            <a:endParaRPr sz="2150">
              <a:latin typeface="Yu Gothic"/>
              <a:cs typeface="Yu Gothic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98339" y="3554336"/>
            <a:ext cx="17459960" cy="715645"/>
            <a:chOff x="398339" y="3554336"/>
            <a:chExt cx="17459960" cy="715645"/>
          </a:xfrm>
        </p:grpSpPr>
        <p:sp>
          <p:nvSpPr>
            <p:cNvPr id="27" name="object 27"/>
            <p:cNvSpPr/>
            <p:nvPr/>
          </p:nvSpPr>
          <p:spPr>
            <a:xfrm>
              <a:off x="407031" y="3564178"/>
              <a:ext cx="17443450" cy="695960"/>
            </a:xfrm>
            <a:custGeom>
              <a:avLst/>
              <a:gdLst/>
              <a:ahLst/>
              <a:cxnLst/>
              <a:rect l="l" t="t" r="r" b="b"/>
              <a:pathLst>
                <a:path w="17443450" h="695960">
                  <a:moveTo>
                    <a:pt x="17442907" y="695867"/>
                  </a:moveTo>
                  <a:lnTo>
                    <a:pt x="0" y="695867"/>
                  </a:lnTo>
                  <a:lnTo>
                    <a:pt x="0" y="0"/>
                  </a:lnTo>
                  <a:lnTo>
                    <a:pt x="17442907" y="0"/>
                  </a:lnTo>
                  <a:lnTo>
                    <a:pt x="17442907" y="695867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08182" y="3564178"/>
              <a:ext cx="17440275" cy="695960"/>
            </a:xfrm>
            <a:custGeom>
              <a:avLst/>
              <a:gdLst/>
              <a:ahLst/>
              <a:cxnLst/>
              <a:rect l="l" t="t" r="r" b="b"/>
              <a:pathLst>
                <a:path w="17440275" h="695960">
                  <a:moveTo>
                    <a:pt x="0" y="0"/>
                  </a:moveTo>
                  <a:lnTo>
                    <a:pt x="17440048" y="0"/>
                  </a:lnTo>
                  <a:lnTo>
                    <a:pt x="17440048" y="695800"/>
                  </a:lnTo>
                  <a:lnTo>
                    <a:pt x="0" y="695800"/>
                  </a:lnTo>
                  <a:lnTo>
                    <a:pt x="0" y="0"/>
                  </a:lnTo>
                  <a:close/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571880" y="3765653"/>
            <a:ext cx="163576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001D31"/>
                </a:solidFill>
                <a:latin typeface="Calibri"/>
                <a:cs typeface="Calibri"/>
              </a:rPr>
              <a:t>Salesforce</a:t>
            </a:r>
            <a:r>
              <a:rPr dirty="0" sz="1500" spc="-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01D31"/>
                </a:solidFill>
                <a:latin typeface="Calibri"/>
                <a:cs typeface="Calibri"/>
              </a:rPr>
              <a:t>/ </a:t>
            </a:r>
            <a:r>
              <a:rPr dirty="0" sz="1500" spc="-10">
                <a:solidFill>
                  <a:srgbClr val="001D31"/>
                </a:solidFill>
                <a:latin typeface="Calibri"/>
                <a:cs typeface="Calibri"/>
              </a:rPr>
              <a:t>HubSpot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326025" y="3746508"/>
            <a:ext cx="146050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100" spc="-50" b="1">
                <a:solidFill>
                  <a:srgbClr val="F5C441"/>
                </a:solidFill>
                <a:latin typeface="Calibri"/>
                <a:cs typeface="Calibri"/>
              </a:rPr>
              <a:t>~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385035" y="3746508"/>
            <a:ext cx="146050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100" spc="-50" b="1">
                <a:solidFill>
                  <a:srgbClr val="F5C441"/>
                </a:solidFill>
                <a:latin typeface="Calibri"/>
                <a:cs typeface="Calibri"/>
              </a:rPr>
              <a:t>~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434371" y="3746508"/>
            <a:ext cx="165100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100" spc="-565">
                <a:solidFill>
                  <a:srgbClr val="FF4444"/>
                </a:solidFill>
                <a:latin typeface="Segoe UI Symbol"/>
                <a:cs typeface="Segoe UI Symbol"/>
              </a:rPr>
              <a:t>✗</a:t>
            </a:r>
            <a:endParaRPr sz="2100">
              <a:latin typeface="Segoe UI Symbol"/>
              <a:cs typeface="Segoe UI Symbo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562008" y="3746508"/>
            <a:ext cx="165100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100" spc="-565">
                <a:solidFill>
                  <a:srgbClr val="FF4444"/>
                </a:solidFill>
                <a:latin typeface="Segoe UI Symbol"/>
                <a:cs typeface="Segoe UI Symbol"/>
              </a:rPr>
              <a:t>✗</a:t>
            </a:r>
            <a:endParaRPr sz="2100">
              <a:latin typeface="Segoe UI Symbol"/>
              <a:cs typeface="Segoe UI Symbo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2630692" y="3746508"/>
            <a:ext cx="146050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100" spc="-50" b="1">
                <a:solidFill>
                  <a:srgbClr val="F5C441"/>
                </a:solidFill>
                <a:latin typeface="Calibri"/>
                <a:cs typeface="Calibri"/>
              </a:rPr>
              <a:t>~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4689701" y="3746508"/>
            <a:ext cx="146050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100" spc="-50" b="1">
                <a:solidFill>
                  <a:srgbClr val="F5C441"/>
                </a:solidFill>
                <a:latin typeface="Calibri"/>
                <a:cs typeface="Calibri"/>
              </a:rPr>
              <a:t>~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98339" y="4309306"/>
            <a:ext cx="17459960" cy="715645"/>
            <a:chOff x="398339" y="4309306"/>
            <a:chExt cx="17459960" cy="715645"/>
          </a:xfrm>
        </p:grpSpPr>
        <p:sp>
          <p:nvSpPr>
            <p:cNvPr id="37" name="object 37"/>
            <p:cNvSpPr/>
            <p:nvPr/>
          </p:nvSpPr>
          <p:spPr>
            <a:xfrm>
              <a:off x="407031" y="4319149"/>
              <a:ext cx="17443450" cy="695960"/>
            </a:xfrm>
            <a:custGeom>
              <a:avLst/>
              <a:gdLst/>
              <a:ahLst/>
              <a:cxnLst/>
              <a:rect l="l" t="t" r="r" b="b"/>
              <a:pathLst>
                <a:path w="17443450" h="695960">
                  <a:moveTo>
                    <a:pt x="17442907" y="695867"/>
                  </a:moveTo>
                  <a:lnTo>
                    <a:pt x="0" y="695867"/>
                  </a:lnTo>
                  <a:lnTo>
                    <a:pt x="0" y="0"/>
                  </a:lnTo>
                  <a:lnTo>
                    <a:pt x="17442907" y="0"/>
                  </a:lnTo>
                  <a:lnTo>
                    <a:pt x="17442907" y="695867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08182" y="4319149"/>
              <a:ext cx="17440275" cy="695960"/>
            </a:xfrm>
            <a:custGeom>
              <a:avLst/>
              <a:gdLst/>
              <a:ahLst/>
              <a:cxnLst/>
              <a:rect l="l" t="t" r="r" b="b"/>
              <a:pathLst>
                <a:path w="17440275" h="695960">
                  <a:moveTo>
                    <a:pt x="0" y="0"/>
                  </a:moveTo>
                  <a:lnTo>
                    <a:pt x="17440048" y="0"/>
                  </a:lnTo>
                  <a:lnTo>
                    <a:pt x="17440048" y="695800"/>
                  </a:lnTo>
                  <a:lnTo>
                    <a:pt x="0" y="695800"/>
                  </a:lnTo>
                  <a:lnTo>
                    <a:pt x="0" y="0"/>
                  </a:lnTo>
                  <a:close/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571880" y="4520623"/>
            <a:ext cx="151892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001D31"/>
                </a:solidFill>
                <a:latin typeface="Calibri"/>
                <a:cs typeface="Calibri"/>
              </a:rPr>
              <a:t>Zendesk</a:t>
            </a:r>
            <a:r>
              <a:rPr dirty="0" sz="1500" spc="-3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01D31"/>
                </a:solidFill>
                <a:latin typeface="Calibri"/>
                <a:cs typeface="Calibri"/>
              </a:rPr>
              <a:t>/</a:t>
            </a:r>
            <a:r>
              <a:rPr dirty="0" sz="1500" spc="-3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001D31"/>
                </a:solidFill>
                <a:latin typeface="Calibri"/>
                <a:cs typeface="Calibri"/>
              </a:rPr>
              <a:t>Intercom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326025" y="4501478"/>
            <a:ext cx="146050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100" spc="-50" b="1">
                <a:solidFill>
                  <a:srgbClr val="F5C441"/>
                </a:solidFill>
                <a:latin typeface="Calibri"/>
                <a:cs typeface="Calibri"/>
              </a:rPr>
              <a:t>~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375361" y="4501478"/>
            <a:ext cx="165100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100" spc="-565">
                <a:solidFill>
                  <a:srgbClr val="FF4444"/>
                </a:solidFill>
                <a:latin typeface="Segoe UI Symbol"/>
                <a:cs typeface="Segoe UI Symbol"/>
              </a:rPr>
              <a:t>✗</a:t>
            </a:r>
            <a:endParaRPr sz="2100">
              <a:latin typeface="Segoe UI Symbol"/>
              <a:cs typeface="Segoe UI Symbo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502998" y="4501478"/>
            <a:ext cx="165100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100" spc="-565">
                <a:solidFill>
                  <a:srgbClr val="FF4444"/>
                </a:solidFill>
                <a:latin typeface="Segoe UI Symbol"/>
                <a:cs typeface="Segoe UI Symbol"/>
              </a:rPr>
              <a:t>✗</a:t>
            </a:r>
            <a:endParaRPr sz="2100">
              <a:latin typeface="Segoe UI Symbol"/>
              <a:cs typeface="Segoe UI Symbo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0562008" y="4501478"/>
            <a:ext cx="165100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100" spc="-565">
                <a:solidFill>
                  <a:srgbClr val="FF4444"/>
                </a:solidFill>
                <a:latin typeface="Segoe UI Symbol"/>
                <a:cs typeface="Segoe UI Symbol"/>
              </a:rPr>
              <a:t>✗</a:t>
            </a:r>
            <a:endParaRPr sz="2100">
              <a:latin typeface="Segoe UI Symbol"/>
              <a:cs typeface="Segoe UI Symbo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2630692" y="4501478"/>
            <a:ext cx="146050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100" spc="-50" b="1">
                <a:solidFill>
                  <a:srgbClr val="F5C441"/>
                </a:solidFill>
                <a:latin typeface="Calibri"/>
                <a:cs typeface="Calibri"/>
              </a:rPr>
              <a:t>~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4680027" y="4501478"/>
            <a:ext cx="165100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100" spc="-565">
                <a:solidFill>
                  <a:srgbClr val="FF4444"/>
                </a:solidFill>
                <a:latin typeface="Segoe UI Symbol"/>
                <a:cs typeface="Segoe UI Symbol"/>
              </a:rPr>
              <a:t>✗</a:t>
            </a:r>
            <a:endParaRPr sz="2100">
              <a:latin typeface="Segoe UI Symbol"/>
              <a:cs typeface="Segoe UI Symbo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398339" y="5064277"/>
            <a:ext cx="17459960" cy="715645"/>
            <a:chOff x="398339" y="5064277"/>
            <a:chExt cx="17459960" cy="715645"/>
          </a:xfrm>
        </p:grpSpPr>
        <p:sp>
          <p:nvSpPr>
            <p:cNvPr id="47" name="object 47"/>
            <p:cNvSpPr/>
            <p:nvPr/>
          </p:nvSpPr>
          <p:spPr>
            <a:xfrm>
              <a:off x="407031" y="5074119"/>
              <a:ext cx="17443450" cy="695960"/>
            </a:xfrm>
            <a:custGeom>
              <a:avLst/>
              <a:gdLst/>
              <a:ahLst/>
              <a:cxnLst/>
              <a:rect l="l" t="t" r="r" b="b"/>
              <a:pathLst>
                <a:path w="17443450" h="695960">
                  <a:moveTo>
                    <a:pt x="17442907" y="695867"/>
                  </a:moveTo>
                  <a:lnTo>
                    <a:pt x="0" y="695867"/>
                  </a:lnTo>
                  <a:lnTo>
                    <a:pt x="0" y="0"/>
                  </a:lnTo>
                  <a:lnTo>
                    <a:pt x="17442907" y="0"/>
                  </a:lnTo>
                  <a:lnTo>
                    <a:pt x="17442907" y="695867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408182" y="5074119"/>
              <a:ext cx="17440275" cy="695960"/>
            </a:xfrm>
            <a:custGeom>
              <a:avLst/>
              <a:gdLst/>
              <a:ahLst/>
              <a:cxnLst/>
              <a:rect l="l" t="t" r="r" b="b"/>
              <a:pathLst>
                <a:path w="17440275" h="695960">
                  <a:moveTo>
                    <a:pt x="0" y="0"/>
                  </a:moveTo>
                  <a:lnTo>
                    <a:pt x="17440048" y="0"/>
                  </a:lnTo>
                  <a:lnTo>
                    <a:pt x="17440048" y="695800"/>
                  </a:lnTo>
                  <a:lnTo>
                    <a:pt x="0" y="695800"/>
                  </a:lnTo>
                  <a:lnTo>
                    <a:pt x="0" y="0"/>
                  </a:lnTo>
                  <a:close/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 txBox="1"/>
          <p:nvPr/>
        </p:nvSpPr>
        <p:spPr>
          <a:xfrm>
            <a:off x="571880" y="5275593"/>
            <a:ext cx="94869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001D31"/>
                </a:solidFill>
                <a:latin typeface="Calibri"/>
                <a:cs typeface="Calibri"/>
              </a:rPr>
              <a:t>AI</a:t>
            </a:r>
            <a:r>
              <a:rPr dirty="0" sz="1500" spc="-20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01D31"/>
                </a:solidFill>
                <a:latin typeface="Calibri"/>
                <a:cs typeface="Calibri"/>
              </a:rPr>
              <a:t>SDR</a:t>
            </a:r>
            <a:r>
              <a:rPr dirty="0" sz="1500" spc="-1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001D31"/>
                </a:solidFill>
                <a:latin typeface="Calibri"/>
                <a:cs typeface="Calibri"/>
              </a:rPr>
              <a:t>tools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316352" y="5256448"/>
            <a:ext cx="165100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100" spc="-565">
                <a:solidFill>
                  <a:srgbClr val="FF4444"/>
                </a:solidFill>
                <a:latin typeface="Segoe UI Symbol"/>
                <a:cs typeface="Segoe UI Symbol"/>
              </a:rPr>
              <a:t>✗</a:t>
            </a:r>
            <a:endParaRPr sz="2100">
              <a:latin typeface="Segoe UI Symbol"/>
              <a:cs typeface="Segoe UI Symbo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375361" y="5256448"/>
            <a:ext cx="165100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100" spc="-565">
                <a:solidFill>
                  <a:srgbClr val="FF4444"/>
                </a:solidFill>
                <a:latin typeface="Segoe UI Symbol"/>
                <a:cs typeface="Segoe UI Symbol"/>
              </a:rPr>
              <a:t>✗</a:t>
            </a:r>
            <a:endParaRPr sz="2100">
              <a:latin typeface="Segoe UI Symbol"/>
              <a:cs typeface="Segoe UI Symbo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512672" y="5256448"/>
            <a:ext cx="146050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100" spc="-50" b="1">
                <a:solidFill>
                  <a:srgbClr val="F5C441"/>
                </a:solidFill>
                <a:latin typeface="Calibri"/>
                <a:cs typeface="Calibri"/>
              </a:rPr>
              <a:t>~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0562008" y="5256448"/>
            <a:ext cx="165100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100" spc="-565">
                <a:solidFill>
                  <a:srgbClr val="FF4444"/>
                </a:solidFill>
                <a:latin typeface="Segoe UI Symbol"/>
                <a:cs typeface="Segoe UI Symbol"/>
              </a:rPr>
              <a:t>✗</a:t>
            </a:r>
            <a:endParaRPr sz="2100">
              <a:latin typeface="Segoe UI Symbol"/>
              <a:cs typeface="Segoe UI Symbo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2621018" y="5256448"/>
            <a:ext cx="165100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100" spc="-565">
                <a:solidFill>
                  <a:srgbClr val="FF4444"/>
                </a:solidFill>
                <a:latin typeface="Segoe UI Symbol"/>
                <a:cs typeface="Segoe UI Symbol"/>
              </a:rPr>
              <a:t>✗</a:t>
            </a:r>
            <a:endParaRPr sz="2100">
              <a:latin typeface="Segoe UI Symbol"/>
              <a:cs typeface="Segoe UI Symbo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4680027" y="5256448"/>
            <a:ext cx="165100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100" spc="-565">
                <a:solidFill>
                  <a:srgbClr val="FF4444"/>
                </a:solidFill>
                <a:latin typeface="Segoe UI Symbol"/>
                <a:cs typeface="Segoe UI Symbol"/>
              </a:rPr>
              <a:t>✗</a:t>
            </a:r>
            <a:endParaRPr sz="2100">
              <a:latin typeface="Segoe UI Symbol"/>
              <a:cs typeface="Segoe UI Symbol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398339" y="5819248"/>
            <a:ext cx="17459960" cy="715645"/>
            <a:chOff x="398339" y="5819248"/>
            <a:chExt cx="17459960" cy="715645"/>
          </a:xfrm>
        </p:grpSpPr>
        <p:sp>
          <p:nvSpPr>
            <p:cNvPr id="57" name="object 57"/>
            <p:cNvSpPr/>
            <p:nvPr/>
          </p:nvSpPr>
          <p:spPr>
            <a:xfrm>
              <a:off x="407031" y="5829090"/>
              <a:ext cx="17443450" cy="695960"/>
            </a:xfrm>
            <a:custGeom>
              <a:avLst/>
              <a:gdLst/>
              <a:ahLst/>
              <a:cxnLst/>
              <a:rect l="l" t="t" r="r" b="b"/>
              <a:pathLst>
                <a:path w="17443450" h="695959">
                  <a:moveTo>
                    <a:pt x="17442907" y="695867"/>
                  </a:moveTo>
                  <a:lnTo>
                    <a:pt x="0" y="695867"/>
                  </a:lnTo>
                  <a:lnTo>
                    <a:pt x="0" y="0"/>
                  </a:lnTo>
                  <a:lnTo>
                    <a:pt x="17442907" y="0"/>
                  </a:lnTo>
                  <a:lnTo>
                    <a:pt x="17442907" y="695867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408182" y="5829090"/>
              <a:ext cx="17440275" cy="695960"/>
            </a:xfrm>
            <a:custGeom>
              <a:avLst/>
              <a:gdLst/>
              <a:ahLst/>
              <a:cxnLst/>
              <a:rect l="l" t="t" r="r" b="b"/>
              <a:pathLst>
                <a:path w="17440275" h="695959">
                  <a:moveTo>
                    <a:pt x="0" y="0"/>
                  </a:moveTo>
                  <a:lnTo>
                    <a:pt x="17440048" y="0"/>
                  </a:lnTo>
                  <a:lnTo>
                    <a:pt x="17440048" y="695800"/>
                  </a:lnTo>
                  <a:lnTo>
                    <a:pt x="0" y="695800"/>
                  </a:lnTo>
                  <a:lnTo>
                    <a:pt x="0" y="0"/>
                  </a:lnTo>
                  <a:close/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/>
          <p:cNvSpPr txBox="1"/>
          <p:nvPr/>
        </p:nvSpPr>
        <p:spPr>
          <a:xfrm>
            <a:off x="571880" y="6030564"/>
            <a:ext cx="155321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001D31"/>
                </a:solidFill>
                <a:latin typeface="Calibri"/>
                <a:cs typeface="Calibri"/>
              </a:rPr>
              <a:t>Generic</a:t>
            </a:r>
            <a:r>
              <a:rPr dirty="0" sz="1500" spc="-4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01D31"/>
                </a:solidFill>
                <a:latin typeface="Calibri"/>
                <a:cs typeface="Calibri"/>
              </a:rPr>
              <a:t>AI</a:t>
            </a:r>
            <a:r>
              <a:rPr dirty="0" sz="1500" spc="-4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001D31"/>
                </a:solidFill>
                <a:latin typeface="Calibri"/>
                <a:cs typeface="Calibri"/>
              </a:rPr>
              <a:t>Chatbots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316352" y="6011419"/>
            <a:ext cx="165100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100" spc="-565">
                <a:solidFill>
                  <a:srgbClr val="FF4444"/>
                </a:solidFill>
                <a:latin typeface="Segoe UI Symbol"/>
                <a:cs typeface="Segoe UI Symbol"/>
              </a:rPr>
              <a:t>✗</a:t>
            </a:r>
            <a:endParaRPr sz="2100">
              <a:latin typeface="Segoe UI Symbol"/>
              <a:cs typeface="Segoe UI Symbo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375361" y="6011419"/>
            <a:ext cx="165100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100" spc="-565">
                <a:solidFill>
                  <a:srgbClr val="FF4444"/>
                </a:solidFill>
                <a:latin typeface="Segoe UI Symbol"/>
                <a:cs typeface="Segoe UI Symbol"/>
              </a:rPr>
              <a:t>✗</a:t>
            </a:r>
            <a:endParaRPr sz="2100">
              <a:latin typeface="Segoe UI Symbol"/>
              <a:cs typeface="Segoe UI Symbo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8502998" y="6011419"/>
            <a:ext cx="165100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100" spc="-565">
                <a:solidFill>
                  <a:srgbClr val="FF4444"/>
                </a:solidFill>
                <a:latin typeface="Segoe UI Symbol"/>
                <a:cs typeface="Segoe UI Symbol"/>
              </a:rPr>
              <a:t>✗</a:t>
            </a:r>
            <a:endParaRPr sz="2100">
              <a:latin typeface="Segoe UI Symbol"/>
              <a:cs typeface="Segoe UI Symbo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0562008" y="6011419"/>
            <a:ext cx="165100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100" spc="-565">
                <a:solidFill>
                  <a:srgbClr val="FF4444"/>
                </a:solidFill>
                <a:latin typeface="Segoe UI Symbol"/>
                <a:cs typeface="Segoe UI Symbol"/>
              </a:rPr>
              <a:t>✗</a:t>
            </a:r>
            <a:endParaRPr sz="2100">
              <a:latin typeface="Segoe UI Symbol"/>
              <a:cs typeface="Segoe UI Symbo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2630692" y="6011419"/>
            <a:ext cx="146050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100" spc="-50" b="1">
                <a:solidFill>
                  <a:srgbClr val="F5C441"/>
                </a:solidFill>
                <a:latin typeface="Calibri"/>
                <a:cs typeface="Calibri"/>
              </a:rPr>
              <a:t>~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4680027" y="6011419"/>
            <a:ext cx="165100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100" spc="-565">
                <a:solidFill>
                  <a:srgbClr val="FF4444"/>
                </a:solidFill>
                <a:latin typeface="Segoe UI Symbol"/>
                <a:cs typeface="Segoe UI Symbol"/>
              </a:rPr>
              <a:t>✗</a:t>
            </a:r>
            <a:endParaRPr sz="2100">
              <a:latin typeface="Segoe UI Symbol"/>
              <a:cs typeface="Segoe UI Symbol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398649" y="6574528"/>
            <a:ext cx="17459325" cy="715010"/>
            <a:chOff x="398649" y="6574528"/>
            <a:chExt cx="17459325" cy="715010"/>
          </a:xfrm>
        </p:grpSpPr>
        <p:sp>
          <p:nvSpPr>
            <p:cNvPr id="67" name="object 67"/>
            <p:cNvSpPr/>
            <p:nvPr/>
          </p:nvSpPr>
          <p:spPr>
            <a:xfrm>
              <a:off x="407031" y="6584060"/>
              <a:ext cx="17443450" cy="695960"/>
            </a:xfrm>
            <a:custGeom>
              <a:avLst/>
              <a:gdLst/>
              <a:ahLst/>
              <a:cxnLst/>
              <a:rect l="l" t="t" r="r" b="b"/>
              <a:pathLst>
                <a:path w="17443450" h="695959">
                  <a:moveTo>
                    <a:pt x="17442907" y="695867"/>
                  </a:moveTo>
                  <a:lnTo>
                    <a:pt x="0" y="695867"/>
                  </a:lnTo>
                  <a:lnTo>
                    <a:pt x="0" y="0"/>
                  </a:lnTo>
                  <a:lnTo>
                    <a:pt x="17442907" y="0"/>
                  </a:lnTo>
                  <a:lnTo>
                    <a:pt x="17442907" y="695867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408182" y="6584060"/>
              <a:ext cx="17440275" cy="695960"/>
            </a:xfrm>
            <a:custGeom>
              <a:avLst/>
              <a:gdLst/>
              <a:ahLst/>
              <a:cxnLst/>
              <a:rect l="l" t="t" r="r" b="b"/>
              <a:pathLst>
                <a:path w="17440275" h="695959">
                  <a:moveTo>
                    <a:pt x="0" y="0"/>
                  </a:moveTo>
                  <a:lnTo>
                    <a:pt x="17440048" y="0"/>
                  </a:lnTo>
                  <a:lnTo>
                    <a:pt x="17440048" y="695800"/>
                  </a:lnTo>
                  <a:lnTo>
                    <a:pt x="0" y="695800"/>
                  </a:lnTo>
                  <a:lnTo>
                    <a:pt x="0" y="0"/>
                  </a:lnTo>
                  <a:close/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9" name="object 69"/>
          <p:cNvSpPr txBox="1"/>
          <p:nvPr/>
        </p:nvSpPr>
        <p:spPr>
          <a:xfrm>
            <a:off x="571880" y="6785534"/>
            <a:ext cx="178752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001D31"/>
                </a:solidFill>
                <a:latin typeface="Calibri"/>
                <a:cs typeface="Calibri"/>
              </a:rPr>
              <a:t>Freshworks</a:t>
            </a:r>
            <a:r>
              <a:rPr dirty="0" sz="1500" spc="-5">
                <a:solidFill>
                  <a:srgbClr val="001D31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001D31"/>
                </a:solidFill>
                <a:latin typeface="Calibri"/>
                <a:cs typeface="Calibri"/>
              </a:rPr>
              <a:t>/ </a:t>
            </a:r>
            <a:r>
              <a:rPr dirty="0" sz="1500" spc="-10">
                <a:solidFill>
                  <a:srgbClr val="001D31"/>
                </a:solidFill>
                <a:latin typeface="Calibri"/>
                <a:cs typeface="Calibri"/>
              </a:rPr>
              <a:t>Gainsight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77" name="object 7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85"/>
              </a:lnSpc>
            </a:pPr>
            <a:r>
              <a:rPr dirty="0"/>
              <a:t>11</a:t>
            </a:r>
            <a:r>
              <a:rPr dirty="0" spc="-15"/>
              <a:t> </a:t>
            </a:r>
            <a:r>
              <a:rPr dirty="0"/>
              <a:t>/</a:t>
            </a:r>
            <a:r>
              <a:rPr dirty="0" spc="-15"/>
              <a:t> </a:t>
            </a:r>
            <a:r>
              <a:rPr dirty="0" spc="-25"/>
              <a:t>16</a:t>
            </a:r>
          </a:p>
        </p:txBody>
      </p:sp>
      <p:sp>
        <p:nvSpPr>
          <p:cNvPr id="70" name="object 70"/>
          <p:cNvSpPr txBox="1"/>
          <p:nvPr/>
        </p:nvSpPr>
        <p:spPr>
          <a:xfrm>
            <a:off x="4326025" y="6766389"/>
            <a:ext cx="146050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100" spc="-50" b="1">
                <a:solidFill>
                  <a:srgbClr val="F5C441"/>
                </a:solidFill>
                <a:latin typeface="Calibri"/>
                <a:cs typeface="Calibri"/>
              </a:rPr>
              <a:t>~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6385035" y="6766389"/>
            <a:ext cx="146050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100" spc="-50" b="1">
                <a:solidFill>
                  <a:srgbClr val="F5C441"/>
                </a:solidFill>
                <a:latin typeface="Calibri"/>
                <a:cs typeface="Calibri"/>
              </a:rPr>
              <a:t>~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8502998" y="6766389"/>
            <a:ext cx="165100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100" spc="-565">
                <a:solidFill>
                  <a:srgbClr val="FF4444"/>
                </a:solidFill>
                <a:latin typeface="Segoe UI Symbol"/>
                <a:cs typeface="Segoe UI Symbol"/>
              </a:rPr>
              <a:t>✗</a:t>
            </a:r>
            <a:endParaRPr sz="2100">
              <a:latin typeface="Segoe UI Symbol"/>
              <a:cs typeface="Segoe UI Symbo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0562008" y="6766389"/>
            <a:ext cx="165100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100" spc="-565">
                <a:solidFill>
                  <a:srgbClr val="FF4444"/>
                </a:solidFill>
                <a:latin typeface="Segoe UI Symbol"/>
                <a:cs typeface="Segoe UI Symbol"/>
              </a:rPr>
              <a:t>✗</a:t>
            </a:r>
            <a:endParaRPr sz="2100">
              <a:latin typeface="Segoe UI Symbol"/>
              <a:cs typeface="Segoe UI Symbo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2621018" y="6766389"/>
            <a:ext cx="165100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100" spc="-565">
                <a:solidFill>
                  <a:srgbClr val="FF4444"/>
                </a:solidFill>
                <a:latin typeface="Segoe UI Symbol"/>
                <a:cs typeface="Segoe UI Symbol"/>
              </a:rPr>
              <a:t>✗</a:t>
            </a:r>
            <a:endParaRPr sz="2100">
              <a:latin typeface="Segoe UI Symbol"/>
              <a:cs typeface="Segoe UI Symbo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4689701" y="6766389"/>
            <a:ext cx="146050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100" spc="-50" b="1">
                <a:solidFill>
                  <a:srgbClr val="F5C441"/>
                </a:solidFill>
                <a:latin typeface="Calibri"/>
                <a:cs typeface="Calibri"/>
              </a:rPr>
              <a:t>~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490543" y="7407255"/>
            <a:ext cx="411226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5420" indent="-172720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85420" algn="l"/>
                <a:tab pos="1420495" algn="l"/>
                <a:tab pos="2931160" algn="l"/>
              </a:tabLst>
            </a:pP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Full</a:t>
            </a:r>
            <a:r>
              <a:rPr dirty="0" sz="150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capability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	~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Partial</a:t>
            </a:r>
            <a:r>
              <a:rPr dirty="0" sz="1500" spc="-2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/</a:t>
            </a:r>
            <a:r>
              <a:rPr dirty="0" sz="1500" spc="-2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limited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	</a:t>
            </a:r>
            <a:r>
              <a:rPr dirty="0" sz="1500" spc="-380">
                <a:solidFill>
                  <a:srgbClr val="8B8FA2"/>
                </a:solidFill>
                <a:latin typeface="Segoe UI Symbol"/>
                <a:cs typeface="Segoe UI Symbol"/>
              </a:rPr>
              <a:t>✗</a:t>
            </a:r>
            <a:r>
              <a:rPr dirty="0" sz="1500" spc="-75">
                <a:solidFill>
                  <a:srgbClr val="8B8FA2"/>
                </a:solidFill>
                <a:latin typeface="Segoe UI Symbol"/>
                <a:cs typeface="Segoe UI Symbol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Not</a:t>
            </a:r>
            <a:r>
              <a:rPr dirty="0" sz="1500" spc="-1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available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726724" y="0"/>
            <a:ext cx="4561840" cy="4804410"/>
          </a:xfrm>
          <a:custGeom>
            <a:avLst/>
            <a:gdLst/>
            <a:ahLst/>
            <a:cxnLst/>
            <a:rect l="l" t="t" r="r" b="b"/>
            <a:pathLst>
              <a:path w="4561840" h="4804410">
                <a:moveTo>
                  <a:pt x="3264366" y="4766252"/>
                </a:moveTo>
                <a:lnTo>
                  <a:pt x="2226411" y="4766252"/>
                </a:lnTo>
                <a:lnTo>
                  <a:pt x="1825660" y="4651952"/>
                </a:lnTo>
                <a:lnTo>
                  <a:pt x="1740071" y="4626552"/>
                </a:lnTo>
                <a:lnTo>
                  <a:pt x="1697790" y="4601152"/>
                </a:lnTo>
                <a:lnTo>
                  <a:pt x="1655860" y="4588452"/>
                </a:lnTo>
                <a:lnTo>
                  <a:pt x="1614288" y="4563052"/>
                </a:lnTo>
                <a:lnTo>
                  <a:pt x="1573082" y="4550352"/>
                </a:lnTo>
                <a:lnTo>
                  <a:pt x="1532247" y="4524952"/>
                </a:lnTo>
                <a:lnTo>
                  <a:pt x="1491791" y="4512252"/>
                </a:lnTo>
                <a:lnTo>
                  <a:pt x="1412043" y="4461452"/>
                </a:lnTo>
                <a:lnTo>
                  <a:pt x="1372763" y="4448752"/>
                </a:lnTo>
                <a:lnTo>
                  <a:pt x="1295429" y="4397952"/>
                </a:lnTo>
                <a:lnTo>
                  <a:pt x="1219773" y="4347152"/>
                </a:lnTo>
                <a:lnTo>
                  <a:pt x="1145850" y="4296352"/>
                </a:lnTo>
                <a:lnTo>
                  <a:pt x="1073713" y="4245552"/>
                </a:lnTo>
                <a:lnTo>
                  <a:pt x="1038332" y="4220152"/>
                </a:lnTo>
                <a:lnTo>
                  <a:pt x="1003418" y="4182052"/>
                </a:lnTo>
                <a:lnTo>
                  <a:pt x="968977" y="4156652"/>
                </a:lnTo>
                <a:lnTo>
                  <a:pt x="935018" y="4131252"/>
                </a:lnTo>
                <a:lnTo>
                  <a:pt x="901546" y="4093152"/>
                </a:lnTo>
                <a:lnTo>
                  <a:pt x="868569" y="4067752"/>
                </a:lnTo>
                <a:lnTo>
                  <a:pt x="836092" y="4042352"/>
                </a:lnTo>
                <a:lnTo>
                  <a:pt x="804124" y="4004252"/>
                </a:lnTo>
                <a:lnTo>
                  <a:pt x="772670" y="3978852"/>
                </a:lnTo>
                <a:lnTo>
                  <a:pt x="741738" y="3940752"/>
                </a:lnTo>
                <a:lnTo>
                  <a:pt x="711334" y="3915352"/>
                </a:lnTo>
                <a:lnTo>
                  <a:pt x="681466" y="3877252"/>
                </a:lnTo>
                <a:lnTo>
                  <a:pt x="652139" y="3839152"/>
                </a:lnTo>
                <a:lnTo>
                  <a:pt x="623362" y="3801052"/>
                </a:lnTo>
                <a:lnTo>
                  <a:pt x="595140" y="3775652"/>
                </a:lnTo>
                <a:lnTo>
                  <a:pt x="567480" y="3737552"/>
                </a:lnTo>
                <a:lnTo>
                  <a:pt x="540390" y="3699452"/>
                </a:lnTo>
                <a:lnTo>
                  <a:pt x="513875" y="3661352"/>
                </a:lnTo>
                <a:lnTo>
                  <a:pt x="487944" y="3623252"/>
                </a:lnTo>
                <a:lnTo>
                  <a:pt x="462602" y="3585152"/>
                </a:lnTo>
                <a:lnTo>
                  <a:pt x="437856" y="3547052"/>
                </a:lnTo>
                <a:lnTo>
                  <a:pt x="413714" y="3521652"/>
                </a:lnTo>
                <a:lnTo>
                  <a:pt x="390182" y="3470852"/>
                </a:lnTo>
                <a:lnTo>
                  <a:pt x="367267" y="3432752"/>
                </a:lnTo>
                <a:lnTo>
                  <a:pt x="344975" y="3394652"/>
                </a:lnTo>
                <a:lnTo>
                  <a:pt x="323314" y="3356552"/>
                </a:lnTo>
                <a:lnTo>
                  <a:pt x="302291" y="3318452"/>
                </a:lnTo>
                <a:lnTo>
                  <a:pt x="281911" y="3280352"/>
                </a:lnTo>
                <a:lnTo>
                  <a:pt x="262182" y="3242252"/>
                </a:lnTo>
                <a:lnTo>
                  <a:pt x="243111" y="3191452"/>
                </a:lnTo>
                <a:lnTo>
                  <a:pt x="224705" y="3153352"/>
                </a:lnTo>
                <a:lnTo>
                  <a:pt x="206969" y="3115252"/>
                </a:lnTo>
                <a:lnTo>
                  <a:pt x="189912" y="3064452"/>
                </a:lnTo>
                <a:lnTo>
                  <a:pt x="173540" y="3026352"/>
                </a:lnTo>
                <a:lnTo>
                  <a:pt x="157860" y="2988252"/>
                </a:lnTo>
                <a:lnTo>
                  <a:pt x="142878" y="2937452"/>
                </a:lnTo>
                <a:lnTo>
                  <a:pt x="128601" y="2899352"/>
                </a:lnTo>
                <a:lnTo>
                  <a:pt x="115037" y="2848552"/>
                </a:lnTo>
                <a:lnTo>
                  <a:pt x="102192" y="2810452"/>
                </a:lnTo>
                <a:lnTo>
                  <a:pt x="90072" y="2759652"/>
                </a:lnTo>
                <a:lnTo>
                  <a:pt x="78685" y="2721552"/>
                </a:lnTo>
                <a:lnTo>
                  <a:pt x="68037" y="2670752"/>
                </a:lnTo>
                <a:lnTo>
                  <a:pt x="58136" y="2632652"/>
                </a:lnTo>
                <a:lnTo>
                  <a:pt x="48988" y="2581852"/>
                </a:lnTo>
                <a:lnTo>
                  <a:pt x="40599" y="2543752"/>
                </a:lnTo>
                <a:lnTo>
                  <a:pt x="32977" y="2492952"/>
                </a:lnTo>
                <a:lnTo>
                  <a:pt x="26128" y="2442152"/>
                </a:lnTo>
                <a:lnTo>
                  <a:pt x="20060" y="2404052"/>
                </a:lnTo>
                <a:lnTo>
                  <a:pt x="14779" y="2353252"/>
                </a:lnTo>
                <a:lnTo>
                  <a:pt x="10291" y="2302452"/>
                </a:lnTo>
                <a:lnTo>
                  <a:pt x="6604" y="2251652"/>
                </a:lnTo>
                <a:lnTo>
                  <a:pt x="3725" y="2213552"/>
                </a:lnTo>
                <a:lnTo>
                  <a:pt x="1660" y="2162752"/>
                </a:lnTo>
                <a:lnTo>
                  <a:pt x="416" y="2111952"/>
                </a:lnTo>
                <a:lnTo>
                  <a:pt x="0" y="2061152"/>
                </a:lnTo>
                <a:lnTo>
                  <a:pt x="416" y="2023052"/>
                </a:lnTo>
                <a:lnTo>
                  <a:pt x="1660" y="1972252"/>
                </a:lnTo>
                <a:lnTo>
                  <a:pt x="3725" y="1921452"/>
                </a:lnTo>
                <a:lnTo>
                  <a:pt x="6604" y="1870652"/>
                </a:lnTo>
                <a:lnTo>
                  <a:pt x="10290" y="1819852"/>
                </a:lnTo>
                <a:lnTo>
                  <a:pt x="14778" y="1781752"/>
                </a:lnTo>
                <a:lnTo>
                  <a:pt x="20059" y="1730952"/>
                </a:lnTo>
                <a:lnTo>
                  <a:pt x="26126" y="1680152"/>
                </a:lnTo>
                <a:lnTo>
                  <a:pt x="32975" y="1642052"/>
                </a:lnTo>
                <a:lnTo>
                  <a:pt x="40596" y="1591252"/>
                </a:lnTo>
                <a:lnTo>
                  <a:pt x="48984" y="1540452"/>
                </a:lnTo>
                <a:lnTo>
                  <a:pt x="58132" y="1502352"/>
                </a:lnTo>
                <a:lnTo>
                  <a:pt x="68033" y="1451552"/>
                </a:lnTo>
                <a:lnTo>
                  <a:pt x="78680" y="1413452"/>
                </a:lnTo>
                <a:lnTo>
                  <a:pt x="90066" y="1362652"/>
                </a:lnTo>
                <a:lnTo>
                  <a:pt x="102185" y="1324552"/>
                </a:lnTo>
                <a:lnTo>
                  <a:pt x="115029" y="1273752"/>
                </a:lnTo>
                <a:lnTo>
                  <a:pt x="128593" y="1235652"/>
                </a:lnTo>
                <a:lnTo>
                  <a:pt x="142869" y="1184852"/>
                </a:lnTo>
                <a:lnTo>
                  <a:pt x="157850" y="1146752"/>
                </a:lnTo>
                <a:lnTo>
                  <a:pt x="173529" y="1108652"/>
                </a:lnTo>
                <a:lnTo>
                  <a:pt x="189900" y="1057852"/>
                </a:lnTo>
                <a:lnTo>
                  <a:pt x="206956" y="1019752"/>
                </a:lnTo>
                <a:lnTo>
                  <a:pt x="224691" y="981652"/>
                </a:lnTo>
                <a:lnTo>
                  <a:pt x="243096" y="930852"/>
                </a:lnTo>
                <a:lnTo>
                  <a:pt x="262166" y="892752"/>
                </a:lnTo>
                <a:lnTo>
                  <a:pt x="281894" y="854652"/>
                </a:lnTo>
                <a:lnTo>
                  <a:pt x="302273" y="816552"/>
                </a:lnTo>
                <a:lnTo>
                  <a:pt x="323296" y="765752"/>
                </a:lnTo>
                <a:lnTo>
                  <a:pt x="344956" y="727652"/>
                </a:lnTo>
                <a:lnTo>
                  <a:pt x="367246" y="689552"/>
                </a:lnTo>
                <a:lnTo>
                  <a:pt x="390160" y="651452"/>
                </a:lnTo>
                <a:lnTo>
                  <a:pt x="413691" y="613352"/>
                </a:lnTo>
                <a:lnTo>
                  <a:pt x="437833" y="575252"/>
                </a:lnTo>
                <a:lnTo>
                  <a:pt x="462577" y="537152"/>
                </a:lnTo>
                <a:lnTo>
                  <a:pt x="487918" y="499052"/>
                </a:lnTo>
                <a:lnTo>
                  <a:pt x="513848" y="460952"/>
                </a:lnTo>
                <a:lnTo>
                  <a:pt x="540362" y="435552"/>
                </a:lnTo>
                <a:lnTo>
                  <a:pt x="567451" y="397452"/>
                </a:lnTo>
                <a:lnTo>
                  <a:pt x="595110" y="359352"/>
                </a:lnTo>
                <a:lnTo>
                  <a:pt x="623331" y="321252"/>
                </a:lnTo>
                <a:lnTo>
                  <a:pt x="652108" y="283152"/>
                </a:lnTo>
                <a:lnTo>
                  <a:pt x="681433" y="257752"/>
                </a:lnTo>
                <a:lnTo>
                  <a:pt x="711301" y="219652"/>
                </a:lnTo>
                <a:lnTo>
                  <a:pt x="741704" y="194252"/>
                </a:lnTo>
                <a:lnTo>
                  <a:pt x="772635" y="156152"/>
                </a:lnTo>
                <a:lnTo>
                  <a:pt x="804088" y="118052"/>
                </a:lnTo>
                <a:lnTo>
                  <a:pt x="836056" y="92652"/>
                </a:lnTo>
                <a:lnTo>
                  <a:pt x="868531" y="67252"/>
                </a:lnTo>
                <a:lnTo>
                  <a:pt x="901508" y="29152"/>
                </a:lnTo>
                <a:lnTo>
                  <a:pt x="934980" y="3752"/>
                </a:lnTo>
                <a:lnTo>
                  <a:pt x="939997" y="0"/>
                </a:lnTo>
                <a:lnTo>
                  <a:pt x="4550742" y="0"/>
                </a:lnTo>
                <a:lnTo>
                  <a:pt x="4555759" y="3752"/>
                </a:lnTo>
                <a:lnTo>
                  <a:pt x="4561275" y="7938"/>
                </a:lnTo>
                <a:lnTo>
                  <a:pt x="4561275" y="4124929"/>
                </a:lnTo>
                <a:lnTo>
                  <a:pt x="4555721" y="4131252"/>
                </a:lnTo>
                <a:lnTo>
                  <a:pt x="4521763" y="4156652"/>
                </a:lnTo>
                <a:lnTo>
                  <a:pt x="4487324" y="4182052"/>
                </a:lnTo>
                <a:lnTo>
                  <a:pt x="4452411" y="4220152"/>
                </a:lnTo>
                <a:lnTo>
                  <a:pt x="4417031" y="4245552"/>
                </a:lnTo>
                <a:lnTo>
                  <a:pt x="4344898" y="4296352"/>
                </a:lnTo>
                <a:lnTo>
                  <a:pt x="4270977" y="4347152"/>
                </a:lnTo>
                <a:lnTo>
                  <a:pt x="4195324" y="4397952"/>
                </a:lnTo>
                <a:lnTo>
                  <a:pt x="4117992" y="4448752"/>
                </a:lnTo>
                <a:lnTo>
                  <a:pt x="4078715" y="4461452"/>
                </a:lnTo>
                <a:lnTo>
                  <a:pt x="3998968" y="4512252"/>
                </a:lnTo>
                <a:lnTo>
                  <a:pt x="3958514" y="4524952"/>
                </a:lnTo>
                <a:lnTo>
                  <a:pt x="3917680" y="4550352"/>
                </a:lnTo>
                <a:lnTo>
                  <a:pt x="3876475" y="4563052"/>
                </a:lnTo>
                <a:lnTo>
                  <a:pt x="3834905" y="4588452"/>
                </a:lnTo>
                <a:lnTo>
                  <a:pt x="3792976" y="4601152"/>
                </a:lnTo>
                <a:lnTo>
                  <a:pt x="3750696" y="4626552"/>
                </a:lnTo>
                <a:lnTo>
                  <a:pt x="3665109" y="4651952"/>
                </a:lnTo>
                <a:lnTo>
                  <a:pt x="3264366" y="4766252"/>
                </a:lnTo>
                <a:close/>
              </a:path>
              <a:path w="4561840" h="4804410">
                <a:moveTo>
                  <a:pt x="3172169" y="4778952"/>
                </a:moveTo>
                <a:lnTo>
                  <a:pt x="2318608" y="4778952"/>
                </a:lnTo>
                <a:lnTo>
                  <a:pt x="2272378" y="4766252"/>
                </a:lnTo>
                <a:lnTo>
                  <a:pt x="3218399" y="4766252"/>
                </a:lnTo>
                <a:lnTo>
                  <a:pt x="3172169" y="4778952"/>
                </a:lnTo>
                <a:close/>
              </a:path>
              <a:path w="4561840" h="4804410">
                <a:moveTo>
                  <a:pt x="3078948" y="4791652"/>
                </a:moveTo>
                <a:lnTo>
                  <a:pt x="2411830" y="4791652"/>
                </a:lnTo>
                <a:lnTo>
                  <a:pt x="2365095" y="4778952"/>
                </a:lnTo>
                <a:lnTo>
                  <a:pt x="3125683" y="4778952"/>
                </a:lnTo>
                <a:lnTo>
                  <a:pt x="3078948" y="4791652"/>
                </a:lnTo>
                <a:close/>
              </a:path>
              <a:path w="4561840" h="4804410">
                <a:moveTo>
                  <a:pt x="2984757" y="4804352"/>
                </a:moveTo>
                <a:lnTo>
                  <a:pt x="2506023" y="4804352"/>
                </a:lnTo>
                <a:lnTo>
                  <a:pt x="2458809" y="4791652"/>
                </a:lnTo>
                <a:lnTo>
                  <a:pt x="3031970" y="4791652"/>
                </a:lnTo>
                <a:lnTo>
                  <a:pt x="2984757" y="4804352"/>
                </a:lnTo>
                <a:close/>
              </a:path>
            </a:pathLst>
          </a:custGeom>
          <a:solidFill>
            <a:srgbClr val="8B5CF5">
              <a:alpha val="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23607" y="562794"/>
            <a:ext cx="343535" cy="20955"/>
          </a:xfrm>
          <a:custGeom>
            <a:avLst/>
            <a:gdLst/>
            <a:ahLst/>
            <a:cxnLst/>
            <a:rect l="l" t="t" r="r" b="b"/>
            <a:pathLst>
              <a:path w="343534" h="20954">
                <a:moveTo>
                  <a:pt x="343163" y="20593"/>
                </a:moveTo>
                <a:lnTo>
                  <a:pt x="0" y="20593"/>
                </a:lnTo>
                <a:lnTo>
                  <a:pt x="0" y="0"/>
                </a:lnTo>
                <a:lnTo>
                  <a:pt x="343163" y="0"/>
                </a:lnTo>
                <a:lnTo>
                  <a:pt x="343163" y="20593"/>
                </a:lnTo>
                <a:close/>
              </a:path>
            </a:pathLst>
          </a:custGeom>
          <a:solidFill>
            <a:srgbClr val="0042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291129" y="406628"/>
            <a:ext cx="88773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00426F"/>
                </a:solidFill>
                <a:latin typeface="Calibri"/>
                <a:cs typeface="Calibri"/>
              </a:rPr>
              <a:t>WHY</a:t>
            </a:r>
            <a:r>
              <a:rPr dirty="0" sz="1500" spc="-40" b="1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500" spc="-25" b="1">
                <a:solidFill>
                  <a:srgbClr val="00426F"/>
                </a:solidFill>
                <a:latin typeface="Calibri"/>
                <a:cs typeface="Calibri"/>
              </a:rPr>
              <a:t>NOW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110"/>
              <a:t> </a:t>
            </a:r>
            <a:r>
              <a:rPr dirty="0"/>
              <a:t>infrastructure</a:t>
            </a:r>
            <a:r>
              <a:rPr dirty="0" spc="-110"/>
              <a:t> </a:t>
            </a:r>
            <a:r>
              <a:rPr dirty="0"/>
              <a:t>just</a:t>
            </a:r>
            <a:r>
              <a:rPr dirty="0" spc="-105"/>
              <a:t> </a:t>
            </a:r>
            <a:r>
              <a:rPr dirty="0"/>
              <a:t>became</a:t>
            </a:r>
            <a:r>
              <a:rPr dirty="0" spc="-110"/>
              <a:t> </a:t>
            </a:r>
            <a:r>
              <a:rPr dirty="0"/>
              <a:t>available</a:t>
            </a:r>
            <a:r>
              <a:rPr dirty="0" spc="-105"/>
              <a:t> </a:t>
            </a:r>
            <a:r>
              <a:rPr dirty="0"/>
              <a:t>to</a:t>
            </a:r>
            <a:r>
              <a:rPr dirty="0" spc="-110"/>
              <a:t> </a:t>
            </a:r>
            <a:r>
              <a:rPr dirty="0"/>
              <a:t>build</a:t>
            </a:r>
            <a:r>
              <a:rPr dirty="0" spc="-110"/>
              <a:t> </a:t>
            </a:r>
            <a:r>
              <a:rPr dirty="0" spc="-20"/>
              <a:t>this.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397498" y="2044705"/>
            <a:ext cx="5656580" cy="3458210"/>
            <a:chOff x="397498" y="2044705"/>
            <a:chExt cx="5656580" cy="3458210"/>
          </a:xfrm>
        </p:grpSpPr>
        <p:sp>
          <p:nvSpPr>
            <p:cNvPr id="7" name="object 7"/>
            <p:cNvSpPr/>
            <p:nvPr/>
          </p:nvSpPr>
          <p:spPr>
            <a:xfrm>
              <a:off x="407031" y="2054237"/>
              <a:ext cx="5637530" cy="3441700"/>
            </a:xfrm>
            <a:custGeom>
              <a:avLst/>
              <a:gdLst/>
              <a:ahLst/>
              <a:cxnLst/>
              <a:rect l="l" t="t" r="r" b="b"/>
              <a:pathLst>
                <a:path w="5637530" h="3441700">
                  <a:moveTo>
                    <a:pt x="5465445" y="3441211"/>
                  </a:moveTo>
                  <a:lnTo>
                    <a:pt x="172021" y="3441211"/>
                  </a:lnTo>
                  <a:lnTo>
                    <a:pt x="126354" y="3435051"/>
                  </a:lnTo>
                  <a:lnTo>
                    <a:pt x="85267" y="3417718"/>
                  </a:lnTo>
                  <a:lnTo>
                    <a:pt x="50445" y="3390828"/>
                  </a:lnTo>
                  <a:lnTo>
                    <a:pt x="23527" y="3356017"/>
                  </a:lnTo>
                  <a:lnTo>
                    <a:pt x="6161" y="3314919"/>
                  </a:lnTo>
                  <a:lnTo>
                    <a:pt x="0" y="3269170"/>
                  </a:lnTo>
                  <a:lnTo>
                    <a:pt x="0" y="172021"/>
                  </a:lnTo>
                  <a:lnTo>
                    <a:pt x="6147" y="126305"/>
                  </a:lnTo>
                  <a:lnTo>
                    <a:pt x="23495" y="85217"/>
                  </a:lnTo>
                  <a:lnTo>
                    <a:pt x="50399" y="50399"/>
                  </a:lnTo>
                  <a:lnTo>
                    <a:pt x="85217" y="23495"/>
                  </a:lnTo>
                  <a:lnTo>
                    <a:pt x="126305" y="6147"/>
                  </a:lnTo>
                  <a:lnTo>
                    <a:pt x="172021" y="0"/>
                  </a:lnTo>
                  <a:lnTo>
                    <a:pt x="5465445" y="0"/>
                  </a:lnTo>
                  <a:lnTo>
                    <a:pt x="5511194" y="6147"/>
                  </a:lnTo>
                  <a:lnTo>
                    <a:pt x="5552292" y="23495"/>
                  </a:lnTo>
                  <a:lnTo>
                    <a:pt x="5587103" y="50399"/>
                  </a:lnTo>
                  <a:lnTo>
                    <a:pt x="5613992" y="85217"/>
                  </a:lnTo>
                  <a:lnTo>
                    <a:pt x="5631325" y="126305"/>
                  </a:lnTo>
                  <a:lnTo>
                    <a:pt x="5637121" y="169455"/>
                  </a:lnTo>
                  <a:lnTo>
                    <a:pt x="5637121" y="3271735"/>
                  </a:lnTo>
                  <a:lnTo>
                    <a:pt x="5631319" y="3314919"/>
                  </a:lnTo>
                  <a:lnTo>
                    <a:pt x="5613971" y="3356017"/>
                  </a:lnTo>
                  <a:lnTo>
                    <a:pt x="5587067" y="3390828"/>
                  </a:lnTo>
                  <a:lnTo>
                    <a:pt x="5552249" y="3417718"/>
                  </a:lnTo>
                  <a:lnTo>
                    <a:pt x="5511161" y="3435051"/>
                  </a:lnTo>
                  <a:lnTo>
                    <a:pt x="5465445" y="3441211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07031" y="2054237"/>
              <a:ext cx="5637530" cy="3438525"/>
            </a:xfrm>
            <a:custGeom>
              <a:avLst/>
              <a:gdLst/>
              <a:ahLst/>
              <a:cxnLst/>
              <a:rect l="l" t="t" r="r" b="b"/>
              <a:pathLst>
                <a:path w="5637530" h="3438525">
                  <a:moveTo>
                    <a:pt x="152190" y="3438518"/>
                  </a:moveTo>
                  <a:lnTo>
                    <a:pt x="85220" y="3417681"/>
                  </a:lnTo>
                  <a:lnTo>
                    <a:pt x="50405" y="3390776"/>
                  </a:lnTo>
                  <a:lnTo>
                    <a:pt x="23504" y="3355960"/>
                  </a:lnTo>
                  <a:lnTo>
                    <a:pt x="6155" y="3314874"/>
                  </a:lnTo>
                  <a:lnTo>
                    <a:pt x="0" y="3269159"/>
                  </a:lnTo>
                  <a:lnTo>
                    <a:pt x="0" y="172024"/>
                  </a:lnTo>
                  <a:lnTo>
                    <a:pt x="6146" y="126308"/>
                  </a:lnTo>
                  <a:lnTo>
                    <a:pt x="23493" y="85219"/>
                  </a:lnTo>
                  <a:lnTo>
                    <a:pt x="50397" y="50400"/>
                  </a:lnTo>
                  <a:lnTo>
                    <a:pt x="85215" y="23495"/>
                  </a:lnTo>
                  <a:lnTo>
                    <a:pt x="126304" y="6147"/>
                  </a:lnTo>
                  <a:lnTo>
                    <a:pt x="172021" y="0"/>
                  </a:lnTo>
                  <a:lnTo>
                    <a:pt x="5465420" y="0"/>
                  </a:lnTo>
                  <a:lnTo>
                    <a:pt x="5511174" y="6139"/>
                  </a:lnTo>
                  <a:lnTo>
                    <a:pt x="5552278" y="23484"/>
                  </a:lnTo>
                  <a:lnTo>
                    <a:pt x="5587095" y="50389"/>
                  </a:lnTo>
                  <a:lnTo>
                    <a:pt x="5613990" y="85211"/>
                  </a:lnTo>
                  <a:lnTo>
                    <a:pt x="5631325" y="126305"/>
                  </a:lnTo>
                  <a:lnTo>
                    <a:pt x="5637466" y="172024"/>
                  </a:lnTo>
                  <a:lnTo>
                    <a:pt x="5637467" y="3269163"/>
                  </a:lnTo>
                  <a:lnTo>
                    <a:pt x="5631318" y="3314919"/>
                  </a:lnTo>
                  <a:lnTo>
                    <a:pt x="5613967" y="3356022"/>
                  </a:lnTo>
                  <a:lnTo>
                    <a:pt x="5587057" y="3390836"/>
                  </a:lnTo>
                  <a:lnTo>
                    <a:pt x="5552232" y="3417725"/>
                  </a:lnTo>
                  <a:lnTo>
                    <a:pt x="5511138" y="3435053"/>
                  </a:lnTo>
                  <a:lnTo>
                    <a:pt x="5485297" y="3438510"/>
                  </a:lnTo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696445" y="2259355"/>
            <a:ext cx="3323590" cy="1110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6340"/>
              </a:lnSpc>
              <a:spcBef>
                <a:spcPts val="100"/>
              </a:spcBef>
            </a:pPr>
            <a:r>
              <a:rPr dirty="0" sz="5400" spc="-25" b="1">
                <a:solidFill>
                  <a:srgbClr val="001D31"/>
                </a:solidFill>
                <a:latin typeface="Georgia"/>
                <a:cs typeface="Georgia"/>
              </a:rPr>
              <a:t>01</a:t>
            </a:r>
            <a:endParaRPr sz="5400">
              <a:latin typeface="Georgia"/>
              <a:cs typeface="Georgia"/>
            </a:endParaRPr>
          </a:p>
          <a:p>
            <a:pPr marL="12700">
              <a:lnSpc>
                <a:spcPts val="2200"/>
              </a:lnSpc>
            </a:pPr>
            <a:r>
              <a:rPr dirty="0" sz="1950" b="1">
                <a:solidFill>
                  <a:srgbClr val="00426F"/>
                </a:solidFill>
                <a:latin typeface="Calibri"/>
                <a:cs typeface="Calibri"/>
              </a:rPr>
              <a:t>LLMs</a:t>
            </a:r>
            <a:r>
              <a:rPr dirty="0" sz="1950" spc="-65" b="1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950" b="1">
                <a:solidFill>
                  <a:srgbClr val="00426F"/>
                </a:solidFill>
                <a:latin typeface="Calibri"/>
                <a:cs typeface="Calibri"/>
              </a:rPr>
              <a:t>reached</a:t>
            </a:r>
            <a:r>
              <a:rPr dirty="0" sz="1950" spc="-60" b="1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950" b="1">
                <a:solidFill>
                  <a:srgbClr val="00426F"/>
                </a:solidFill>
                <a:latin typeface="Calibri"/>
                <a:cs typeface="Calibri"/>
              </a:rPr>
              <a:t>enterprise</a:t>
            </a:r>
            <a:r>
              <a:rPr dirty="0" sz="1950" spc="-60" b="1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950" spc="-10" b="1">
                <a:solidFill>
                  <a:srgbClr val="00426F"/>
                </a:solidFill>
                <a:latin typeface="Calibri"/>
                <a:cs typeface="Calibri"/>
              </a:rPr>
              <a:t>quality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6445" y="3557998"/>
            <a:ext cx="4551045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500" spc="-20">
                <a:solidFill>
                  <a:srgbClr val="8B8FA2"/>
                </a:solidFill>
                <a:latin typeface="Calibri"/>
                <a:cs typeface="Calibri"/>
              </a:rPr>
              <a:t>GPT-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4,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Claude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—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reasoning,</a:t>
            </a:r>
            <a:r>
              <a:rPr dirty="0" sz="1500" spc="-2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8B8FA2"/>
                </a:solidFill>
                <a:latin typeface="Calibri"/>
                <a:cs typeface="Calibri"/>
              </a:rPr>
              <a:t>multi-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step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planning,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objection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handling</a:t>
            </a:r>
            <a:r>
              <a:rPr dirty="0" sz="1500" spc="-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now</a:t>
            </a:r>
            <a:r>
              <a:rPr dirty="0" sz="1500" spc="-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possible.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299998" y="2044705"/>
            <a:ext cx="5656580" cy="3458210"/>
            <a:chOff x="6299998" y="2044705"/>
            <a:chExt cx="5656580" cy="3458210"/>
          </a:xfrm>
        </p:grpSpPr>
        <p:sp>
          <p:nvSpPr>
            <p:cNvPr id="12" name="object 12"/>
            <p:cNvSpPr/>
            <p:nvPr/>
          </p:nvSpPr>
          <p:spPr>
            <a:xfrm>
              <a:off x="6309531" y="2054237"/>
              <a:ext cx="5637530" cy="3441700"/>
            </a:xfrm>
            <a:custGeom>
              <a:avLst/>
              <a:gdLst/>
              <a:ahLst/>
              <a:cxnLst/>
              <a:rect l="l" t="t" r="r" b="b"/>
              <a:pathLst>
                <a:path w="5637530" h="3441700">
                  <a:moveTo>
                    <a:pt x="5465445" y="3441211"/>
                  </a:moveTo>
                  <a:lnTo>
                    <a:pt x="172021" y="3441211"/>
                  </a:lnTo>
                  <a:lnTo>
                    <a:pt x="126354" y="3435051"/>
                  </a:lnTo>
                  <a:lnTo>
                    <a:pt x="85267" y="3417718"/>
                  </a:lnTo>
                  <a:lnTo>
                    <a:pt x="50445" y="3390828"/>
                  </a:lnTo>
                  <a:lnTo>
                    <a:pt x="23527" y="3356017"/>
                  </a:lnTo>
                  <a:lnTo>
                    <a:pt x="6161" y="3314919"/>
                  </a:lnTo>
                  <a:lnTo>
                    <a:pt x="0" y="3269170"/>
                  </a:lnTo>
                  <a:lnTo>
                    <a:pt x="0" y="172021"/>
                  </a:lnTo>
                  <a:lnTo>
                    <a:pt x="6147" y="126305"/>
                  </a:lnTo>
                  <a:lnTo>
                    <a:pt x="23495" y="85217"/>
                  </a:lnTo>
                  <a:lnTo>
                    <a:pt x="50399" y="50399"/>
                  </a:lnTo>
                  <a:lnTo>
                    <a:pt x="85217" y="23495"/>
                  </a:lnTo>
                  <a:lnTo>
                    <a:pt x="126305" y="6147"/>
                  </a:lnTo>
                  <a:lnTo>
                    <a:pt x="172021" y="0"/>
                  </a:lnTo>
                  <a:lnTo>
                    <a:pt x="5465445" y="0"/>
                  </a:lnTo>
                  <a:lnTo>
                    <a:pt x="5511194" y="6147"/>
                  </a:lnTo>
                  <a:lnTo>
                    <a:pt x="5552292" y="23495"/>
                  </a:lnTo>
                  <a:lnTo>
                    <a:pt x="5587103" y="50399"/>
                  </a:lnTo>
                  <a:lnTo>
                    <a:pt x="5613993" y="85217"/>
                  </a:lnTo>
                  <a:lnTo>
                    <a:pt x="5631325" y="126305"/>
                  </a:lnTo>
                  <a:lnTo>
                    <a:pt x="5637121" y="169454"/>
                  </a:lnTo>
                  <a:lnTo>
                    <a:pt x="5637121" y="3271737"/>
                  </a:lnTo>
                  <a:lnTo>
                    <a:pt x="5631319" y="3314919"/>
                  </a:lnTo>
                  <a:lnTo>
                    <a:pt x="5613971" y="3356017"/>
                  </a:lnTo>
                  <a:lnTo>
                    <a:pt x="5587067" y="3390828"/>
                  </a:lnTo>
                  <a:lnTo>
                    <a:pt x="5552249" y="3417718"/>
                  </a:lnTo>
                  <a:lnTo>
                    <a:pt x="5511161" y="3435051"/>
                  </a:lnTo>
                  <a:lnTo>
                    <a:pt x="5465445" y="3441211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309531" y="2054237"/>
              <a:ext cx="5637530" cy="3438525"/>
            </a:xfrm>
            <a:custGeom>
              <a:avLst/>
              <a:gdLst/>
              <a:ahLst/>
              <a:cxnLst/>
              <a:rect l="l" t="t" r="r" b="b"/>
              <a:pathLst>
                <a:path w="5637530" h="3438525">
                  <a:moveTo>
                    <a:pt x="152190" y="3438518"/>
                  </a:moveTo>
                  <a:lnTo>
                    <a:pt x="85220" y="3417681"/>
                  </a:lnTo>
                  <a:lnTo>
                    <a:pt x="50405" y="3390776"/>
                  </a:lnTo>
                  <a:lnTo>
                    <a:pt x="23503" y="3355960"/>
                  </a:lnTo>
                  <a:lnTo>
                    <a:pt x="6155" y="3314874"/>
                  </a:lnTo>
                  <a:lnTo>
                    <a:pt x="0" y="3269159"/>
                  </a:lnTo>
                  <a:lnTo>
                    <a:pt x="0" y="172024"/>
                  </a:lnTo>
                  <a:lnTo>
                    <a:pt x="6146" y="126308"/>
                  </a:lnTo>
                  <a:lnTo>
                    <a:pt x="23493" y="85219"/>
                  </a:lnTo>
                  <a:lnTo>
                    <a:pt x="50397" y="50400"/>
                  </a:lnTo>
                  <a:lnTo>
                    <a:pt x="85215" y="23495"/>
                  </a:lnTo>
                  <a:lnTo>
                    <a:pt x="126304" y="6147"/>
                  </a:lnTo>
                  <a:lnTo>
                    <a:pt x="172021" y="0"/>
                  </a:lnTo>
                  <a:lnTo>
                    <a:pt x="5465420" y="0"/>
                  </a:lnTo>
                  <a:lnTo>
                    <a:pt x="5511174" y="6139"/>
                  </a:lnTo>
                  <a:lnTo>
                    <a:pt x="5552278" y="23484"/>
                  </a:lnTo>
                  <a:lnTo>
                    <a:pt x="5587095" y="50389"/>
                  </a:lnTo>
                  <a:lnTo>
                    <a:pt x="5613990" y="85210"/>
                  </a:lnTo>
                  <a:lnTo>
                    <a:pt x="5631325" y="126305"/>
                  </a:lnTo>
                  <a:lnTo>
                    <a:pt x="5637466" y="172024"/>
                  </a:lnTo>
                  <a:lnTo>
                    <a:pt x="5637467" y="3269163"/>
                  </a:lnTo>
                  <a:lnTo>
                    <a:pt x="5631318" y="3314919"/>
                  </a:lnTo>
                  <a:lnTo>
                    <a:pt x="5613967" y="3356022"/>
                  </a:lnTo>
                  <a:lnTo>
                    <a:pt x="5587056" y="3390836"/>
                  </a:lnTo>
                  <a:lnTo>
                    <a:pt x="5552232" y="3417725"/>
                  </a:lnTo>
                  <a:lnTo>
                    <a:pt x="5511138" y="3435053"/>
                  </a:lnTo>
                  <a:lnTo>
                    <a:pt x="5485297" y="3438510"/>
                  </a:lnTo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6598935" y="2259355"/>
            <a:ext cx="2872105" cy="1110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6340"/>
              </a:lnSpc>
              <a:spcBef>
                <a:spcPts val="100"/>
              </a:spcBef>
            </a:pPr>
            <a:r>
              <a:rPr dirty="0" sz="5400" spc="-25" b="1">
                <a:solidFill>
                  <a:srgbClr val="001D31"/>
                </a:solidFill>
                <a:latin typeface="Georgia"/>
                <a:cs typeface="Georgia"/>
              </a:rPr>
              <a:t>02</a:t>
            </a:r>
            <a:endParaRPr sz="5400">
              <a:latin typeface="Georgia"/>
              <a:cs typeface="Georgia"/>
            </a:endParaRPr>
          </a:p>
          <a:p>
            <a:pPr marL="12700">
              <a:lnSpc>
                <a:spcPts val="2200"/>
              </a:lnSpc>
            </a:pPr>
            <a:r>
              <a:rPr dirty="0" sz="1950" b="1">
                <a:solidFill>
                  <a:srgbClr val="00426F"/>
                </a:solidFill>
                <a:latin typeface="Calibri"/>
                <a:cs typeface="Calibri"/>
              </a:rPr>
              <a:t>AI</a:t>
            </a:r>
            <a:r>
              <a:rPr dirty="0" sz="1950" spc="-50" b="1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950" b="1">
                <a:solidFill>
                  <a:srgbClr val="00426F"/>
                </a:solidFill>
                <a:latin typeface="Calibri"/>
                <a:cs typeface="Calibri"/>
              </a:rPr>
              <a:t>inference</a:t>
            </a:r>
            <a:r>
              <a:rPr dirty="0" sz="1950" spc="-50" b="1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950" b="1">
                <a:solidFill>
                  <a:srgbClr val="00426F"/>
                </a:solidFill>
                <a:latin typeface="Calibri"/>
                <a:cs typeface="Calibri"/>
              </a:rPr>
              <a:t>costs</a:t>
            </a:r>
            <a:r>
              <a:rPr dirty="0" sz="1950" spc="-45" b="1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950" spc="-10" b="1">
                <a:solidFill>
                  <a:srgbClr val="00426F"/>
                </a:solidFill>
                <a:latin typeface="Calibri"/>
                <a:cs typeface="Calibri"/>
              </a:rPr>
              <a:t>collapsed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98935" y="3557998"/>
            <a:ext cx="4960620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95%</a:t>
            </a:r>
            <a:r>
              <a:rPr dirty="0" sz="150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cost</a:t>
            </a:r>
            <a:r>
              <a:rPr dirty="0" sz="150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drop</a:t>
            </a:r>
            <a:r>
              <a:rPr dirty="0" sz="150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since</a:t>
            </a:r>
            <a:r>
              <a:rPr dirty="0" sz="150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2022.</a:t>
            </a:r>
            <a:r>
              <a:rPr dirty="0" sz="150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Always-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on</a:t>
            </a:r>
            <a:r>
              <a:rPr dirty="0" sz="1500" spc="-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autonomous</a:t>
            </a:r>
            <a:r>
              <a:rPr dirty="0" sz="150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workers</a:t>
            </a:r>
            <a:r>
              <a:rPr dirty="0" sz="150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8B8FA2"/>
                </a:solidFill>
                <a:latin typeface="Calibri"/>
                <a:cs typeface="Calibri"/>
              </a:rPr>
              <a:t>now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economically</a:t>
            </a:r>
            <a:r>
              <a:rPr dirty="0" sz="1500" spc="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viable.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2202488" y="2044705"/>
            <a:ext cx="5656580" cy="3458210"/>
            <a:chOff x="12202488" y="2044705"/>
            <a:chExt cx="5656580" cy="3458210"/>
          </a:xfrm>
        </p:grpSpPr>
        <p:sp>
          <p:nvSpPr>
            <p:cNvPr id="17" name="object 17"/>
            <p:cNvSpPr/>
            <p:nvPr/>
          </p:nvSpPr>
          <p:spPr>
            <a:xfrm>
              <a:off x="12212022" y="2054237"/>
              <a:ext cx="5637530" cy="3441700"/>
            </a:xfrm>
            <a:custGeom>
              <a:avLst/>
              <a:gdLst/>
              <a:ahLst/>
              <a:cxnLst/>
              <a:rect l="l" t="t" r="r" b="b"/>
              <a:pathLst>
                <a:path w="5637530" h="3441700">
                  <a:moveTo>
                    <a:pt x="5465445" y="3441211"/>
                  </a:moveTo>
                  <a:lnTo>
                    <a:pt x="172021" y="3441211"/>
                  </a:lnTo>
                  <a:lnTo>
                    <a:pt x="126354" y="3435051"/>
                  </a:lnTo>
                  <a:lnTo>
                    <a:pt x="85267" y="3417718"/>
                  </a:lnTo>
                  <a:lnTo>
                    <a:pt x="50445" y="3390828"/>
                  </a:lnTo>
                  <a:lnTo>
                    <a:pt x="23527" y="3356017"/>
                  </a:lnTo>
                  <a:lnTo>
                    <a:pt x="6161" y="3314919"/>
                  </a:lnTo>
                  <a:lnTo>
                    <a:pt x="0" y="3269170"/>
                  </a:lnTo>
                  <a:lnTo>
                    <a:pt x="0" y="172021"/>
                  </a:lnTo>
                  <a:lnTo>
                    <a:pt x="6147" y="126305"/>
                  </a:lnTo>
                  <a:lnTo>
                    <a:pt x="23495" y="85217"/>
                  </a:lnTo>
                  <a:lnTo>
                    <a:pt x="50399" y="50399"/>
                  </a:lnTo>
                  <a:lnTo>
                    <a:pt x="85217" y="23495"/>
                  </a:lnTo>
                  <a:lnTo>
                    <a:pt x="126305" y="6147"/>
                  </a:lnTo>
                  <a:lnTo>
                    <a:pt x="172021" y="0"/>
                  </a:lnTo>
                  <a:lnTo>
                    <a:pt x="5465445" y="0"/>
                  </a:lnTo>
                  <a:lnTo>
                    <a:pt x="5511194" y="6147"/>
                  </a:lnTo>
                  <a:lnTo>
                    <a:pt x="5552292" y="23495"/>
                  </a:lnTo>
                  <a:lnTo>
                    <a:pt x="5587103" y="50399"/>
                  </a:lnTo>
                  <a:lnTo>
                    <a:pt x="5613992" y="85217"/>
                  </a:lnTo>
                  <a:lnTo>
                    <a:pt x="5631325" y="126305"/>
                  </a:lnTo>
                  <a:lnTo>
                    <a:pt x="5637121" y="169454"/>
                  </a:lnTo>
                  <a:lnTo>
                    <a:pt x="5637121" y="3271736"/>
                  </a:lnTo>
                  <a:lnTo>
                    <a:pt x="5631319" y="3314919"/>
                  </a:lnTo>
                  <a:lnTo>
                    <a:pt x="5613971" y="3356017"/>
                  </a:lnTo>
                  <a:lnTo>
                    <a:pt x="5587067" y="3390828"/>
                  </a:lnTo>
                  <a:lnTo>
                    <a:pt x="5552249" y="3417718"/>
                  </a:lnTo>
                  <a:lnTo>
                    <a:pt x="5511161" y="3435051"/>
                  </a:lnTo>
                  <a:lnTo>
                    <a:pt x="5465445" y="3441211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2212020" y="2054237"/>
              <a:ext cx="5637530" cy="3438525"/>
            </a:xfrm>
            <a:custGeom>
              <a:avLst/>
              <a:gdLst/>
              <a:ahLst/>
              <a:cxnLst/>
              <a:rect l="l" t="t" r="r" b="b"/>
              <a:pathLst>
                <a:path w="5637530" h="3438525">
                  <a:moveTo>
                    <a:pt x="152190" y="3438518"/>
                  </a:moveTo>
                  <a:lnTo>
                    <a:pt x="85220" y="3417681"/>
                  </a:lnTo>
                  <a:lnTo>
                    <a:pt x="50405" y="3390776"/>
                  </a:lnTo>
                  <a:lnTo>
                    <a:pt x="23504" y="3355959"/>
                  </a:lnTo>
                  <a:lnTo>
                    <a:pt x="6155" y="3314874"/>
                  </a:lnTo>
                  <a:lnTo>
                    <a:pt x="0" y="3269159"/>
                  </a:lnTo>
                  <a:lnTo>
                    <a:pt x="0" y="172024"/>
                  </a:lnTo>
                  <a:lnTo>
                    <a:pt x="6146" y="126308"/>
                  </a:lnTo>
                  <a:lnTo>
                    <a:pt x="23493" y="85219"/>
                  </a:lnTo>
                  <a:lnTo>
                    <a:pt x="50397" y="50400"/>
                  </a:lnTo>
                  <a:lnTo>
                    <a:pt x="85215" y="23495"/>
                  </a:lnTo>
                  <a:lnTo>
                    <a:pt x="126304" y="6147"/>
                  </a:lnTo>
                  <a:lnTo>
                    <a:pt x="172020" y="0"/>
                  </a:lnTo>
                  <a:lnTo>
                    <a:pt x="5465420" y="0"/>
                  </a:lnTo>
                  <a:lnTo>
                    <a:pt x="5511174" y="6139"/>
                  </a:lnTo>
                  <a:lnTo>
                    <a:pt x="5552278" y="23484"/>
                  </a:lnTo>
                  <a:lnTo>
                    <a:pt x="5587095" y="50389"/>
                  </a:lnTo>
                  <a:lnTo>
                    <a:pt x="5613990" y="85210"/>
                  </a:lnTo>
                  <a:lnTo>
                    <a:pt x="5631325" y="126305"/>
                  </a:lnTo>
                  <a:lnTo>
                    <a:pt x="5637466" y="172024"/>
                  </a:lnTo>
                  <a:lnTo>
                    <a:pt x="5637467" y="3269163"/>
                  </a:lnTo>
                  <a:lnTo>
                    <a:pt x="5631318" y="3314919"/>
                  </a:lnTo>
                  <a:lnTo>
                    <a:pt x="5613967" y="3356022"/>
                  </a:lnTo>
                  <a:lnTo>
                    <a:pt x="5587056" y="3390836"/>
                  </a:lnTo>
                  <a:lnTo>
                    <a:pt x="5552232" y="3417725"/>
                  </a:lnTo>
                  <a:lnTo>
                    <a:pt x="5511138" y="3435053"/>
                  </a:lnTo>
                  <a:lnTo>
                    <a:pt x="5485296" y="3438510"/>
                  </a:lnTo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12501424" y="2259355"/>
            <a:ext cx="2335530" cy="1110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6340"/>
              </a:lnSpc>
              <a:spcBef>
                <a:spcPts val="100"/>
              </a:spcBef>
            </a:pPr>
            <a:r>
              <a:rPr dirty="0" sz="5400" spc="-25" b="1">
                <a:solidFill>
                  <a:srgbClr val="001D31"/>
                </a:solidFill>
                <a:latin typeface="Georgia"/>
                <a:cs typeface="Georgia"/>
              </a:rPr>
              <a:t>03</a:t>
            </a:r>
            <a:endParaRPr sz="5400">
              <a:latin typeface="Georgia"/>
              <a:cs typeface="Georgia"/>
            </a:endParaRPr>
          </a:p>
          <a:p>
            <a:pPr marL="12700">
              <a:lnSpc>
                <a:spcPts val="2200"/>
              </a:lnSpc>
            </a:pPr>
            <a:r>
              <a:rPr dirty="0" sz="1950" b="1">
                <a:solidFill>
                  <a:srgbClr val="00426F"/>
                </a:solidFill>
                <a:latin typeface="Calibri"/>
                <a:cs typeface="Calibri"/>
              </a:rPr>
              <a:t>RAG</a:t>
            </a:r>
            <a:r>
              <a:rPr dirty="0" sz="1950" spc="-30" b="1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950" b="1">
                <a:solidFill>
                  <a:srgbClr val="00426F"/>
                </a:solidFill>
                <a:latin typeface="Calibri"/>
                <a:cs typeface="Calibri"/>
              </a:rPr>
              <a:t>+</a:t>
            </a:r>
            <a:r>
              <a:rPr dirty="0" sz="1950" spc="-30" b="1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950" b="1">
                <a:solidFill>
                  <a:srgbClr val="00426F"/>
                </a:solidFill>
                <a:latin typeface="Calibri"/>
                <a:cs typeface="Calibri"/>
              </a:rPr>
              <a:t>agents</a:t>
            </a:r>
            <a:r>
              <a:rPr dirty="0" sz="1950" spc="-30" b="1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950" spc="-10" b="1">
                <a:solidFill>
                  <a:srgbClr val="00426F"/>
                </a:solidFill>
                <a:latin typeface="Calibri"/>
                <a:cs typeface="Calibri"/>
              </a:rPr>
              <a:t>matured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501424" y="3557998"/>
            <a:ext cx="4514850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LangGraph</a:t>
            </a:r>
            <a:r>
              <a:rPr dirty="0" sz="1500" spc="-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+</a:t>
            </a:r>
            <a:r>
              <a:rPr dirty="0" sz="1500" spc="-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Weaviate</a:t>
            </a:r>
            <a:r>
              <a:rPr dirty="0" sz="1500" spc="-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make</a:t>
            </a:r>
            <a:r>
              <a:rPr dirty="0" sz="1500" spc="-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grounding</a:t>
            </a:r>
            <a:r>
              <a:rPr dirty="0" sz="1500" spc="-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AI</a:t>
            </a:r>
            <a:r>
              <a:rPr dirty="0" sz="1500" spc="-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in</a:t>
            </a:r>
            <a:r>
              <a:rPr dirty="0" sz="1500" spc="-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real</a:t>
            </a:r>
            <a:r>
              <a:rPr dirty="0" sz="1500" spc="-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business knowledge</a:t>
            </a:r>
            <a:r>
              <a:rPr dirty="0" sz="1500" spc="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practical.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97498" y="5888195"/>
            <a:ext cx="5656580" cy="3458210"/>
            <a:chOff x="397498" y="5888195"/>
            <a:chExt cx="5656580" cy="3458210"/>
          </a:xfrm>
        </p:grpSpPr>
        <p:sp>
          <p:nvSpPr>
            <p:cNvPr id="22" name="object 22"/>
            <p:cNvSpPr/>
            <p:nvPr/>
          </p:nvSpPr>
          <p:spPr>
            <a:xfrm>
              <a:off x="407031" y="5897727"/>
              <a:ext cx="5637530" cy="3441700"/>
            </a:xfrm>
            <a:custGeom>
              <a:avLst/>
              <a:gdLst/>
              <a:ahLst/>
              <a:cxnLst/>
              <a:rect l="l" t="t" r="r" b="b"/>
              <a:pathLst>
                <a:path w="5637530" h="3441700">
                  <a:moveTo>
                    <a:pt x="5465445" y="3441211"/>
                  </a:moveTo>
                  <a:lnTo>
                    <a:pt x="172021" y="3441211"/>
                  </a:lnTo>
                  <a:lnTo>
                    <a:pt x="126354" y="3435051"/>
                  </a:lnTo>
                  <a:lnTo>
                    <a:pt x="85267" y="3417718"/>
                  </a:lnTo>
                  <a:lnTo>
                    <a:pt x="50445" y="3390829"/>
                  </a:lnTo>
                  <a:lnTo>
                    <a:pt x="23527" y="3356017"/>
                  </a:lnTo>
                  <a:lnTo>
                    <a:pt x="6161" y="3314920"/>
                  </a:lnTo>
                  <a:lnTo>
                    <a:pt x="0" y="3269171"/>
                  </a:lnTo>
                  <a:lnTo>
                    <a:pt x="0" y="172021"/>
                  </a:lnTo>
                  <a:lnTo>
                    <a:pt x="6147" y="126305"/>
                  </a:lnTo>
                  <a:lnTo>
                    <a:pt x="23495" y="85217"/>
                  </a:lnTo>
                  <a:lnTo>
                    <a:pt x="50399" y="50399"/>
                  </a:lnTo>
                  <a:lnTo>
                    <a:pt x="85217" y="23495"/>
                  </a:lnTo>
                  <a:lnTo>
                    <a:pt x="126305" y="6147"/>
                  </a:lnTo>
                  <a:lnTo>
                    <a:pt x="172021" y="0"/>
                  </a:lnTo>
                  <a:lnTo>
                    <a:pt x="5465445" y="0"/>
                  </a:lnTo>
                  <a:lnTo>
                    <a:pt x="5511194" y="6147"/>
                  </a:lnTo>
                  <a:lnTo>
                    <a:pt x="5552292" y="23495"/>
                  </a:lnTo>
                  <a:lnTo>
                    <a:pt x="5587103" y="50399"/>
                  </a:lnTo>
                  <a:lnTo>
                    <a:pt x="5613992" y="85217"/>
                  </a:lnTo>
                  <a:lnTo>
                    <a:pt x="5631325" y="126305"/>
                  </a:lnTo>
                  <a:lnTo>
                    <a:pt x="5637121" y="169456"/>
                  </a:lnTo>
                  <a:lnTo>
                    <a:pt x="5637121" y="3271735"/>
                  </a:lnTo>
                  <a:lnTo>
                    <a:pt x="5631319" y="3314920"/>
                  </a:lnTo>
                  <a:lnTo>
                    <a:pt x="5613971" y="3356017"/>
                  </a:lnTo>
                  <a:lnTo>
                    <a:pt x="5587067" y="3390829"/>
                  </a:lnTo>
                  <a:lnTo>
                    <a:pt x="5552249" y="3417718"/>
                  </a:lnTo>
                  <a:lnTo>
                    <a:pt x="5511161" y="3435051"/>
                  </a:lnTo>
                  <a:lnTo>
                    <a:pt x="5465445" y="3441211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07031" y="5897727"/>
              <a:ext cx="5637530" cy="3438525"/>
            </a:xfrm>
            <a:custGeom>
              <a:avLst/>
              <a:gdLst/>
              <a:ahLst/>
              <a:cxnLst/>
              <a:rect l="l" t="t" r="r" b="b"/>
              <a:pathLst>
                <a:path w="5637530" h="3438525">
                  <a:moveTo>
                    <a:pt x="152190" y="3438518"/>
                  </a:moveTo>
                  <a:lnTo>
                    <a:pt x="85220" y="3417681"/>
                  </a:lnTo>
                  <a:lnTo>
                    <a:pt x="50405" y="3390776"/>
                  </a:lnTo>
                  <a:lnTo>
                    <a:pt x="23503" y="3355960"/>
                  </a:lnTo>
                  <a:lnTo>
                    <a:pt x="6155" y="3314874"/>
                  </a:lnTo>
                  <a:lnTo>
                    <a:pt x="0" y="3269159"/>
                  </a:lnTo>
                  <a:lnTo>
                    <a:pt x="0" y="172024"/>
                  </a:lnTo>
                  <a:lnTo>
                    <a:pt x="6146" y="126308"/>
                  </a:lnTo>
                  <a:lnTo>
                    <a:pt x="23493" y="85219"/>
                  </a:lnTo>
                  <a:lnTo>
                    <a:pt x="50397" y="50400"/>
                  </a:lnTo>
                  <a:lnTo>
                    <a:pt x="85215" y="23495"/>
                  </a:lnTo>
                  <a:lnTo>
                    <a:pt x="126304" y="6147"/>
                  </a:lnTo>
                  <a:lnTo>
                    <a:pt x="172021" y="0"/>
                  </a:lnTo>
                  <a:lnTo>
                    <a:pt x="5465420" y="0"/>
                  </a:lnTo>
                  <a:lnTo>
                    <a:pt x="5511174" y="6139"/>
                  </a:lnTo>
                  <a:lnTo>
                    <a:pt x="5552278" y="23484"/>
                  </a:lnTo>
                  <a:lnTo>
                    <a:pt x="5587095" y="50389"/>
                  </a:lnTo>
                  <a:lnTo>
                    <a:pt x="5613990" y="85210"/>
                  </a:lnTo>
                  <a:lnTo>
                    <a:pt x="5631325" y="126305"/>
                  </a:lnTo>
                  <a:lnTo>
                    <a:pt x="5637466" y="172024"/>
                  </a:lnTo>
                  <a:lnTo>
                    <a:pt x="5637467" y="3269163"/>
                  </a:lnTo>
                  <a:lnTo>
                    <a:pt x="5631319" y="3314919"/>
                  </a:lnTo>
                  <a:lnTo>
                    <a:pt x="5613967" y="3356022"/>
                  </a:lnTo>
                  <a:lnTo>
                    <a:pt x="5587057" y="3390836"/>
                  </a:lnTo>
                  <a:lnTo>
                    <a:pt x="5552232" y="3417725"/>
                  </a:lnTo>
                  <a:lnTo>
                    <a:pt x="5511138" y="3435054"/>
                  </a:lnTo>
                  <a:lnTo>
                    <a:pt x="5485297" y="3438510"/>
                  </a:lnTo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696445" y="6102835"/>
            <a:ext cx="2660650" cy="1110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6340"/>
              </a:lnSpc>
              <a:spcBef>
                <a:spcPts val="100"/>
              </a:spcBef>
            </a:pPr>
            <a:r>
              <a:rPr dirty="0" sz="5400" spc="-25" b="1">
                <a:solidFill>
                  <a:srgbClr val="001D31"/>
                </a:solidFill>
                <a:latin typeface="Georgia"/>
                <a:cs typeface="Georgia"/>
              </a:rPr>
              <a:t>04</a:t>
            </a:r>
            <a:endParaRPr sz="5400">
              <a:latin typeface="Georgia"/>
              <a:cs typeface="Georgia"/>
            </a:endParaRPr>
          </a:p>
          <a:p>
            <a:pPr marL="12700">
              <a:lnSpc>
                <a:spcPts val="2200"/>
              </a:lnSpc>
            </a:pPr>
            <a:r>
              <a:rPr dirty="0" sz="1950" b="1">
                <a:solidFill>
                  <a:srgbClr val="00426F"/>
                </a:solidFill>
                <a:latin typeface="Calibri"/>
                <a:cs typeface="Calibri"/>
              </a:rPr>
              <a:t>Labor</a:t>
            </a:r>
            <a:r>
              <a:rPr dirty="0" sz="1950" spc="-40" b="1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950" b="1">
                <a:solidFill>
                  <a:srgbClr val="00426F"/>
                </a:solidFill>
                <a:latin typeface="Calibri"/>
                <a:cs typeface="Calibri"/>
              </a:rPr>
              <a:t>costs</a:t>
            </a:r>
            <a:r>
              <a:rPr dirty="0" sz="1950" spc="-35" b="1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950" b="1">
                <a:solidFill>
                  <a:srgbClr val="00426F"/>
                </a:solidFill>
                <a:latin typeface="Calibri"/>
                <a:cs typeface="Calibri"/>
              </a:rPr>
              <a:t>rising</a:t>
            </a:r>
            <a:r>
              <a:rPr dirty="0" sz="1950" spc="-35" b="1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950" spc="-10" b="1">
                <a:solidFill>
                  <a:srgbClr val="00426F"/>
                </a:solidFill>
                <a:latin typeface="Calibri"/>
                <a:cs typeface="Calibri"/>
              </a:rPr>
              <a:t>globally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96445" y="7401488"/>
            <a:ext cx="4982210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Hiring</a:t>
            </a:r>
            <a:r>
              <a:rPr dirty="0" sz="150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customer-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facing</a:t>
            </a:r>
            <a:r>
              <a:rPr dirty="0" sz="150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staff</a:t>
            </a:r>
            <a:r>
              <a:rPr dirty="0" sz="150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more</a:t>
            </a:r>
            <a:r>
              <a:rPr dirty="0" sz="150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expensive</a:t>
            </a:r>
            <a:r>
              <a:rPr dirty="0" sz="150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than</a:t>
            </a:r>
            <a:r>
              <a:rPr dirty="0" sz="150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ever.</a:t>
            </a:r>
            <a:r>
              <a:rPr dirty="0" sz="150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ROI</a:t>
            </a:r>
            <a:r>
              <a:rPr dirty="0" sz="150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8B8FA2"/>
                </a:solidFill>
                <a:latin typeface="Calibri"/>
                <a:cs typeface="Calibri"/>
              </a:rPr>
              <a:t>case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is</a:t>
            </a:r>
            <a:r>
              <a:rPr dirty="0" sz="1500" spc="-2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undeniable.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299998" y="5888195"/>
            <a:ext cx="5656580" cy="3458210"/>
            <a:chOff x="6299998" y="5888195"/>
            <a:chExt cx="5656580" cy="3458210"/>
          </a:xfrm>
        </p:grpSpPr>
        <p:sp>
          <p:nvSpPr>
            <p:cNvPr id="27" name="object 27"/>
            <p:cNvSpPr/>
            <p:nvPr/>
          </p:nvSpPr>
          <p:spPr>
            <a:xfrm>
              <a:off x="6309531" y="5897727"/>
              <a:ext cx="5637530" cy="3441700"/>
            </a:xfrm>
            <a:custGeom>
              <a:avLst/>
              <a:gdLst/>
              <a:ahLst/>
              <a:cxnLst/>
              <a:rect l="l" t="t" r="r" b="b"/>
              <a:pathLst>
                <a:path w="5637530" h="3441700">
                  <a:moveTo>
                    <a:pt x="5465445" y="3441211"/>
                  </a:moveTo>
                  <a:lnTo>
                    <a:pt x="172021" y="3441211"/>
                  </a:lnTo>
                  <a:lnTo>
                    <a:pt x="126354" y="3435051"/>
                  </a:lnTo>
                  <a:lnTo>
                    <a:pt x="85267" y="3417718"/>
                  </a:lnTo>
                  <a:lnTo>
                    <a:pt x="50445" y="3390829"/>
                  </a:lnTo>
                  <a:lnTo>
                    <a:pt x="23527" y="3356017"/>
                  </a:lnTo>
                  <a:lnTo>
                    <a:pt x="6161" y="3314920"/>
                  </a:lnTo>
                  <a:lnTo>
                    <a:pt x="0" y="3269171"/>
                  </a:lnTo>
                  <a:lnTo>
                    <a:pt x="0" y="172021"/>
                  </a:lnTo>
                  <a:lnTo>
                    <a:pt x="6147" y="126305"/>
                  </a:lnTo>
                  <a:lnTo>
                    <a:pt x="23495" y="85217"/>
                  </a:lnTo>
                  <a:lnTo>
                    <a:pt x="50399" y="50399"/>
                  </a:lnTo>
                  <a:lnTo>
                    <a:pt x="85217" y="23495"/>
                  </a:lnTo>
                  <a:lnTo>
                    <a:pt x="126305" y="6147"/>
                  </a:lnTo>
                  <a:lnTo>
                    <a:pt x="172021" y="0"/>
                  </a:lnTo>
                  <a:lnTo>
                    <a:pt x="5465445" y="0"/>
                  </a:lnTo>
                  <a:lnTo>
                    <a:pt x="5511194" y="6147"/>
                  </a:lnTo>
                  <a:lnTo>
                    <a:pt x="5552292" y="23495"/>
                  </a:lnTo>
                  <a:lnTo>
                    <a:pt x="5587103" y="50399"/>
                  </a:lnTo>
                  <a:lnTo>
                    <a:pt x="5613993" y="85217"/>
                  </a:lnTo>
                  <a:lnTo>
                    <a:pt x="5631325" y="126305"/>
                  </a:lnTo>
                  <a:lnTo>
                    <a:pt x="5637121" y="169454"/>
                  </a:lnTo>
                  <a:lnTo>
                    <a:pt x="5637121" y="3271737"/>
                  </a:lnTo>
                  <a:lnTo>
                    <a:pt x="5631319" y="3314920"/>
                  </a:lnTo>
                  <a:lnTo>
                    <a:pt x="5613971" y="3356017"/>
                  </a:lnTo>
                  <a:lnTo>
                    <a:pt x="5587067" y="3390829"/>
                  </a:lnTo>
                  <a:lnTo>
                    <a:pt x="5552249" y="3417718"/>
                  </a:lnTo>
                  <a:lnTo>
                    <a:pt x="5511161" y="3435051"/>
                  </a:lnTo>
                  <a:lnTo>
                    <a:pt x="5465445" y="3441211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309531" y="5897727"/>
              <a:ext cx="5637530" cy="3438525"/>
            </a:xfrm>
            <a:custGeom>
              <a:avLst/>
              <a:gdLst/>
              <a:ahLst/>
              <a:cxnLst/>
              <a:rect l="l" t="t" r="r" b="b"/>
              <a:pathLst>
                <a:path w="5637530" h="3438525">
                  <a:moveTo>
                    <a:pt x="152190" y="3438518"/>
                  </a:moveTo>
                  <a:lnTo>
                    <a:pt x="85219" y="3417681"/>
                  </a:lnTo>
                  <a:lnTo>
                    <a:pt x="50405" y="3390776"/>
                  </a:lnTo>
                  <a:lnTo>
                    <a:pt x="23503" y="3355960"/>
                  </a:lnTo>
                  <a:lnTo>
                    <a:pt x="6155" y="3314874"/>
                  </a:lnTo>
                  <a:lnTo>
                    <a:pt x="0" y="3269159"/>
                  </a:lnTo>
                  <a:lnTo>
                    <a:pt x="0" y="172024"/>
                  </a:lnTo>
                  <a:lnTo>
                    <a:pt x="6146" y="126308"/>
                  </a:lnTo>
                  <a:lnTo>
                    <a:pt x="23493" y="85219"/>
                  </a:lnTo>
                  <a:lnTo>
                    <a:pt x="50397" y="50400"/>
                  </a:lnTo>
                  <a:lnTo>
                    <a:pt x="85215" y="23495"/>
                  </a:lnTo>
                  <a:lnTo>
                    <a:pt x="126304" y="6147"/>
                  </a:lnTo>
                  <a:lnTo>
                    <a:pt x="172020" y="0"/>
                  </a:lnTo>
                  <a:lnTo>
                    <a:pt x="5465420" y="0"/>
                  </a:lnTo>
                  <a:lnTo>
                    <a:pt x="5511174" y="6139"/>
                  </a:lnTo>
                  <a:lnTo>
                    <a:pt x="5552278" y="23484"/>
                  </a:lnTo>
                  <a:lnTo>
                    <a:pt x="5587095" y="50389"/>
                  </a:lnTo>
                  <a:lnTo>
                    <a:pt x="5613990" y="85210"/>
                  </a:lnTo>
                  <a:lnTo>
                    <a:pt x="5631325" y="126305"/>
                  </a:lnTo>
                  <a:lnTo>
                    <a:pt x="5637466" y="172024"/>
                  </a:lnTo>
                  <a:lnTo>
                    <a:pt x="5637467" y="3269163"/>
                  </a:lnTo>
                  <a:lnTo>
                    <a:pt x="5631319" y="3314919"/>
                  </a:lnTo>
                  <a:lnTo>
                    <a:pt x="5613967" y="3356022"/>
                  </a:lnTo>
                  <a:lnTo>
                    <a:pt x="5587057" y="3390836"/>
                  </a:lnTo>
                  <a:lnTo>
                    <a:pt x="5552232" y="3417725"/>
                  </a:lnTo>
                  <a:lnTo>
                    <a:pt x="5511138" y="3435054"/>
                  </a:lnTo>
                  <a:lnTo>
                    <a:pt x="5485297" y="3438510"/>
                  </a:lnTo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6598935" y="6102835"/>
            <a:ext cx="3629660" cy="1110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6340"/>
              </a:lnSpc>
              <a:spcBef>
                <a:spcPts val="100"/>
              </a:spcBef>
            </a:pPr>
            <a:r>
              <a:rPr dirty="0" sz="5400" spc="-25" b="1">
                <a:solidFill>
                  <a:srgbClr val="001D31"/>
                </a:solidFill>
                <a:latin typeface="Georgia"/>
                <a:cs typeface="Georgia"/>
              </a:rPr>
              <a:t>05</a:t>
            </a:r>
            <a:endParaRPr sz="5400">
              <a:latin typeface="Georgia"/>
              <a:cs typeface="Georgia"/>
            </a:endParaRPr>
          </a:p>
          <a:p>
            <a:pPr marL="12700">
              <a:lnSpc>
                <a:spcPts val="2200"/>
              </a:lnSpc>
            </a:pPr>
            <a:r>
              <a:rPr dirty="0" sz="1950" b="1">
                <a:solidFill>
                  <a:srgbClr val="00426F"/>
                </a:solidFill>
                <a:latin typeface="Calibri"/>
                <a:cs typeface="Calibri"/>
              </a:rPr>
              <a:t>Customers</a:t>
            </a:r>
            <a:r>
              <a:rPr dirty="0" sz="1950" spc="-70" b="1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950" b="1">
                <a:solidFill>
                  <a:srgbClr val="00426F"/>
                </a:solidFill>
                <a:latin typeface="Calibri"/>
                <a:cs typeface="Calibri"/>
              </a:rPr>
              <a:t>expect</a:t>
            </a:r>
            <a:r>
              <a:rPr dirty="0" sz="1950" spc="-65" b="1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950" b="1">
                <a:solidFill>
                  <a:srgbClr val="00426F"/>
                </a:solidFill>
                <a:latin typeface="Calibri"/>
                <a:cs typeface="Calibri"/>
              </a:rPr>
              <a:t>instant</a:t>
            </a:r>
            <a:r>
              <a:rPr dirty="0" sz="1950" spc="-65" b="1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950" spc="-10" b="1">
                <a:solidFill>
                  <a:srgbClr val="00426F"/>
                </a:solidFill>
                <a:latin typeface="Calibri"/>
                <a:cs typeface="Calibri"/>
              </a:rPr>
              <a:t>response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598935" y="7401488"/>
            <a:ext cx="4855845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Lead</a:t>
            </a:r>
            <a:r>
              <a:rPr dirty="0" sz="150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response</a:t>
            </a:r>
            <a:r>
              <a:rPr dirty="0" sz="150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window:</a:t>
            </a:r>
            <a:r>
              <a:rPr dirty="0" sz="150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hours</a:t>
            </a:r>
            <a:r>
              <a:rPr dirty="0" sz="150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→</a:t>
            </a:r>
            <a:r>
              <a:rPr dirty="0" sz="150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minutes.</a:t>
            </a:r>
            <a:r>
              <a:rPr dirty="0" sz="150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Only</a:t>
            </a:r>
            <a:r>
              <a:rPr dirty="0" sz="150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AI</a:t>
            </a:r>
            <a:r>
              <a:rPr dirty="0" sz="150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workers</a:t>
            </a:r>
            <a:r>
              <a:rPr dirty="0" sz="150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8B8FA2"/>
                </a:solidFill>
                <a:latin typeface="Calibri"/>
                <a:cs typeface="Calibri"/>
              </a:rPr>
              <a:t>can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meet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this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at</a:t>
            </a:r>
            <a:r>
              <a:rPr dirty="0" sz="150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scale.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2202488" y="5888195"/>
            <a:ext cx="5656580" cy="3458210"/>
            <a:chOff x="12202488" y="5888195"/>
            <a:chExt cx="5656580" cy="3458210"/>
          </a:xfrm>
        </p:grpSpPr>
        <p:sp>
          <p:nvSpPr>
            <p:cNvPr id="32" name="object 32"/>
            <p:cNvSpPr/>
            <p:nvPr/>
          </p:nvSpPr>
          <p:spPr>
            <a:xfrm>
              <a:off x="12212022" y="5897727"/>
              <a:ext cx="5637530" cy="3441700"/>
            </a:xfrm>
            <a:custGeom>
              <a:avLst/>
              <a:gdLst/>
              <a:ahLst/>
              <a:cxnLst/>
              <a:rect l="l" t="t" r="r" b="b"/>
              <a:pathLst>
                <a:path w="5637530" h="3441700">
                  <a:moveTo>
                    <a:pt x="5465445" y="3441211"/>
                  </a:moveTo>
                  <a:lnTo>
                    <a:pt x="172021" y="3441211"/>
                  </a:lnTo>
                  <a:lnTo>
                    <a:pt x="126354" y="3435051"/>
                  </a:lnTo>
                  <a:lnTo>
                    <a:pt x="85267" y="3417718"/>
                  </a:lnTo>
                  <a:lnTo>
                    <a:pt x="50445" y="3390829"/>
                  </a:lnTo>
                  <a:lnTo>
                    <a:pt x="23527" y="3356017"/>
                  </a:lnTo>
                  <a:lnTo>
                    <a:pt x="6161" y="3314920"/>
                  </a:lnTo>
                  <a:lnTo>
                    <a:pt x="0" y="3269171"/>
                  </a:lnTo>
                  <a:lnTo>
                    <a:pt x="0" y="172021"/>
                  </a:lnTo>
                  <a:lnTo>
                    <a:pt x="6147" y="126305"/>
                  </a:lnTo>
                  <a:lnTo>
                    <a:pt x="23495" y="85217"/>
                  </a:lnTo>
                  <a:lnTo>
                    <a:pt x="50399" y="50399"/>
                  </a:lnTo>
                  <a:lnTo>
                    <a:pt x="85217" y="23495"/>
                  </a:lnTo>
                  <a:lnTo>
                    <a:pt x="126305" y="6147"/>
                  </a:lnTo>
                  <a:lnTo>
                    <a:pt x="172021" y="0"/>
                  </a:lnTo>
                  <a:lnTo>
                    <a:pt x="5465445" y="0"/>
                  </a:lnTo>
                  <a:lnTo>
                    <a:pt x="5511194" y="6147"/>
                  </a:lnTo>
                  <a:lnTo>
                    <a:pt x="5552292" y="23495"/>
                  </a:lnTo>
                  <a:lnTo>
                    <a:pt x="5587103" y="50399"/>
                  </a:lnTo>
                  <a:lnTo>
                    <a:pt x="5613992" y="85217"/>
                  </a:lnTo>
                  <a:lnTo>
                    <a:pt x="5631325" y="126305"/>
                  </a:lnTo>
                  <a:lnTo>
                    <a:pt x="5637121" y="169454"/>
                  </a:lnTo>
                  <a:lnTo>
                    <a:pt x="5637121" y="3271737"/>
                  </a:lnTo>
                  <a:lnTo>
                    <a:pt x="5631319" y="3314920"/>
                  </a:lnTo>
                  <a:lnTo>
                    <a:pt x="5613971" y="3356017"/>
                  </a:lnTo>
                  <a:lnTo>
                    <a:pt x="5587067" y="3390829"/>
                  </a:lnTo>
                  <a:lnTo>
                    <a:pt x="5552249" y="3417718"/>
                  </a:lnTo>
                  <a:lnTo>
                    <a:pt x="5511161" y="3435051"/>
                  </a:lnTo>
                  <a:lnTo>
                    <a:pt x="5465445" y="3441211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2212020" y="5897727"/>
              <a:ext cx="5637530" cy="3438525"/>
            </a:xfrm>
            <a:custGeom>
              <a:avLst/>
              <a:gdLst/>
              <a:ahLst/>
              <a:cxnLst/>
              <a:rect l="l" t="t" r="r" b="b"/>
              <a:pathLst>
                <a:path w="5637530" h="3438525">
                  <a:moveTo>
                    <a:pt x="152190" y="3438518"/>
                  </a:moveTo>
                  <a:lnTo>
                    <a:pt x="85219" y="3417681"/>
                  </a:lnTo>
                  <a:lnTo>
                    <a:pt x="50405" y="3390776"/>
                  </a:lnTo>
                  <a:lnTo>
                    <a:pt x="23503" y="3355959"/>
                  </a:lnTo>
                  <a:lnTo>
                    <a:pt x="6155" y="3314874"/>
                  </a:lnTo>
                  <a:lnTo>
                    <a:pt x="0" y="3269159"/>
                  </a:lnTo>
                  <a:lnTo>
                    <a:pt x="0" y="172024"/>
                  </a:lnTo>
                  <a:lnTo>
                    <a:pt x="6146" y="126308"/>
                  </a:lnTo>
                  <a:lnTo>
                    <a:pt x="23493" y="85219"/>
                  </a:lnTo>
                  <a:lnTo>
                    <a:pt x="50397" y="50400"/>
                  </a:lnTo>
                  <a:lnTo>
                    <a:pt x="85215" y="23495"/>
                  </a:lnTo>
                  <a:lnTo>
                    <a:pt x="126304" y="6147"/>
                  </a:lnTo>
                  <a:lnTo>
                    <a:pt x="172020" y="0"/>
                  </a:lnTo>
                  <a:lnTo>
                    <a:pt x="5465420" y="0"/>
                  </a:lnTo>
                  <a:lnTo>
                    <a:pt x="5511174" y="6139"/>
                  </a:lnTo>
                  <a:lnTo>
                    <a:pt x="5552278" y="23484"/>
                  </a:lnTo>
                  <a:lnTo>
                    <a:pt x="5587095" y="50389"/>
                  </a:lnTo>
                  <a:lnTo>
                    <a:pt x="5613990" y="85210"/>
                  </a:lnTo>
                  <a:lnTo>
                    <a:pt x="5631325" y="126305"/>
                  </a:lnTo>
                  <a:lnTo>
                    <a:pt x="5637466" y="172024"/>
                  </a:lnTo>
                  <a:lnTo>
                    <a:pt x="5637467" y="3269163"/>
                  </a:lnTo>
                  <a:lnTo>
                    <a:pt x="5631319" y="3314919"/>
                  </a:lnTo>
                  <a:lnTo>
                    <a:pt x="5613967" y="3356022"/>
                  </a:lnTo>
                  <a:lnTo>
                    <a:pt x="5587057" y="3390836"/>
                  </a:lnTo>
                  <a:lnTo>
                    <a:pt x="5552232" y="3417725"/>
                  </a:lnTo>
                  <a:lnTo>
                    <a:pt x="5511138" y="3435054"/>
                  </a:lnTo>
                  <a:lnTo>
                    <a:pt x="5485296" y="3438510"/>
                  </a:lnTo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12501424" y="6102835"/>
            <a:ext cx="3796665" cy="1110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6340"/>
              </a:lnSpc>
              <a:spcBef>
                <a:spcPts val="100"/>
              </a:spcBef>
            </a:pPr>
            <a:r>
              <a:rPr dirty="0" sz="5400" spc="-25" b="1">
                <a:solidFill>
                  <a:srgbClr val="001D31"/>
                </a:solidFill>
                <a:latin typeface="Georgia"/>
                <a:cs typeface="Georgia"/>
              </a:rPr>
              <a:t>06</a:t>
            </a:r>
            <a:endParaRPr sz="5400">
              <a:latin typeface="Georgia"/>
              <a:cs typeface="Georgia"/>
            </a:endParaRPr>
          </a:p>
          <a:p>
            <a:pPr marL="12700">
              <a:lnSpc>
                <a:spcPts val="2200"/>
              </a:lnSpc>
            </a:pPr>
            <a:r>
              <a:rPr dirty="0" sz="1950" b="1">
                <a:solidFill>
                  <a:srgbClr val="00426F"/>
                </a:solidFill>
                <a:latin typeface="Calibri"/>
                <a:cs typeface="Calibri"/>
              </a:rPr>
              <a:t>WhatsApp</a:t>
            </a:r>
            <a:r>
              <a:rPr dirty="0" sz="1950" spc="-10" b="1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950" b="1">
                <a:solidFill>
                  <a:srgbClr val="00426F"/>
                </a:solidFill>
                <a:latin typeface="Calibri"/>
                <a:cs typeface="Calibri"/>
              </a:rPr>
              <a:t>API</a:t>
            </a:r>
            <a:r>
              <a:rPr dirty="0" sz="1950" spc="-10" b="1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950" b="1">
                <a:solidFill>
                  <a:srgbClr val="00426F"/>
                </a:solidFill>
                <a:latin typeface="Calibri"/>
                <a:cs typeface="Calibri"/>
              </a:rPr>
              <a:t>now</a:t>
            </a:r>
            <a:r>
              <a:rPr dirty="0" sz="1950" spc="-10" b="1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950" spc="-20" b="1">
                <a:solidFill>
                  <a:srgbClr val="00426F"/>
                </a:solidFill>
                <a:latin typeface="Calibri"/>
                <a:cs typeface="Calibri"/>
              </a:rPr>
              <a:t>enterprise-</a:t>
            </a:r>
            <a:r>
              <a:rPr dirty="0" sz="1950" spc="-10" b="1">
                <a:solidFill>
                  <a:srgbClr val="00426F"/>
                </a:solidFill>
                <a:latin typeface="Calibri"/>
                <a:cs typeface="Calibri"/>
              </a:rPr>
              <a:t>grade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85"/>
              </a:lnSpc>
            </a:pPr>
            <a:r>
              <a:rPr dirty="0"/>
              <a:t>12</a:t>
            </a:r>
            <a:r>
              <a:rPr dirty="0" spc="-15"/>
              <a:t> </a:t>
            </a:r>
            <a:r>
              <a:rPr dirty="0"/>
              <a:t>/</a:t>
            </a:r>
            <a:r>
              <a:rPr dirty="0" spc="-15"/>
              <a:t> </a:t>
            </a:r>
            <a:r>
              <a:rPr dirty="0" spc="-25"/>
              <a:t>16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12501424" y="7401488"/>
            <a:ext cx="4861560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Real</a:t>
            </a:r>
            <a:r>
              <a:rPr dirty="0" sz="1500" spc="-2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customer</a:t>
            </a:r>
            <a:r>
              <a:rPr dirty="0" sz="1500" spc="-2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conversations</a:t>
            </a:r>
            <a:r>
              <a:rPr dirty="0" sz="1500" spc="-2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now</a:t>
            </a:r>
            <a:r>
              <a:rPr dirty="0" sz="1500" spc="-2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accessible</a:t>
            </a:r>
            <a:r>
              <a:rPr dirty="0" sz="1500" spc="-2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programmatically </a:t>
            </a:r>
            <a:r>
              <a:rPr dirty="0" sz="1500">
                <a:solidFill>
                  <a:srgbClr val="8B8FA2"/>
                </a:solidFill>
                <a:latin typeface="Calibri"/>
                <a:cs typeface="Calibri"/>
              </a:rPr>
              <a:t>at</a:t>
            </a:r>
            <a:r>
              <a:rPr dirty="0" sz="1500" spc="-2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8B8FA2"/>
                </a:solidFill>
                <a:latin typeface="Calibri"/>
                <a:cs typeface="Calibri"/>
              </a:rPr>
              <a:t>scale.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897502"/>
            <a:ext cx="17584420" cy="4338955"/>
            <a:chOff x="0" y="3897502"/>
            <a:chExt cx="17584420" cy="4338955"/>
          </a:xfrm>
        </p:grpSpPr>
        <p:sp>
          <p:nvSpPr>
            <p:cNvPr id="3" name="object 3"/>
            <p:cNvSpPr/>
            <p:nvPr/>
          </p:nvSpPr>
          <p:spPr>
            <a:xfrm>
              <a:off x="0" y="4121257"/>
              <a:ext cx="3432175" cy="4114800"/>
            </a:xfrm>
            <a:custGeom>
              <a:avLst/>
              <a:gdLst/>
              <a:ahLst/>
              <a:cxnLst/>
              <a:rect l="l" t="t" r="r" b="b"/>
              <a:pathLst>
                <a:path w="3432175" h="4114800">
                  <a:moveTo>
                    <a:pt x="1517653" y="12699"/>
                  </a:moveTo>
                  <a:lnTo>
                    <a:pt x="1227717" y="12699"/>
                  </a:lnTo>
                  <a:lnTo>
                    <a:pt x="1275756" y="0"/>
                  </a:lnTo>
                  <a:lnTo>
                    <a:pt x="1469615" y="0"/>
                  </a:lnTo>
                  <a:lnTo>
                    <a:pt x="1517653" y="12699"/>
                  </a:lnTo>
                  <a:close/>
                </a:path>
                <a:path w="3432175" h="4114800">
                  <a:moveTo>
                    <a:pt x="1659914" y="25399"/>
                  </a:moveTo>
                  <a:lnTo>
                    <a:pt x="1085457" y="25399"/>
                  </a:lnTo>
                  <a:lnTo>
                    <a:pt x="1132556" y="12699"/>
                  </a:lnTo>
                  <a:lnTo>
                    <a:pt x="1612815" y="12699"/>
                  </a:lnTo>
                  <a:lnTo>
                    <a:pt x="1659914" y="25399"/>
                  </a:lnTo>
                  <a:close/>
                </a:path>
                <a:path w="3432175" h="4114800">
                  <a:moveTo>
                    <a:pt x="1844807" y="63499"/>
                  </a:moveTo>
                  <a:lnTo>
                    <a:pt x="900563" y="63499"/>
                  </a:lnTo>
                  <a:lnTo>
                    <a:pt x="1038696" y="25399"/>
                  </a:lnTo>
                  <a:lnTo>
                    <a:pt x="1706675" y="25399"/>
                  </a:lnTo>
                  <a:lnTo>
                    <a:pt x="1844807" y="63499"/>
                  </a:lnTo>
                  <a:close/>
                </a:path>
                <a:path w="3432175" h="4114800">
                  <a:moveTo>
                    <a:pt x="1753086" y="4089399"/>
                  </a:moveTo>
                  <a:lnTo>
                    <a:pt x="992285" y="4089399"/>
                  </a:lnTo>
                  <a:lnTo>
                    <a:pt x="678253" y="4000499"/>
                  </a:lnTo>
                  <a:lnTo>
                    <a:pt x="635089" y="3987799"/>
                  </a:lnTo>
                  <a:lnTo>
                    <a:pt x="592386" y="3962399"/>
                  </a:lnTo>
                  <a:lnTo>
                    <a:pt x="508414" y="3936999"/>
                  </a:lnTo>
                  <a:lnTo>
                    <a:pt x="426436" y="3886199"/>
                  </a:lnTo>
                  <a:lnTo>
                    <a:pt x="386226" y="3873499"/>
                  </a:lnTo>
                  <a:lnTo>
                    <a:pt x="307425" y="3822699"/>
                  </a:lnTo>
                  <a:lnTo>
                    <a:pt x="230865" y="3771899"/>
                  </a:lnTo>
                  <a:lnTo>
                    <a:pt x="193456" y="3746499"/>
                  </a:lnTo>
                  <a:lnTo>
                    <a:pt x="156645" y="3721099"/>
                  </a:lnTo>
                  <a:lnTo>
                    <a:pt x="120443" y="3695699"/>
                  </a:lnTo>
                  <a:lnTo>
                    <a:pt x="84863" y="3670299"/>
                  </a:lnTo>
                  <a:lnTo>
                    <a:pt x="49918" y="3644899"/>
                  </a:lnTo>
                  <a:lnTo>
                    <a:pt x="15620" y="3606799"/>
                  </a:lnTo>
                  <a:lnTo>
                    <a:pt x="0" y="3595005"/>
                  </a:lnTo>
                  <a:lnTo>
                    <a:pt x="0" y="525691"/>
                  </a:lnTo>
                  <a:lnTo>
                    <a:pt x="15620" y="507999"/>
                  </a:lnTo>
                  <a:lnTo>
                    <a:pt x="49918" y="482599"/>
                  </a:lnTo>
                  <a:lnTo>
                    <a:pt x="84863" y="457199"/>
                  </a:lnTo>
                  <a:lnTo>
                    <a:pt x="120443" y="431799"/>
                  </a:lnTo>
                  <a:lnTo>
                    <a:pt x="156645" y="406399"/>
                  </a:lnTo>
                  <a:lnTo>
                    <a:pt x="193456" y="368299"/>
                  </a:lnTo>
                  <a:lnTo>
                    <a:pt x="230865" y="342899"/>
                  </a:lnTo>
                  <a:lnTo>
                    <a:pt x="268858" y="317499"/>
                  </a:lnTo>
                  <a:lnTo>
                    <a:pt x="307425" y="304799"/>
                  </a:lnTo>
                  <a:lnTo>
                    <a:pt x="386226" y="253999"/>
                  </a:lnTo>
                  <a:lnTo>
                    <a:pt x="426436" y="228599"/>
                  </a:lnTo>
                  <a:lnTo>
                    <a:pt x="467170" y="215899"/>
                  </a:lnTo>
                  <a:lnTo>
                    <a:pt x="508414" y="190499"/>
                  </a:lnTo>
                  <a:lnTo>
                    <a:pt x="550157" y="177799"/>
                  </a:lnTo>
                  <a:lnTo>
                    <a:pt x="592386" y="152399"/>
                  </a:lnTo>
                  <a:lnTo>
                    <a:pt x="721866" y="114299"/>
                  </a:lnTo>
                  <a:lnTo>
                    <a:pt x="765916" y="88899"/>
                  </a:lnTo>
                  <a:lnTo>
                    <a:pt x="855277" y="63499"/>
                  </a:lnTo>
                  <a:lnTo>
                    <a:pt x="1890093" y="63499"/>
                  </a:lnTo>
                  <a:lnTo>
                    <a:pt x="1979454" y="88899"/>
                  </a:lnTo>
                  <a:lnTo>
                    <a:pt x="2023504" y="114299"/>
                  </a:lnTo>
                  <a:lnTo>
                    <a:pt x="2152984" y="152399"/>
                  </a:lnTo>
                  <a:lnTo>
                    <a:pt x="2195213" y="177799"/>
                  </a:lnTo>
                  <a:lnTo>
                    <a:pt x="2236956" y="190499"/>
                  </a:lnTo>
                  <a:lnTo>
                    <a:pt x="2278201" y="215899"/>
                  </a:lnTo>
                  <a:lnTo>
                    <a:pt x="2318934" y="228599"/>
                  </a:lnTo>
                  <a:lnTo>
                    <a:pt x="2359144" y="253999"/>
                  </a:lnTo>
                  <a:lnTo>
                    <a:pt x="2437946" y="304799"/>
                  </a:lnTo>
                  <a:lnTo>
                    <a:pt x="2476512" y="317499"/>
                  </a:lnTo>
                  <a:lnTo>
                    <a:pt x="2514506" y="342899"/>
                  </a:lnTo>
                  <a:lnTo>
                    <a:pt x="2551915" y="368299"/>
                  </a:lnTo>
                  <a:lnTo>
                    <a:pt x="2588726" y="406399"/>
                  </a:lnTo>
                  <a:lnTo>
                    <a:pt x="2624928" y="431799"/>
                  </a:lnTo>
                  <a:lnTo>
                    <a:pt x="2660507" y="457199"/>
                  </a:lnTo>
                  <a:lnTo>
                    <a:pt x="2695452" y="482599"/>
                  </a:lnTo>
                  <a:lnTo>
                    <a:pt x="2729750" y="507999"/>
                  </a:lnTo>
                  <a:lnTo>
                    <a:pt x="2763390" y="546099"/>
                  </a:lnTo>
                  <a:lnTo>
                    <a:pt x="2796357" y="571499"/>
                  </a:lnTo>
                  <a:lnTo>
                    <a:pt x="2828641" y="609599"/>
                  </a:lnTo>
                  <a:lnTo>
                    <a:pt x="2860228" y="634999"/>
                  </a:lnTo>
                  <a:lnTo>
                    <a:pt x="2891107" y="673099"/>
                  </a:lnTo>
                  <a:lnTo>
                    <a:pt x="2921265" y="711199"/>
                  </a:lnTo>
                  <a:lnTo>
                    <a:pt x="2950690" y="736599"/>
                  </a:lnTo>
                  <a:lnTo>
                    <a:pt x="2979369" y="774699"/>
                  </a:lnTo>
                  <a:lnTo>
                    <a:pt x="3007290" y="812799"/>
                  </a:lnTo>
                  <a:lnTo>
                    <a:pt x="3034440" y="850899"/>
                  </a:lnTo>
                  <a:lnTo>
                    <a:pt x="3060808" y="888999"/>
                  </a:lnTo>
                  <a:lnTo>
                    <a:pt x="3086381" y="914399"/>
                  </a:lnTo>
                  <a:lnTo>
                    <a:pt x="3111146" y="952499"/>
                  </a:lnTo>
                  <a:lnTo>
                    <a:pt x="3135091" y="990599"/>
                  </a:lnTo>
                  <a:lnTo>
                    <a:pt x="3158204" y="1041399"/>
                  </a:lnTo>
                  <a:lnTo>
                    <a:pt x="3180473" y="1079499"/>
                  </a:lnTo>
                  <a:lnTo>
                    <a:pt x="3201885" y="1117599"/>
                  </a:lnTo>
                  <a:lnTo>
                    <a:pt x="3222427" y="1155699"/>
                  </a:lnTo>
                  <a:lnTo>
                    <a:pt x="3242088" y="1193799"/>
                  </a:lnTo>
                  <a:lnTo>
                    <a:pt x="3260855" y="1244599"/>
                  </a:lnTo>
                  <a:lnTo>
                    <a:pt x="3278716" y="1282699"/>
                  </a:lnTo>
                  <a:lnTo>
                    <a:pt x="3295658" y="1320799"/>
                  </a:lnTo>
                  <a:lnTo>
                    <a:pt x="3311669" y="1371599"/>
                  </a:lnTo>
                  <a:lnTo>
                    <a:pt x="3326736" y="1409699"/>
                  </a:lnTo>
                  <a:lnTo>
                    <a:pt x="3340848" y="1460499"/>
                  </a:lnTo>
                  <a:lnTo>
                    <a:pt x="3353992" y="1498599"/>
                  </a:lnTo>
                  <a:lnTo>
                    <a:pt x="3366155" y="1549399"/>
                  </a:lnTo>
                  <a:lnTo>
                    <a:pt x="3377325" y="1587499"/>
                  </a:lnTo>
                  <a:lnTo>
                    <a:pt x="3387490" y="1638299"/>
                  </a:lnTo>
                  <a:lnTo>
                    <a:pt x="3396638" y="1676399"/>
                  </a:lnTo>
                  <a:lnTo>
                    <a:pt x="3404756" y="1727199"/>
                  </a:lnTo>
                  <a:lnTo>
                    <a:pt x="3411831" y="1777999"/>
                  </a:lnTo>
                  <a:lnTo>
                    <a:pt x="3417852" y="1816099"/>
                  </a:lnTo>
                  <a:lnTo>
                    <a:pt x="3422806" y="1866899"/>
                  </a:lnTo>
                  <a:lnTo>
                    <a:pt x="3426680" y="1917699"/>
                  </a:lnTo>
                  <a:lnTo>
                    <a:pt x="3429463" y="1968499"/>
                  </a:lnTo>
                  <a:lnTo>
                    <a:pt x="3431142" y="2019299"/>
                  </a:lnTo>
                  <a:lnTo>
                    <a:pt x="3431704" y="2057399"/>
                  </a:lnTo>
                  <a:lnTo>
                    <a:pt x="3431142" y="2108199"/>
                  </a:lnTo>
                  <a:lnTo>
                    <a:pt x="3429463" y="2158999"/>
                  </a:lnTo>
                  <a:lnTo>
                    <a:pt x="3426680" y="2209799"/>
                  </a:lnTo>
                  <a:lnTo>
                    <a:pt x="3422806" y="2260599"/>
                  </a:lnTo>
                  <a:lnTo>
                    <a:pt x="3417852" y="2298699"/>
                  </a:lnTo>
                  <a:lnTo>
                    <a:pt x="3411831" y="2349499"/>
                  </a:lnTo>
                  <a:lnTo>
                    <a:pt x="3404756" y="2400299"/>
                  </a:lnTo>
                  <a:lnTo>
                    <a:pt x="3396638" y="2438399"/>
                  </a:lnTo>
                  <a:lnTo>
                    <a:pt x="3387490" y="2489199"/>
                  </a:lnTo>
                  <a:lnTo>
                    <a:pt x="3377325" y="2539999"/>
                  </a:lnTo>
                  <a:lnTo>
                    <a:pt x="3366155" y="2578099"/>
                  </a:lnTo>
                  <a:lnTo>
                    <a:pt x="3353992" y="2628899"/>
                  </a:lnTo>
                  <a:lnTo>
                    <a:pt x="3340848" y="2666999"/>
                  </a:lnTo>
                  <a:lnTo>
                    <a:pt x="3326736" y="2717799"/>
                  </a:lnTo>
                  <a:lnTo>
                    <a:pt x="3311669" y="2755899"/>
                  </a:lnTo>
                  <a:lnTo>
                    <a:pt x="3295658" y="2793999"/>
                  </a:lnTo>
                  <a:lnTo>
                    <a:pt x="3278716" y="2844799"/>
                  </a:lnTo>
                  <a:lnTo>
                    <a:pt x="3260855" y="2882899"/>
                  </a:lnTo>
                  <a:lnTo>
                    <a:pt x="3242088" y="2920999"/>
                  </a:lnTo>
                  <a:lnTo>
                    <a:pt x="3222427" y="2971799"/>
                  </a:lnTo>
                  <a:lnTo>
                    <a:pt x="3201885" y="3009899"/>
                  </a:lnTo>
                  <a:lnTo>
                    <a:pt x="3180473" y="3047999"/>
                  </a:lnTo>
                  <a:lnTo>
                    <a:pt x="3158204" y="3086099"/>
                  </a:lnTo>
                  <a:lnTo>
                    <a:pt x="3135091" y="3124199"/>
                  </a:lnTo>
                  <a:lnTo>
                    <a:pt x="3111146" y="3162299"/>
                  </a:lnTo>
                  <a:lnTo>
                    <a:pt x="3086381" y="3200399"/>
                  </a:lnTo>
                  <a:lnTo>
                    <a:pt x="3060808" y="3238499"/>
                  </a:lnTo>
                  <a:lnTo>
                    <a:pt x="3034440" y="3276599"/>
                  </a:lnTo>
                  <a:lnTo>
                    <a:pt x="3007290" y="3314699"/>
                  </a:lnTo>
                  <a:lnTo>
                    <a:pt x="2979369" y="3352799"/>
                  </a:lnTo>
                  <a:lnTo>
                    <a:pt x="2950690" y="3390899"/>
                  </a:lnTo>
                  <a:lnTo>
                    <a:pt x="2921265" y="3416299"/>
                  </a:lnTo>
                  <a:lnTo>
                    <a:pt x="2891107" y="3454399"/>
                  </a:lnTo>
                  <a:lnTo>
                    <a:pt x="2860228" y="3479799"/>
                  </a:lnTo>
                  <a:lnTo>
                    <a:pt x="2828641" y="3517899"/>
                  </a:lnTo>
                  <a:lnTo>
                    <a:pt x="2796357" y="3555999"/>
                  </a:lnTo>
                  <a:lnTo>
                    <a:pt x="2763390" y="3581399"/>
                  </a:lnTo>
                  <a:lnTo>
                    <a:pt x="2729750" y="3606799"/>
                  </a:lnTo>
                  <a:lnTo>
                    <a:pt x="2695452" y="3644899"/>
                  </a:lnTo>
                  <a:lnTo>
                    <a:pt x="2660507" y="3670299"/>
                  </a:lnTo>
                  <a:lnTo>
                    <a:pt x="2624928" y="3695699"/>
                  </a:lnTo>
                  <a:lnTo>
                    <a:pt x="2588726" y="3721099"/>
                  </a:lnTo>
                  <a:lnTo>
                    <a:pt x="2551915" y="3746499"/>
                  </a:lnTo>
                  <a:lnTo>
                    <a:pt x="2514506" y="3771899"/>
                  </a:lnTo>
                  <a:lnTo>
                    <a:pt x="2437946" y="3822699"/>
                  </a:lnTo>
                  <a:lnTo>
                    <a:pt x="2359144" y="3873499"/>
                  </a:lnTo>
                  <a:lnTo>
                    <a:pt x="2318934" y="3886199"/>
                  </a:lnTo>
                  <a:lnTo>
                    <a:pt x="2236956" y="3936999"/>
                  </a:lnTo>
                  <a:lnTo>
                    <a:pt x="2152984" y="3962399"/>
                  </a:lnTo>
                  <a:lnTo>
                    <a:pt x="2110282" y="3987799"/>
                  </a:lnTo>
                  <a:lnTo>
                    <a:pt x="2067117" y="4000499"/>
                  </a:lnTo>
                  <a:lnTo>
                    <a:pt x="1753086" y="4089399"/>
                  </a:lnTo>
                  <a:close/>
                </a:path>
                <a:path w="3432175" h="4114800">
                  <a:moveTo>
                    <a:pt x="1659914" y="4102099"/>
                  </a:moveTo>
                  <a:lnTo>
                    <a:pt x="1085457" y="4102099"/>
                  </a:lnTo>
                  <a:lnTo>
                    <a:pt x="1038696" y="4089399"/>
                  </a:lnTo>
                  <a:lnTo>
                    <a:pt x="1706675" y="4089399"/>
                  </a:lnTo>
                  <a:lnTo>
                    <a:pt x="1659914" y="4102099"/>
                  </a:lnTo>
                  <a:close/>
                </a:path>
                <a:path w="3432175" h="4114800">
                  <a:moveTo>
                    <a:pt x="1565391" y="4114799"/>
                  </a:moveTo>
                  <a:lnTo>
                    <a:pt x="1179980" y="4114799"/>
                  </a:lnTo>
                  <a:lnTo>
                    <a:pt x="1132556" y="4102099"/>
                  </a:lnTo>
                  <a:lnTo>
                    <a:pt x="1612815" y="4102099"/>
                  </a:lnTo>
                  <a:lnTo>
                    <a:pt x="1565391" y="4114799"/>
                  </a:lnTo>
                  <a:close/>
                </a:path>
              </a:pathLst>
            </a:custGeom>
            <a:solidFill>
              <a:srgbClr val="00D4AA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681570" y="3907345"/>
              <a:ext cx="16891000" cy="1657350"/>
            </a:xfrm>
            <a:custGeom>
              <a:avLst/>
              <a:gdLst/>
              <a:ahLst/>
              <a:cxnLst/>
              <a:rect l="l" t="t" r="r" b="b"/>
              <a:pathLst>
                <a:path w="16891000" h="1657350">
                  <a:moveTo>
                    <a:pt x="16810576" y="1656740"/>
                  </a:moveTo>
                  <a:lnTo>
                    <a:pt x="82867" y="1656740"/>
                  </a:lnTo>
                  <a:lnTo>
                    <a:pt x="50631" y="1650273"/>
                  </a:lnTo>
                  <a:lnTo>
                    <a:pt x="24288" y="1632525"/>
                  </a:lnTo>
                  <a:lnTo>
                    <a:pt x="6518" y="1606187"/>
                  </a:lnTo>
                  <a:lnTo>
                    <a:pt x="0" y="1573911"/>
                  </a:lnTo>
                  <a:lnTo>
                    <a:pt x="0" y="82867"/>
                  </a:lnTo>
                  <a:lnTo>
                    <a:pt x="6505" y="50591"/>
                  </a:lnTo>
                  <a:lnTo>
                    <a:pt x="24253" y="24253"/>
                  </a:lnTo>
                  <a:lnTo>
                    <a:pt x="50591" y="6505"/>
                  </a:lnTo>
                  <a:lnTo>
                    <a:pt x="82867" y="0"/>
                  </a:lnTo>
                  <a:lnTo>
                    <a:pt x="16810576" y="0"/>
                  </a:lnTo>
                  <a:lnTo>
                    <a:pt x="16842812" y="6505"/>
                  </a:lnTo>
                  <a:lnTo>
                    <a:pt x="16869155" y="24253"/>
                  </a:lnTo>
                  <a:lnTo>
                    <a:pt x="16886925" y="50591"/>
                  </a:lnTo>
                  <a:lnTo>
                    <a:pt x="16890985" y="70695"/>
                  </a:lnTo>
                  <a:lnTo>
                    <a:pt x="16890985" y="1586057"/>
                  </a:lnTo>
                  <a:lnTo>
                    <a:pt x="16886911" y="1606187"/>
                  </a:lnTo>
                  <a:lnTo>
                    <a:pt x="16869138" y="1632525"/>
                  </a:lnTo>
                  <a:lnTo>
                    <a:pt x="16842786" y="1650273"/>
                  </a:lnTo>
                  <a:lnTo>
                    <a:pt x="16810576" y="1656740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82219" y="3907345"/>
              <a:ext cx="16892270" cy="1656714"/>
            </a:xfrm>
            <a:custGeom>
              <a:avLst/>
              <a:gdLst/>
              <a:ahLst/>
              <a:cxnLst/>
              <a:rect l="l" t="t" r="r" b="b"/>
              <a:pathLst>
                <a:path w="16892270" h="1656714">
                  <a:moveTo>
                    <a:pt x="0" y="82860"/>
                  </a:moveTo>
                  <a:lnTo>
                    <a:pt x="6504" y="50587"/>
                  </a:lnTo>
                  <a:lnTo>
                    <a:pt x="24251" y="24251"/>
                  </a:lnTo>
                  <a:lnTo>
                    <a:pt x="50587" y="6504"/>
                  </a:lnTo>
                  <a:lnTo>
                    <a:pt x="82860" y="0"/>
                  </a:lnTo>
                  <a:lnTo>
                    <a:pt x="16809212" y="0"/>
                  </a:lnTo>
                  <a:lnTo>
                    <a:pt x="16867784" y="24251"/>
                  </a:lnTo>
                  <a:lnTo>
                    <a:pt x="16892071" y="82860"/>
                  </a:lnTo>
                  <a:lnTo>
                    <a:pt x="16892071" y="1573782"/>
                  </a:lnTo>
                  <a:lnTo>
                    <a:pt x="16885566" y="1606015"/>
                  </a:lnTo>
                  <a:lnTo>
                    <a:pt x="16867821" y="1632356"/>
                  </a:lnTo>
                  <a:lnTo>
                    <a:pt x="16841485" y="1650125"/>
                  </a:lnTo>
                  <a:lnTo>
                    <a:pt x="16809212" y="1656643"/>
                  </a:lnTo>
                  <a:lnTo>
                    <a:pt x="82860" y="1656643"/>
                  </a:lnTo>
                  <a:lnTo>
                    <a:pt x="50627" y="1650139"/>
                  </a:lnTo>
                  <a:lnTo>
                    <a:pt x="24286" y="1632392"/>
                  </a:lnTo>
                  <a:lnTo>
                    <a:pt x="6518" y="1606056"/>
                  </a:lnTo>
                  <a:lnTo>
                    <a:pt x="0" y="1573783"/>
                  </a:lnTo>
                  <a:lnTo>
                    <a:pt x="0" y="82860"/>
                  </a:lnTo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810907" y="368633"/>
            <a:ext cx="184531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0685" algn="l"/>
                <a:tab pos="561340" algn="l"/>
              </a:tabLst>
            </a:pPr>
            <a:r>
              <a:rPr dirty="0" u="heavy" sz="1500">
                <a:solidFill>
                  <a:srgbClr val="00426F"/>
                </a:solidFill>
                <a:uFill>
                  <a:solidFill>
                    <a:srgbClr val="00426F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1500">
                <a:solidFill>
                  <a:srgbClr val="00426F"/>
                </a:solidFill>
                <a:latin typeface="Times New Roman"/>
                <a:cs typeface="Times New Roman"/>
              </a:rPr>
              <a:t>	</a:t>
            </a:r>
            <a:r>
              <a:rPr dirty="0" sz="1500" spc="-10" b="1">
                <a:solidFill>
                  <a:srgbClr val="00426F"/>
                </a:solidFill>
                <a:latin typeface="Calibri"/>
                <a:cs typeface="Calibri"/>
              </a:rPr>
              <a:t>GO-TO-MARKET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One</a:t>
            </a:r>
            <a:r>
              <a:rPr dirty="0" spc="-85"/>
              <a:t> </a:t>
            </a:r>
            <a:r>
              <a:rPr dirty="0"/>
              <a:t>painful</a:t>
            </a:r>
            <a:r>
              <a:rPr dirty="0" spc="-80"/>
              <a:t> </a:t>
            </a:r>
            <a:r>
              <a:rPr dirty="0"/>
              <a:t>problem.</a:t>
            </a:r>
            <a:r>
              <a:rPr dirty="0" spc="-80"/>
              <a:t> </a:t>
            </a:r>
            <a:r>
              <a:rPr dirty="0"/>
              <a:t>Then</a:t>
            </a:r>
            <a:r>
              <a:rPr dirty="0" spc="-80"/>
              <a:t> </a:t>
            </a:r>
            <a:r>
              <a:rPr dirty="0"/>
              <a:t>the</a:t>
            </a:r>
            <a:r>
              <a:rPr dirty="0" spc="-80"/>
              <a:t> </a:t>
            </a:r>
            <a:r>
              <a:rPr dirty="0"/>
              <a:t>whole</a:t>
            </a:r>
            <a:r>
              <a:rPr dirty="0" spc="-80"/>
              <a:t> </a:t>
            </a:r>
            <a:r>
              <a:rPr dirty="0" spc="-10"/>
              <a:t>workforce.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672686" y="2044705"/>
            <a:ext cx="16911320" cy="1675764"/>
            <a:chOff x="672686" y="2044705"/>
            <a:chExt cx="16911320" cy="1675764"/>
          </a:xfrm>
        </p:grpSpPr>
        <p:sp>
          <p:nvSpPr>
            <p:cNvPr id="9" name="object 9"/>
            <p:cNvSpPr/>
            <p:nvPr/>
          </p:nvSpPr>
          <p:spPr>
            <a:xfrm>
              <a:off x="681570" y="2054238"/>
              <a:ext cx="16891000" cy="1657350"/>
            </a:xfrm>
            <a:custGeom>
              <a:avLst/>
              <a:gdLst/>
              <a:ahLst/>
              <a:cxnLst/>
              <a:rect l="l" t="t" r="r" b="b"/>
              <a:pathLst>
                <a:path w="16891000" h="1657350">
                  <a:moveTo>
                    <a:pt x="16810576" y="1656740"/>
                  </a:moveTo>
                  <a:lnTo>
                    <a:pt x="82867" y="1656740"/>
                  </a:lnTo>
                  <a:lnTo>
                    <a:pt x="50631" y="1650273"/>
                  </a:lnTo>
                  <a:lnTo>
                    <a:pt x="24288" y="1632525"/>
                  </a:lnTo>
                  <a:lnTo>
                    <a:pt x="6518" y="1606187"/>
                  </a:lnTo>
                  <a:lnTo>
                    <a:pt x="0" y="1573911"/>
                  </a:lnTo>
                  <a:lnTo>
                    <a:pt x="0" y="82867"/>
                  </a:lnTo>
                  <a:lnTo>
                    <a:pt x="24253" y="24253"/>
                  </a:lnTo>
                  <a:lnTo>
                    <a:pt x="82867" y="0"/>
                  </a:lnTo>
                  <a:lnTo>
                    <a:pt x="16810576" y="0"/>
                  </a:lnTo>
                  <a:lnTo>
                    <a:pt x="16842812" y="6505"/>
                  </a:lnTo>
                  <a:lnTo>
                    <a:pt x="16869155" y="24253"/>
                  </a:lnTo>
                  <a:lnTo>
                    <a:pt x="16886925" y="50591"/>
                  </a:lnTo>
                  <a:lnTo>
                    <a:pt x="16890985" y="70695"/>
                  </a:lnTo>
                  <a:lnTo>
                    <a:pt x="16890985" y="1586057"/>
                  </a:lnTo>
                  <a:lnTo>
                    <a:pt x="16886911" y="1606187"/>
                  </a:lnTo>
                  <a:lnTo>
                    <a:pt x="16869138" y="1632525"/>
                  </a:lnTo>
                  <a:lnTo>
                    <a:pt x="16842786" y="1650273"/>
                  </a:lnTo>
                  <a:lnTo>
                    <a:pt x="16810576" y="1656740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82219" y="2054238"/>
              <a:ext cx="16892270" cy="1656714"/>
            </a:xfrm>
            <a:custGeom>
              <a:avLst/>
              <a:gdLst/>
              <a:ahLst/>
              <a:cxnLst/>
              <a:rect l="l" t="t" r="r" b="b"/>
              <a:pathLst>
                <a:path w="16892270" h="1656714">
                  <a:moveTo>
                    <a:pt x="0" y="82860"/>
                  </a:moveTo>
                  <a:lnTo>
                    <a:pt x="6504" y="50587"/>
                  </a:lnTo>
                  <a:lnTo>
                    <a:pt x="24251" y="24251"/>
                  </a:lnTo>
                  <a:lnTo>
                    <a:pt x="50587" y="6504"/>
                  </a:lnTo>
                  <a:lnTo>
                    <a:pt x="82860" y="0"/>
                  </a:lnTo>
                  <a:lnTo>
                    <a:pt x="16809212" y="0"/>
                  </a:lnTo>
                  <a:lnTo>
                    <a:pt x="16867784" y="24251"/>
                  </a:lnTo>
                  <a:lnTo>
                    <a:pt x="16892071" y="82860"/>
                  </a:lnTo>
                  <a:lnTo>
                    <a:pt x="16892071" y="1573782"/>
                  </a:lnTo>
                  <a:lnTo>
                    <a:pt x="16885567" y="1606015"/>
                  </a:lnTo>
                  <a:lnTo>
                    <a:pt x="16867821" y="1632356"/>
                  </a:lnTo>
                  <a:lnTo>
                    <a:pt x="16841485" y="1650125"/>
                  </a:lnTo>
                  <a:lnTo>
                    <a:pt x="16809212" y="1656644"/>
                  </a:lnTo>
                  <a:lnTo>
                    <a:pt x="82860" y="1656644"/>
                  </a:lnTo>
                  <a:lnTo>
                    <a:pt x="50627" y="1650139"/>
                  </a:lnTo>
                  <a:lnTo>
                    <a:pt x="24286" y="1632392"/>
                  </a:lnTo>
                  <a:lnTo>
                    <a:pt x="6518" y="1606056"/>
                  </a:lnTo>
                  <a:lnTo>
                    <a:pt x="0" y="1573783"/>
                  </a:lnTo>
                  <a:lnTo>
                    <a:pt x="0" y="82860"/>
                  </a:lnTo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682219" y="2054237"/>
            <a:ext cx="2475230" cy="1656714"/>
          </a:xfrm>
          <a:prstGeom prst="rect">
            <a:avLst/>
          </a:prstGeom>
          <a:solidFill>
            <a:srgbClr val="092921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1650">
              <a:latin typeface="Times New Roman"/>
              <a:cs typeface="Times New Roman"/>
            </a:endParaRPr>
          </a:p>
          <a:p>
            <a:pPr algn="ctr" marL="3810">
              <a:lnSpc>
                <a:spcPct val="100000"/>
              </a:lnSpc>
            </a:pPr>
            <a:r>
              <a:rPr dirty="0" sz="1650" spc="-20" b="1">
                <a:solidFill>
                  <a:srgbClr val="00D4AA"/>
                </a:solidFill>
                <a:latin typeface="Calibri"/>
                <a:cs typeface="Calibri"/>
              </a:rPr>
              <a:t>LAND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10416" y="2448411"/>
            <a:ext cx="12994640" cy="525145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 marR="5080">
              <a:lnSpc>
                <a:spcPts val="1950"/>
              </a:lnSpc>
              <a:spcBef>
                <a:spcPts val="190"/>
              </a:spcBef>
            </a:pP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Start</a:t>
            </a:r>
            <a:r>
              <a:rPr dirty="0" sz="1650" spc="-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with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the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most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obvious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pain.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B2B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SaaS,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EdTech,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and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Healthcare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companies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with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support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queues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or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slow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SDR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8B8FA2"/>
                </a:solidFill>
                <a:latin typeface="Calibri"/>
                <a:cs typeface="Calibri"/>
              </a:rPr>
              <a:t>follow-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up.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Land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with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a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single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worker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 spc="-50">
                <a:solidFill>
                  <a:srgbClr val="8B8FA2"/>
                </a:solidFill>
                <a:latin typeface="Calibri"/>
                <a:cs typeface="Calibri"/>
              </a:rPr>
              <a:t>—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typically</a:t>
            </a:r>
            <a:r>
              <a:rPr dirty="0" sz="1650" spc="-5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Support</a:t>
            </a:r>
            <a:r>
              <a:rPr dirty="0" sz="165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Worker</a:t>
            </a:r>
            <a:r>
              <a:rPr dirty="0" sz="165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(immediate,</a:t>
            </a:r>
            <a:r>
              <a:rPr dirty="0" sz="165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measurable</a:t>
            </a:r>
            <a:r>
              <a:rPr dirty="0" sz="165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ROI)</a:t>
            </a:r>
            <a:r>
              <a:rPr dirty="0" sz="1650" spc="-5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or</a:t>
            </a:r>
            <a:r>
              <a:rPr dirty="0" sz="165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SDR</a:t>
            </a:r>
            <a:r>
              <a:rPr dirty="0" sz="165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Worker</a:t>
            </a:r>
            <a:r>
              <a:rPr dirty="0" sz="165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(pipeline</a:t>
            </a:r>
            <a:r>
              <a:rPr dirty="0" sz="165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impact).</a:t>
            </a:r>
            <a:r>
              <a:rPr dirty="0" sz="1650" spc="-5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8B8FA2"/>
                </a:solidFill>
                <a:latin typeface="Calibri"/>
                <a:cs typeface="Calibri"/>
              </a:rPr>
              <a:t>2-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week</a:t>
            </a:r>
            <a:r>
              <a:rPr dirty="0" sz="165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deployment.</a:t>
            </a:r>
            <a:r>
              <a:rPr dirty="0" sz="165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Quick</a:t>
            </a:r>
            <a:r>
              <a:rPr dirty="0" sz="165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win</a:t>
            </a:r>
            <a:r>
              <a:rPr dirty="0" sz="165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within</a:t>
            </a:r>
            <a:r>
              <a:rPr dirty="0" sz="1650" spc="-5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30</a:t>
            </a:r>
            <a:r>
              <a:rPr dirty="0" sz="165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8B8FA2"/>
                </a:solidFill>
                <a:latin typeface="Calibri"/>
                <a:cs typeface="Calibri"/>
              </a:rPr>
              <a:t>days.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2219" y="3907345"/>
            <a:ext cx="2475230" cy="1656714"/>
          </a:xfrm>
          <a:prstGeom prst="rect">
            <a:avLst/>
          </a:prstGeom>
          <a:solidFill>
            <a:srgbClr val="092921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650">
              <a:latin typeface="Times New Roman"/>
              <a:cs typeface="Times New Roman"/>
            </a:endParaRPr>
          </a:p>
          <a:p>
            <a:pPr algn="ctr" marL="3810">
              <a:lnSpc>
                <a:spcPct val="100000"/>
              </a:lnSpc>
              <a:spcBef>
                <a:spcPts val="5"/>
              </a:spcBef>
            </a:pPr>
            <a:r>
              <a:rPr dirty="0" sz="1650" spc="-10" b="1">
                <a:solidFill>
                  <a:srgbClr val="00D4AA"/>
                </a:solidFill>
                <a:latin typeface="Calibri"/>
                <a:cs typeface="Calibri"/>
              </a:rPr>
              <a:t>EXPAND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10416" y="4301519"/>
            <a:ext cx="13027025" cy="525145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 marR="5080">
              <a:lnSpc>
                <a:spcPts val="1950"/>
              </a:lnSpc>
              <a:spcBef>
                <a:spcPts val="190"/>
              </a:spcBef>
            </a:pP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Once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one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worker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earns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trust,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the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rest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are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obvious.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Customers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with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a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Support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Worker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see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the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SDR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8B8FA2"/>
                </a:solidFill>
                <a:latin typeface="Calibri"/>
                <a:cs typeface="Calibri"/>
              </a:rPr>
              <a:t>conversions.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Customers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with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an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SDR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Worker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ask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8B8FA2"/>
                </a:solidFill>
                <a:latin typeface="Calibri"/>
                <a:cs typeface="Calibri"/>
              </a:rPr>
              <a:t>about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customer</a:t>
            </a:r>
            <a:r>
              <a:rPr dirty="0" sz="165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onboarding.</a:t>
            </a:r>
            <a:r>
              <a:rPr dirty="0" sz="165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Expansion</a:t>
            </a:r>
            <a:r>
              <a:rPr dirty="0" sz="1650" spc="-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is</a:t>
            </a:r>
            <a:r>
              <a:rPr dirty="0" sz="165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8B8FA2"/>
                </a:solidFill>
                <a:latin typeface="Calibri"/>
                <a:cs typeface="Calibri"/>
              </a:rPr>
              <a:t>pull-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driven,</a:t>
            </a:r>
            <a:r>
              <a:rPr dirty="0" sz="165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not</a:t>
            </a:r>
            <a:r>
              <a:rPr dirty="0" sz="1650" spc="-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pushed.</a:t>
            </a:r>
            <a:r>
              <a:rPr dirty="0" sz="165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Average</a:t>
            </a:r>
            <a:r>
              <a:rPr dirty="0" sz="165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2.4</a:t>
            </a:r>
            <a:r>
              <a:rPr dirty="0" sz="1650" spc="-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workers</a:t>
            </a:r>
            <a:r>
              <a:rPr dirty="0" sz="165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per</a:t>
            </a:r>
            <a:r>
              <a:rPr dirty="0" sz="1650" spc="-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customer</a:t>
            </a:r>
            <a:r>
              <a:rPr dirty="0" sz="165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within</a:t>
            </a:r>
            <a:r>
              <a:rPr dirty="0" sz="165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6</a:t>
            </a:r>
            <a:r>
              <a:rPr dirty="0" sz="1650" spc="-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8B8FA2"/>
                </a:solidFill>
                <a:latin typeface="Calibri"/>
                <a:cs typeface="Calibri"/>
              </a:rPr>
              <a:t>months.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72376" y="5750610"/>
            <a:ext cx="16911955" cy="1676400"/>
            <a:chOff x="672376" y="5750610"/>
            <a:chExt cx="16911955" cy="1676400"/>
          </a:xfrm>
        </p:grpSpPr>
        <p:sp>
          <p:nvSpPr>
            <p:cNvPr id="16" name="object 16"/>
            <p:cNvSpPr/>
            <p:nvPr/>
          </p:nvSpPr>
          <p:spPr>
            <a:xfrm>
              <a:off x="681570" y="5760452"/>
              <a:ext cx="16891000" cy="1657350"/>
            </a:xfrm>
            <a:custGeom>
              <a:avLst/>
              <a:gdLst/>
              <a:ahLst/>
              <a:cxnLst/>
              <a:rect l="l" t="t" r="r" b="b"/>
              <a:pathLst>
                <a:path w="16891000" h="1657350">
                  <a:moveTo>
                    <a:pt x="16810576" y="1656740"/>
                  </a:moveTo>
                  <a:lnTo>
                    <a:pt x="82867" y="1656740"/>
                  </a:lnTo>
                  <a:lnTo>
                    <a:pt x="50631" y="1650273"/>
                  </a:lnTo>
                  <a:lnTo>
                    <a:pt x="24288" y="1632525"/>
                  </a:lnTo>
                  <a:lnTo>
                    <a:pt x="6518" y="1606187"/>
                  </a:lnTo>
                  <a:lnTo>
                    <a:pt x="0" y="1573911"/>
                  </a:lnTo>
                  <a:lnTo>
                    <a:pt x="0" y="82867"/>
                  </a:lnTo>
                  <a:lnTo>
                    <a:pt x="6505" y="50591"/>
                  </a:lnTo>
                  <a:lnTo>
                    <a:pt x="24253" y="24253"/>
                  </a:lnTo>
                  <a:lnTo>
                    <a:pt x="50591" y="6505"/>
                  </a:lnTo>
                  <a:lnTo>
                    <a:pt x="82867" y="0"/>
                  </a:lnTo>
                  <a:lnTo>
                    <a:pt x="16810576" y="0"/>
                  </a:lnTo>
                  <a:lnTo>
                    <a:pt x="16842812" y="6505"/>
                  </a:lnTo>
                  <a:lnTo>
                    <a:pt x="16869155" y="24253"/>
                  </a:lnTo>
                  <a:lnTo>
                    <a:pt x="16886925" y="50591"/>
                  </a:lnTo>
                  <a:lnTo>
                    <a:pt x="16890985" y="70695"/>
                  </a:lnTo>
                  <a:lnTo>
                    <a:pt x="16890985" y="1586057"/>
                  </a:lnTo>
                  <a:lnTo>
                    <a:pt x="16886911" y="1606187"/>
                  </a:lnTo>
                  <a:lnTo>
                    <a:pt x="16869138" y="1632525"/>
                  </a:lnTo>
                  <a:lnTo>
                    <a:pt x="16842786" y="1650273"/>
                  </a:lnTo>
                  <a:lnTo>
                    <a:pt x="16810576" y="1656740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82219" y="5760452"/>
              <a:ext cx="16892270" cy="1656714"/>
            </a:xfrm>
            <a:custGeom>
              <a:avLst/>
              <a:gdLst/>
              <a:ahLst/>
              <a:cxnLst/>
              <a:rect l="l" t="t" r="r" b="b"/>
              <a:pathLst>
                <a:path w="16892270" h="1656715">
                  <a:moveTo>
                    <a:pt x="0" y="82860"/>
                  </a:moveTo>
                  <a:lnTo>
                    <a:pt x="6504" y="50586"/>
                  </a:lnTo>
                  <a:lnTo>
                    <a:pt x="24251" y="24250"/>
                  </a:lnTo>
                  <a:lnTo>
                    <a:pt x="50587" y="6504"/>
                  </a:lnTo>
                  <a:lnTo>
                    <a:pt x="82860" y="0"/>
                  </a:lnTo>
                  <a:lnTo>
                    <a:pt x="16809212" y="0"/>
                  </a:lnTo>
                  <a:lnTo>
                    <a:pt x="16867784" y="24251"/>
                  </a:lnTo>
                  <a:lnTo>
                    <a:pt x="16892071" y="82860"/>
                  </a:lnTo>
                  <a:lnTo>
                    <a:pt x="16892071" y="1573782"/>
                  </a:lnTo>
                  <a:lnTo>
                    <a:pt x="16885566" y="1606015"/>
                  </a:lnTo>
                  <a:lnTo>
                    <a:pt x="16867821" y="1632356"/>
                  </a:lnTo>
                  <a:lnTo>
                    <a:pt x="16841485" y="1650125"/>
                  </a:lnTo>
                  <a:lnTo>
                    <a:pt x="16809212" y="1656643"/>
                  </a:lnTo>
                  <a:lnTo>
                    <a:pt x="82860" y="1656643"/>
                  </a:lnTo>
                  <a:lnTo>
                    <a:pt x="50627" y="1650139"/>
                  </a:lnTo>
                  <a:lnTo>
                    <a:pt x="24286" y="1632392"/>
                  </a:lnTo>
                  <a:lnTo>
                    <a:pt x="6518" y="1606056"/>
                  </a:lnTo>
                  <a:lnTo>
                    <a:pt x="0" y="1573783"/>
                  </a:lnTo>
                  <a:lnTo>
                    <a:pt x="0" y="82860"/>
                  </a:lnTo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682219" y="5760453"/>
            <a:ext cx="2475230" cy="1656714"/>
          </a:xfrm>
          <a:prstGeom prst="rect">
            <a:avLst/>
          </a:prstGeom>
          <a:solidFill>
            <a:srgbClr val="092921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650">
              <a:latin typeface="Times New Roman"/>
              <a:cs typeface="Times New Roman"/>
            </a:endParaRPr>
          </a:p>
          <a:p>
            <a:pPr marL="694690">
              <a:lnSpc>
                <a:spcPct val="100000"/>
              </a:lnSpc>
              <a:spcBef>
                <a:spcPts val="5"/>
              </a:spcBef>
            </a:pPr>
            <a:r>
              <a:rPr dirty="0" sz="1650" spc="-10" b="1">
                <a:solidFill>
                  <a:srgbClr val="00D4AA"/>
                </a:solidFill>
                <a:latin typeface="Calibri"/>
                <a:cs typeface="Calibri"/>
              </a:rPr>
              <a:t>VERTICALIZE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10416" y="6154627"/>
            <a:ext cx="12765405" cy="525145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 marR="5080">
              <a:lnSpc>
                <a:spcPts val="1950"/>
              </a:lnSpc>
              <a:spcBef>
                <a:spcPts val="190"/>
              </a:spcBef>
            </a:pP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Industry</a:t>
            </a:r>
            <a:r>
              <a:rPr dirty="0" sz="1650" spc="-5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Packs</a:t>
            </a:r>
            <a:r>
              <a:rPr dirty="0" sz="1650" spc="-5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create</a:t>
            </a:r>
            <a:r>
              <a:rPr dirty="0" sz="1650" spc="-5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systematic</a:t>
            </a:r>
            <a:r>
              <a:rPr dirty="0" sz="1650" spc="-5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entry</a:t>
            </a:r>
            <a:r>
              <a:rPr dirty="0" sz="1650" spc="-5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into</a:t>
            </a:r>
            <a:r>
              <a:rPr dirty="0" sz="1650" spc="-5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new</a:t>
            </a:r>
            <a:r>
              <a:rPr dirty="0" sz="1650" spc="-5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verticals.</a:t>
            </a:r>
            <a:r>
              <a:rPr dirty="0" sz="1650" spc="-5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8B8FA2"/>
                </a:solidFill>
                <a:latin typeface="Calibri"/>
                <a:cs typeface="Calibri"/>
              </a:rPr>
              <a:t>Pre-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built</a:t>
            </a:r>
            <a:r>
              <a:rPr dirty="0" sz="1650" spc="-5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knowledge</a:t>
            </a:r>
            <a:r>
              <a:rPr dirty="0" sz="1650" spc="-5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structures,</a:t>
            </a:r>
            <a:r>
              <a:rPr dirty="0" sz="1650" spc="-5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qualification</a:t>
            </a:r>
            <a:r>
              <a:rPr dirty="0" sz="1650" spc="-5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frameworks,</a:t>
            </a:r>
            <a:r>
              <a:rPr dirty="0" sz="1650" spc="-5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and</a:t>
            </a:r>
            <a:r>
              <a:rPr dirty="0" sz="1650" spc="-5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worker</a:t>
            </a:r>
            <a:r>
              <a:rPr dirty="0" sz="1650" spc="-5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configs</a:t>
            </a:r>
            <a:r>
              <a:rPr dirty="0" sz="1650" spc="-5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for</a:t>
            </a:r>
            <a:r>
              <a:rPr dirty="0" sz="1650" spc="-5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8B8FA2"/>
                </a:solidFill>
                <a:latin typeface="Calibri"/>
                <a:cs typeface="Calibri"/>
              </a:rPr>
              <a:t>Education,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Healthcare,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Financial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8B8FA2"/>
                </a:solidFill>
                <a:latin typeface="Calibri"/>
                <a:cs typeface="Calibri"/>
              </a:rPr>
              <a:t>Services,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Real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Estate,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8B8FA2"/>
                </a:solidFill>
                <a:latin typeface="Calibri"/>
                <a:cs typeface="Calibri"/>
              </a:rPr>
              <a:t>Manufacturing,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Consulting,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Recruitment.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Each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pack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is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a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8B8FA2"/>
                </a:solidFill>
                <a:latin typeface="Calibri"/>
                <a:cs typeface="Calibri"/>
              </a:rPr>
              <a:t>go-to-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market</a:t>
            </a:r>
            <a:r>
              <a:rPr dirty="0" sz="16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8B8FA2"/>
                </a:solidFill>
                <a:latin typeface="Calibri"/>
                <a:cs typeface="Calibri"/>
              </a:rPr>
              <a:t>motion.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72686" y="7604028"/>
            <a:ext cx="16911320" cy="1675764"/>
            <a:chOff x="672686" y="7604028"/>
            <a:chExt cx="16911320" cy="1675764"/>
          </a:xfrm>
        </p:grpSpPr>
        <p:sp>
          <p:nvSpPr>
            <p:cNvPr id="21" name="object 21"/>
            <p:cNvSpPr/>
            <p:nvPr/>
          </p:nvSpPr>
          <p:spPr>
            <a:xfrm>
              <a:off x="681570" y="7613560"/>
              <a:ext cx="16891000" cy="1657350"/>
            </a:xfrm>
            <a:custGeom>
              <a:avLst/>
              <a:gdLst/>
              <a:ahLst/>
              <a:cxnLst/>
              <a:rect l="l" t="t" r="r" b="b"/>
              <a:pathLst>
                <a:path w="16891000" h="1657350">
                  <a:moveTo>
                    <a:pt x="16810576" y="1656740"/>
                  </a:moveTo>
                  <a:lnTo>
                    <a:pt x="82867" y="1656740"/>
                  </a:lnTo>
                  <a:lnTo>
                    <a:pt x="50631" y="1650273"/>
                  </a:lnTo>
                  <a:lnTo>
                    <a:pt x="24288" y="1632525"/>
                  </a:lnTo>
                  <a:lnTo>
                    <a:pt x="6518" y="1606187"/>
                  </a:lnTo>
                  <a:lnTo>
                    <a:pt x="0" y="1573911"/>
                  </a:lnTo>
                  <a:lnTo>
                    <a:pt x="0" y="82867"/>
                  </a:lnTo>
                  <a:lnTo>
                    <a:pt x="24253" y="24253"/>
                  </a:lnTo>
                  <a:lnTo>
                    <a:pt x="82867" y="0"/>
                  </a:lnTo>
                  <a:lnTo>
                    <a:pt x="16810576" y="0"/>
                  </a:lnTo>
                  <a:lnTo>
                    <a:pt x="16842812" y="6505"/>
                  </a:lnTo>
                  <a:lnTo>
                    <a:pt x="16869155" y="24253"/>
                  </a:lnTo>
                  <a:lnTo>
                    <a:pt x="16886925" y="50591"/>
                  </a:lnTo>
                  <a:lnTo>
                    <a:pt x="16890985" y="70695"/>
                  </a:lnTo>
                  <a:lnTo>
                    <a:pt x="16890985" y="1586058"/>
                  </a:lnTo>
                  <a:lnTo>
                    <a:pt x="16886911" y="1606187"/>
                  </a:lnTo>
                  <a:lnTo>
                    <a:pt x="16869138" y="1632525"/>
                  </a:lnTo>
                  <a:lnTo>
                    <a:pt x="16842786" y="1650273"/>
                  </a:lnTo>
                  <a:lnTo>
                    <a:pt x="16810576" y="1656740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82219" y="7613560"/>
              <a:ext cx="16892270" cy="1656714"/>
            </a:xfrm>
            <a:custGeom>
              <a:avLst/>
              <a:gdLst/>
              <a:ahLst/>
              <a:cxnLst/>
              <a:rect l="l" t="t" r="r" b="b"/>
              <a:pathLst>
                <a:path w="16892270" h="1656715">
                  <a:moveTo>
                    <a:pt x="0" y="82860"/>
                  </a:moveTo>
                  <a:lnTo>
                    <a:pt x="6504" y="50586"/>
                  </a:lnTo>
                  <a:lnTo>
                    <a:pt x="24251" y="24250"/>
                  </a:lnTo>
                  <a:lnTo>
                    <a:pt x="50587" y="6504"/>
                  </a:lnTo>
                  <a:lnTo>
                    <a:pt x="82860" y="0"/>
                  </a:lnTo>
                  <a:lnTo>
                    <a:pt x="16809212" y="0"/>
                  </a:lnTo>
                  <a:lnTo>
                    <a:pt x="16867784" y="24251"/>
                  </a:lnTo>
                  <a:lnTo>
                    <a:pt x="16892071" y="82860"/>
                  </a:lnTo>
                  <a:lnTo>
                    <a:pt x="16892071" y="1573782"/>
                  </a:lnTo>
                  <a:lnTo>
                    <a:pt x="16885566" y="1606015"/>
                  </a:lnTo>
                  <a:lnTo>
                    <a:pt x="16867821" y="1632356"/>
                  </a:lnTo>
                  <a:lnTo>
                    <a:pt x="16841485" y="1650125"/>
                  </a:lnTo>
                  <a:lnTo>
                    <a:pt x="16809212" y="1656643"/>
                  </a:lnTo>
                  <a:lnTo>
                    <a:pt x="82860" y="1656643"/>
                  </a:lnTo>
                  <a:lnTo>
                    <a:pt x="50627" y="1650139"/>
                  </a:lnTo>
                  <a:lnTo>
                    <a:pt x="24286" y="1632392"/>
                  </a:lnTo>
                  <a:lnTo>
                    <a:pt x="6518" y="1606056"/>
                  </a:lnTo>
                  <a:lnTo>
                    <a:pt x="0" y="1573783"/>
                  </a:lnTo>
                  <a:lnTo>
                    <a:pt x="0" y="82860"/>
                  </a:lnTo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682219" y="7613560"/>
            <a:ext cx="2475230" cy="1656714"/>
          </a:xfrm>
          <a:prstGeom prst="rect">
            <a:avLst/>
          </a:prstGeom>
          <a:solidFill>
            <a:srgbClr val="092921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650">
              <a:latin typeface="Times New Roman"/>
              <a:cs typeface="Times New Roman"/>
            </a:endParaRPr>
          </a:p>
          <a:p>
            <a:pPr marL="820419">
              <a:lnSpc>
                <a:spcPct val="100000"/>
              </a:lnSpc>
              <a:spcBef>
                <a:spcPts val="5"/>
              </a:spcBef>
            </a:pPr>
            <a:r>
              <a:rPr dirty="0" sz="1650" spc="-10" b="1">
                <a:solidFill>
                  <a:srgbClr val="00D4AA"/>
                </a:solidFill>
                <a:latin typeface="Calibri"/>
                <a:cs typeface="Calibri"/>
              </a:rPr>
              <a:t>CHANNEL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85"/>
              </a:lnSpc>
            </a:pPr>
            <a:r>
              <a:rPr dirty="0"/>
              <a:t>13</a:t>
            </a:r>
            <a:r>
              <a:rPr dirty="0" spc="-15"/>
              <a:t> </a:t>
            </a:r>
            <a:r>
              <a:rPr dirty="0"/>
              <a:t>/</a:t>
            </a:r>
            <a:r>
              <a:rPr dirty="0" spc="-15"/>
              <a:t> </a:t>
            </a:r>
            <a:r>
              <a:rPr dirty="0" spc="-25"/>
              <a:t>16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3510416" y="8007735"/>
            <a:ext cx="13271500" cy="525145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 marR="5080">
              <a:lnSpc>
                <a:spcPts val="1950"/>
              </a:lnSpc>
              <a:spcBef>
                <a:spcPts val="190"/>
              </a:spcBef>
            </a:pPr>
            <a:r>
              <a:rPr dirty="0" sz="1650" spc="-10">
                <a:solidFill>
                  <a:srgbClr val="8B8FA2"/>
                </a:solidFill>
                <a:latin typeface="Calibri"/>
                <a:cs typeface="Calibri"/>
              </a:rPr>
              <a:t>Partner-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led</a:t>
            </a:r>
            <a:r>
              <a:rPr dirty="0" sz="1650" spc="-2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distribution</a:t>
            </a:r>
            <a:r>
              <a:rPr dirty="0" sz="1650" spc="-2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at</a:t>
            </a:r>
            <a:r>
              <a:rPr dirty="0" sz="1650" spc="-2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scale.</a:t>
            </a:r>
            <a:r>
              <a:rPr dirty="0" sz="1650" spc="-2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Target</a:t>
            </a:r>
            <a:r>
              <a:rPr dirty="0" sz="1650" spc="-2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CRM</a:t>
            </a:r>
            <a:r>
              <a:rPr dirty="0" sz="1650" spc="-2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8B8FA2"/>
                </a:solidFill>
                <a:latin typeface="Calibri"/>
                <a:cs typeface="Calibri"/>
              </a:rPr>
              <a:t>implementation</a:t>
            </a:r>
            <a:r>
              <a:rPr dirty="0" sz="1650" spc="-2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partners,</a:t>
            </a:r>
            <a:r>
              <a:rPr dirty="0" sz="1650" spc="-2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digital</a:t>
            </a:r>
            <a:r>
              <a:rPr dirty="0" sz="1650" spc="-2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8B8FA2"/>
                </a:solidFill>
                <a:latin typeface="Calibri"/>
                <a:cs typeface="Calibri"/>
              </a:rPr>
              <a:t>transformation</a:t>
            </a:r>
            <a:r>
              <a:rPr dirty="0" sz="1650" spc="-2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8B8FA2"/>
                </a:solidFill>
                <a:latin typeface="Calibri"/>
                <a:cs typeface="Calibri"/>
              </a:rPr>
              <a:t>consultancies,</a:t>
            </a:r>
            <a:r>
              <a:rPr dirty="0" sz="1650" spc="-2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and</a:t>
            </a:r>
            <a:r>
              <a:rPr dirty="0" sz="1650" spc="-2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SaaS</a:t>
            </a:r>
            <a:r>
              <a:rPr dirty="0" sz="1650" spc="-2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8B8FA2"/>
                </a:solidFill>
                <a:latin typeface="Calibri"/>
                <a:cs typeface="Calibri"/>
              </a:rPr>
              <a:t>accelerators</a:t>
            </a:r>
            <a:r>
              <a:rPr dirty="0" sz="1650" spc="-2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who</a:t>
            </a:r>
            <a:r>
              <a:rPr dirty="0" sz="1650" spc="-2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already</a:t>
            </a:r>
            <a:r>
              <a:rPr dirty="0" sz="1650" spc="-2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sell</a:t>
            </a:r>
            <a:r>
              <a:rPr dirty="0" sz="1650" spc="-2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into</a:t>
            </a:r>
            <a:r>
              <a:rPr dirty="0" sz="1650" spc="-2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 spc="-25">
                <a:solidFill>
                  <a:srgbClr val="8B8FA2"/>
                </a:solidFill>
                <a:latin typeface="Calibri"/>
                <a:cs typeface="Calibri"/>
              </a:rPr>
              <a:t>our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ICP.</a:t>
            </a:r>
            <a:r>
              <a:rPr dirty="0" sz="165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Revenue</a:t>
            </a:r>
            <a:r>
              <a:rPr dirty="0" sz="165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share</a:t>
            </a:r>
            <a:r>
              <a:rPr dirty="0" sz="1650" spc="-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model.</a:t>
            </a:r>
            <a:r>
              <a:rPr dirty="0" sz="165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8B8FA2"/>
                </a:solidFill>
                <a:latin typeface="Calibri"/>
                <a:cs typeface="Calibri"/>
              </a:rPr>
              <a:t>White-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label</a:t>
            </a:r>
            <a:r>
              <a:rPr dirty="0" sz="1650" spc="-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option</a:t>
            </a:r>
            <a:r>
              <a:rPr dirty="0" sz="165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for</a:t>
            </a:r>
            <a:r>
              <a:rPr dirty="0" sz="165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large</a:t>
            </a:r>
            <a:r>
              <a:rPr dirty="0" sz="1650" spc="-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partners</a:t>
            </a:r>
            <a:r>
              <a:rPr dirty="0" sz="165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with</a:t>
            </a:r>
            <a:r>
              <a:rPr dirty="0" sz="1650" spc="-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1,000+</a:t>
            </a:r>
            <a:r>
              <a:rPr dirty="0" sz="165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8B8FA2"/>
                </a:solidFill>
                <a:latin typeface="Calibri"/>
                <a:cs typeface="Calibri"/>
              </a:rPr>
              <a:t>customer</a:t>
            </a:r>
            <a:r>
              <a:rPr dirty="0" sz="165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8B8FA2"/>
                </a:solidFill>
                <a:latin typeface="Calibri"/>
                <a:cs typeface="Calibri"/>
              </a:rPr>
              <a:t>bases.</a:t>
            </a:r>
            <a:endParaRPr sz="1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099391" y="4121257"/>
            <a:ext cx="3188970" cy="4114800"/>
          </a:xfrm>
          <a:custGeom>
            <a:avLst/>
            <a:gdLst/>
            <a:ahLst/>
            <a:cxnLst/>
            <a:rect l="l" t="t" r="r" b="b"/>
            <a:pathLst>
              <a:path w="3188969" h="4114800">
                <a:moveTo>
                  <a:pt x="2203986" y="12699"/>
                </a:moveTo>
                <a:lnTo>
                  <a:pt x="1914051" y="12699"/>
                </a:lnTo>
                <a:lnTo>
                  <a:pt x="1962089" y="0"/>
                </a:lnTo>
                <a:lnTo>
                  <a:pt x="2155948" y="0"/>
                </a:lnTo>
                <a:lnTo>
                  <a:pt x="2203986" y="12699"/>
                </a:lnTo>
                <a:close/>
              </a:path>
              <a:path w="3188969" h="4114800">
                <a:moveTo>
                  <a:pt x="2346247" y="25399"/>
                </a:moveTo>
                <a:lnTo>
                  <a:pt x="1771790" y="25399"/>
                </a:lnTo>
                <a:lnTo>
                  <a:pt x="1818889" y="12699"/>
                </a:lnTo>
                <a:lnTo>
                  <a:pt x="2299148" y="12699"/>
                </a:lnTo>
                <a:lnTo>
                  <a:pt x="2346247" y="25399"/>
                </a:lnTo>
                <a:close/>
              </a:path>
              <a:path w="3188969" h="4114800">
                <a:moveTo>
                  <a:pt x="2531141" y="63499"/>
                </a:moveTo>
                <a:lnTo>
                  <a:pt x="1586896" y="63499"/>
                </a:lnTo>
                <a:lnTo>
                  <a:pt x="1725029" y="25399"/>
                </a:lnTo>
                <a:lnTo>
                  <a:pt x="2393008" y="25399"/>
                </a:lnTo>
                <a:lnTo>
                  <a:pt x="2531141" y="63499"/>
                </a:lnTo>
                <a:close/>
              </a:path>
              <a:path w="3188969" h="4114800">
                <a:moveTo>
                  <a:pt x="2439419" y="4089399"/>
                </a:moveTo>
                <a:lnTo>
                  <a:pt x="1678618" y="4089399"/>
                </a:lnTo>
                <a:lnTo>
                  <a:pt x="1364586" y="4000499"/>
                </a:lnTo>
                <a:lnTo>
                  <a:pt x="1321422" y="3987799"/>
                </a:lnTo>
                <a:lnTo>
                  <a:pt x="1278719" y="3962399"/>
                </a:lnTo>
                <a:lnTo>
                  <a:pt x="1194748" y="3936999"/>
                </a:lnTo>
                <a:lnTo>
                  <a:pt x="1112770" y="3886199"/>
                </a:lnTo>
                <a:lnTo>
                  <a:pt x="1072560" y="3873499"/>
                </a:lnTo>
                <a:lnTo>
                  <a:pt x="993758" y="3822699"/>
                </a:lnTo>
                <a:lnTo>
                  <a:pt x="917198" y="3771899"/>
                </a:lnTo>
                <a:lnTo>
                  <a:pt x="879789" y="3746499"/>
                </a:lnTo>
                <a:lnTo>
                  <a:pt x="842978" y="3721099"/>
                </a:lnTo>
                <a:lnTo>
                  <a:pt x="806776" y="3695699"/>
                </a:lnTo>
                <a:lnTo>
                  <a:pt x="771197" y="3670299"/>
                </a:lnTo>
                <a:lnTo>
                  <a:pt x="736252" y="3644899"/>
                </a:lnTo>
                <a:lnTo>
                  <a:pt x="701953" y="3606799"/>
                </a:lnTo>
                <a:lnTo>
                  <a:pt x="668314" y="3581399"/>
                </a:lnTo>
                <a:lnTo>
                  <a:pt x="635347" y="3555999"/>
                </a:lnTo>
                <a:lnTo>
                  <a:pt x="603063" y="3517899"/>
                </a:lnTo>
                <a:lnTo>
                  <a:pt x="571475" y="3479799"/>
                </a:lnTo>
                <a:lnTo>
                  <a:pt x="540597" y="3454399"/>
                </a:lnTo>
                <a:lnTo>
                  <a:pt x="510439" y="3416299"/>
                </a:lnTo>
                <a:lnTo>
                  <a:pt x="481014" y="3390899"/>
                </a:lnTo>
                <a:lnTo>
                  <a:pt x="452335" y="3352799"/>
                </a:lnTo>
                <a:lnTo>
                  <a:pt x="424414" y="3314699"/>
                </a:lnTo>
                <a:lnTo>
                  <a:pt x="397264" y="3276599"/>
                </a:lnTo>
                <a:lnTo>
                  <a:pt x="370896" y="3238499"/>
                </a:lnTo>
                <a:lnTo>
                  <a:pt x="345323" y="3200399"/>
                </a:lnTo>
                <a:lnTo>
                  <a:pt x="320558" y="3162299"/>
                </a:lnTo>
                <a:lnTo>
                  <a:pt x="296612" y="3124199"/>
                </a:lnTo>
                <a:lnTo>
                  <a:pt x="273499" y="3086099"/>
                </a:lnTo>
                <a:lnTo>
                  <a:pt x="251231" y="3047999"/>
                </a:lnTo>
                <a:lnTo>
                  <a:pt x="229819" y="3009899"/>
                </a:lnTo>
                <a:lnTo>
                  <a:pt x="209276" y="2971799"/>
                </a:lnTo>
                <a:lnTo>
                  <a:pt x="189615" y="2920999"/>
                </a:lnTo>
                <a:lnTo>
                  <a:pt x="170848" y="2882899"/>
                </a:lnTo>
                <a:lnTo>
                  <a:pt x="152988" y="2844799"/>
                </a:lnTo>
                <a:lnTo>
                  <a:pt x="136046" y="2793999"/>
                </a:lnTo>
                <a:lnTo>
                  <a:pt x="120035" y="2755899"/>
                </a:lnTo>
                <a:lnTo>
                  <a:pt x="104967" y="2717799"/>
                </a:lnTo>
                <a:lnTo>
                  <a:pt x="90856" y="2666999"/>
                </a:lnTo>
                <a:lnTo>
                  <a:pt x="77712" y="2628899"/>
                </a:lnTo>
                <a:lnTo>
                  <a:pt x="65549" y="2578099"/>
                </a:lnTo>
                <a:lnTo>
                  <a:pt x="54378" y="2539999"/>
                </a:lnTo>
                <a:lnTo>
                  <a:pt x="44213" y="2489199"/>
                </a:lnTo>
                <a:lnTo>
                  <a:pt x="35066" y="2438399"/>
                </a:lnTo>
                <a:lnTo>
                  <a:pt x="26948" y="2400299"/>
                </a:lnTo>
                <a:lnTo>
                  <a:pt x="19872" y="2349499"/>
                </a:lnTo>
                <a:lnTo>
                  <a:pt x="13852" y="2298699"/>
                </a:lnTo>
                <a:lnTo>
                  <a:pt x="8898" y="2260599"/>
                </a:lnTo>
                <a:lnTo>
                  <a:pt x="5023" y="2209799"/>
                </a:lnTo>
                <a:lnTo>
                  <a:pt x="2241" y="2158999"/>
                </a:lnTo>
                <a:lnTo>
                  <a:pt x="562" y="2108199"/>
                </a:lnTo>
                <a:lnTo>
                  <a:pt x="0" y="2057399"/>
                </a:lnTo>
                <a:lnTo>
                  <a:pt x="562" y="2019299"/>
                </a:lnTo>
                <a:lnTo>
                  <a:pt x="2241" y="1968499"/>
                </a:lnTo>
                <a:lnTo>
                  <a:pt x="5023" y="1917699"/>
                </a:lnTo>
                <a:lnTo>
                  <a:pt x="8898" y="1866899"/>
                </a:lnTo>
                <a:lnTo>
                  <a:pt x="13852" y="1816099"/>
                </a:lnTo>
                <a:lnTo>
                  <a:pt x="19872" y="1777999"/>
                </a:lnTo>
                <a:lnTo>
                  <a:pt x="26948" y="1727199"/>
                </a:lnTo>
                <a:lnTo>
                  <a:pt x="35066" y="1676399"/>
                </a:lnTo>
                <a:lnTo>
                  <a:pt x="44213" y="1638299"/>
                </a:lnTo>
                <a:lnTo>
                  <a:pt x="54378" y="1587499"/>
                </a:lnTo>
                <a:lnTo>
                  <a:pt x="65549" y="1549399"/>
                </a:lnTo>
                <a:lnTo>
                  <a:pt x="77712" y="1498599"/>
                </a:lnTo>
                <a:lnTo>
                  <a:pt x="90856" y="1460499"/>
                </a:lnTo>
                <a:lnTo>
                  <a:pt x="104967" y="1409699"/>
                </a:lnTo>
                <a:lnTo>
                  <a:pt x="120035" y="1371599"/>
                </a:lnTo>
                <a:lnTo>
                  <a:pt x="136046" y="1320799"/>
                </a:lnTo>
                <a:lnTo>
                  <a:pt x="152988" y="1282699"/>
                </a:lnTo>
                <a:lnTo>
                  <a:pt x="170848" y="1244599"/>
                </a:lnTo>
                <a:lnTo>
                  <a:pt x="189615" y="1193799"/>
                </a:lnTo>
                <a:lnTo>
                  <a:pt x="209276" y="1155699"/>
                </a:lnTo>
                <a:lnTo>
                  <a:pt x="229819" y="1117599"/>
                </a:lnTo>
                <a:lnTo>
                  <a:pt x="251231" y="1079499"/>
                </a:lnTo>
                <a:lnTo>
                  <a:pt x="273499" y="1041399"/>
                </a:lnTo>
                <a:lnTo>
                  <a:pt x="296612" y="990599"/>
                </a:lnTo>
                <a:lnTo>
                  <a:pt x="320558" y="952499"/>
                </a:lnTo>
                <a:lnTo>
                  <a:pt x="345323" y="914399"/>
                </a:lnTo>
                <a:lnTo>
                  <a:pt x="370896" y="888999"/>
                </a:lnTo>
                <a:lnTo>
                  <a:pt x="397264" y="850899"/>
                </a:lnTo>
                <a:lnTo>
                  <a:pt x="424414" y="812799"/>
                </a:lnTo>
                <a:lnTo>
                  <a:pt x="452335" y="774699"/>
                </a:lnTo>
                <a:lnTo>
                  <a:pt x="481014" y="736599"/>
                </a:lnTo>
                <a:lnTo>
                  <a:pt x="510439" y="711199"/>
                </a:lnTo>
                <a:lnTo>
                  <a:pt x="540597" y="673099"/>
                </a:lnTo>
                <a:lnTo>
                  <a:pt x="571475" y="634999"/>
                </a:lnTo>
                <a:lnTo>
                  <a:pt x="603063" y="609599"/>
                </a:lnTo>
                <a:lnTo>
                  <a:pt x="635347" y="571499"/>
                </a:lnTo>
                <a:lnTo>
                  <a:pt x="668314" y="546099"/>
                </a:lnTo>
                <a:lnTo>
                  <a:pt x="701953" y="507999"/>
                </a:lnTo>
                <a:lnTo>
                  <a:pt x="736252" y="482599"/>
                </a:lnTo>
                <a:lnTo>
                  <a:pt x="771197" y="457199"/>
                </a:lnTo>
                <a:lnTo>
                  <a:pt x="806776" y="431799"/>
                </a:lnTo>
                <a:lnTo>
                  <a:pt x="842978" y="406399"/>
                </a:lnTo>
                <a:lnTo>
                  <a:pt x="879789" y="368299"/>
                </a:lnTo>
                <a:lnTo>
                  <a:pt x="917198" y="342899"/>
                </a:lnTo>
                <a:lnTo>
                  <a:pt x="955192" y="317499"/>
                </a:lnTo>
                <a:lnTo>
                  <a:pt x="993758" y="304799"/>
                </a:lnTo>
                <a:lnTo>
                  <a:pt x="1072560" y="253999"/>
                </a:lnTo>
                <a:lnTo>
                  <a:pt x="1112770" y="228599"/>
                </a:lnTo>
                <a:lnTo>
                  <a:pt x="1153503" y="215899"/>
                </a:lnTo>
                <a:lnTo>
                  <a:pt x="1194748" y="190499"/>
                </a:lnTo>
                <a:lnTo>
                  <a:pt x="1236490" y="177799"/>
                </a:lnTo>
                <a:lnTo>
                  <a:pt x="1278719" y="152399"/>
                </a:lnTo>
                <a:lnTo>
                  <a:pt x="1408200" y="114299"/>
                </a:lnTo>
                <a:lnTo>
                  <a:pt x="1452250" y="88899"/>
                </a:lnTo>
                <a:lnTo>
                  <a:pt x="1541610" y="63499"/>
                </a:lnTo>
                <a:lnTo>
                  <a:pt x="2576427" y="63499"/>
                </a:lnTo>
                <a:lnTo>
                  <a:pt x="2665787" y="88899"/>
                </a:lnTo>
                <a:lnTo>
                  <a:pt x="2709837" y="114299"/>
                </a:lnTo>
                <a:lnTo>
                  <a:pt x="2839318" y="152399"/>
                </a:lnTo>
                <a:lnTo>
                  <a:pt x="2881547" y="177799"/>
                </a:lnTo>
                <a:lnTo>
                  <a:pt x="2923290" y="190499"/>
                </a:lnTo>
                <a:lnTo>
                  <a:pt x="2964534" y="215899"/>
                </a:lnTo>
                <a:lnTo>
                  <a:pt x="3005267" y="228599"/>
                </a:lnTo>
                <a:lnTo>
                  <a:pt x="3045478" y="253999"/>
                </a:lnTo>
                <a:lnTo>
                  <a:pt x="3124279" y="304799"/>
                </a:lnTo>
                <a:lnTo>
                  <a:pt x="3162845" y="317499"/>
                </a:lnTo>
                <a:lnTo>
                  <a:pt x="3188608" y="334723"/>
                </a:lnTo>
                <a:lnTo>
                  <a:pt x="3188608" y="3780015"/>
                </a:lnTo>
                <a:lnTo>
                  <a:pt x="3124279" y="3822699"/>
                </a:lnTo>
                <a:lnTo>
                  <a:pt x="3045478" y="3873499"/>
                </a:lnTo>
                <a:lnTo>
                  <a:pt x="3005267" y="3886199"/>
                </a:lnTo>
                <a:lnTo>
                  <a:pt x="2923290" y="3936999"/>
                </a:lnTo>
                <a:lnTo>
                  <a:pt x="2839318" y="3962399"/>
                </a:lnTo>
                <a:lnTo>
                  <a:pt x="2796615" y="3987799"/>
                </a:lnTo>
                <a:lnTo>
                  <a:pt x="2753451" y="4000499"/>
                </a:lnTo>
                <a:lnTo>
                  <a:pt x="2439419" y="4089399"/>
                </a:lnTo>
                <a:close/>
              </a:path>
              <a:path w="3188969" h="4114800">
                <a:moveTo>
                  <a:pt x="2346247" y="4102099"/>
                </a:moveTo>
                <a:lnTo>
                  <a:pt x="1771790" y="4102099"/>
                </a:lnTo>
                <a:lnTo>
                  <a:pt x="1725029" y="4089399"/>
                </a:lnTo>
                <a:lnTo>
                  <a:pt x="2393008" y="4089399"/>
                </a:lnTo>
                <a:lnTo>
                  <a:pt x="2346247" y="4102099"/>
                </a:lnTo>
                <a:close/>
              </a:path>
              <a:path w="3188969" h="4114800">
                <a:moveTo>
                  <a:pt x="2251724" y="4114799"/>
                </a:moveTo>
                <a:lnTo>
                  <a:pt x="1866313" y="4114799"/>
                </a:lnTo>
                <a:lnTo>
                  <a:pt x="1818889" y="4102099"/>
                </a:lnTo>
                <a:lnTo>
                  <a:pt x="2299148" y="4102099"/>
                </a:lnTo>
                <a:lnTo>
                  <a:pt x="2251724" y="4114799"/>
                </a:lnTo>
                <a:close/>
              </a:path>
            </a:pathLst>
          </a:custGeom>
          <a:solidFill>
            <a:srgbClr val="8B5CF5">
              <a:alpha val="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23607" y="562794"/>
            <a:ext cx="343535" cy="20955"/>
          </a:xfrm>
          <a:custGeom>
            <a:avLst/>
            <a:gdLst/>
            <a:ahLst/>
            <a:cxnLst/>
            <a:rect l="l" t="t" r="r" b="b"/>
            <a:pathLst>
              <a:path w="343534" h="20954">
                <a:moveTo>
                  <a:pt x="343163" y="20593"/>
                </a:moveTo>
                <a:lnTo>
                  <a:pt x="0" y="20593"/>
                </a:lnTo>
                <a:lnTo>
                  <a:pt x="0" y="0"/>
                </a:lnTo>
                <a:lnTo>
                  <a:pt x="343163" y="0"/>
                </a:lnTo>
                <a:lnTo>
                  <a:pt x="343163" y="20593"/>
                </a:lnTo>
                <a:close/>
              </a:path>
            </a:pathLst>
          </a:custGeom>
          <a:solidFill>
            <a:srgbClr val="0042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493288" y="416258"/>
            <a:ext cx="880744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00426F"/>
                </a:solidFill>
                <a:latin typeface="Calibri"/>
                <a:cs typeface="Calibri"/>
              </a:rPr>
              <a:t>ROADMAP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902347" y="877153"/>
            <a:ext cx="14126844" cy="1481455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12700" marR="5080">
              <a:lnSpc>
                <a:spcPts val="5700"/>
              </a:lnSpc>
              <a:spcBef>
                <a:spcPts val="265"/>
              </a:spcBef>
            </a:pPr>
            <a:r>
              <a:rPr dirty="0"/>
              <a:t>From</a:t>
            </a:r>
            <a:r>
              <a:rPr dirty="0" spc="-70"/>
              <a:t> </a:t>
            </a:r>
            <a:r>
              <a:rPr dirty="0" spc="-35"/>
              <a:t>2-</a:t>
            </a:r>
            <a:r>
              <a:rPr dirty="0"/>
              <a:t>week</a:t>
            </a:r>
            <a:r>
              <a:rPr dirty="0" spc="-65"/>
              <a:t> </a:t>
            </a:r>
            <a:r>
              <a:rPr dirty="0"/>
              <a:t>MVP</a:t>
            </a:r>
            <a:r>
              <a:rPr dirty="0" spc="-70"/>
              <a:t> </a:t>
            </a:r>
            <a:r>
              <a:rPr dirty="0"/>
              <a:t>to</a:t>
            </a:r>
            <a:r>
              <a:rPr dirty="0" spc="-65"/>
              <a:t> </a:t>
            </a:r>
            <a:r>
              <a:rPr dirty="0"/>
              <a:t>autonomous</a:t>
            </a:r>
            <a:r>
              <a:rPr dirty="0" spc="-65"/>
              <a:t> </a:t>
            </a:r>
            <a:r>
              <a:rPr dirty="0" spc="-10"/>
              <a:t>enterprise workforce.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2001521" y="3095857"/>
            <a:ext cx="14196060" cy="591185"/>
            <a:chOff x="2001521" y="3095857"/>
            <a:chExt cx="14196060" cy="591185"/>
          </a:xfrm>
        </p:grpSpPr>
        <p:sp>
          <p:nvSpPr>
            <p:cNvPr id="7" name="object 7"/>
            <p:cNvSpPr/>
            <p:nvPr/>
          </p:nvSpPr>
          <p:spPr>
            <a:xfrm>
              <a:off x="2059009" y="3359238"/>
              <a:ext cx="14138910" cy="41275"/>
            </a:xfrm>
            <a:custGeom>
              <a:avLst/>
              <a:gdLst/>
              <a:ahLst/>
              <a:cxnLst/>
              <a:rect l="l" t="t" r="r" b="b"/>
              <a:pathLst>
                <a:path w="14138910" h="41275">
                  <a:moveTo>
                    <a:pt x="14138522" y="41176"/>
                  </a:moveTo>
                  <a:lnTo>
                    <a:pt x="0" y="41176"/>
                  </a:lnTo>
                  <a:lnTo>
                    <a:pt x="0" y="0"/>
                  </a:lnTo>
                  <a:lnTo>
                    <a:pt x="14138522" y="0"/>
                  </a:lnTo>
                  <a:lnTo>
                    <a:pt x="14138522" y="41176"/>
                  </a:lnTo>
                  <a:close/>
                </a:path>
              </a:pathLst>
            </a:custGeom>
            <a:solidFill>
              <a:srgbClr val="0042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039940" y="3134277"/>
              <a:ext cx="518795" cy="518795"/>
            </a:xfrm>
            <a:custGeom>
              <a:avLst/>
              <a:gdLst/>
              <a:ahLst/>
              <a:cxnLst/>
              <a:rect l="l" t="t" r="r" b="b"/>
              <a:pathLst>
                <a:path w="518794" h="518795">
                  <a:moveTo>
                    <a:pt x="259270" y="518540"/>
                  </a:moveTo>
                  <a:lnTo>
                    <a:pt x="212649" y="514365"/>
                  </a:lnTo>
                  <a:lnTo>
                    <a:pt x="168776" y="502327"/>
                  </a:lnTo>
                  <a:lnTo>
                    <a:pt x="128382" y="483157"/>
                  </a:lnTo>
                  <a:lnTo>
                    <a:pt x="92199" y="457585"/>
                  </a:lnTo>
                  <a:lnTo>
                    <a:pt x="60955" y="426341"/>
                  </a:lnTo>
                  <a:lnTo>
                    <a:pt x="35383" y="390158"/>
                  </a:lnTo>
                  <a:lnTo>
                    <a:pt x="16213" y="349764"/>
                  </a:lnTo>
                  <a:lnTo>
                    <a:pt x="4175" y="305891"/>
                  </a:lnTo>
                  <a:lnTo>
                    <a:pt x="0" y="259270"/>
                  </a:lnTo>
                  <a:lnTo>
                    <a:pt x="4178" y="212674"/>
                  </a:lnTo>
                  <a:lnTo>
                    <a:pt x="16224" y="168814"/>
                  </a:lnTo>
                  <a:lnTo>
                    <a:pt x="35404" y="128425"/>
                  </a:lnTo>
                  <a:lnTo>
                    <a:pt x="60987" y="92238"/>
                  </a:lnTo>
                  <a:lnTo>
                    <a:pt x="92238" y="60987"/>
                  </a:lnTo>
                  <a:lnTo>
                    <a:pt x="128425" y="35404"/>
                  </a:lnTo>
                  <a:lnTo>
                    <a:pt x="168814" y="16224"/>
                  </a:lnTo>
                  <a:lnTo>
                    <a:pt x="212674" y="4178"/>
                  </a:lnTo>
                  <a:lnTo>
                    <a:pt x="259270" y="0"/>
                  </a:lnTo>
                  <a:lnTo>
                    <a:pt x="305866" y="4178"/>
                  </a:lnTo>
                  <a:lnTo>
                    <a:pt x="349726" y="16224"/>
                  </a:lnTo>
                  <a:lnTo>
                    <a:pt x="390115" y="35404"/>
                  </a:lnTo>
                  <a:lnTo>
                    <a:pt x="426302" y="60987"/>
                  </a:lnTo>
                  <a:lnTo>
                    <a:pt x="457553" y="92238"/>
                  </a:lnTo>
                  <a:lnTo>
                    <a:pt x="483136" y="128425"/>
                  </a:lnTo>
                  <a:lnTo>
                    <a:pt x="502316" y="168814"/>
                  </a:lnTo>
                  <a:lnTo>
                    <a:pt x="514362" y="212674"/>
                  </a:lnTo>
                  <a:lnTo>
                    <a:pt x="518540" y="259270"/>
                  </a:lnTo>
                  <a:lnTo>
                    <a:pt x="514359" y="305891"/>
                  </a:lnTo>
                  <a:lnTo>
                    <a:pt x="502309" y="349764"/>
                  </a:lnTo>
                  <a:lnTo>
                    <a:pt x="483127" y="390158"/>
                  </a:lnTo>
                  <a:lnTo>
                    <a:pt x="457545" y="426341"/>
                  </a:lnTo>
                  <a:lnTo>
                    <a:pt x="426297" y="457585"/>
                  </a:lnTo>
                  <a:lnTo>
                    <a:pt x="390113" y="483157"/>
                  </a:lnTo>
                  <a:lnTo>
                    <a:pt x="349724" y="502327"/>
                  </a:lnTo>
                  <a:lnTo>
                    <a:pt x="305856" y="514365"/>
                  </a:lnTo>
                  <a:lnTo>
                    <a:pt x="259270" y="5185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039938" y="3134274"/>
              <a:ext cx="514984" cy="514350"/>
            </a:xfrm>
            <a:custGeom>
              <a:avLst/>
              <a:gdLst/>
              <a:ahLst/>
              <a:cxnLst/>
              <a:rect l="l" t="t" r="r" b="b"/>
              <a:pathLst>
                <a:path w="514985" h="514350">
                  <a:moveTo>
                    <a:pt x="514364" y="305851"/>
                  </a:moveTo>
                  <a:lnTo>
                    <a:pt x="502334" y="349719"/>
                  </a:lnTo>
                  <a:lnTo>
                    <a:pt x="483161" y="390114"/>
                  </a:lnTo>
                  <a:lnTo>
                    <a:pt x="457585" y="426306"/>
                  </a:lnTo>
                  <a:lnTo>
                    <a:pt x="426337" y="457561"/>
                  </a:lnTo>
                  <a:lnTo>
                    <a:pt x="390147" y="483144"/>
                  </a:lnTo>
                  <a:lnTo>
                    <a:pt x="349746" y="502324"/>
                  </a:lnTo>
                  <a:lnTo>
                    <a:pt x="305863" y="514352"/>
                  </a:lnTo>
                </a:path>
                <a:path w="514985" h="514350">
                  <a:moveTo>
                    <a:pt x="212622" y="514344"/>
                  </a:moveTo>
                  <a:lnTo>
                    <a:pt x="168745" y="502314"/>
                  </a:lnTo>
                  <a:lnTo>
                    <a:pt x="128353" y="483137"/>
                  </a:lnTo>
                  <a:lnTo>
                    <a:pt x="92173" y="457559"/>
                  </a:lnTo>
                  <a:lnTo>
                    <a:pt x="60935" y="426312"/>
                  </a:lnTo>
                  <a:lnTo>
                    <a:pt x="35369" y="390126"/>
                  </a:lnTo>
                  <a:lnTo>
                    <a:pt x="16206" y="349733"/>
                  </a:lnTo>
                  <a:lnTo>
                    <a:pt x="4174" y="305863"/>
                  </a:lnTo>
                  <a:lnTo>
                    <a:pt x="0" y="259246"/>
                  </a:lnTo>
                  <a:lnTo>
                    <a:pt x="4185" y="212656"/>
                  </a:lnTo>
                  <a:lnTo>
                    <a:pt x="16232" y="168803"/>
                  </a:lnTo>
                  <a:lnTo>
                    <a:pt x="35411" y="128420"/>
                  </a:lnTo>
                  <a:lnTo>
                    <a:pt x="60990" y="92239"/>
                  </a:lnTo>
                  <a:lnTo>
                    <a:pt x="92237" y="60991"/>
                  </a:lnTo>
                  <a:lnTo>
                    <a:pt x="128418" y="35411"/>
                  </a:lnTo>
                  <a:lnTo>
                    <a:pt x="168801" y="16230"/>
                  </a:lnTo>
                  <a:lnTo>
                    <a:pt x="212655" y="4182"/>
                  </a:lnTo>
                  <a:lnTo>
                    <a:pt x="259246" y="0"/>
                  </a:lnTo>
                  <a:lnTo>
                    <a:pt x="305840" y="4172"/>
                  </a:lnTo>
                  <a:lnTo>
                    <a:pt x="349698" y="16212"/>
                  </a:lnTo>
                  <a:lnTo>
                    <a:pt x="390089" y="35387"/>
                  </a:lnTo>
                  <a:lnTo>
                    <a:pt x="426280" y="60964"/>
                  </a:lnTo>
                  <a:lnTo>
                    <a:pt x="457536" y="92212"/>
                  </a:lnTo>
                  <a:lnTo>
                    <a:pt x="483124" y="128397"/>
                  </a:lnTo>
                  <a:lnTo>
                    <a:pt x="502311" y="168788"/>
                  </a:lnTo>
                  <a:lnTo>
                    <a:pt x="514343" y="212646"/>
                  </a:lnTo>
                </a:path>
              </a:pathLst>
            </a:custGeom>
            <a:ln w="76259">
              <a:solidFill>
                <a:srgbClr val="00426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2228534" y="3203434"/>
            <a:ext cx="14160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00426F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72038" y="4378254"/>
            <a:ext cx="4009390" cy="3181350"/>
            <a:chOff x="672038" y="4378254"/>
            <a:chExt cx="4009390" cy="3181350"/>
          </a:xfrm>
        </p:grpSpPr>
        <p:sp>
          <p:nvSpPr>
            <p:cNvPr id="12" name="object 12"/>
            <p:cNvSpPr/>
            <p:nvPr/>
          </p:nvSpPr>
          <p:spPr>
            <a:xfrm>
              <a:off x="681570" y="4387786"/>
              <a:ext cx="3990340" cy="3166745"/>
            </a:xfrm>
            <a:custGeom>
              <a:avLst/>
              <a:gdLst/>
              <a:ahLst/>
              <a:cxnLst/>
              <a:rect l="l" t="t" r="r" b="b"/>
              <a:pathLst>
                <a:path w="3990340" h="3166745">
                  <a:moveTo>
                    <a:pt x="3831907" y="3166681"/>
                  </a:moveTo>
                  <a:lnTo>
                    <a:pt x="158305" y="3166681"/>
                  </a:lnTo>
                  <a:lnTo>
                    <a:pt x="108264" y="3158611"/>
                  </a:lnTo>
                  <a:lnTo>
                    <a:pt x="64808" y="3136140"/>
                  </a:lnTo>
                  <a:lnTo>
                    <a:pt x="30540" y="3101873"/>
                  </a:lnTo>
                  <a:lnTo>
                    <a:pt x="8069" y="3058416"/>
                  </a:lnTo>
                  <a:lnTo>
                    <a:pt x="0" y="3008375"/>
                  </a:lnTo>
                  <a:lnTo>
                    <a:pt x="0" y="158305"/>
                  </a:lnTo>
                  <a:lnTo>
                    <a:pt x="8069" y="108264"/>
                  </a:lnTo>
                  <a:lnTo>
                    <a:pt x="30540" y="64808"/>
                  </a:lnTo>
                  <a:lnTo>
                    <a:pt x="64808" y="30540"/>
                  </a:lnTo>
                  <a:lnTo>
                    <a:pt x="108264" y="8069"/>
                  </a:lnTo>
                  <a:lnTo>
                    <a:pt x="158305" y="0"/>
                  </a:lnTo>
                  <a:lnTo>
                    <a:pt x="3831907" y="0"/>
                  </a:lnTo>
                  <a:lnTo>
                    <a:pt x="3881948" y="8069"/>
                  </a:lnTo>
                  <a:lnTo>
                    <a:pt x="3925404" y="30540"/>
                  </a:lnTo>
                  <a:lnTo>
                    <a:pt x="3959672" y="64808"/>
                  </a:lnTo>
                  <a:lnTo>
                    <a:pt x="3982143" y="108264"/>
                  </a:lnTo>
                  <a:lnTo>
                    <a:pt x="3990213" y="158305"/>
                  </a:lnTo>
                  <a:lnTo>
                    <a:pt x="3990213" y="3008375"/>
                  </a:lnTo>
                  <a:lnTo>
                    <a:pt x="3982143" y="3058416"/>
                  </a:lnTo>
                  <a:lnTo>
                    <a:pt x="3959672" y="3101873"/>
                  </a:lnTo>
                  <a:lnTo>
                    <a:pt x="3925404" y="3136140"/>
                  </a:lnTo>
                  <a:lnTo>
                    <a:pt x="3881948" y="3158611"/>
                  </a:lnTo>
                  <a:lnTo>
                    <a:pt x="3831907" y="3166681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81570" y="4387786"/>
              <a:ext cx="3990340" cy="3162300"/>
            </a:xfrm>
            <a:custGeom>
              <a:avLst/>
              <a:gdLst/>
              <a:ahLst/>
              <a:cxnLst/>
              <a:rect l="l" t="t" r="r" b="b"/>
              <a:pathLst>
                <a:path w="3990340" h="3162300">
                  <a:moveTo>
                    <a:pt x="131140" y="3162269"/>
                  </a:moveTo>
                  <a:lnTo>
                    <a:pt x="64783" y="3136115"/>
                  </a:lnTo>
                  <a:lnTo>
                    <a:pt x="30518" y="3101828"/>
                  </a:lnTo>
                  <a:lnTo>
                    <a:pt x="8060" y="3058357"/>
                  </a:lnTo>
                  <a:lnTo>
                    <a:pt x="0" y="3008313"/>
                  </a:lnTo>
                  <a:lnTo>
                    <a:pt x="0" y="158299"/>
                  </a:lnTo>
                  <a:lnTo>
                    <a:pt x="8074" y="108256"/>
                  </a:lnTo>
                  <a:lnTo>
                    <a:pt x="30549" y="64799"/>
                  </a:lnTo>
                  <a:lnTo>
                    <a:pt x="64820" y="30534"/>
                  </a:lnTo>
                  <a:lnTo>
                    <a:pt x="108279" y="8067"/>
                  </a:lnTo>
                  <a:lnTo>
                    <a:pt x="158318" y="0"/>
                  </a:lnTo>
                  <a:lnTo>
                    <a:pt x="3831844" y="0"/>
                  </a:lnTo>
                  <a:lnTo>
                    <a:pt x="3881897" y="8043"/>
                  </a:lnTo>
                  <a:lnTo>
                    <a:pt x="3925372" y="30508"/>
                  </a:lnTo>
                  <a:lnTo>
                    <a:pt x="3959657" y="64780"/>
                  </a:lnTo>
                  <a:lnTo>
                    <a:pt x="3982141" y="108252"/>
                  </a:lnTo>
                  <a:lnTo>
                    <a:pt x="3990212" y="158302"/>
                  </a:lnTo>
                  <a:lnTo>
                    <a:pt x="3990221" y="3008325"/>
                  </a:lnTo>
                  <a:lnTo>
                    <a:pt x="3982155" y="3058393"/>
                  </a:lnTo>
                  <a:lnTo>
                    <a:pt x="3959671" y="3101873"/>
                  </a:lnTo>
                  <a:lnTo>
                    <a:pt x="3925380" y="3136152"/>
                  </a:lnTo>
                  <a:lnTo>
                    <a:pt x="3881895" y="3158620"/>
                  </a:lnTo>
                  <a:lnTo>
                    <a:pt x="3859065" y="3162225"/>
                  </a:lnTo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970975" y="4670851"/>
            <a:ext cx="802640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6A6F82"/>
                </a:solidFill>
                <a:latin typeface="Calibri"/>
                <a:cs typeface="Calibri"/>
              </a:rPr>
              <a:t>Weeks</a:t>
            </a:r>
            <a:r>
              <a:rPr dirty="0" sz="1350" spc="-30" b="1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350" spc="-20" b="1">
                <a:solidFill>
                  <a:srgbClr val="6A6F82"/>
                </a:solidFill>
                <a:latin typeface="Calibri"/>
                <a:cs typeface="Calibri"/>
              </a:rPr>
              <a:t>1–</a:t>
            </a:r>
            <a:r>
              <a:rPr dirty="0" sz="1350" spc="-50" b="1">
                <a:solidFill>
                  <a:srgbClr val="6A6F82"/>
                </a:solidFill>
                <a:latin typeface="Calibri"/>
                <a:cs typeface="Calibri"/>
              </a:rPr>
              <a:t>2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70975" y="5067744"/>
            <a:ext cx="1497330" cy="323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b="1">
                <a:solidFill>
                  <a:srgbClr val="04445D"/>
                </a:solidFill>
                <a:latin typeface="Calibri"/>
                <a:cs typeface="Calibri"/>
              </a:rPr>
              <a:t>Support</a:t>
            </a:r>
            <a:r>
              <a:rPr dirty="0" sz="1950" spc="-50" b="1">
                <a:solidFill>
                  <a:srgbClr val="04445D"/>
                </a:solidFill>
                <a:latin typeface="Calibri"/>
                <a:cs typeface="Calibri"/>
              </a:rPr>
              <a:t> </a:t>
            </a:r>
            <a:r>
              <a:rPr dirty="0" sz="1950" b="1">
                <a:solidFill>
                  <a:srgbClr val="04445D"/>
                </a:solidFill>
                <a:latin typeface="Calibri"/>
                <a:cs typeface="Calibri"/>
              </a:rPr>
              <a:t>+</a:t>
            </a:r>
            <a:r>
              <a:rPr dirty="0" sz="1950" spc="-45" b="1">
                <a:solidFill>
                  <a:srgbClr val="04445D"/>
                </a:solidFill>
                <a:latin typeface="Calibri"/>
                <a:cs typeface="Calibri"/>
              </a:rPr>
              <a:t> </a:t>
            </a:r>
            <a:r>
              <a:rPr dirty="0" sz="1950" spc="-25" b="1">
                <a:solidFill>
                  <a:srgbClr val="04445D"/>
                </a:solidFill>
                <a:latin typeface="Calibri"/>
                <a:cs typeface="Calibri"/>
              </a:rPr>
              <a:t>SDR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70975" y="5643415"/>
            <a:ext cx="3322320" cy="43180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 marR="5080">
              <a:lnSpc>
                <a:spcPts val="1580"/>
              </a:lnSpc>
              <a:spcBef>
                <a:spcPts val="185"/>
              </a:spcBef>
            </a:pP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FastAPI</a:t>
            </a:r>
            <a:r>
              <a:rPr dirty="0" sz="1350" spc="-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+</a:t>
            </a:r>
            <a:r>
              <a:rPr dirty="0" sz="135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LangGraph,</a:t>
            </a:r>
            <a:r>
              <a:rPr dirty="0" sz="135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WhatsApp</a:t>
            </a:r>
            <a:r>
              <a:rPr dirty="0" sz="135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+</a:t>
            </a:r>
            <a:r>
              <a:rPr dirty="0" sz="1350" spc="-2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email, knowledge</a:t>
            </a:r>
            <a:r>
              <a:rPr dirty="0" sz="1350" spc="-2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ingestion,</a:t>
            </a:r>
            <a:r>
              <a:rPr dirty="0" sz="1350" spc="-2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1</a:t>
            </a:r>
            <a:r>
              <a:rPr dirty="0" sz="1350" spc="-2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real</a:t>
            </a:r>
            <a:r>
              <a:rPr dirty="0" sz="1350" spc="-2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tenant</a:t>
            </a:r>
            <a:r>
              <a:rPr dirty="0" sz="1350" spc="-2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on</a:t>
            </a:r>
            <a:r>
              <a:rPr dirty="0" sz="1350" spc="-2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AWS</a:t>
            </a:r>
            <a:r>
              <a:rPr dirty="0" sz="1350" spc="-2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25">
                <a:solidFill>
                  <a:srgbClr val="8B8FA2"/>
                </a:solidFill>
                <a:latin typeface="Calibri"/>
                <a:cs typeface="Calibri"/>
              </a:rPr>
              <a:t>ECS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256805" y="3095857"/>
            <a:ext cx="591820" cy="591185"/>
            <a:chOff x="6256805" y="3095857"/>
            <a:chExt cx="591820" cy="591185"/>
          </a:xfrm>
        </p:grpSpPr>
        <p:sp>
          <p:nvSpPr>
            <p:cNvPr id="18" name="object 18"/>
            <p:cNvSpPr/>
            <p:nvPr/>
          </p:nvSpPr>
          <p:spPr>
            <a:xfrm>
              <a:off x="6295224" y="3134277"/>
              <a:ext cx="518795" cy="518795"/>
            </a:xfrm>
            <a:custGeom>
              <a:avLst/>
              <a:gdLst/>
              <a:ahLst/>
              <a:cxnLst/>
              <a:rect l="l" t="t" r="r" b="b"/>
              <a:pathLst>
                <a:path w="518795" h="518795">
                  <a:moveTo>
                    <a:pt x="259270" y="518540"/>
                  </a:moveTo>
                  <a:lnTo>
                    <a:pt x="212649" y="514365"/>
                  </a:lnTo>
                  <a:lnTo>
                    <a:pt x="168776" y="502327"/>
                  </a:lnTo>
                  <a:lnTo>
                    <a:pt x="128382" y="483157"/>
                  </a:lnTo>
                  <a:lnTo>
                    <a:pt x="92199" y="457585"/>
                  </a:lnTo>
                  <a:lnTo>
                    <a:pt x="60955" y="426341"/>
                  </a:lnTo>
                  <a:lnTo>
                    <a:pt x="35383" y="390158"/>
                  </a:lnTo>
                  <a:lnTo>
                    <a:pt x="16213" y="349764"/>
                  </a:lnTo>
                  <a:lnTo>
                    <a:pt x="4175" y="305891"/>
                  </a:lnTo>
                  <a:lnTo>
                    <a:pt x="0" y="259270"/>
                  </a:lnTo>
                  <a:lnTo>
                    <a:pt x="4178" y="212674"/>
                  </a:lnTo>
                  <a:lnTo>
                    <a:pt x="16224" y="168814"/>
                  </a:lnTo>
                  <a:lnTo>
                    <a:pt x="35404" y="128425"/>
                  </a:lnTo>
                  <a:lnTo>
                    <a:pt x="60987" y="92238"/>
                  </a:lnTo>
                  <a:lnTo>
                    <a:pt x="92238" y="60987"/>
                  </a:lnTo>
                  <a:lnTo>
                    <a:pt x="128425" y="35404"/>
                  </a:lnTo>
                  <a:lnTo>
                    <a:pt x="168814" y="16224"/>
                  </a:lnTo>
                  <a:lnTo>
                    <a:pt x="212674" y="4178"/>
                  </a:lnTo>
                  <a:lnTo>
                    <a:pt x="259270" y="0"/>
                  </a:lnTo>
                  <a:lnTo>
                    <a:pt x="305866" y="4178"/>
                  </a:lnTo>
                  <a:lnTo>
                    <a:pt x="349726" y="16224"/>
                  </a:lnTo>
                  <a:lnTo>
                    <a:pt x="390115" y="35404"/>
                  </a:lnTo>
                  <a:lnTo>
                    <a:pt x="426302" y="60987"/>
                  </a:lnTo>
                  <a:lnTo>
                    <a:pt x="457553" y="92238"/>
                  </a:lnTo>
                  <a:lnTo>
                    <a:pt x="483136" y="128425"/>
                  </a:lnTo>
                  <a:lnTo>
                    <a:pt x="502316" y="168814"/>
                  </a:lnTo>
                  <a:lnTo>
                    <a:pt x="514362" y="212674"/>
                  </a:lnTo>
                  <a:lnTo>
                    <a:pt x="518540" y="259270"/>
                  </a:lnTo>
                  <a:lnTo>
                    <a:pt x="514359" y="305891"/>
                  </a:lnTo>
                  <a:lnTo>
                    <a:pt x="502309" y="349764"/>
                  </a:lnTo>
                  <a:lnTo>
                    <a:pt x="483127" y="390158"/>
                  </a:lnTo>
                  <a:lnTo>
                    <a:pt x="457545" y="426341"/>
                  </a:lnTo>
                  <a:lnTo>
                    <a:pt x="426297" y="457585"/>
                  </a:lnTo>
                  <a:lnTo>
                    <a:pt x="390113" y="483157"/>
                  </a:lnTo>
                  <a:lnTo>
                    <a:pt x="349724" y="502327"/>
                  </a:lnTo>
                  <a:lnTo>
                    <a:pt x="305856" y="514365"/>
                  </a:lnTo>
                  <a:lnTo>
                    <a:pt x="259270" y="5185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295222" y="3134274"/>
              <a:ext cx="514984" cy="514350"/>
            </a:xfrm>
            <a:custGeom>
              <a:avLst/>
              <a:gdLst/>
              <a:ahLst/>
              <a:cxnLst/>
              <a:rect l="l" t="t" r="r" b="b"/>
              <a:pathLst>
                <a:path w="514984" h="514350">
                  <a:moveTo>
                    <a:pt x="514363" y="305851"/>
                  </a:moveTo>
                  <a:lnTo>
                    <a:pt x="502334" y="349719"/>
                  </a:lnTo>
                  <a:lnTo>
                    <a:pt x="483161" y="390114"/>
                  </a:lnTo>
                  <a:lnTo>
                    <a:pt x="457585" y="426306"/>
                  </a:lnTo>
                  <a:lnTo>
                    <a:pt x="426337" y="457561"/>
                  </a:lnTo>
                  <a:lnTo>
                    <a:pt x="390147" y="483144"/>
                  </a:lnTo>
                  <a:lnTo>
                    <a:pt x="349746" y="502324"/>
                  </a:lnTo>
                  <a:lnTo>
                    <a:pt x="305862" y="514352"/>
                  </a:lnTo>
                </a:path>
                <a:path w="514984" h="514350">
                  <a:moveTo>
                    <a:pt x="212622" y="514344"/>
                  </a:moveTo>
                  <a:lnTo>
                    <a:pt x="168744" y="502314"/>
                  </a:lnTo>
                  <a:lnTo>
                    <a:pt x="128353" y="483137"/>
                  </a:lnTo>
                  <a:lnTo>
                    <a:pt x="92173" y="457559"/>
                  </a:lnTo>
                  <a:lnTo>
                    <a:pt x="60935" y="426312"/>
                  </a:lnTo>
                  <a:lnTo>
                    <a:pt x="35369" y="390126"/>
                  </a:lnTo>
                  <a:lnTo>
                    <a:pt x="16206" y="349733"/>
                  </a:lnTo>
                  <a:lnTo>
                    <a:pt x="4174" y="305863"/>
                  </a:lnTo>
                  <a:lnTo>
                    <a:pt x="0" y="259246"/>
                  </a:lnTo>
                  <a:lnTo>
                    <a:pt x="4185" y="212656"/>
                  </a:lnTo>
                  <a:lnTo>
                    <a:pt x="16232" y="168803"/>
                  </a:lnTo>
                  <a:lnTo>
                    <a:pt x="35411" y="128420"/>
                  </a:lnTo>
                  <a:lnTo>
                    <a:pt x="60990" y="92239"/>
                  </a:lnTo>
                  <a:lnTo>
                    <a:pt x="92237" y="60991"/>
                  </a:lnTo>
                  <a:lnTo>
                    <a:pt x="128418" y="35411"/>
                  </a:lnTo>
                  <a:lnTo>
                    <a:pt x="168801" y="16230"/>
                  </a:lnTo>
                  <a:lnTo>
                    <a:pt x="212655" y="4182"/>
                  </a:lnTo>
                  <a:lnTo>
                    <a:pt x="259246" y="0"/>
                  </a:lnTo>
                  <a:lnTo>
                    <a:pt x="305839" y="4172"/>
                  </a:lnTo>
                  <a:lnTo>
                    <a:pt x="349698" y="16212"/>
                  </a:lnTo>
                  <a:lnTo>
                    <a:pt x="390089" y="35387"/>
                  </a:lnTo>
                  <a:lnTo>
                    <a:pt x="426280" y="60964"/>
                  </a:lnTo>
                  <a:lnTo>
                    <a:pt x="457536" y="92212"/>
                  </a:lnTo>
                  <a:lnTo>
                    <a:pt x="483124" y="128397"/>
                  </a:lnTo>
                  <a:lnTo>
                    <a:pt x="502311" y="168788"/>
                  </a:lnTo>
                  <a:lnTo>
                    <a:pt x="514343" y="212646"/>
                  </a:lnTo>
                </a:path>
              </a:pathLst>
            </a:custGeom>
            <a:ln w="76259">
              <a:solidFill>
                <a:srgbClr val="6A6F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6483818" y="3193909"/>
            <a:ext cx="14160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6A6F82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927322" y="4378254"/>
            <a:ext cx="4009390" cy="3181350"/>
            <a:chOff x="4927322" y="4378254"/>
            <a:chExt cx="4009390" cy="3181350"/>
          </a:xfrm>
        </p:grpSpPr>
        <p:sp>
          <p:nvSpPr>
            <p:cNvPr id="22" name="object 22"/>
            <p:cNvSpPr/>
            <p:nvPr/>
          </p:nvSpPr>
          <p:spPr>
            <a:xfrm>
              <a:off x="4936854" y="4387786"/>
              <a:ext cx="3990340" cy="3166745"/>
            </a:xfrm>
            <a:custGeom>
              <a:avLst/>
              <a:gdLst/>
              <a:ahLst/>
              <a:cxnLst/>
              <a:rect l="l" t="t" r="r" b="b"/>
              <a:pathLst>
                <a:path w="3990340" h="3166745">
                  <a:moveTo>
                    <a:pt x="3831907" y="3166681"/>
                  </a:moveTo>
                  <a:lnTo>
                    <a:pt x="158305" y="3166681"/>
                  </a:lnTo>
                  <a:lnTo>
                    <a:pt x="108264" y="3158611"/>
                  </a:lnTo>
                  <a:lnTo>
                    <a:pt x="64808" y="3136140"/>
                  </a:lnTo>
                  <a:lnTo>
                    <a:pt x="30540" y="3101873"/>
                  </a:lnTo>
                  <a:lnTo>
                    <a:pt x="8069" y="3058416"/>
                  </a:lnTo>
                  <a:lnTo>
                    <a:pt x="0" y="3008375"/>
                  </a:lnTo>
                  <a:lnTo>
                    <a:pt x="0" y="158305"/>
                  </a:lnTo>
                  <a:lnTo>
                    <a:pt x="8069" y="108264"/>
                  </a:lnTo>
                  <a:lnTo>
                    <a:pt x="30540" y="64808"/>
                  </a:lnTo>
                  <a:lnTo>
                    <a:pt x="64808" y="30540"/>
                  </a:lnTo>
                  <a:lnTo>
                    <a:pt x="108264" y="8069"/>
                  </a:lnTo>
                  <a:lnTo>
                    <a:pt x="158305" y="0"/>
                  </a:lnTo>
                  <a:lnTo>
                    <a:pt x="3831907" y="0"/>
                  </a:lnTo>
                  <a:lnTo>
                    <a:pt x="3881947" y="8069"/>
                  </a:lnTo>
                  <a:lnTo>
                    <a:pt x="3925404" y="30540"/>
                  </a:lnTo>
                  <a:lnTo>
                    <a:pt x="3959671" y="64808"/>
                  </a:lnTo>
                  <a:lnTo>
                    <a:pt x="3982143" y="108264"/>
                  </a:lnTo>
                  <a:lnTo>
                    <a:pt x="3990212" y="158305"/>
                  </a:lnTo>
                  <a:lnTo>
                    <a:pt x="3990212" y="3008375"/>
                  </a:lnTo>
                  <a:lnTo>
                    <a:pt x="3982143" y="3058416"/>
                  </a:lnTo>
                  <a:lnTo>
                    <a:pt x="3959671" y="3101873"/>
                  </a:lnTo>
                  <a:lnTo>
                    <a:pt x="3925404" y="3136140"/>
                  </a:lnTo>
                  <a:lnTo>
                    <a:pt x="3881947" y="3158611"/>
                  </a:lnTo>
                  <a:lnTo>
                    <a:pt x="3831907" y="3166681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936855" y="4387786"/>
              <a:ext cx="3990340" cy="3162300"/>
            </a:xfrm>
            <a:custGeom>
              <a:avLst/>
              <a:gdLst/>
              <a:ahLst/>
              <a:cxnLst/>
              <a:rect l="l" t="t" r="r" b="b"/>
              <a:pathLst>
                <a:path w="3990340" h="3162300">
                  <a:moveTo>
                    <a:pt x="131140" y="3162269"/>
                  </a:moveTo>
                  <a:lnTo>
                    <a:pt x="64783" y="3136115"/>
                  </a:lnTo>
                  <a:lnTo>
                    <a:pt x="30518" y="3101828"/>
                  </a:lnTo>
                  <a:lnTo>
                    <a:pt x="8060" y="3058357"/>
                  </a:lnTo>
                  <a:lnTo>
                    <a:pt x="0" y="3008313"/>
                  </a:lnTo>
                  <a:lnTo>
                    <a:pt x="0" y="158299"/>
                  </a:lnTo>
                  <a:lnTo>
                    <a:pt x="8074" y="108256"/>
                  </a:lnTo>
                  <a:lnTo>
                    <a:pt x="30549" y="64799"/>
                  </a:lnTo>
                  <a:lnTo>
                    <a:pt x="64820" y="30534"/>
                  </a:lnTo>
                  <a:lnTo>
                    <a:pt x="108279" y="8067"/>
                  </a:lnTo>
                  <a:lnTo>
                    <a:pt x="158318" y="0"/>
                  </a:lnTo>
                  <a:lnTo>
                    <a:pt x="3831844" y="0"/>
                  </a:lnTo>
                  <a:lnTo>
                    <a:pt x="3881897" y="8043"/>
                  </a:lnTo>
                  <a:lnTo>
                    <a:pt x="3925371" y="30508"/>
                  </a:lnTo>
                  <a:lnTo>
                    <a:pt x="3959657" y="64780"/>
                  </a:lnTo>
                  <a:lnTo>
                    <a:pt x="3982141" y="108252"/>
                  </a:lnTo>
                  <a:lnTo>
                    <a:pt x="3990212" y="158302"/>
                  </a:lnTo>
                  <a:lnTo>
                    <a:pt x="3990220" y="3008325"/>
                  </a:lnTo>
                  <a:lnTo>
                    <a:pt x="3982155" y="3058392"/>
                  </a:lnTo>
                  <a:lnTo>
                    <a:pt x="3959671" y="3101873"/>
                  </a:lnTo>
                  <a:lnTo>
                    <a:pt x="3925380" y="3136152"/>
                  </a:lnTo>
                  <a:lnTo>
                    <a:pt x="3881895" y="3158620"/>
                  </a:lnTo>
                  <a:lnTo>
                    <a:pt x="3859065" y="3162225"/>
                  </a:lnTo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5226258" y="4670851"/>
            <a:ext cx="877569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6A6F82"/>
                </a:solidFill>
                <a:latin typeface="Calibri"/>
                <a:cs typeface="Calibri"/>
              </a:rPr>
              <a:t>Months</a:t>
            </a:r>
            <a:r>
              <a:rPr dirty="0" sz="1350" spc="-25" b="1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350" spc="-20" b="1">
                <a:solidFill>
                  <a:srgbClr val="6A6F82"/>
                </a:solidFill>
                <a:latin typeface="Calibri"/>
                <a:cs typeface="Calibri"/>
              </a:rPr>
              <a:t>1–</a:t>
            </a:r>
            <a:r>
              <a:rPr dirty="0" sz="1350" spc="-50" b="1">
                <a:solidFill>
                  <a:srgbClr val="6A6F82"/>
                </a:solidFill>
                <a:latin typeface="Calibri"/>
                <a:cs typeface="Calibri"/>
              </a:rPr>
              <a:t>3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226258" y="5067744"/>
            <a:ext cx="2182495" cy="323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b="1">
                <a:solidFill>
                  <a:srgbClr val="04445D"/>
                </a:solidFill>
                <a:latin typeface="Calibri"/>
                <a:cs typeface="Calibri"/>
              </a:rPr>
              <a:t>Sales</a:t>
            </a:r>
            <a:r>
              <a:rPr dirty="0" sz="1950" spc="-25" b="1">
                <a:solidFill>
                  <a:srgbClr val="04445D"/>
                </a:solidFill>
                <a:latin typeface="Calibri"/>
                <a:cs typeface="Calibri"/>
              </a:rPr>
              <a:t> </a:t>
            </a:r>
            <a:r>
              <a:rPr dirty="0" sz="1950" b="1">
                <a:solidFill>
                  <a:srgbClr val="04445D"/>
                </a:solidFill>
                <a:latin typeface="Calibri"/>
                <a:cs typeface="Calibri"/>
              </a:rPr>
              <a:t>+</a:t>
            </a:r>
            <a:r>
              <a:rPr dirty="0" sz="1950" spc="-25" b="1">
                <a:solidFill>
                  <a:srgbClr val="04445D"/>
                </a:solidFill>
                <a:latin typeface="Calibri"/>
                <a:cs typeface="Calibri"/>
              </a:rPr>
              <a:t> </a:t>
            </a:r>
            <a:r>
              <a:rPr dirty="0" sz="1950" b="1">
                <a:solidFill>
                  <a:srgbClr val="04445D"/>
                </a:solidFill>
                <a:latin typeface="Calibri"/>
                <a:cs typeface="Calibri"/>
              </a:rPr>
              <a:t>CS</a:t>
            </a:r>
            <a:r>
              <a:rPr dirty="0" sz="1950" spc="-25" b="1">
                <a:solidFill>
                  <a:srgbClr val="04445D"/>
                </a:solidFill>
                <a:latin typeface="Calibri"/>
                <a:cs typeface="Calibri"/>
              </a:rPr>
              <a:t> </a:t>
            </a:r>
            <a:r>
              <a:rPr dirty="0" sz="1950" spc="-10" b="1">
                <a:solidFill>
                  <a:srgbClr val="04445D"/>
                </a:solidFill>
                <a:latin typeface="Calibri"/>
                <a:cs typeface="Calibri"/>
              </a:rPr>
              <a:t>Workforce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226258" y="5643415"/>
            <a:ext cx="3206115" cy="43180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 marR="5080">
              <a:lnSpc>
                <a:spcPts val="1580"/>
              </a:lnSpc>
              <a:spcBef>
                <a:spcPts val="185"/>
              </a:spcBef>
            </a:pP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Sales</a:t>
            </a:r>
            <a:r>
              <a:rPr dirty="0" sz="13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Executive</a:t>
            </a:r>
            <a:r>
              <a:rPr dirty="0" sz="135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+</a:t>
            </a:r>
            <a:r>
              <a:rPr dirty="0" sz="135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CS</a:t>
            </a:r>
            <a:r>
              <a:rPr dirty="0" sz="135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Workers,</a:t>
            </a:r>
            <a:r>
              <a:rPr dirty="0" sz="135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Revenue Intelligence</a:t>
            </a:r>
            <a:r>
              <a:rPr dirty="0" sz="1350" spc="-2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scoring,</a:t>
            </a:r>
            <a:r>
              <a:rPr dirty="0" sz="1350" spc="-2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first</a:t>
            </a:r>
            <a:r>
              <a:rPr dirty="0" sz="1350" spc="-2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10</a:t>
            </a:r>
            <a:r>
              <a:rPr dirty="0" sz="1350" spc="-2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paying</a:t>
            </a:r>
            <a:r>
              <a:rPr dirty="0" sz="1350" spc="-2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customers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0512089" y="3095857"/>
            <a:ext cx="591820" cy="591185"/>
            <a:chOff x="10512089" y="3095857"/>
            <a:chExt cx="591820" cy="591185"/>
          </a:xfrm>
        </p:grpSpPr>
        <p:sp>
          <p:nvSpPr>
            <p:cNvPr id="28" name="object 28"/>
            <p:cNvSpPr/>
            <p:nvPr/>
          </p:nvSpPr>
          <p:spPr>
            <a:xfrm>
              <a:off x="10550508" y="3134277"/>
              <a:ext cx="518795" cy="518795"/>
            </a:xfrm>
            <a:custGeom>
              <a:avLst/>
              <a:gdLst/>
              <a:ahLst/>
              <a:cxnLst/>
              <a:rect l="l" t="t" r="r" b="b"/>
              <a:pathLst>
                <a:path w="518795" h="518795">
                  <a:moveTo>
                    <a:pt x="259270" y="518540"/>
                  </a:moveTo>
                  <a:lnTo>
                    <a:pt x="212649" y="514365"/>
                  </a:lnTo>
                  <a:lnTo>
                    <a:pt x="168776" y="502327"/>
                  </a:lnTo>
                  <a:lnTo>
                    <a:pt x="128382" y="483157"/>
                  </a:lnTo>
                  <a:lnTo>
                    <a:pt x="92199" y="457585"/>
                  </a:lnTo>
                  <a:lnTo>
                    <a:pt x="60955" y="426341"/>
                  </a:lnTo>
                  <a:lnTo>
                    <a:pt x="35383" y="390158"/>
                  </a:lnTo>
                  <a:lnTo>
                    <a:pt x="16213" y="349764"/>
                  </a:lnTo>
                  <a:lnTo>
                    <a:pt x="4175" y="305891"/>
                  </a:lnTo>
                  <a:lnTo>
                    <a:pt x="0" y="259270"/>
                  </a:lnTo>
                  <a:lnTo>
                    <a:pt x="4178" y="212674"/>
                  </a:lnTo>
                  <a:lnTo>
                    <a:pt x="16224" y="168814"/>
                  </a:lnTo>
                  <a:lnTo>
                    <a:pt x="35404" y="128425"/>
                  </a:lnTo>
                  <a:lnTo>
                    <a:pt x="60987" y="92238"/>
                  </a:lnTo>
                  <a:lnTo>
                    <a:pt x="92238" y="60987"/>
                  </a:lnTo>
                  <a:lnTo>
                    <a:pt x="128425" y="35404"/>
                  </a:lnTo>
                  <a:lnTo>
                    <a:pt x="168814" y="16224"/>
                  </a:lnTo>
                  <a:lnTo>
                    <a:pt x="212674" y="4178"/>
                  </a:lnTo>
                  <a:lnTo>
                    <a:pt x="259270" y="0"/>
                  </a:lnTo>
                  <a:lnTo>
                    <a:pt x="305866" y="4178"/>
                  </a:lnTo>
                  <a:lnTo>
                    <a:pt x="349726" y="16224"/>
                  </a:lnTo>
                  <a:lnTo>
                    <a:pt x="390115" y="35404"/>
                  </a:lnTo>
                  <a:lnTo>
                    <a:pt x="426302" y="60987"/>
                  </a:lnTo>
                  <a:lnTo>
                    <a:pt x="457553" y="92238"/>
                  </a:lnTo>
                  <a:lnTo>
                    <a:pt x="483136" y="128425"/>
                  </a:lnTo>
                  <a:lnTo>
                    <a:pt x="502316" y="168814"/>
                  </a:lnTo>
                  <a:lnTo>
                    <a:pt x="514362" y="212674"/>
                  </a:lnTo>
                  <a:lnTo>
                    <a:pt x="518540" y="259270"/>
                  </a:lnTo>
                  <a:lnTo>
                    <a:pt x="514359" y="305891"/>
                  </a:lnTo>
                  <a:lnTo>
                    <a:pt x="502309" y="349764"/>
                  </a:lnTo>
                  <a:lnTo>
                    <a:pt x="483127" y="390158"/>
                  </a:lnTo>
                  <a:lnTo>
                    <a:pt x="457545" y="426341"/>
                  </a:lnTo>
                  <a:lnTo>
                    <a:pt x="426297" y="457585"/>
                  </a:lnTo>
                  <a:lnTo>
                    <a:pt x="390113" y="483157"/>
                  </a:lnTo>
                  <a:lnTo>
                    <a:pt x="349724" y="502327"/>
                  </a:lnTo>
                  <a:lnTo>
                    <a:pt x="305856" y="514365"/>
                  </a:lnTo>
                  <a:lnTo>
                    <a:pt x="259270" y="5185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0550506" y="3134274"/>
              <a:ext cx="514984" cy="514350"/>
            </a:xfrm>
            <a:custGeom>
              <a:avLst/>
              <a:gdLst/>
              <a:ahLst/>
              <a:cxnLst/>
              <a:rect l="l" t="t" r="r" b="b"/>
              <a:pathLst>
                <a:path w="514984" h="514350">
                  <a:moveTo>
                    <a:pt x="514363" y="305851"/>
                  </a:moveTo>
                  <a:lnTo>
                    <a:pt x="502334" y="349719"/>
                  </a:lnTo>
                  <a:lnTo>
                    <a:pt x="483161" y="390114"/>
                  </a:lnTo>
                  <a:lnTo>
                    <a:pt x="457585" y="426306"/>
                  </a:lnTo>
                  <a:lnTo>
                    <a:pt x="426337" y="457561"/>
                  </a:lnTo>
                  <a:lnTo>
                    <a:pt x="390146" y="483144"/>
                  </a:lnTo>
                  <a:lnTo>
                    <a:pt x="349746" y="502324"/>
                  </a:lnTo>
                  <a:lnTo>
                    <a:pt x="305862" y="514352"/>
                  </a:lnTo>
                </a:path>
                <a:path w="514984" h="514350">
                  <a:moveTo>
                    <a:pt x="212622" y="514344"/>
                  </a:moveTo>
                  <a:lnTo>
                    <a:pt x="168744" y="502314"/>
                  </a:lnTo>
                  <a:lnTo>
                    <a:pt x="128353" y="483137"/>
                  </a:lnTo>
                  <a:lnTo>
                    <a:pt x="92173" y="457559"/>
                  </a:lnTo>
                  <a:lnTo>
                    <a:pt x="60935" y="426312"/>
                  </a:lnTo>
                  <a:lnTo>
                    <a:pt x="35369" y="390126"/>
                  </a:lnTo>
                  <a:lnTo>
                    <a:pt x="16206" y="349733"/>
                  </a:lnTo>
                  <a:lnTo>
                    <a:pt x="4174" y="305863"/>
                  </a:lnTo>
                  <a:lnTo>
                    <a:pt x="0" y="259246"/>
                  </a:lnTo>
                  <a:lnTo>
                    <a:pt x="4185" y="212656"/>
                  </a:lnTo>
                  <a:lnTo>
                    <a:pt x="16232" y="168803"/>
                  </a:lnTo>
                  <a:lnTo>
                    <a:pt x="35411" y="128420"/>
                  </a:lnTo>
                  <a:lnTo>
                    <a:pt x="60990" y="92239"/>
                  </a:lnTo>
                  <a:lnTo>
                    <a:pt x="92237" y="60991"/>
                  </a:lnTo>
                  <a:lnTo>
                    <a:pt x="128418" y="35411"/>
                  </a:lnTo>
                  <a:lnTo>
                    <a:pt x="168801" y="16230"/>
                  </a:lnTo>
                  <a:lnTo>
                    <a:pt x="212655" y="4182"/>
                  </a:lnTo>
                  <a:lnTo>
                    <a:pt x="259246" y="0"/>
                  </a:lnTo>
                  <a:lnTo>
                    <a:pt x="305839" y="4172"/>
                  </a:lnTo>
                  <a:lnTo>
                    <a:pt x="349698" y="16212"/>
                  </a:lnTo>
                  <a:lnTo>
                    <a:pt x="390089" y="35387"/>
                  </a:lnTo>
                  <a:lnTo>
                    <a:pt x="426280" y="60964"/>
                  </a:lnTo>
                  <a:lnTo>
                    <a:pt x="457536" y="92212"/>
                  </a:lnTo>
                  <a:lnTo>
                    <a:pt x="483124" y="128397"/>
                  </a:lnTo>
                  <a:lnTo>
                    <a:pt x="502311" y="168788"/>
                  </a:lnTo>
                  <a:lnTo>
                    <a:pt x="514343" y="212646"/>
                  </a:lnTo>
                </a:path>
              </a:pathLst>
            </a:custGeom>
            <a:ln w="76259">
              <a:solidFill>
                <a:srgbClr val="6A6F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10739102" y="3193909"/>
            <a:ext cx="14160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6A6F82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9182606" y="4378254"/>
            <a:ext cx="4009390" cy="3181350"/>
            <a:chOff x="9182606" y="4378254"/>
            <a:chExt cx="4009390" cy="3181350"/>
          </a:xfrm>
        </p:grpSpPr>
        <p:sp>
          <p:nvSpPr>
            <p:cNvPr id="32" name="object 32"/>
            <p:cNvSpPr/>
            <p:nvPr/>
          </p:nvSpPr>
          <p:spPr>
            <a:xfrm>
              <a:off x="9192139" y="4387786"/>
              <a:ext cx="3990340" cy="3166745"/>
            </a:xfrm>
            <a:custGeom>
              <a:avLst/>
              <a:gdLst/>
              <a:ahLst/>
              <a:cxnLst/>
              <a:rect l="l" t="t" r="r" b="b"/>
              <a:pathLst>
                <a:path w="3990340" h="3166745">
                  <a:moveTo>
                    <a:pt x="3831908" y="3166681"/>
                  </a:moveTo>
                  <a:lnTo>
                    <a:pt x="158305" y="3166681"/>
                  </a:lnTo>
                  <a:lnTo>
                    <a:pt x="108264" y="3158611"/>
                  </a:lnTo>
                  <a:lnTo>
                    <a:pt x="64808" y="3136140"/>
                  </a:lnTo>
                  <a:lnTo>
                    <a:pt x="30540" y="3101873"/>
                  </a:lnTo>
                  <a:lnTo>
                    <a:pt x="8069" y="3058416"/>
                  </a:lnTo>
                  <a:lnTo>
                    <a:pt x="0" y="3008375"/>
                  </a:lnTo>
                  <a:lnTo>
                    <a:pt x="0" y="158305"/>
                  </a:lnTo>
                  <a:lnTo>
                    <a:pt x="8069" y="108264"/>
                  </a:lnTo>
                  <a:lnTo>
                    <a:pt x="30540" y="64808"/>
                  </a:lnTo>
                  <a:lnTo>
                    <a:pt x="64808" y="30540"/>
                  </a:lnTo>
                  <a:lnTo>
                    <a:pt x="108264" y="8069"/>
                  </a:lnTo>
                  <a:lnTo>
                    <a:pt x="158305" y="0"/>
                  </a:lnTo>
                  <a:lnTo>
                    <a:pt x="3831908" y="0"/>
                  </a:lnTo>
                  <a:lnTo>
                    <a:pt x="3881948" y="8069"/>
                  </a:lnTo>
                  <a:lnTo>
                    <a:pt x="3925405" y="30540"/>
                  </a:lnTo>
                  <a:lnTo>
                    <a:pt x="3959672" y="64808"/>
                  </a:lnTo>
                  <a:lnTo>
                    <a:pt x="3982143" y="108264"/>
                  </a:lnTo>
                  <a:lnTo>
                    <a:pt x="3990213" y="158305"/>
                  </a:lnTo>
                  <a:lnTo>
                    <a:pt x="3990213" y="3008375"/>
                  </a:lnTo>
                  <a:lnTo>
                    <a:pt x="3982143" y="3058416"/>
                  </a:lnTo>
                  <a:lnTo>
                    <a:pt x="3959672" y="3101873"/>
                  </a:lnTo>
                  <a:lnTo>
                    <a:pt x="3925405" y="3136140"/>
                  </a:lnTo>
                  <a:lnTo>
                    <a:pt x="3881948" y="3158611"/>
                  </a:lnTo>
                  <a:lnTo>
                    <a:pt x="3831908" y="3166681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9192138" y="4387786"/>
              <a:ext cx="3990340" cy="3162300"/>
            </a:xfrm>
            <a:custGeom>
              <a:avLst/>
              <a:gdLst/>
              <a:ahLst/>
              <a:cxnLst/>
              <a:rect l="l" t="t" r="r" b="b"/>
              <a:pathLst>
                <a:path w="3990340" h="3162300">
                  <a:moveTo>
                    <a:pt x="131140" y="3162269"/>
                  </a:moveTo>
                  <a:lnTo>
                    <a:pt x="64783" y="3136115"/>
                  </a:lnTo>
                  <a:lnTo>
                    <a:pt x="30518" y="3101828"/>
                  </a:lnTo>
                  <a:lnTo>
                    <a:pt x="8060" y="3058357"/>
                  </a:lnTo>
                  <a:lnTo>
                    <a:pt x="0" y="3008313"/>
                  </a:lnTo>
                  <a:lnTo>
                    <a:pt x="0" y="158299"/>
                  </a:lnTo>
                  <a:lnTo>
                    <a:pt x="8073" y="108256"/>
                  </a:lnTo>
                  <a:lnTo>
                    <a:pt x="30549" y="64799"/>
                  </a:lnTo>
                  <a:lnTo>
                    <a:pt x="64820" y="30534"/>
                  </a:lnTo>
                  <a:lnTo>
                    <a:pt x="108278" y="8067"/>
                  </a:lnTo>
                  <a:lnTo>
                    <a:pt x="158318" y="0"/>
                  </a:lnTo>
                  <a:lnTo>
                    <a:pt x="3831844" y="0"/>
                  </a:lnTo>
                  <a:lnTo>
                    <a:pt x="3881897" y="8043"/>
                  </a:lnTo>
                  <a:lnTo>
                    <a:pt x="3925372" y="30507"/>
                  </a:lnTo>
                  <a:lnTo>
                    <a:pt x="3959657" y="64780"/>
                  </a:lnTo>
                  <a:lnTo>
                    <a:pt x="3982141" y="108252"/>
                  </a:lnTo>
                  <a:lnTo>
                    <a:pt x="3990213" y="158302"/>
                  </a:lnTo>
                  <a:lnTo>
                    <a:pt x="3990221" y="3008325"/>
                  </a:lnTo>
                  <a:lnTo>
                    <a:pt x="3982155" y="3058393"/>
                  </a:lnTo>
                  <a:lnTo>
                    <a:pt x="3959671" y="3101873"/>
                  </a:lnTo>
                  <a:lnTo>
                    <a:pt x="3925380" y="3136153"/>
                  </a:lnTo>
                  <a:lnTo>
                    <a:pt x="3881895" y="3158620"/>
                  </a:lnTo>
                  <a:lnTo>
                    <a:pt x="3859066" y="3162225"/>
                  </a:lnTo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9481543" y="4670851"/>
            <a:ext cx="877569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6A6F82"/>
                </a:solidFill>
                <a:latin typeface="Calibri"/>
                <a:cs typeface="Calibri"/>
              </a:rPr>
              <a:t>Months</a:t>
            </a:r>
            <a:r>
              <a:rPr dirty="0" sz="1350" spc="-25" b="1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350" spc="-20" b="1">
                <a:solidFill>
                  <a:srgbClr val="6A6F82"/>
                </a:solidFill>
                <a:latin typeface="Calibri"/>
                <a:cs typeface="Calibri"/>
              </a:rPr>
              <a:t>4–</a:t>
            </a:r>
            <a:r>
              <a:rPr dirty="0" sz="1350" spc="-50" b="1">
                <a:solidFill>
                  <a:srgbClr val="6A6F82"/>
                </a:solidFill>
                <a:latin typeface="Calibri"/>
                <a:cs typeface="Calibri"/>
              </a:rPr>
              <a:t>8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481543" y="5067744"/>
            <a:ext cx="2169795" cy="323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b="1">
                <a:solidFill>
                  <a:srgbClr val="04445D"/>
                </a:solidFill>
                <a:latin typeface="Calibri"/>
                <a:cs typeface="Calibri"/>
              </a:rPr>
              <a:t>Complete</a:t>
            </a:r>
            <a:r>
              <a:rPr dirty="0" sz="1950" spc="-90" b="1">
                <a:solidFill>
                  <a:srgbClr val="04445D"/>
                </a:solidFill>
                <a:latin typeface="Calibri"/>
                <a:cs typeface="Calibri"/>
              </a:rPr>
              <a:t> </a:t>
            </a:r>
            <a:r>
              <a:rPr dirty="0" sz="1950" spc="-10" b="1">
                <a:solidFill>
                  <a:srgbClr val="04445D"/>
                </a:solidFill>
                <a:latin typeface="Calibri"/>
                <a:cs typeface="Calibri"/>
              </a:rPr>
              <a:t>Workforce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481543" y="5643415"/>
            <a:ext cx="3296285" cy="63182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 marR="5080">
              <a:lnSpc>
                <a:spcPts val="1580"/>
              </a:lnSpc>
              <a:spcBef>
                <a:spcPts val="185"/>
              </a:spcBef>
            </a:pP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Collections</a:t>
            </a:r>
            <a:r>
              <a:rPr dirty="0" sz="1350" spc="-2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+</a:t>
            </a:r>
            <a:r>
              <a:rPr dirty="0" sz="135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Account</a:t>
            </a:r>
            <a:r>
              <a:rPr dirty="0" sz="1350" spc="-2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Manager, Health/Churn/Expansion</a:t>
            </a:r>
            <a:r>
              <a:rPr dirty="0" sz="1350" spc="-2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engines,</a:t>
            </a:r>
            <a:r>
              <a:rPr dirty="0" sz="1350" spc="-1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first</a:t>
            </a:r>
            <a:r>
              <a:rPr dirty="0" sz="1350" spc="-1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Industry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Packs,</a:t>
            </a:r>
            <a:r>
              <a:rPr dirty="0" sz="1350" spc="-5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Voice</a:t>
            </a:r>
            <a:r>
              <a:rPr dirty="0" sz="1350" spc="-5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channel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4767661" y="3096144"/>
            <a:ext cx="591185" cy="591185"/>
            <a:chOff x="14767661" y="3096144"/>
            <a:chExt cx="591185" cy="591185"/>
          </a:xfrm>
        </p:grpSpPr>
        <p:sp>
          <p:nvSpPr>
            <p:cNvPr id="38" name="object 38"/>
            <p:cNvSpPr/>
            <p:nvPr/>
          </p:nvSpPr>
          <p:spPr>
            <a:xfrm>
              <a:off x="14805792" y="3134277"/>
              <a:ext cx="518795" cy="518795"/>
            </a:xfrm>
            <a:custGeom>
              <a:avLst/>
              <a:gdLst/>
              <a:ahLst/>
              <a:cxnLst/>
              <a:rect l="l" t="t" r="r" b="b"/>
              <a:pathLst>
                <a:path w="518794" h="518795">
                  <a:moveTo>
                    <a:pt x="259270" y="518540"/>
                  </a:moveTo>
                  <a:lnTo>
                    <a:pt x="212649" y="514365"/>
                  </a:lnTo>
                  <a:lnTo>
                    <a:pt x="168776" y="502327"/>
                  </a:lnTo>
                  <a:lnTo>
                    <a:pt x="128382" y="483157"/>
                  </a:lnTo>
                  <a:lnTo>
                    <a:pt x="92199" y="457585"/>
                  </a:lnTo>
                  <a:lnTo>
                    <a:pt x="60955" y="426341"/>
                  </a:lnTo>
                  <a:lnTo>
                    <a:pt x="35383" y="390158"/>
                  </a:lnTo>
                  <a:lnTo>
                    <a:pt x="16213" y="349764"/>
                  </a:lnTo>
                  <a:lnTo>
                    <a:pt x="4175" y="305891"/>
                  </a:lnTo>
                  <a:lnTo>
                    <a:pt x="0" y="259270"/>
                  </a:lnTo>
                  <a:lnTo>
                    <a:pt x="4178" y="212674"/>
                  </a:lnTo>
                  <a:lnTo>
                    <a:pt x="16224" y="168814"/>
                  </a:lnTo>
                  <a:lnTo>
                    <a:pt x="35404" y="128425"/>
                  </a:lnTo>
                  <a:lnTo>
                    <a:pt x="60987" y="92238"/>
                  </a:lnTo>
                  <a:lnTo>
                    <a:pt x="92238" y="60987"/>
                  </a:lnTo>
                  <a:lnTo>
                    <a:pt x="128425" y="35404"/>
                  </a:lnTo>
                  <a:lnTo>
                    <a:pt x="168814" y="16224"/>
                  </a:lnTo>
                  <a:lnTo>
                    <a:pt x="212674" y="4178"/>
                  </a:lnTo>
                  <a:lnTo>
                    <a:pt x="259270" y="0"/>
                  </a:lnTo>
                  <a:lnTo>
                    <a:pt x="305866" y="4178"/>
                  </a:lnTo>
                  <a:lnTo>
                    <a:pt x="349726" y="16224"/>
                  </a:lnTo>
                  <a:lnTo>
                    <a:pt x="390115" y="35404"/>
                  </a:lnTo>
                  <a:lnTo>
                    <a:pt x="426302" y="60987"/>
                  </a:lnTo>
                  <a:lnTo>
                    <a:pt x="457553" y="92238"/>
                  </a:lnTo>
                  <a:lnTo>
                    <a:pt x="483136" y="128425"/>
                  </a:lnTo>
                  <a:lnTo>
                    <a:pt x="502316" y="168814"/>
                  </a:lnTo>
                  <a:lnTo>
                    <a:pt x="514362" y="212674"/>
                  </a:lnTo>
                  <a:lnTo>
                    <a:pt x="518540" y="259270"/>
                  </a:lnTo>
                  <a:lnTo>
                    <a:pt x="514359" y="305891"/>
                  </a:lnTo>
                  <a:lnTo>
                    <a:pt x="502309" y="349764"/>
                  </a:lnTo>
                  <a:lnTo>
                    <a:pt x="483127" y="390158"/>
                  </a:lnTo>
                  <a:lnTo>
                    <a:pt x="457545" y="426341"/>
                  </a:lnTo>
                  <a:lnTo>
                    <a:pt x="426297" y="457585"/>
                  </a:lnTo>
                  <a:lnTo>
                    <a:pt x="390113" y="483157"/>
                  </a:lnTo>
                  <a:lnTo>
                    <a:pt x="349724" y="502327"/>
                  </a:lnTo>
                  <a:lnTo>
                    <a:pt x="305856" y="514365"/>
                  </a:lnTo>
                  <a:lnTo>
                    <a:pt x="259270" y="5185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14805791" y="3134274"/>
              <a:ext cx="514984" cy="514350"/>
            </a:xfrm>
            <a:custGeom>
              <a:avLst/>
              <a:gdLst/>
              <a:ahLst/>
              <a:cxnLst/>
              <a:rect l="l" t="t" r="r" b="b"/>
              <a:pathLst>
                <a:path w="514984" h="514350">
                  <a:moveTo>
                    <a:pt x="514363" y="305851"/>
                  </a:moveTo>
                  <a:lnTo>
                    <a:pt x="502334" y="349719"/>
                  </a:lnTo>
                  <a:lnTo>
                    <a:pt x="483161" y="390114"/>
                  </a:lnTo>
                  <a:lnTo>
                    <a:pt x="457585" y="426306"/>
                  </a:lnTo>
                  <a:lnTo>
                    <a:pt x="426337" y="457561"/>
                  </a:lnTo>
                  <a:lnTo>
                    <a:pt x="390146" y="483144"/>
                  </a:lnTo>
                  <a:lnTo>
                    <a:pt x="349746" y="502324"/>
                  </a:lnTo>
                  <a:lnTo>
                    <a:pt x="305862" y="514352"/>
                  </a:lnTo>
                </a:path>
                <a:path w="514984" h="514350">
                  <a:moveTo>
                    <a:pt x="212621" y="514344"/>
                  </a:moveTo>
                  <a:lnTo>
                    <a:pt x="168744" y="502314"/>
                  </a:lnTo>
                  <a:lnTo>
                    <a:pt x="128353" y="483137"/>
                  </a:lnTo>
                  <a:lnTo>
                    <a:pt x="92173" y="457559"/>
                  </a:lnTo>
                  <a:lnTo>
                    <a:pt x="60935" y="426312"/>
                  </a:lnTo>
                  <a:lnTo>
                    <a:pt x="35369" y="390126"/>
                  </a:lnTo>
                  <a:lnTo>
                    <a:pt x="16206" y="349733"/>
                  </a:lnTo>
                  <a:lnTo>
                    <a:pt x="4174" y="305863"/>
                  </a:lnTo>
                  <a:lnTo>
                    <a:pt x="0" y="259246"/>
                  </a:lnTo>
                  <a:lnTo>
                    <a:pt x="4185" y="212656"/>
                  </a:lnTo>
                  <a:lnTo>
                    <a:pt x="16232" y="168804"/>
                  </a:lnTo>
                  <a:lnTo>
                    <a:pt x="35411" y="128420"/>
                  </a:lnTo>
                  <a:lnTo>
                    <a:pt x="60990" y="92239"/>
                  </a:lnTo>
                  <a:lnTo>
                    <a:pt x="92237" y="60991"/>
                  </a:lnTo>
                  <a:lnTo>
                    <a:pt x="128418" y="35411"/>
                  </a:lnTo>
                  <a:lnTo>
                    <a:pt x="168801" y="16230"/>
                  </a:lnTo>
                  <a:lnTo>
                    <a:pt x="212654" y="4182"/>
                  </a:lnTo>
                  <a:lnTo>
                    <a:pt x="259246" y="0"/>
                  </a:lnTo>
                  <a:lnTo>
                    <a:pt x="305839" y="4172"/>
                  </a:lnTo>
                  <a:lnTo>
                    <a:pt x="349698" y="16212"/>
                  </a:lnTo>
                  <a:lnTo>
                    <a:pt x="390089" y="35387"/>
                  </a:lnTo>
                  <a:lnTo>
                    <a:pt x="426280" y="60964"/>
                  </a:lnTo>
                  <a:lnTo>
                    <a:pt x="457536" y="92212"/>
                  </a:lnTo>
                  <a:lnTo>
                    <a:pt x="483124" y="128397"/>
                  </a:lnTo>
                  <a:lnTo>
                    <a:pt x="502311" y="168788"/>
                  </a:lnTo>
                  <a:lnTo>
                    <a:pt x="514343" y="212646"/>
                  </a:lnTo>
                </a:path>
              </a:pathLst>
            </a:custGeom>
            <a:ln w="76259">
              <a:solidFill>
                <a:srgbClr val="6A6F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14994387" y="3193909"/>
            <a:ext cx="14160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6A6F82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13437891" y="4378254"/>
            <a:ext cx="4009390" cy="3181350"/>
            <a:chOff x="13437891" y="4378254"/>
            <a:chExt cx="4009390" cy="3181350"/>
          </a:xfrm>
        </p:grpSpPr>
        <p:sp>
          <p:nvSpPr>
            <p:cNvPr id="42" name="object 42"/>
            <p:cNvSpPr/>
            <p:nvPr/>
          </p:nvSpPr>
          <p:spPr>
            <a:xfrm>
              <a:off x="13447422" y="4387786"/>
              <a:ext cx="3990340" cy="3166745"/>
            </a:xfrm>
            <a:custGeom>
              <a:avLst/>
              <a:gdLst/>
              <a:ahLst/>
              <a:cxnLst/>
              <a:rect l="l" t="t" r="r" b="b"/>
              <a:pathLst>
                <a:path w="3990340" h="3166745">
                  <a:moveTo>
                    <a:pt x="3831907" y="3166681"/>
                  </a:moveTo>
                  <a:lnTo>
                    <a:pt x="158305" y="3166681"/>
                  </a:lnTo>
                  <a:lnTo>
                    <a:pt x="108264" y="3158611"/>
                  </a:lnTo>
                  <a:lnTo>
                    <a:pt x="64808" y="3136140"/>
                  </a:lnTo>
                  <a:lnTo>
                    <a:pt x="30540" y="3101873"/>
                  </a:lnTo>
                  <a:lnTo>
                    <a:pt x="8069" y="3058416"/>
                  </a:lnTo>
                  <a:lnTo>
                    <a:pt x="0" y="3008375"/>
                  </a:lnTo>
                  <a:lnTo>
                    <a:pt x="0" y="158305"/>
                  </a:lnTo>
                  <a:lnTo>
                    <a:pt x="8069" y="108264"/>
                  </a:lnTo>
                  <a:lnTo>
                    <a:pt x="30540" y="64808"/>
                  </a:lnTo>
                  <a:lnTo>
                    <a:pt x="64808" y="30540"/>
                  </a:lnTo>
                  <a:lnTo>
                    <a:pt x="108264" y="8069"/>
                  </a:lnTo>
                  <a:lnTo>
                    <a:pt x="158305" y="0"/>
                  </a:lnTo>
                  <a:lnTo>
                    <a:pt x="3831907" y="0"/>
                  </a:lnTo>
                  <a:lnTo>
                    <a:pt x="3881947" y="8069"/>
                  </a:lnTo>
                  <a:lnTo>
                    <a:pt x="3925404" y="30540"/>
                  </a:lnTo>
                  <a:lnTo>
                    <a:pt x="3959671" y="64808"/>
                  </a:lnTo>
                  <a:lnTo>
                    <a:pt x="3982143" y="108264"/>
                  </a:lnTo>
                  <a:lnTo>
                    <a:pt x="3990212" y="158305"/>
                  </a:lnTo>
                  <a:lnTo>
                    <a:pt x="3990212" y="3008375"/>
                  </a:lnTo>
                  <a:lnTo>
                    <a:pt x="3982143" y="3058416"/>
                  </a:lnTo>
                  <a:lnTo>
                    <a:pt x="3959671" y="3101873"/>
                  </a:lnTo>
                  <a:lnTo>
                    <a:pt x="3925404" y="3136140"/>
                  </a:lnTo>
                  <a:lnTo>
                    <a:pt x="3881947" y="3158611"/>
                  </a:lnTo>
                  <a:lnTo>
                    <a:pt x="3831907" y="3166681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13447423" y="4387786"/>
              <a:ext cx="3990340" cy="3162300"/>
            </a:xfrm>
            <a:custGeom>
              <a:avLst/>
              <a:gdLst/>
              <a:ahLst/>
              <a:cxnLst/>
              <a:rect l="l" t="t" r="r" b="b"/>
              <a:pathLst>
                <a:path w="3990340" h="3162300">
                  <a:moveTo>
                    <a:pt x="131140" y="3162269"/>
                  </a:moveTo>
                  <a:lnTo>
                    <a:pt x="64783" y="3136115"/>
                  </a:lnTo>
                  <a:lnTo>
                    <a:pt x="30518" y="3101828"/>
                  </a:lnTo>
                  <a:lnTo>
                    <a:pt x="8060" y="3058357"/>
                  </a:lnTo>
                  <a:lnTo>
                    <a:pt x="0" y="3008313"/>
                  </a:lnTo>
                  <a:lnTo>
                    <a:pt x="0" y="158299"/>
                  </a:lnTo>
                  <a:lnTo>
                    <a:pt x="8073" y="108256"/>
                  </a:lnTo>
                  <a:lnTo>
                    <a:pt x="30549" y="64799"/>
                  </a:lnTo>
                  <a:lnTo>
                    <a:pt x="64820" y="30534"/>
                  </a:lnTo>
                  <a:lnTo>
                    <a:pt x="108278" y="8067"/>
                  </a:lnTo>
                  <a:lnTo>
                    <a:pt x="158318" y="0"/>
                  </a:lnTo>
                  <a:lnTo>
                    <a:pt x="3831844" y="0"/>
                  </a:lnTo>
                  <a:lnTo>
                    <a:pt x="3881897" y="8043"/>
                  </a:lnTo>
                  <a:lnTo>
                    <a:pt x="3925371" y="30508"/>
                  </a:lnTo>
                  <a:lnTo>
                    <a:pt x="3959657" y="64780"/>
                  </a:lnTo>
                  <a:lnTo>
                    <a:pt x="3982141" y="108252"/>
                  </a:lnTo>
                  <a:lnTo>
                    <a:pt x="3990212" y="158302"/>
                  </a:lnTo>
                  <a:lnTo>
                    <a:pt x="3990220" y="3008325"/>
                  </a:lnTo>
                  <a:lnTo>
                    <a:pt x="3982155" y="3058393"/>
                  </a:lnTo>
                  <a:lnTo>
                    <a:pt x="3959671" y="3101873"/>
                  </a:lnTo>
                  <a:lnTo>
                    <a:pt x="3925380" y="3136153"/>
                  </a:lnTo>
                  <a:lnTo>
                    <a:pt x="3881895" y="3158620"/>
                  </a:lnTo>
                  <a:lnTo>
                    <a:pt x="3859065" y="3162225"/>
                  </a:lnTo>
                </a:path>
              </a:pathLst>
            </a:custGeom>
            <a:ln w="19064">
              <a:solidFill>
                <a:srgbClr val="2121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13736828" y="4670851"/>
            <a:ext cx="72199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6A6F82"/>
                </a:solidFill>
                <a:latin typeface="Calibri"/>
                <a:cs typeface="Calibri"/>
              </a:rPr>
              <a:t>Month</a:t>
            </a:r>
            <a:r>
              <a:rPr dirty="0" sz="1350" spc="-35" b="1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350" spc="-25" b="1">
                <a:solidFill>
                  <a:srgbClr val="6A6F82"/>
                </a:solidFill>
                <a:latin typeface="Calibri"/>
                <a:cs typeface="Calibri"/>
              </a:rPr>
              <a:t>9+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3736828" y="5067744"/>
            <a:ext cx="2475230" cy="323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spc="-10" b="1">
                <a:solidFill>
                  <a:srgbClr val="04445D"/>
                </a:solidFill>
                <a:latin typeface="Calibri"/>
                <a:cs typeface="Calibri"/>
              </a:rPr>
              <a:t>Autonomous</a:t>
            </a:r>
            <a:r>
              <a:rPr dirty="0" sz="1950" spc="-20" b="1">
                <a:solidFill>
                  <a:srgbClr val="04445D"/>
                </a:solidFill>
                <a:latin typeface="Calibri"/>
                <a:cs typeface="Calibri"/>
              </a:rPr>
              <a:t> </a:t>
            </a:r>
            <a:r>
              <a:rPr dirty="0" sz="1950" spc="-10" b="1">
                <a:solidFill>
                  <a:srgbClr val="04445D"/>
                </a:solidFill>
                <a:latin typeface="Calibri"/>
                <a:cs typeface="Calibri"/>
              </a:rPr>
              <a:t>Enterprise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3736828" y="5643415"/>
            <a:ext cx="3228340" cy="43180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 marR="5080">
              <a:lnSpc>
                <a:spcPts val="1580"/>
              </a:lnSpc>
              <a:spcBef>
                <a:spcPts val="185"/>
              </a:spcBef>
            </a:pP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Self-improving</a:t>
            </a:r>
            <a:r>
              <a:rPr dirty="0" sz="135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learning</a:t>
            </a:r>
            <a:r>
              <a:rPr dirty="0" sz="1350" spc="-2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loop,</a:t>
            </a:r>
            <a:r>
              <a:rPr dirty="0" sz="1350" spc="-2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100+</a:t>
            </a:r>
            <a:r>
              <a:rPr dirty="0" sz="1350" spc="-2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customers, Revenue</a:t>
            </a:r>
            <a:r>
              <a:rPr dirty="0" sz="1350" spc="-2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Influence</a:t>
            </a:r>
            <a:r>
              <a:rPr dirty="0" sz="1350" spc="-2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Score</a:t>
            </a:r>
            <a:r>
              <a:rPr dirty="0" sz="1350" spc="-1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as</a:t>
            </a:r>
            <a:r>
              <a:rPr dirty="0" sz="1350" spc="-2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category</a:t>
            </a:r>
            <a:r>
              <a:rPr dirty="0" sz="1350" spc="-2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metric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383204" y="7932900"/>
            <a:ext cx="5544185" cy="1429385"/>
            <a:chOff x="383204" y="7932900"/>
            <a:chExt cx="5544185" cy="1429385"/>
          </a:xfrm>
        </p:grpSpPr>
        <p:sp>
          <p:nvSpPr>
            <p:cNvPr id="48" name="object 48"/>
            <p:cNvSpPr/>
            <p:nvPr/>
          </p:nvSpPr>
          <p:spPr>
            <a:xfrm>
              <a:off x="402269" y="7951964"/>
              <a:ext cx="5507355" cy="1391920"/>
            </a:xfrm>
            <a:custGeom>
              <a:avLst/>
              <a:gdLst/>
              <a:ahLst/>
              <a:cxnLst/>
              <a:rect l="l" t="t" r="r" b="b"/>
              <a:pathLst>
                <a:path w="5507355" h="1391920">
                  <a:moveTo>
                    <a:pt x="5440203" y="1391735"/>
                  </a:moveTo>
                  <a:lnTo>
                    <a:pt x="69627" y="1391735"/>
                  </a:lnTo>
                  <a:lnTo>
                    <a:pt x="42554" y="1386325"/>
                  </a:lnTo>
                  <a:lnTo>
                    <a:pt x="20419" y="1371409"/>
                  </a:lnTo>
                  <a:lnTo>
                    <a:pt x="5481" y="1349278"/>
                  </a:lnTo>
                  <a:lnTo>
                    <a:pt x="0" y="1322165"/>
                  </a:lnTo>
                  <a:lnTo>
                    <a:pt x="0" y="69627"/>
                  </a:lnTo>
                  <a:lnTo>
                    <a:pt x="20383" y="20383"/>
                  </a:lnTo>
                  <a:lnTo>
                    <a:pt x="69627" y="0"/>
                  </a:lnTo>
                  <a:lnTo>
                    <a:pt x="5440203" y="0"/>
                  </a:lnTo>
                  <a:lnTo>
                    <a:pt x="5467276" y="5468"/>
                  </a:lnTo>
                  <a:lnTo>
                    <a:pt x="5489411" y="20383"/>
                  </a:lnTo>
                  <a:lnTo>
                    <a:pt x="5504349" y="42514"/>
                  </a:lnTo>
                  <a:lnTo>
                    <a:pt x="5507141" y="56325"/>
                  </a:lnTo>
                  <a:lnTo>
                    <a:pt x="5507141" y="1335434"/>
                  </a:lnTo>
                  <a:lnTo>
                    <a:pt x="5504336" y="1349278"/>
                  </a:lnTo>
                  <a:lnTo>
                    <a:pt x="5489394" y="1371409"/>
                  </a:lnTo>
                  <a:lnTo>
                    <a:pt x="5467250" y="1386325"/>
                  </a:lnTo>
                  <a:lnTo>
                    <a:pt x="5440203" y="1391735"/>
                  </a:lnTo>
                  <a:close/>
                </a:path>
              </a:pathLst>
            </a:custGeom>
            <a:solidFill>
              <a:srgbClr val="0929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402269" y="7951965"/>
              <a:ext cx="5506085" cy="1390650"/>
            </a:xfrm>
            <a:custGeom>
              <a:avLst/>
              <a:gdLst/>
              <a:ahLst/>
              <a:cxnLst/>
              <a:rect l="l" t="t" r="r" b="b"/>
              <a:pathLst>
                <a:path w="5506085" h="1390650">
                  <a:moveTo>
                    <a:pt x="5505463" y="1342974"/>
                  </a:moveTo>
                  <a:lnTo>
                    <a:pt x="5504207" y="1349195"/>
                  </a:lnTo>
                  <a:lnTo>
                    <a:pt x="5489291" y="1371330"/>
                  </a:lnTo>
                  <a:lnTo>
                    <a:pt x="5467161" y="1386267"/>
                  </a:lnTo>
                  <a:lnTo>
                    <a:pt x="5445484" y="1390649"/>
                  </a:lnTo>
                </a:path>
                <a:path w="5506085" h="1390650">
                  <a:moveTo>
                    <a:pt x="64203" y="1390649"/>
                  </a:moveTo>
                  <a:lnTo>
                    <a:pt x="42571" y="1386280"/>
                  </a:lnTo>
                  <a:lnTo>
                    <a:pt x="20436" y="1371365"/>
                  </a:lnTo>
                  <a:lnTo>
                    <a:pt x="5499" y="1349235"/>
                  </a:lnTo>
                  <a:lnTo>
                    <a:pt x="0" y="1322123"/>
                  </a:lnTo>
                  <a:lnTo>
                    <a:pt x="0" y="69621"/>
                  </a:lnTo>
                  <a:lnTo>
                    <a:pt x="20400" y="20382"/>
                  </a:lnTo>
                  <a:lnTo>
                    <a:pt x="69643" y="0"/>
                  </a:lnTo>
                  <a:lnTo>
                    <a:pt x="5440049" y="0"/>
                  </a:lnTo>
                  <a:lnTo>
                    <a:pt x="5467121" y="5467"/>
                  </a:lnTo>
                  <a:lnTo>
                    <a:pt x="5489256" y="20382"/>
                  </a:lnTo>
                  <a:lnTo>
                    <a:pt x="5504193" y="42512"/>
                  </a:lnTo>
                  <a:lnTo>
                    <a:pt x="5505449" y="48725"/>
                  </a:lnTo>
                </a:path>
              </a:pathLst>
            </a:custGeom>
            <a:ln w="38129">
              <a:solidFill>
                <a:srgbClr val="00D4A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/>
          <p:cNvSpPr txBox="1"/>
          <p:nvPr/>
        </p:nvSpPr>
        <p:spPr>
          <a:xfrm>
            <a:off x="696445" y="8103114"/>
            <a:ext cx="909319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00D4AA"/>
                </a:solidFill>
                <a:latin typeface="Calibri"/>
                <a:cs typeface="Calibri"/>
              </a:rPr>
              <a:t>Team</a:t>
            </a:r>
            <a:r>
              <a:rPr dirty="0" sz="1350" spc="-35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350" spc="-10" b="1">
                <a:solidFill>
                  <a:srgbClr val="00D4AA"/>
                </a:solidFill>
                <a:latin typeface="Calibri"/>
                <a:cs typeface="Calibri"/>
              </a:rPr>
              <a:t>(MVP)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96445" y="8446280"/>
            <a:ext cx="256984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2</a:t>
            </a:r>
            <a:r>
              <a:rPr dirty="0" sz="1350" spc="-2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senior</a:t>
            </a:r>
            <a:r>
              <a:rPr dirty="0" sz="1350" spc="-2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devs</a:t>
            </a:r>
            <a:r>
              <a:rPr dirty="0" sz="1350" spc="-2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·</a:t>
            </a:r>
            <a:r>
              <a:rPr dirty="0" sz="1350" spc="-2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2</a:t>
            </a:r>
            <a:r>
              <a:rPr dirty="0" sz="1350" spc="-2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mid-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level</a:t>
            </a:r>
            <a:r>
              <a:rPr dirty="0" sz="1350" spc="-2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·</a:t>
            </a:r>
            <a:r>
              <a:rPr dirty="0" sz="1350" spc="-2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3</a:t>
            </a:r>
            <a:r>
              <a:rPr dirty="0" sz="1350" spc="-2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interns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6285694" y="7932900"/>
            <a:ext cx="5544185" cy="1429385"/>
            <a:chOff x="6285694" y="7932900"/>
            <a:chExt cx="5544185" cy="1429385"/>
          </a:xfrm>
        </p:grpSpPr>
        <p:sp>
          <p:nvSpPr>
            <p:cNvPr id="53" name="object 53"/>
            <p:cNvSpPr/>
            <p:nvPr/>
          </p:nvSpPr>
          <p:spPr>
            <a:xfrm>
              <a:off x="6304759" y="7951964"/>
              <a:ext cx="5507355" cy="1391920"/>
            </a:xfrm>
            <a:custGeom>
              <a:avLst/>
              <a:gdLst/>
              <a:ahLst/>
              <a:cxnLst/>
              <a:rect l="l" t="t" r="r" b="b"/>
              <a:pathLst>
                <a:path w="5507355" h="1391920">
                  <a:moveTo>
                    <a:pt x="5440203" y="1391735"/>
                  </a:moveTo>
                  <a:lnTo>
                    <a:pt x="69627" y="1391735"/>
                  </a:lnTo>
                  <a:lnTo>
                    <a:pt x="42554" y="1386325"/>
                  </a:lnTo>
                  <a:lnTo>
                    <a:pt x="20419" y="1371409"/>
                  </a:lnTo>
                  <a:lnTo>
                    <a:pt x="5481" y="1349278"/>
                  </a:lnTo>
                  <a:lnTo>
                    <a:pt x="0" y="1322165"/>
                  </a:lnTo>
                  <a:lnTo>
                    <a:pt x="0" y="69627"/>
                  </a:lnTo>
                  <a:lnTo>
                    <a:pt x="20383" y="20383"/>
                  </a:lnTo>
                  <a:lnTo>
                    <a:pt x="69627" y="0"/>
                  </a:lnTo>
                  <a:lnTo>
                    <a:pt x="5440203" y="0"/>
                  </a:lnTo>
                  <a:lnTo>
                    <a:pt x="5467276" y="5468"/>
                  </a:lnTo>
                  <a:lnTo>
                    <a:pt x="5489412" y="20383"/>
                  </a:lnTo>
                  <a:lnTo>
                    <a:pt x="5504349" y="42514"/>
                  </a:lnTo>
                  <a:lnTo>
                    <a:pt x="5507141" y="56324"/>
                  </a:lnTo>
                  <a:lnTo>
                    <a:pt x="5507141" y="1335435"/>
                  </a:lnTo>
                  <a:lnTo>
                    <a:pt x="5504336" y="1349278"/>
                  </a:lnTo>
                  <a:lnTo>
                    <a:pt x="5489394" y="1371409"/>
                  </a:lnTo>
                  <a:lnTo>
                    <a:pt x="5467250" y="1386325"/>
                  </a:lnTo>
                  <a:lnTo>
                    <a:pt x="5440203" y="1391735"/>
                  </a:lnTo>
                  <a:close/>
                </a:path>
              </a:pathLst>
            </a:custGeom>
            <a:solidFill>
              <a:srgbClr val="1313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6304759" y="7951965"/>
              <a:ext cx="5506085" cy="1390650"/>
            </a:xfrm>
            <a:custGeom>
              <a:avLst/>
              <a:gdLst/>
              <a:ahLst/>
              <a:cxnLst/>
              <a:rect l="l" t="t" r="r" b="b"/>
              <a:pathLst>
                <a:path w="5506084" h="1390650">
                  <a:moveTo>
                    <a:pt x="5505463" y="1342974"/>
                  </a:moveTo>
                  <a:lnTo>
                    <a:pt x="5504207" y="1349195"/>
                  </a:lnTo>
                  <a:lnTo>
                    <a:pt x="5489291" y="1371330"/>
                  </a:lnTo>
                  <a:lnTo>
                    <a:pt x="5467161" y="1386267"/>
                  </a:lnTo>
                  <a:lnTo>
                    <a:pt x="5445484" y="1390649"/>
                  </a:lnTo>
                </a:path>
                <a:path w="5506084" h="1390650">
                  <a:moveTo>
                    <a:pt x="64203" y="1390649"/>
                  </a:moveTo>
                  <a:lnTo>
                    <a:pt x="42570" y="1386280"/>
                  </a:lnTo>
                  <a:lnTo>
                    <a:pt x="20436" y="1371365"/>
                  </a:lnTo>
                  <a:lnTo>
                    <a:pt x="5499" y="1349235"/>
                  </a:lnTo>
                  <a:lnTo>
                    <a:pt x="0" y="1322123"/>
                  </a:lnTo>
                  <a:lnTo>
                    <a:pt x="0" y="69621"/>
                  </a:lnTo>
                  <a:lnTo>
                    <a:pt x="20400" y="20382"/>
                  </a:lnTo>
                  <a:lnTo>
                    <a:pt x="69643" y="0"/>
                  </a:lnTo>
                  <a:lnTo>
                    <a:pt x="5440049" y="0"/>
                  </a:lnTo>
                  <a:lnTo>
                    <a:pt x="5467121" y="5467"/>
                  </a:lnTo>
                  <a:lnTo>
                    <a:pt x="5489256" y="20382"/>
                  </a:lnTo>
                  <a:lnTo>
                    <a:pt x="5504193" y="42512"/>
                  </a:lnTo>
                  <a:lnTo>
                    <a:pt x="5505449" y="48724"/>
                  </a:lnTo>
                </a:path>
              </a:pathLst>
            </a:custGeom>
            <a:ln w="38129">
              <a:solidFill>
                <a:srgbClr val="8B8FA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/>
          <p:cNvSpPr txBox="1"/>
          <p:nvPr/>
        </p:nvSpPr>
        <p:spPr>
          <a:xfrm>
            <a:off x="6598935" y="8103114"/>
            <a:ext cx="102806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8B8FA2"/>
                </a:solidFill>
                <a:latin typeface="Calibri"/>
                <a:cs typeface="Calibri"/>
              </a:rPr>
              <a:t>Fundraise</a:t>
            </a:r>
            <a:r>
              <a:rPr dirty="0" sz="1350" spc="-75" b="1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25" b="1">
                <a:solidFill>
                  <a:srgbClr val="8B8FA2"/>
                </a:solidFill>
                <a:latin typeface="Calibri"/>
                <a:cs typeface="Calibri"/>
              </a:rPr>
              <a:t>Use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598935" y="8446280"/>
            <a:ext cx="416623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18-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month</a:t>
            </a:r>
            <a:r>
              <a:rPr dirty="0" sz="1350" spc="-3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runway</a:t>
            </a:r>
            <a:r>
              <a:rPr dirty="0" sz="135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·</a:t>
            </a:r>
            <a:r>
              <a:rPr dirty="0" sz="135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Engineering</a:t>
            </a:r>
            <a:r>
              <a:rPr dirty="0" sz="135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·</a:t>
            </a:r>
            <a:r>
              <a:rPr dirty="0" sz="135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First</a:t>
            </a:r>
            <a:r>
              <a:rPr dirty="0" sz="135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10</a:t>
            </a:r>
            <a:r>
              <a:rPr dirty="0" sz="135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pilots</a:t>
            </a:r>
            <a:r>
              <a:rPr dirty="0" sz="135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·</a:t>
            </a:r>
            <a:r>
              <a:rPr dirty="0" sz="135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Cloud</a:t>
            </a:r>
            <a:r>
              <a:rPr dirty="0" sz="1350" spc="-3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infra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12188183" y="7932900"/>
            <a:ext cx="5544185" cy="1429385"/>
            <a:chOff x="12188183" y="7932900"/>
            <a:chExt cx="5544185" cy="1429385"/>
          </a:xfrm>
        </p:grpSpPr>
        <p:sp>
          <p:nvSpPr>
            <p:cNvPr id="58" name="object 58"/>
            <p:cNvSpPr/>
            <p:nvPr/>
          </p:nvSpPr>
          <p:spPr>
            <a:xfrm>
              <a:off x="12207247" y="7951964"/>
              <a:ext cx="5507355" cy="1391920"/>
            </a:xfrm>
            <a:custGeom>
              <a:avLst/>
              <a:gdLst/>
              <a:ahLst/>
              <a:cxnLst/>
              <a:rect l="l" t="t" r="r" b="b"/>
              <a:pathLst>
                <a:path w="5507355" h="1391920">
                  <a:moveTo>
                    <a:pt x="5440203" y="1391735"/>
                  </a:moveTo>
                  <a:lnTo>
                    <a:pt x="69628" y="1391735"/>
                  </a:lnTo>
                  <a:lnTo>
                    <a:pt x="42554" y="1386325"/>
                  </a:lnTo>
                  <a:lnTo>
                    <a:pt x="20419" y="1371409"/>
                  </a:lnTo>
                  <a:lnTo>
                    <a:pt x="5481" y="1349278"/>
                  </a:lnTo>
                  <a:lnTo>
                    <a:pt x="0" y="1322165"/>
                  </a:lnTo>
                  <a:lnTo>
                    <a:pt x="0" y="69627"/>
                  </a:lnTo>
                  <a:lnTo>
                    <a:pt x="20383" y="20383"/>
                  </a:lnTo>
                  <a:lnTo>
                    <a:pt x="69628" y="0"/>
                  </a:lnTo>
                  <a:lnTo>
                    <a:pt x="5440203" y="0"/>
                  </a:lnTo>
                  <a:lnTo>
                    <a:pt x="5467276" y="5468"/>
                  </a:lnTo>
                  <a:lnTo>
                    <a:pt x="5489412" y="20383"/>
                  </a:lnTo>
                  <a:lnTo>
                    <a:pt x="5504349" y="42514"/>
                  </a:lnTo>
                  <a:lnTo>
                    <a:pt x="5507141" y="56324"/>
                  </a:lnTo>
                  <a:lnTo>
                    <a:pt x="5507141" y="1335436"/>
                  </a:lnTo>
                  <a:lnTo>
                    <a:pt x="5504336" y="1349278"/>
                  </a:lnTo>
                  <a:lnTo>
                    <a:pt x="5489395" y="1371409"/>
                  </a:lnTo>
                  <a:lnTo>
                    <a:pt x="5467251" y="1386325"/>
                  </a:lnTo>
                  <a:lnTo>
                    <a:pt x="5440203" y="1391735"/>
                  </a:lnTo>
                  <a:close/>
                </a:path>
              </a:pathLst>
            </a:custGeom>
            <a:solidFill>
              <a:srgbClr val="2921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12207248" y="7951965"/>
              <a:ext cx="5506085" cy="1390650"/>
            </a:xfrm>
            <a:custGeom>
              <a:avLst/>
              <a:gdLst/>
              <a:ahLst/>
              <a:cxnLst/>
              <a:rect l="l" t="t" r="r" b="b"/>
              <a:pathLst>
                <a:path w="5506084" h="1390650">
                  <a:moveTo>
                    <a:pt x="5505463" y="1342975"/>
                  </a:moveTo>
                  <a:lnTo>
                    <a:pt x="5504207" y="1349195"/>
                  </a:lnTo>
                  <a:lnTo>
                    <a:pt x="5489291" y="1371330"/>
                  </a:lnTo>
                  <a:lnTo>
                    <a:pt x="5467161" y="1386267"/>
                  </a:lnTo>
                  <a:lnTo>
                    <a:pt x="5445484" y="1390649"/>
                  </a:lnTo>
                </a:path>
                <a:path w="5506084" h="1390650">
                  <a:moveTo>
                    <a:pt x="64203" y="1390649"/>
                  </a:moveTo>
                  <a:lnTo>
                    <a:pt x="42570" y="1386280"/>
                  </a:lnTo>
                  <a:lnTo>
                    <a:pt x="20436" y="1371365"/>
                  </a:lnTo>
                  <a:lnTo>
                    <a:pt x="5499" y="1349235"/>
                  </a:lnTo>
                  <a:lnTo>
                    <a:pt x="0" y="1322123"/>
                  </a:lnTo>
                  <a:lnTo>
                    <a:pt x="0" y="69621"/>
                  </a:lnTo>
                  <a:lnTo>
                    <a:pt x="5485" y="42512"/>
                  </a:lnTo>
                  <a:lnTo>
                    <a:pt x="20400" y="20382"/>
                  </a:lnTo>
                  <a:lnTo>
                    <a:pt x="42530" y="5467"/>
                  </a:lnTo>
                  <a:lnTo>
                    <a:pt x="69643" y="0"/>
                  </a:lnTo>
                  <a:lnTo>
                    <a:pt x="5440048" y="0"/>
                  </a:lnTo>
                  <a:lnTo>
                    <a:pt x="5467121" y="5467"/>
                  </a:lnTo>
                  <a:lnTo>
                    <a:pt x="5489256" y="20382"/>
                  </a:lnTo>
                  <a:lnTo>
                    <a:pt x="5504193" y="42512"/>
                  </a:lnTo>
                  <a:lnTo>
                    <a:pt x="5505449" y="48724"/>
                  </a:lnTo>
                </a:path>
              </a:pathLst>
            </a:custGeom>
            <a:ln w="38129">
              <a:solidFill>
                <a:srgbClr val="F5C44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/>
          <p:cNvSpPr txBox="1"/>
          <p:nvPr/>
        </p:nvSpPr>
        <p:spPr>
          <a:xfrm>
            <a:off x="12501424" y="8103114"/>
            <a:ext cx="768350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F5C441"/>
                </a:solidFill>
                <a:latin typeface="Calibri"/>
                <a:cs typeface="Calibri"/>
              </a:rPr>
              <a:t>North</a:t>
            </a:r>
            <a:r>
              <a:rPr dirty="0" sz="1350" spc="-25" b="1">
                <a:solidFill>
                  <a:srgbClr val="F5C441"/>
                </a:solidFill>
                <a:latin typeface="Calibri"/>
                <a:cs typeface="Calibri"/>
              </a:rPr>
              <a:t> </a:t>
            </a:r>
            <a:r>
              <a:rPr dirty="0" sz="1350" spc="-20" b="1">
                <a:solidFill>
                  <a:srgbClr val="F5C441"/>
                </a:solidFill>
                <a:latin typeface="Calibri"/>
                <a:cs typeface="Calibri"/>
              </a:rPr>
              <a:t>Star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62" name="object 6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85"/>
              </a:lnSpc>
            </a:pPr>
            <a:r>
              <a:rPr dirty="0"/>
              <a:t>14</a:t>
            </a:r>
            <a:r>
              <a:rPr dirty="0" spc="-15"/>
              <a:t> </a:t>
            </a:r>
            <a:r>
              <a:rPr dirty="0"/>
              <a:t>/</a:t>
            </a:r>
            <a:r>
              <a:rPr dirty="0" spc="-15"/>
              <a:t> </a:t>
            </a:r>
            <a:r>
              <a:rPr dirty="0" spc="-25"/>
              <a:t>16</a:t>
            </a:r>
          </a:p>
        </p:txBody>
      </p:sp>
      <p:sp>
        <p:nvSpPr>
          <p:cNvPr id="61" name="object 61"/>
          <p:cNvSpPr txBox="1"/>
          <p:nvPr/>
        </p:nvSpPr>
        <p:spPr>
          <a:xfrm>
            <a:off x="12501424" y="8446280"/>
            <a:ext cx="4320540" cy="43180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 marR="5080">
              <a:lnSpc>
                <a:spcPts val="1570"/>
              </a:lnSpc>
              <a:spcBef>
                <a:spcPts val="195"/>
              </a:spcBef>
            </a:pP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Revenue</a:t>
            </a:r>
            <a:r>
              <a:rPr dirty="0" sz="1350" spc="-1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Influence</a:t>
            </a:r>
            <a:r>
              <a:rPr dirty="0" sz="1350" spc="-1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Score</a:t>
            </a:r>
            <a:r>
              <a:rPr dirty="0" sz="1350" spc="-2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—</a:t>
            </a:r>
            <a:r>
              <a:rPr dirty="0" sz="1350" spc="-1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revenue</a:t>
            </a:r>
            <a:r>
              <a:rPr dirty="0" sz="1350" spc="-1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generated,</a:t>
            </a:r>
            <a:r>
              <a:rPr dirty="0" sz="1350" spc="-1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retained,</a:t>
            </a:r>
            <a:r>
              <a:rPr dirty="0" sz="1350" spc="-1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25">
                <a:solidFill>
                  <a:srgbClr val="8B8FA2"/>
                </a:solidFill>
                <a:latin typeface="Calibri"/>
                <a:cs typeface="Calibri"/>
              </a:rPr>
              <a:t>and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expanded</a:t>
            </a:r>
            <a:r>
              <a:rPr dirty="0" sz="1350" spc="-2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by</a:t>
            </a:r>
            <a:r>
              <a:rPr dirty="0" sz="1350" spc="-2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B8FA2"/>
                </a:solidFill>
                <a:latin typeface="Calibri"/>
                <a:cs typeface="Calibri"/>
              </a:rPr>
              <a:t>the</a:t>
            </a:r>
            <a:r>
              <a:rPr dirty="0" sz="1350" spc="-2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8B8FA2"/>
                </a:solidFill>
                <a:latin typeface="Calibri"/>
                <a:cs typeface="Calibri"/>
              </a:rPr>
              <a:t>platform</a:t>
            </a:r>
            <a:endParaRPr sz="1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490686" y="2064343"/>
            <a:ext cx="8236584" cy="6858000"/>
            <a:chOff x="5490686" y="2064343"/>
            <a:chExt cx="8236584" cy="6858000"/>
          </a:xfrm>
        </p:grpSpPr>
        <p:sp>
          <p:nvSpPr>
            <p:cNvPr id="3" name="object 3"/>
            <p:cNvSpPr/>
            <p:nvPr/>
          </p:nvSpPr>
          <p:spPr>
            <a:xfrm>
              <a:off x="5490686" y="2064343"/>
              <a:ext cx="6863715" cy="6858000"/>
            </a:xfrm>
            <a:custGeom>
              <a:avLst/>
              <a:gdLst/>
              <a:ahLst/>
              <a:cxnLst/>
              <a:rect l="l" t="t" r="r" b="b"/>
              <a:pathLst>
                <a:path w="6863715" h="6858000">
                  <a:moveTo>
                    <a:pt x="3624749" y="12699"/>
                  </a:moveTo>
                  <a:lnTo>
                    <a:pt x="3238584" y="12699"/>
                  </a:lnTo>
                  <a:lnTo>
                    <a:pt x="3286603" y="0"/>
                  </a:lnTo>
                  <a:lnTo>
                    <a:pt x="3576730" y="0"/>
                  </a:lnTo>
                  <a:lnTo>
                    <a:pt x="3624749" y="12699"/>
                  </a:lnTo>
                  <a:close/>
                </a:path>
                <a:path w="6863715" h="6858000">
                  <a:moveTo>
                    <a:pt x="3815033" y="25399"/>
                  </a:moveTo>
                  <a:lnTo>
                    <a:pt x="3048301" y="25399"/>
                  </a:lnTo>
                  <a:lnTo>
                    <a:pt x="3095594" y="12699"/>
                  </a:lnTo>
                  <a:lnTo>
                    <a:pt x="3767740" y="12699"/>
                  </a:lnTo>
                  <a:lnTo>
                    <a:pt x="3815033" y="25399"/>
                  </a:lnTo>
                  <a:close/>
                </a:path>
                <a:path w="6863715" h="6858000">
                  <a:moveTo>
                    <a:pt x="3909036" y="38099"/>
                  </a:moveTo>
                  <a:lnTo>
                    <a:pt x="2954297" y="38099"/>
                  </a:lnTo>
                  <a:lnTo>
                    <a:pt x="3001200" y="25399"/>
                  </a:lnTo>
                  <a:lnTo>
                    <a:pt x="3862133" y="25399"/>
                  </a:lnTo>
                  <a:lnTo>
                    <a:pt x="3909036" y="38099"/>
                  </a:lnTo>
                  <a:close/>
                </a:path>
                <a:path w="6863715" h="6858000">
                  <a:moveTo>
                    <a:pt x="4002234" y="50799"/>
                  </a:moveTo>
                  <a:lnTo>
                    <a:pt x="2861099" y="50799"/>
                  </a:lnTo>
                  <a:lnTo>
                    <a:pt x="2907595" y="38099"/>
                  </a:lnTo>
                  <a:lnTo>
                    <a:pt x="3955738" y="38099"/>
                  </a:lnTo>
                  <a:lnTo>
                    <a:pt x="4002234" y="50799"/>
                  </a:lnTo>
                  <a:close/>
                </a:path>
                <a:path w="6863715" h="6858000">
                  <a:moveTo>
                    <a:pt x="4186072" y="88899"/>
                  </a:moveTo>
                  <a:lnTo>
                    <a:pt x="2677261" y="88899"/>
                  </a:lnTo>
                  <a:lnTo>
                    <a:pt x="2814813" y="50799"/>
                  </a:lnTo>
                  <a:lnTo>
                    <a:pt x="4048520" y="50799"/>
                  </a:lnTo>
                  <a:lnTo>
                    <a:pt x="4186072" y="88899"/>
                  </a:lnTo>
                  <a:close/>
                </a:path>
                <a:path w="6863715" h="6858000">
                  <a:moveTo>
                    <a:pt x="4140444" y="6794499"/>
                  </a:moveTo>
                  <a:lnTo>
                    <a:pt x="2722890" y="6794499"/>
                  </a:lnTo>
                  <a:lnTo>
                    <a:pt x="2234236" y="6654799"/>
                  </a:lnTo>
                  <a:lnTo>
                    <a:pt x="2191357" y="6629399"/>
                  </a:lnTo>
                  <a:lnTo>
                    <a:pt x="2106432" y="6603999"/>
                  </a:lnTo>
                  <a:lnTo>
                    <a:pt x="2064395" y="6578599"/>
                  </a:lnTo>
                  <a:lnTo>
                    <a:pt x="2022648" y="6565899"/>
                  </a:lnTo>
                  <a:lnTo>
                    <a:pt x="1981194" y="6540499"/>
                  </a:lnTo>
                  <a:lnTo>
                    <a:pt x="1940040" y="6527799"/>
                  </a:lnTo>
                  <a:lnTo>
                    <a:pt x="1899188" y="6502399"/>
                  </a:lnTo>
                  <a:lnTo>
                    <a:pt x="1858643" y="6489699"/>
                  </a:lnTo>
                  <a:lnTo>
                    <a:pt x="1738898" y="6413499"/>
                  </a:lnTo>
                  <a:lnTo>
                    <a:pt x="1699626" y="6400799"/>
                  </a:lnTo>
                  <a:lnTo>
                    <a:pt x="1583806" y="6324599"/>
                  </a:lnTo>
                  <a:lnTo>
                    <a:pt x="1471070" y="6248399"/>
                  </a:lnTo>
                  <a:lnTo>
                    <a:pt x="1397683" y="6197599"/>
                  </a:lnTo>
                  <a:lnTo>
                    <a:pt x="1325756" y="6146799"/>
                  </a:lnTo>
                  <a:lnTo>
                    <a:pt x="1290350" y="6108699"/>
                  </a:lnTo>
                  <a:lnTo>
                    <a:pt x="1220676" y="6057899"/>
                  </a:lnTo>
                  <a:lnTo>
                    <a:pt x="1186417" y="6032499"/>
                  </a:lnTo>
                  <a:lnTo>
                    <a:pt x="1152549" y="5994399"/>
                  </a:lnTo>
                  <a:lnTo>
                    <a:pt x="1086004" y="5943599"/>
                  </a:lnTo>
                  <a:lnTo>
                    <a:pt x="1053336" y="5905499"/>
                  </a:lnTo>
                  <a:lnTo>
                    <a:pt x="1021076" y="5880099"/>
                  </a:lnTo>
                  <a:lnTo>
                    <a:pt x="989230" y="5841999"/>
                  </a:lnTo>
                  <a:lnTo>
                    <a:pt x="957801" y="5816599"/>
                  </a:lnTo>
                  <a:lnTo>
                    <a:pt x="926795" y="5778499"/>
                  </a:lnTo>
                  <a:lnTo>
                    <a:pt x="896214" y="5740399"/>
                  </a:lnTo>
                  <a:lnTo>
                    <a:pt x="866065" y="5714999"/>
                  </a:lnTo>
                  <a:lnTo>
                    <a:pt x="836350" y="5676899"/>
                  </a:lnTo>
                  <a:lnTo>
                    <a:pt x="807076" y="5638799"/>
                  </a:lnTo>
                  <a:lnTo>
                    <a:pt x="778245" y="5613399"/>
                  </a:lnTo>
                  <a:lnTo>
                    <a:pt x="749863" y="5575299"/>
                  </a:lnTo>
                  <a:lnTo>
                    <a:pt x="721933" y="5537199"/>
                  </a:lnTo>
                  <a:lnTo>
                    <a:pt x="694461" y="5499099"/>
                  </a:lnTo>
                  <a:lnTo>
                    <a:pt x="667451" y="5460999"/>
                  </a:lnTo>
                  <a:lnTo>
                    <a:pt x="640906" y="5435599"/>
                  </a:lnTo>
                  <a:lnTo>
                    <a:pt x="614832" y="5397499"/>
                  </a:lnTo>
                  <a:lnTo>
                    <a:pt x="589233" y="5359399"/>
                  </a:lnTo>
                  <a:lnTo>
                    <a:pt x="564114" y="5321299"/>
                  </a:lnTo>
                  <a:lnTo>
                    <a:pt x="539478" y="5283199"/>
                  </a:lnTo>
                  <a:lnTo>
                    <a:pt x="515330" y="5245099"/>
                  </a:lnTo>
                  <a:lnTo>
                    <a:pt x="491675" y="5206999"/>
                  </a:lnTo>
                  <a:lnTo>
                    <a:pt x="468517" y="5168899"/>
                  </a:lnTo>
                  <a:lnTo>
                    <a:pt x="445860" y="5130799"/>
                  </a:lnTo>
                  <a:lnTo>
                    <a:pt x="423709" y="5079999"/>
                  </a:lnTo>
                  <a:lnTo>
                    <a:pt x="402068" y="5041899"/>
                  </a:lnTo>
                  <a:lnTo>
                    <a:pt x="380941" y="5003799"/>
                  </a:lnTo>
                  <a:lnTo>
                    <a:pt x="360334" y="4965699"/>
                  </a:lnTo>
                  <a:lnTo>
                    <a:pt x="340250" y="4927599"/>
                  </a:lnTo>
                  <a:lnTo>
                    <a:pt x="320694" y="4889499"/>
                  </a:lnTo>
                  <a:lnTo>
                    <a:pt x="301671" y="4838699"/>
                  </a:lnTo>
                  <a:lnTo>
                    <a:pt x="283184" y="4800599"/>
                  </a:lnTo>
                  <a:lnTo>
                    <a:pt x="265238" y="4762499"/>
                  </a:lnTo>
                  <a:lnTo>
                    <a:pt x="247837" y="4711699"/>
                  </a:lnTo>
                  <a:lnTo>
                    <a:pt x="230986" y="4673599"/>
                  </a:lnTo>
                  <a:lnTo>
                    <a:pt x="214690" y="4635499"/>
                  </a:lnTo>
                  <a:lnTo>
                    <a:pt x="198953" y="4584699"/>
                  </a:lnTo>
                  <a:lnTo>
                    <a:pt x="183778" y="4546599"/>
                  </a:lnTo>
                  <a:lnTo>
                    <a:pt x="169171" y="4495799"/>
                  </a:lnTo>
                  <a:lnTo>
                    <a:pt x="155136" y="4457699"/>
                  </a:lnTo>
                  <a:lnTo>
                    <a:pt x="141678" y="4406899"/>
                  </a:lnTo>
                  <a:lnTo>
                    <a:pt x="128800" y="4368799"/>
                  </a:lnTo>
                  <a:lnTo>
                    <a:pt x="116507" y="4317999"/>
                  </a:lnTo>
                  <a:lnTo>
                    <a:pt x="104804" y="4279899"/>
                  </a:lnTo>
                  <a:lnTo>
                    <a:pt x="93695" y="4229099"/>
                  </a:lnTo>
                  <a:lnTo>
                    <a:pt x="83185" y="4190999"/>
                  </a:lnTo>
                  <a:lnTo>
                    <a:pt x="73277" y="4140199"/>
                  </a:lnTo>
                  <a:lnTo>
                    <a:pt x="63976" y="4089399"/>
                  </a:lnTo>
                  <a:lnTo>
                    <a:pt x="55287" y="4051299"/>
                  </a:lnTo>
                  <a:lnTo>
                    <a:pt x="47215" y="4000499"/>
                  </a:lnTo>
                  <a:lnTo>
                    <a:pt x="39762" y="3962399"/>
                  </a:lnTo>
                  <a:lnTo>
                    <a:pt x="32935" y="3911599"/>
                  </a:lnTo>
                  <a:lnTo>
                    <a:pt x="26737" y="3860799"/>
                  </a:lnTo>
                  <a:lnTo>
                    <a:pt x="21172" y="3809999"/>
                  </a:lnTo>
                  <a:lnTo>
                    <a:pt x="16246" y="3771899"/>
                  </a:lnTo>
                  <a:lnTo>
                    <a:pt x="11962" y="3721099"/>
                  </a:lnTo>
                  <a:lnTo>
                    <a:pt x="8325" y="3670299"/>
                  </a:lnTo>
                  <a:lnTo>
                    <a:pt x="5340" y="3619499"/>
                  </a:lnTo>
                  <a:lnTo>
                    <a:pt x="3010" y="3581399"/>
                  </a:lnTo>
                  <a:lnTo>
                    <a:pt x="1340" y="3530599"/>
                  </a:lnTo>
                  <a:lnTo>
                    <a:pt x="335" y="3479799"/>
                  </a:lnTo>
                  <a:lnTo>
                    <a:pt x="0" y="3428999"/>
                  </a:lnTo>
                  <a:lnTo>
                    <a:pt x="335" y="3378199"/>
                  </a:lnTo>
                  <a:lnTo>
                    <a:pt x="1340" y="3340099"/>
                  </a:lnTo>
                  <a:lnTo>
                    <a:pt x="3010" y="3289299"/>
                  </a:lnTo>
                  <a:lnTo>
                    <a:pt x="5340" y="3238499"/>
                  </a:lnTo>
                  <a:lnTo>
                    <a:pt x="8325" y="3187699"/>
                  </a:lnTo>
                  <a:lnTo>
                    <a:pt x="11962" y="3149599"/>
                  </a:lnTo>
                  <a:lnTo>
                    <a:pt x="16246" y="3098799"/>
                  </a:lnTo>
                  <a:lnTo>
                    <a:pt x="21172" y="3047999"/>
                  </a:lnTo>
                  <a:lnTo>
                    <a:pt x="26737" y="2997199"/>
                  </a:lnTo>
                  <a:lnTo>
                    <a:pt x="32935" y="2959099"/>
                  </a:lnTo>
                  <a:lnTo>
                    <a:pt x="39762" y="2908299"/>
                  </a:lnTo>
                  <a:lnTo>
                    <a:pt x="47215" y="2857499"/>
                  </a:lnTo>
                  <a:lnTo>
                    <a:pt x="55287" y="2819399"/>
                  </a:lnTo>
                  <a:lnTo>
                    <a:pt x="63976" y="2768599"/>
                  </a:lnTo>
                  <a:lnTo>
                    <a:pt x="73277" y="2717799"/>
                  </a:lnTo>
                  <a:lnTo>
                    <a:pt x="83185" y="2679699"/>
                  </a:lnTo>
                  <a:lnTo>
                    <a:pt x="93695" y="2628899"/>
                  </a:lnTo>
                  <a:lnTo>
                    <a:pt x="104804" y="2590799"/>
                  </a:lnTo>
                  <a:lnTo>
                    <a:pt x="116507" y="2539999"/>
                  </a:lnTo>
                  <a:lnTo>
                    <a:pt x="128800" y="2501899"/>
                  </a:lnTo>
                  <a:lnTo>
                    <a:pt x="141678" y="2451099"/>
                  </a:lnTo>
                  <a:lnTo>
                    <a:pt x="155136" y="2412999"/>
                  </a:lnTo>
                  <a:lnTo>
                    <a:pt x="169171" y="2362199"/>
                  </a:lnTo>
                  <a:lnTo>
                    <a:pt x="183778" y="2324099"/>
                  </a:lnTo>
                  <a:lnTo>
                    <a:pt x="198953" y="2273299"/>
                  </a:lnTo>
                  <a:lnTo>
                    <a:pt x="214690" y="2235199"/>
                  </a:lnTo>
                  <a:lnTo>
                    <a:pt x="230986" y="2197099"/>
                  </a:lnTo>
                  <a:lnTo>
                    <a:pt x="247837" y="2146299"/>
                  </a:lnTo>
                  <a:lnTo>
                    <a:pt x="265238" y="2108199"/>
                  </a:lnTo>
                  <a:lnTo>
                    <a:pt x="283184" y="2070099"/>
                  </a:lnTo>
                  <a:lnTo>
                    <a:pt x="301671" y="2019299"/>
                  </a:lnTo>
                  <a:lnTo>
                    <a:pt x="320694" y="1981199"/>
                  </a:lnTo>
                  <a:lnTo>
                    <a:pt x="340250" y="1943099"/>
                  </a:lnTo>
                  <a:lnTo>
                    <a:pt x="360334" y="1904999"/>
                  </a:lnTo>
                  <a:lnTo>
                    <a:pt x="380941" y="1854199"/>
                  </a:lnTo>
                  <a:lnTo>
                    <a:pt x="402068" y="1816099"/>
                  </a:lnTo>
                  <a:lnTo>
                    <a:pt x="423709" y="1777999"/>
                  </a:lnTo>
                  <a:lnTo>
                    <a:pt x="445860" y="1739899"/>
                  </a:lnTo>
                  <a:lnTo>
                    <a:pt x="468517" y="1701799"/>
                  </a:lnTo>
                  <a:lnTo>
                    <a:pt x="491675" y="1663699"/>
                  </a:lnTo>
                  <a:lnTo>
                    <a:pt x="515330" y="1625599"/>
                  </a:lnTo>
                  <a:lnTo>
                    <a:pt x="539478" y="1587499"/>
                  </a:lnTo>
                  <a:lnTo>
                    <a:pt x="564114" y="1549399"/>
                  </a:lnTo>
                  <a:lnTo>
                    <a:pt x="589233" y="1511299"/>
                  </a:lnTo>
                  <a:lnTo>
                    <a:pt x="614832" y="1473199"/>
                  </a:lnTo>
                  <a:lnTo>
                    <a:pt x="640906" y="1435099"/>
                  </a:lnTo>
                  <a:lnTo>
                    <a:pt x="667451" y="1396999"/>
                  </a:lnTo>
                  <a:lnTo>
                    <a:pt x="694461" y="1358899"/>
                  </a:lnTo>
                  <a:lnTo>
                    <a:pt x="721933" y="1320799"/>
                  </a:lnTo>
                  <a:lnTo>
                    <a:pt x="749863" y="1295399"/>
                  </a:lnTo>
                  <a:lnTo>
                    <a:pt x="778245" y="1257299"/>
                  </a:lnTo>
                  <a:lnTo>
                    <a:pt x="807076" y="1219199"/>
                  </a:lnTo>
                  <a:lnTo>
                    <a:pt x="836350" y="1181099"/>
                  </a:lnTo>
                  <a:lnTo>
                    <a:pt x="866065" y="1155699"/>
                  </a:lnTo>
                  <a:lnTo>
                    <a:pt x="896214" y="1117599"/>
                  </a:lnTo>
                  <a:lnTo>
                    <a:pt x="926795" y="1092199"/>
                  </a:lnTo>
                  <a:lnTo>
                    <a:pt x="957801" y="1054099"/>
                  </a:lnTo>
                  <a:lnTo>
                    <a:pt x="989230" y="1015999"/>
                  </a:lnTo>
                  <a:lnTo>
                    <a:pt x="1021076" y="990599"/>
                  </a:lnTo>
                  <a:lnTo>
                    <a:pt x="1053336" y="952499"/>
                  </a:lnTo>
                  <a:lnTo>
                    <a:pt x="1119077" y="901699"/>
                  </a:lnTo>
                  <a:lnTo>
                    <a:pt x="1152549" y="863599"/>
                  </a:lnTo>
                  <a:lnTo>
                    <a:pt x="1220676" y="812799"/>
                  </a:lnTo>
                  <a:lnTo>
                    <a:pt x="1255322" y="774699"/>
                  </a:lnTo>
                  <a:lnTo>
                    <a:pt x="1325756" y="723899"/>
                  </a:lnTo>
                  <a:lnTo>
                    <a:pt x="1397683" y="673099"/>
                  </a:lnTo>
                  <a:lnTo>
                    <a:pt x="1434196" y="647699"/>
                  </a:lnTo>
                  <a:lnTo>
                    <a:pt x="1471070" y="609599"/>
                  </a:lnTo>
                  <a:lnTo>
                    <a:pt x="1545879" y="558799"/>
                  </a:lnTo>
                  <a:lnTo>
                    <a:pt x="1583806" y="546099"/>
                  </a:lnTo>
                  <a:lnTo>
                    <a:pt x="1699626" y="469899"/>
                  </a:lnTo>
                  <a:lnTo>
                    <a:pt x="1778494" y="419099"/>
                  </a:lnTo>
                  <a:lnTo>
                    <a:pt x="1818411" y="406399"/>
                  </a:lnTo>
                  <a:lnTo>
                    <a:pt x="1899188" y="355599"/>
                  </a:lnTo>
                  <a:lnTo>
                    <a:pt x="1940040" y="342899"/>
                  </a:lnTo>
                  <a:lnTo>
                    <a:pt x="1981194" y="317499"/>
                  </a:lnTo>
                  <a:lnTo>
                    <a:pt x="2022648" y="304799"/>
                  </a:lnTo>
                  <a:lnTo>
                    <a:pt x="2064395" y="279399"/>
                  </a:lnTo>
                  <a:lnTo>
                    <a:pt x="2148754" y="253999"/>
                  </a:lnTo>
                  <a:lnTo>
                    <a:pt x="2191357" y="228599"/>
                  </a:lnTo>
                  <a:lnTo>
                    <a:pt x="2320806" y="190499"/>
                  </a:lnTo>
                  <a:lnTo>
                    <a:pt x="2364488" y="165099"/>
                  </a:lnTo>
                  <a:lnTo>
                    <a:pt x="2631860" y="88899"/>
                  </a:lnTo>
                  <a:lnTo>
                    <a:pt x="4231473" y="88899"/>
                  </a:lnTo>
                  <a:lnTo>
                    <a:pt x="4498845" y="165099"/>
                  </a:lnTo>
                  <a:lnTo>
                    <a:pt x="4542527" y="190499"/>
                  </a:lnTo>
                  <a:lnTo>
                    <a:pt x="4671977" y="228599"/>
                  </a:lnTo>
                  <a:lnTo>
                    <a:pt x="4714580" y="253999"/>
                  </a:lnTo>
                  <a:lnTo>
                    <a:pt x="4798938" y="279399"/>
                  </a:lnTo>
                  <a:lnTo>
                    <a:pt x="4840686" y="304799"/>
                  </a:lnTo>
                  <a:lnTo>
                    <a:pt x="4882139" y="317499"/>
                  </a:lnTo>
                  <a:lnTo>
                    <a:pt x="4923293" y="342899"/>
                  </a:lnTo>
                  <a:lnTo>
                    <a:pt x="4964145" y="355599"/>
                  </a:lnTo>
                  <a:lnTo>
                    <a:pt x="5044923" y="406399"/>
                  </a:lnTo>
                  <a:lnTo>
                    <a:pt x="5084839" y="419099"/>
                  </a:lnTo>
                  <a:lnTo>
                    <a:pt x="5163707" y="469899"/>
                  </a:lnTo>
                  <a:lnTo>
                    <a:pt x="5279527" y="546099"/>
                  </a:lnTo>
                  <a:lnTo>
                    <a:pt x="5317454" y="558799"/>
                  </a:lnTo>
                  <a:lnTo>
                    <a:pt x="5392264" y="609599"/>
                  </a:lnTo>
                  <a:lnTo>
                    <a:pt x="5429137" y="647699"/>
                  </a:lnTo>
                  <a:lnTo>
                    <a:pt x="5465650" y="673099"/>
                  </a:lnTo>
                  <a:lnTo>
                    <a:pt x="5537578" y="723899"/>
                  </a:lnTo>
                  <a:lnTo>
                    <a:pt x="5608011" y="774699"/>
                  </a:lnTo>
                  <a:lnTo>
                    <a:pt x="5642657" y="812799"/>
                  </a:lnTo>
                  <a:lnTo>
                    <a:pt x="5710784" y="863599"/>
                  </a:lnTo>
                  <a:lnTo>
                    <a:pt x="5744257" y="901699"/>
                  </a:lnTo>
                  <a:lnTo>
                    <a:pt x="5809997" y="952499"/>
                  </a:lnTo>
                  <a:lnTo>
                    <a:pt x="5842257" y="990599"/>
                  </a:lnTo>
                  <a:lnTo>
                    <a:pt x="5874103" y="1015999"/>
                  </a:lnTo>
                  <a:lnTo>
                    <a:pt x="5905532" y="1054099"/>
                  </a:lnTo>
                  <a:lnTo>
                    <a:pt x="5936539" y="1092199"/>
                  </a:lnTo>
                  <a:lnTo>
                    <a:pt x="5967119" y="1117599"/>
                  </a:lnTo>
                  <a:lnTo>
                    <a:pt x="5997268" y="1155699"/>
                  </a:lnTo>
                  <a:lnTo>
                    <a:pt x="6026983" y="1181099"/>
                  </a:lnTo>
                  <a:lnTo>
                    <a:pt x="6056258" y="1219199"/>
                  </a:lnTo>
                  <a:lnTo>
                    <a:pt x="6085088" y="1257299"/>
                  </a:lnTo>
                  <a:lnTo>
                    <a:pt x="6113471" y="1295399"/>
                  </a:lnTo>
                  <a:lnTo>
                    <a:pt x="6141400" y="1320799"/>
                  </a:lnTo>
                  <a:lnTo>
                    <a:pt x="6168872" y="1358899"/>
                  </a:lnTo>
                  <a:lnTo>
                    <a:pt x="6195883" y="1396999"/>
                  </a:lnTo>
                  <a:lnTo>
                    <a:pt x="6222427" y="1435099"/>
                  </a:lnTo>
                  <a:lnTo>
                    <a:pt x="6248501" y="1473199"/>
                  </a:lnTo>
                  <a:lnTo>
                    <a:pt x="6274100" y="1511299"/>
                  </a:lnTo>
                  <a:lnTo>
                    <a:pt x="6299219" y="1549399"/>
                  </a:lnTo>
                  <a:lnTo>
                    <a:pt x="6323855" y="1587499"/>
                  </a:lnTo>
                  <a:lnTo>
                    <a:pt x="6348003" y="1625599"/>
                  </a:lnTo>
                  <a:lnTo>
                    <a:pt x="6371658" y="1663699"/>
                  </a:lnTo>
                  <a:lnTo>
                    <a:pt x="6394817" y="1701799"/>
                  </a:lnTo>
                  <a:lnTo>
                    <a:pt x="6417473" y="1739899"/>
                  </a:lnTo>
                  <a:lnTo>
                    <a:pt x="6439625" y="1777999"/>
                  </a:lnTo>
                  <a:lnTo>
                    <a:pt x="6461265" y="1816099"/>
                  </a:lnTo>
                  <a:lnTo>
                    <a:pt x="6482392" y="1854199"/>
                  </a:lnTo>
                  <a:lnTo>
                    <a:pt x="6502999" y="1904999"/>
                  </a:lnTo>
                  <a:lnTo>
                    <a:pt x="6523083" y="1943099"/>
                  </a:lnTo>
                  <a:lnTo>
                    <a:pt x="6542639" y="1981199"/>
                  </a:lnTo>
                  <a:lnTo>
                    <a:pt x="6561663" y="2019299"/>
                  </a:lnTo>
                  <a:lnTo>
                    <a:pt x="6580150" y="2070099"/>
                  </a:lnTo>
                  <a:lnTo>
                    <a:pt x="6598096" y="2108199"/>
                  </a:lnTo>
                  <a:lnTo>
                    <a:pt x="6615496" y="2146299"/>
                  </a:lnTo>
                  <a:lnTo>
                    <a:pt x="6632347" y="2197099"/>
                  </a:lnTo>
                  <a:lnTo>
                    <a:pt x="6648643" y="2235199"/>
                  </a:lnTo>
                  <a:lnTo>
                    <a:pt x="6664381" y="2273299"/>
                  </a:lnTo>
                  <a:lnTo>
                    <a:pt x="6679555" y="2324099"/>
                  </a:lnTo>
                  <a:lnTo>
                    <a:pt x="6694162" y="2362199"/>
                  </a:lnTo>
                  <a:lnTo>
                    <a:pt x="6708197" y="2412999"/>
                  </a:lnTo>
                  <a:lnTo>
                    <a:pt x="6721656" y="2451099"/>
                  </a:lnTo>
                  <a:lnTo>
                    <a:pt x="6734533" y="2501899"/>
                  </a:lnTo>
                  <a:lnTo>
                    <a:pt x="6746826" y="2539999"/>
                  </a:lnTo>
                  <a:lnTo>
                    <a:pt x="6758529" y="2590799"/>
                  </a:lnTo>
                  <a:lnTo>
                    <a:pt x="6769638" y="2628899"/>
                  </a:lnTo>
                  <a:lnTo>
                    <a:pt x="6780149" y="2679699"/>
                  </a:lnTo>
                  <a:lnTo>
                    <a:pt x="6790056" y="2717799"/>
                  </a:lnTo>
                  <a:lnTo>
                    <a:pt x="6799357" y="2768599"/>
                  </a:lnTo>
                  <a:lnTo>
                    <a:pt x="6808046" y="2819399"/>
                  </a:lnTo>
                  <a:lnTo>
                    <a:pt x="6816119" y="2857499"/>
                  </a:lnTo>
                  <a:lnTo>
                    <a:pt x="6823571" y="2908299"/>
                  </a:lnTo>
                  <a:lnTo>
                    <a:pt x="6830398" y="2959099"/>
                  </a:lnTo>
                  <a:lnTo>
                    <a:pt x="6836597" y="2997199"/>
                  </a:lnTo>
                  <a:lnTo>
                    <a:pt x="6842161" y="3047999"/>
                  </a:lnTo>
                  <a:lnTo>
                    <a:pt x="6847087" y="3098799"/>
                  </a:lnTo>
                  <a:lnTo>
                    <a:pt x="6851371" y="3149599"/>
                  </a:lnTo>
                  <a:lnTo>
                    <a:pt x="6855008" y="3187699"/>
                  </a:lnTo>
                  <a:lnTo>
                    <a:pt x="6857993" y="3238499"/>
                  </a:lnTo>
                  <a:lnTo>
                    <a:pt x="6860323" y="3289299"/>
                  </a:lnTo>
                  <a:lnTo>
                    <a:pt x="6861993" y="3340099"/>
                  </a:lnTo>
                  <a:lnTo>
                    <a:pt x="6862998" y="3378199"/>
                  </a:lnTo>
                  <a:lnTo>
                    <a:pt x="6863334" y="3428999"/>
                  </a:lnTo>
                  <a:lnTo>
                    <a:pt x="6862998" y="3479799"/>
                  </a:lnTo>
                  <a:lnTo>
                    <a:pt x="6861993" y="3530599"/>
                  </a:lnTo>
                  <a:lnTo>
                    <a:pt x="6860323" y="3581399"/>
                  </a:lnTo>
                  <a:lnTo>
                    <a:pt x="6857993" y="3619499"/>
                  </a:lnTo>
                  <a:lnTo>
                    <a:pt x="6855008" y="3670299"/>
                  </a:lnTo>
                  <a:lnTo>
                    <a:pt x="6851371" y="3721099"/>
                  </a:lnTo>
                  <a:lnTo>
                    <a:pt x="6847087" y="3771899"/>
                  </a:lnTo>
                  <a:lnTo>
                    <a:pt x="6842161" y="3809999"/>
                  </a:lnTo>
                  <a:lnTo>
                    <a:pt x="6836597" y="3860799"/>
                  </a:lnTo>
                  <a:lnTo>
                    <a:pt x="6830398" y="3911599"/>
                  </a:lnTo>
                  <a:lnTo>
                    <a:pt x="6823571" y="3962399"/>
                  </a:lnTo>
                  <a:lnTo>
                    <a:pt x="6816119" y="4000499"/>
                  </a:lnTo>
                  <a:lnTo>
                    <a:pt x="6808046" y="4051299"/>
                  </a:lnTo>
                  <a:lnTo>
                    <a:pt x="6799357" y="4089399"/>
                  </a:lnTo>
                  <a:lnTo>
                    <a:pt x="6790056" y="4140199"/>
                  </a:lnTo>
                  <a:lnTo>
                    <a:pt x="6780149" y="4190999"/>
                  </a:lnTo>
                  <a:lnTo>
                    <a:pt x="6769638" y="4229099"/>
                  </a:lnTo>
                  <a:lnTo>
                    <a:pt x="6758529" y="4279899"/>
                  </a:lnTo>
                  <a:lnTo>
                    <a:pt x="6746826" y="4317999"/>
                  </a:lnTo>
                  <a:lnTo>
                    <a:pt x="6734533" y="4368799"/>
                  </a:lnTo>
                  <a:lnTo>
                    <a:pt x="6721656" y="4406899"/>
                  </a:lnTo>
                  <a:lnTo>
                    <a:pt x="6708197" y="4457699"/>
                  </a:lnTo>
                  <a:lnTo>
                    <a:pt x="6694162" y="4495799"/>
                  </a:lnTo>
                  <a:lnTo>
                    <a:pt x="6679555" y="4546599"/>
                  </a:lnTo>
                  <a:lnTo>
                    <a:pt x="6664381" y="4584699"/>
                  </a:lnTo>
                  <a:lnTo>
                    <a:pt x="6648643" y="4635499"/>
                  </a:lnTo>
                  <a:lnTo>
                    <a:pt x="6632347" y="4673599"/>
                  </a:lnTo>
                  <a:lnTo>
                    <a:pt x="6615496" y="4711699"/>
                  </a:lnTo>
                  <a:lnTo>
                    <a:pt x="6598096" y="4762499"/>
                  </a:lnTo>
                  <a:lnTo>
                    <a:pt x="6580150" y="4800599"/>
                  </a:lnTo>
                  <a:lnTo>
                    <a:pt x="6561663" y="4838699"/>
                  </a:lnTo>
                  <a:lnTo>
                    <a:pt x="6542639" y="4889499"/>
                  </a:lnTo>
                  <a:lnTo>
                    <a:pt x="6523083" y="4927599"/>
                  </a:lnTo>
                  <a:lnTo>
                    <a:pt x="6502999" y="4965699"/>
                  </a:lnTo>
                  <a:lnTo>
                    <a:pt x="6482392" y="5003799"/>
                  </a:lnTo>
                  <a:lnTo>
                    <a:pt x="6461265" y="5041899"/>
                  </a:lnTo>
                  <a:lnTo>
                    <a:pt x="6439625" y="5079999"/>
                  </a:lnTo>
                  <a:lnTo>
                    <a:pt x="6417473" y="5130799"/>
                  </a:lnTo>
                  <a:lnTo>
                    <a:pt x="6394817" y="5168899"/>
                  </a:lnTo>
                  <a:lnTo>
                    <a:pt x="6371658" y="5206999"/>
                  </a:lnTo>
                  <a:lnTo>
                    <a:pt x="6348003" y="5245099"/>
                  </a:lnTo>
                  <a:lnTo>
                    <a:pt x="6323855" y="5283199"/>
                  </a:lnTo>
                  <a:lnTo>
                    <a:pt x="6299219" y="5321299"/>
                  </a:lnTo>
                  <a:lnTo>
                    <a:pt x="6274100" y="5359399"/>
                  </a:lnTo>
                  <a:lnTo>
                    <a:pt x="6248501" y="5397499"/>
                  </a:lnTo>
                  <a:lnTo>
                    <a:pt x="6222427" y="5435599"/>
                  </a:lnTo>
                  <a:lnTo>
                    <a:pt x="6195883" y="5460999"/>
                  </a:lnTo>
                  <a:lnTo>
                    <a:pt x="6168872" y="5499099"/>
                  </a:lnTo>
                  <a:lnTo>
                    <a:pt x="6141400" y="5537199"/>
                  </a:lnTo>
                  <a:lnTo>
                    <a:pt x="6113471" y="5575299"/>
                  </a:lnTo>
                  <a:lnTo>
                    <a:pt x="6085088" y="5613399"/>
                  </a:lnTo>
                  <a:lnTo>
                    <a:pt x="6056258" y="5638799"/>
                  </a:lnTo>
                  <a:lnTo>
                    <a:pt x="6026983" y="5676899"/>
                  </a:lnTo>
                  <a:lnTo>
                    <a:pt x="5997268" y="5714999"/>
                  </a:lnTo>
                  <a:lnTo>
                    <a:pt x="5967119" y="5740399"/>
                  </a:lnTo>
                  <a:lnTo>
                    <a:pt x="5936539" y="5778499"/>
                  </a:lnTo>
                  <a:lnTo>
                    <a:pt x="5905532" y="5816599"/>
                  </a:lnTo>
                  <a:lnTo>
                    <a:pt x="5874103" y="5841999"/>
                  </a:lnTo>
                  <a:lnTo>
                    <a:pt x="5842257" y="5880099"/>
                  </a:lnTo>
                  <a:lnTo>
                    <a:pt x="5809997" y="5905499"/>
                  </a:lnTo>
                  <a:lnTo>
                    <a:pt x="5777329" y="5943599"/>
                  </a:lnTo>
                  <a:lnTo>
                    <a:pt x="5710784" y="5994399"/>
                  </a:lnTo>
                  <a:lnTo>
                    <a:pt x="5676916" y="6032499"/>
                  </a:lnTo>
                  <a:lnTo>
                    <a:pt x="5642657" y="6057899"/>
                  </a:lnTo>
                  <a:lnTo>
                    <a:pt x="5572983" y="6108699"/>
                  </a:lnTo>
                  <a:lnTo>
                    <a:pt x="5537578" y="6146799"/>
                  </a:lnTo>
                  <a:lnTo>
                    <a:pt x="5465650" y="6197599"/>
                  </a:lnTo>
                  <a:lnTo>
                    <a:pt x="5392264" y="6248399"/>
                  </a:lnTo>
                  <a:lnTo>
                    <a:pt x="5279527" y="6324599"/>
                  </a:lnTo>
                  <a:lnTo>
                    <a:pt x="5163707" y="6400799"/>
                  </a:lnTo>
                  <a:lnTo>
                    <a:pt x="5124435" y="6413499"/>
                  </a:lnTo>
                  <a:lnTo>
                    <a:pt x="5004690" y="6489699"/>
                  </a:lnTo>
                  <a:lnTo>
                    <a:pt x="4964145" y="6502399"/>
                  </a:lnTo>
                  <a:lnTo>
                    <a:pt x="4923293" y="6527799"/>
                  </a:lnTo>
                  <a:lnTo>
                    <a:pt x="4882139" y="6540499"/>
                  </a:lnTo>
                  <a:lnTo>
                    <a:pt x="4840686" y="6565899"/>
                  </a:lnTo>
                  <a:lnTo>
                    <a:pt x="4798938" y="6578599"/>
                  </a:lnTo>
                  <a:lnTo>
                    <a:pt x="4756902" y="6603999"/>
                  </a:lnTo>
                  <a:lnTo>
                    <a:pt x="4671977" y="6629399"/>
                  </a:lnTo>
                  <a:lnTo>
                    <a:pt x="4629097" y="6654799"/>
                  </a:lnTo>
                  <a:lnTo>
                    <a:pt x="4140444" y="6794499"/>
                  </a:lnTo>
                  <a:close/>
                </a:path>
                <a:path w="6863715" h="6858000">
                  <a:moveTo>
                    <a:pt x="4002234" y="6819899"/>
                  </a:moveTo>
                  <a:lnTo>
                    <a:pt x="2861099" y="6819899"/>
                  </a:lnTo>
                  <a:lnTo>
                    <a:pt x="2768742" y="6794499"/>
                  </a:lnTo>
                  <a:lnTo>
                    <a:pt x="4094591" y="6794499"/>
                  </a:lnTo>
                  <a:lnTo>
                    <a:pt x="4002234" y="6819899"/>
                  </a:lnTo>
                  <a:close/>
                </a:path>
                <a:path w="6863715" h="6858000">
                  <a:moveTo>
                    <a:pt x="3909036" y="6832599"/>
                  </a:moveTo>
                  <a:lnTo>
                    <a:pt x="2954297" y="6832599"/>
                  </a:lnTo>
                  <a:lnTo>
                    <a:pt x="2907595" y="6819899"/>
                  </a:lnTo>
                  <a:lnTo>
                    <a:pt x="3955738" y="6819899"/>
                  </a:lnTo>
                  <a:lnTo>
                    <a:pt x="3909036" y="6832599"/>
                  </a:lnTo>
                  <a:close/>
                </a:path>
                <a:path w="6863715" h="6858000">
                  <a:moveTo>
                    <a:pt x="3815033" y="6845299"/>
                  </a:moveTo>
                  <a:lnTo>
                    <a:pt x="3048301" y="6845299"/>
                  </a:lnTo>
                  <a:lnTo>
                    <a:pt x="3001200" y="6832599"/>
                  </a:lnTo>
                  <a:lnTo>
                    <a:pt x="3862133" y="6832599"/>
                  </a:lnTo>
                  <a:lnTo>
                    <a:pt x="3815033" y="6845299"/>
                  </a:lnTo>
                  <a:close/>
                </a:path>
                <a:path w="6863715" h="6858000">
                  <a:moveTo>
                    <a:pt x="3720258" y="6857999"/>
                  </a:moveTo>
                  <a:lnTo>
                    <a:pt x="3143075" y="6857999"/>
                  </a:lnTo>
                  <a:lnTo>
                    <a:pt x="3095594" y="6845299"/>
                  </a:lnTo>
                  <a:lnTo>
                    <a:pt x="3767740" y="6845299"/>
                  </a:lnTo>
                  <a:lnTo>
                    <a:pt x="3720258" y="6857999"/>
                  </a:lnTo>
                  <a:close/>
                </a:path>
              </a:pathLst>
            </a:custGeom>
            <a:solidFill>
              <a:srgbClr val="00D4AA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8236038" y="2749628"/>
              <a:ext cx="5490845" cy="5473700"/>
            </a:xfrm>
            <a:custGeom>
              <a:avLst/>
              <a:gdLst/>
              <a:ahLst/>
              <a:cxnLst/>
              <a:rect l="l" t="t" r="r" b="b"/>
              <a:pathLst>
                <a:path w="5490844" h="5473700">
                  <a:moveTo>
                    <a:pt x="3078966" y="12699"/>
                  </a:moveTo>
                  <a:lnTo>
                    <a:pt x="2411812" y="12699"/>
                  </a:lnTo>
                  <a:lnTo>
                    <a:pt x="2458793" y="0"/>
                  </a:lnTo>
                  <a:lnTo>
                    <a:pt x="3031986" y="0"/>
                  </a:lnTo>
                  <a:lnTo>
                    <a:pt x="3078966" y="12699"/>
                  </a:lnTo>
                  <a:close/>
                </a:path>
                <a:path w="5490844" h="5473700">
                  <a:moveTo>
                    <a:pt x="3172192" y="25399"/>
                  </a:moveTo>
                  <a:lnTo>
                    <a:pt x="2318586" y="25399"/>
                  </a:lnTo>
                  <a:lnTo>
                    <a:pt x="2365075" y="12699"/>
                  </a:lnTo>
                  <a:lnTo>
                    <a:pt x="3125704" y="12699"/>
                  </a:lnTo>
                  <a:lnTo>
                    <a:pt x="3172192" y="25399"/>
                  </a:lnTo>
                  <a:close/>
                </a:path>
                <a:path w="5490844" h="5473700">
                  <a:moveTo>
                    <a:pt x="3355512" y="63499"/>
                  </a:moveTo>
                  <a:lnTo>
                    <a:pt x="2135263" y="63499"/>
                  </a:lnTo>
                  <a:lnTo>
                    <a:pt x="2272354" y="25399"/>
                  </a:lnTo>
                  <a:lnTo>
                    <a:pt x="3218423" y="25399"/>
                  </a:lnTo>
                  <a:lnTo>
                    <a:pt x="3355512" y="63499"/>
                  </a:lnTo>
                  <a:close/>
                </a:path>
                <a:path w="5490844" h="5473700">
                  <a:moveTo>
                    <a:pt x="3264366" y="5435599"/>
                  </a:moveTo>
                  <a:lnTo>
                    <a:pt x="2226411" y="5435599"/>
                  </a:lnTo>
                  <a:lnTo>
                    <a:pt x="1825660" y="5321299"/>
                  </a:lnTo>
                  <a:lnTo>
                    <a:pt x="1740071" y="5295899"/>
                  </a:lnTo>
                  <a:lnTo>
                    <a:pt x="1697790" y="5270499"/>
                  </a:lnTo>
                  <a:lnTo>
                    <a:pt x="1655860" y="5257799"/>
                  </a:lnTo>
                  <a:lnTo>
                    <a:pt x="1614289" y="5232399"/>
                  </a:lnTo>
                  <a:lnTo>
                    <a:pt x="1573082" y="5219699"/>
                  </a:lnTo>
                  <a:lnTo>
                    <a:pt x="1532247" y="5194299"/>
                  </a:lnTo>
                  <a:lnTo>
                    <a:pt x="1491792" y="5181599"/>
                  </a:lnTo>
                  <a:lnTo>
                    <a:pt x="1412043" y="5130799"/>
                  </a:lnTo>
                  <a:lnTo>
                    <a:pt x="1372764" y="5118099"/>
                  </a:lnTo>
                  <a:lnTo>
                    <a:pt x="1295430" y="5067299"/>
                  </a:lnTo>
                  <a:lnTo>
                    <a:pt x="1219774" y="5016499"/>
                  </a:lnTo>
                  <a:lnTo>
                    <a:pt x="1145850" y="4965699"/>
                  </a:lnTo>
                  <a:lnTo>
                    <a:pt x="1073713" y="4914899"/>
                  </a:lnTo>
                  <a:lnTo>
                    <a:pt x="1038332" y="4889499"/>
                  </a:lnTo>
                  <a:lnTo>
                    <a:pt x="1003418" y="4851399"/>
                  </a:lnTo>
                  <a:lnTo>
                    <a:pt x="968978" y="4825999"/>
                  </a:lnTo>
                  <a:lnTo>
                    <a:pt x="935018" y="4800599"/>
                  </a:lnTo>
                  <a:lnTo>
                    <a:pt x="901546" y="4762499"/>
                  </a:lnTo>
                  <a:lnTo>
                    <a:pt x="868569" y="4737099"/>
                  </a:lnTo>
                  <a:lnTo>
                    <a:pt x="836092" y="4711699"/>
                  </a:lnTo>
                  <a:lnTo>
                    <a:pt x="804124" y="4673599"/>
                  </a:lnTo>
                  <a:lnTo>
                    <a:pt x="772670" y="4648199"/>
                  </a:lnTo>
                  <a:lnTo>
                    <a:pt x="741738" y="4610099"/>
                  </a:lnTo>
                  <a:lnTo>
                    <a:pt x="711334" y="4584699"/>
                  </a:lnTo>
                  <a:lnTo>
                    <a:pt x="681466" y="4546599"/>
                  </a:lnTo>
                  <a:lnTo>
                    <a:pt x="652140" y="4508499"/>
                  </a:lnTo>
                  <a:lnTo>
                    <a:pt x="623362" y="4470399"/>
                  </a:lnTo>
                  <a:lnTo>
                    <a:pt x="595140" y="4444999"/>
                  </a:lnTo>
                  <a:lnTo>
                    <a:pt x="567480" y="4406899"/>
                  </a:lnTo>
                  <a:lnTo>
                    <a:pt x="540390" y="4368799"/>
                  </a:lnTo>
                  <a:lnTo>
                    <a:pt x="513875" y="4330699"/>
                  </a:lnTo>
                  <a:lnTo>
                    <a:pt x="487944" y="4292599"/>
                  </a:lnTo>
                  <a:lnTo>
                    <a:pt x="462602" y="4254499"/>
                  </a:lnTo>
                  <a:lnTo>
                    <a:pt x="437857" y="4216399"/>
                  </a:lnTo>
                  <a:lnTo>
                    <a:pt x="413714" y="4190999"/>
                  </a:lnTo>
                  <a:lnTo>
                    <a:pt x="390182" y="4140199"/>
                  </a:lnTo>
                  <a:lnTo>
                    <a:pt x="367267" y="4102099"/>
                  </a:lnTo>
                  <a:lnTo>
                    <a:pt x="344976" y="4063999"/>
                  </a:lnTo>
                  <a:lnTo>
                    <a:pt x="323314" y="4025899"/>
                  </a:lnTo>
                  <a:lnTo>
                    <a:pt x="302291" y="3987799"/>
                  </a:lnTo>
                  <a:lnTo>
                    <a:pt x="281911" y="3949699"/>
                  </a:lnTo>
                  <a:lnTo>
                    <a:pt x="262182" y="3911599"/>
                  </a:lnTo>
                  <a:lnTo>
                    <a:pt x="243111" y="3860799"/>
                  </a:lnTo>
                  <a:lnTo>
                    <a:pt x="224705" y="3822699"/>
                  </a:lnTo>
                  <a:lnTo>
                    <a:pt x="206969" y="3784599"/>
                  </a:lnTo>
                  <a:lnTo>
                    <a:pt x="189912" y="3733799"/>
                  </a:lnTo>
                  <a:lnTo>
                    <a:pt x="173540" y="3695699"/>
                  </a:lnTo>
                  <a:lnTo>
                    <a:pt x="157860" y="3657599"/>
                  </a:lnTo>
                  <a:lnTo>
                    <a:pt x="142878" y="3606799"/>
                  </a:lnTo>
                  <a:lnTo>
                    <a:pt x="128601" y="3568699"/>
                  </a:lnTo>
                  <a:lnTo>
                    <a:pt x="115037" y="3517899"/>
                  </a:lnTo>
                  <a:lnTo>
                    <a:pt x="102192" y="3479799"/>
                  </a:lnTo>
                  <a:lnTo>
                    <a:pt x="90072" y="3428999"/>
                  </a:lnTo>
                  <a:lnTo>
                    <a:pt x="78685" y="3390899"/>
                  </a:lnTo>
                  <a:lnTo>
                    <a:pt x="68037" y="3340099"/>
                  </a:lnTo>
                  <a:lnTo>
                    <a:pt x="58136" y="3301999"/>
                  </a:lnTo>
                  <a:lnTo>
                    <a:pt x="48988" y="3251199"/>
                  </a:lnTo>
                  <a:lnTo>
                    <a:pt x="40599" y="3213099"/>
                  </a:lnTo>
                  <a:lnTo>
                    <a:pt x="32977" y="3162299"/>
                  </a:lnTo>
                  <a:lnTo>
                    <a:pt x="26128" y="3111499"/>
                  </a:lnTo>
                  <a:lnTo>
                    <a:pt x="20060" y="3073399"/>
                  </a:lnTo>
                  <a:lnTo>
                    <a:pt x="14779" y="3022599"/>
                  </a:lnTo>
                  <a:lnTo>
                    <a:pt x="10291" y="2971799"/>
                  </a:lnTo>
                  <a:lnTo>
                    <a:pt x="6604" y="2920999"/>
                  </a:lnTo>
                  <a:lnTo>
                    <a:pt x="3725" y="2882899"/>
                  </a:lnTo>
                  <a:lnTo>
                    <a:pt x="1660" y="2832099"/>
                  </a:lnTo>
                  <a:lnTo>
                    <a:pt x="416" y="2781299"/>
                  </a:lnTo>
                  <a:lnTo>
                    <a:pt x="0" y="2730499"/>
                  </a:lnTo>
                  <a:lnTo>
                    <a:pt x="416" y="2692399"/>
                  </a:lnTo>
                  <a:lnTo>
                    <a:pt x="1660" y="2641599"/>
                  </a:lnTo>
                  <a:lnTo>
                    <a:pt x="3725" y="2590799"/>
                  </a:lnTo>
                  <a:lnTo>
                    <a:pt x="6604" y="2539999"/>
                  </a:lnTo>
                  <a:lnTo>
                    <a:pt x="10290" y="2489199"/>
                  </a:lnTo>
                  <a:lnTo>
                    <a:pt x="14778" y="2451099"/>
                  </a:lnTo>
                  <a:lnTo>
                    <a:pt x="20059" y="2400299"/>
                  </a:lnTo>
                  <a:lnTo>
                    <a:pt x="26126" y="2349499"/>
                  </a:lnTo>
                  <a:lnTo>
                    <a:pt x="32975" y="2311399"/>
                  </a:lnTo>
                  <a:lnTo>
                    <a:pt x="40596" y="2260599"/>
                  </a:lnTo>
                  <a:lnTo>
                    <a:pt x="48984" y="2209799"/>
                  </a:lnTo>
                  <a:lnTo>
                    <a:pt x="58132" y="2171699"/>
                  </a:lnTo>
                  <a:lnTo>
                    <a:pt x="68033" y="2120899"/>
                  </a:lnTo>
                  <a:lnTo>
                    <a:pt x="78680" y="2082799"/>
                  </a:lnTo>
                  <a:lnTo>
                    <a:pt x="90066" y="2031999"/>
                  </a:lnTo>
                  <a:lnTo>
                    <a:pt x="102185" y="1993899"/>
                  </a:lnTo>
                  <a:lnTo>
                    <a:pt x="115029" y="1943099"/>
                  </a:lnTo>
                  <a:lnTo>
                    <a:pt x="128593" y="1904999"/>
                  </a:lnTo>
                  <a:lnTo>
                    <a:pt x="142869" y="1854199"/>
                  </a:lnTo>
                  <a:lnTo>
                    <a:pt x="157850" y="1816099"/>
                  </a:lnTo>
                  <a:lnTo>
                    <a:pt x="173529" y="1777999"/>
                  </a:lnTo>
                  <a:lnTo>
                    <a:pt x="189900" y="1727199"/>
                  </a:lnTo>
                  <a:lnTo>
                    <a:pt x="206956" y="1689099"/>
                  </a:lnTo>
                  <a:lnTo>
                    <a:pt x="224691" y="1650999"/>
                  </a:lnTo>
                  <a:lnTo>
                    <a:pt x="243096" y="1600199"/>
                  </a:lnTo>
                  <a:lnTo>
                    <a:pt x="262166" y="1562099"/>
                  </a:lnTo>
                  <a:lnTo>
                    <a:pt x="281894" y="1523999"/>
                  </a:lnTo>
                  <a:lnTo>
                    <a:pt x="302273" y="1485899"/>
                  </a:lnTo>
                  <a:lnTo>
                    <a:pt x="323296" y="1435099"/>
                  </a:lnTo>
                  <a:lnTo>
                    <a:pt x="344956" y="1396999"/>
                  </a:lnTo>
                  <a:lnTo>
                    <a:pt x="367246" y="1358899"/>
                  </a:lnTo>
                  <a:lnTo>
                    <a:pt x="390160" y="1320799"/>
                  </a:lnTo>
                  <a:lnTo>
                    <a:pt x="413691" y="1282699"/>
                  </a:lnTo>
                  <a:lnTo>
                    <a:pt x="437833" y="1244599"/>
                  </a:lnTo>
                  <a:lnTo>
                    <a:pt x="462577" y="1206499"/>
                  </a:lnTo>
                  <a:lnTo>
                    <a:pt x="487918" y="1168399"/>
                  </a:lnTo>
                  <a:lnTo>
                    <a:pt x="513848" y="1130299"/>
                  </a:lnTo>
                  <a:lnTo>
                    <a:pt x="540362" y="1104899"/>
                  </a:lnTo>
                  <a:lnTo>
                    <a:pt x="567451" y="1066799"/>
                  </a:lnTo>
                  <a:lnTo>
                    <a:pt x="595110" y="1028699"/>
                  </a:lnTo>
                  <a:lnTo>
                    <a:pt x="623331" y="990599"/>
                  </a:lnTo>
                  <a:lnTo>
                    <a:pt x="652108" y="952499"/>
                  </a:lnTo>
                  <a:lnTo>
                    <a:pt x="681433" y="927099"/>
                  </a:lnTo>
                  <a:lnTo>
                    <a:pt x="711301" y="888999"/>
                  </a:lnTo>
                  <a:lnTo>
                    <a:pt x="741704" y="863599"/>
                  </a:lnTo>
                  <a:lnTo>
                    <a:pt x="772635" y="825499"/>
                  </a:lnTo>
                  <a:lnTo>
                    <a:pt x="804088" y="787399"/>
                  </a:lnTo>
                  <a:lnTo>
                    <a:pt x="836056" y="761999"/>
                  </a:lnTo>
                  <a:lnTo>
                    <a:pt x="868531" y="736599"/>
                  </a:lnTo>
                  <a:lnTo>
                    <a:pt x="901508" y="698499"/>
                  </a:lnTo>
                  <a:lnTo>
                    <a:pt x="934980" y="673099"/>
                  </a:lnTo>
                  <a:lnTo>
                    <a:pt x="968938" y="647699"/>
                  </a:lnTo>
                  <a:lnTo>
                    <a:pt x="1003378" y="609599"/>
                  </a:lnTo>
                  <a:lnTo>
                    <a:pt x="1073673" y="558799"/>
                  </a:lnTo>
                  <a:lnTo>
                    <a:pt x="1145809" y="507999"/>
                  </a:lnTo>
                  <a:lnTo>
                    <a:pt x="1219732" y="457199"/>
                  </a:lnTo>
                  <a:lnTo>
                    <a:pt x="1295387" y="406399"/>
                  </a:lnTo>
                  <a:lnTo>
                    <a:pt x="1372721" y="355599"/>
                  </a:lnTo>
                  <a:lnTo>
                    <a:pt x="1412000" y="330199"/>
                  </a:lnTo>
                  <a:lnTo>
                    <a:pt x="1451679" y="317499"/>
                  </a:lnTo>
                  <a:lnTo>
                    <a:pt x="1532206" y="266699"/>
                  </a:lnTo>
                  <a:lnTo>
                    <a:pt x="1573041" y="253999"/>
                  </a:lnTo>
                  <a:lnTo>
                    <a:pt x="1614248" y="228599"/>
                  </a:lnTo>
                  <a:lnTo>
                    <a:pt x="1655820" y="215899"/>
                  </a:lnTo>
                  <a:lnTo>
                    <a:pt x="1697750" y="190499"/>
                  </a:lnTo>
                  <a:lnTo>
                    <a:pt x="1825623" y="152399"/>
                  </a:lnTo>
                  <a:lnTo>
                    <a:pt x="1868918" y="126999"/>
                  </a:lnTo>
                  <a:lnTo>
                    <a:pt x="2090124" y="63499"/>
                  </a:lnTo>
                  <a:lnTo>
                    <a:pt x="3400651" y="63499"/>
                  </a:lnTo>
                  <a:lnTo>
                    <a:pt x="3621852" y="126999"/>
                  </a:lnTo>
                  <a:lnTo>
                    <a:pt x="3665147" y="152399"/>
                  </a:lnTo>
                  <a:lnTo>
                    <a:pt x="3793016" y="190499"/>
                  </a:lnTo>
                  <a:lnTo>
                    <a:pt x="3834945" y="215899"/>
                  </a:lnTo>
                  <a:lnTo>
                    <a:pt x="3876516" y="228599"/>
                  </a:lnTo>
                  <a:lnTo>
                    <a:pt x="3917722" y="253999"/>
                  </a:lnTo>
                  <a:lnTo>
                    <a:pt x="3958555" y="266699"/>
                  </a:lnTo>
                  <a:lnTo>
                    <a:pt x="4039080" y="317499"/>
                  </a:lnTo>
                  <a:lnTo>
                    <a:pt x="4078757" y="330199"/>
                  </a:lnTo>
                  <a:lnTo>
                    <a:pt x="4118035" y="355599"/>
                  </a:lnTo>
                  <a:lnTo>
                    <a:pt x="4195366" y="406399"/>
                  </a:lnTo>
                  <a:lnTo>
                    <a:pt x="4271019" y="457199"/>
                  </a:lnTo>
                  <a:lnTo>
                    <a:pt x="4344939" y="507999"/>
                  </a:lnTo>
                  <a:lnTo>
                    <a:pt x="4417072" y="558799"/>
                  </a:lnTo>
                  <a:lnTo>
                    <a:pt x="4487363" y="609599"/>
                  </a:lnTo>
                  <a:lnTo>
                    <a:pt x="4521801" y="647699"/>
                  </a:lnTo>
                  <a:lnTo>
                    <a:pt x="4555759" y="673099"/>
                  </a:lnTo>
                  <a:lnTo>
                    <a:pt x="4589229" y="698499"/>
                  </a:lnTo>
                  <a:lnTo>
                    <a:pt x="4622204" y="736599"/>
                  </a:lnTo>
                  <a:lnTo>
                    <a:pt x="4654678" y="761999"/>
                  </a:lnTo>
                  <a:lnTo>
                    <a:pt x="4686644" y="787399"/>
                  </a:lnTo>
                  <a:lnTo>
                    <a:pt x="4718096" y="825499"/>
                  </a:lnTo>
                  <a:lnTo>
                    <a:pt x="4749025" y="863599"/>
                  </a:lnTo>
                  <a:lnTo>
                    <a:pt x="4779427" y="888999"/>
                  </a:lnTo>
                  <a:lnTo>
                    <a:pt x="4809293" y="927099"/>
                  </a:lnTo>
                  <a:lnTo>
                    <a:pt x="4838617" y="952499"/>
                  </a:lnTo>
                  <a:lnTo>
                    <a:pt x="4867392" y="990599"/>
                  </a:lnTo>
                  <a:lnTo>
                    <a:pt x="4895612" y="1028699"/>
                  </a:lnTo>
                  <a:lnTo>
                    <a:pt x="4923269" y="1066799"/>
                  </a:lnTo>
                  <a:lnTo>
                    <a:pt x="4950357" y="1104899"/>
                  </a:lnTo>
                  <a:lnTo>
                    <a:pt x="4976869" y="1130299"/>
                  </a:lnTo>
                  <a:lnTo>
                    <a:pt x="5002798" y="1168399"/>
                  </a:lnTo>
                  <a:lnTo>
                    <a:pt x="5028137" y="1206499"/>
                  </a:lnTo>
                  <a:lnTo>
                    <a:pt x="5052880" y="1244599"/>
                  </a:lnTo>
                  <a:lnTo>
                    <a:pt x="5077020" y="1282699"/>
                  </a:lnTo>
                  <a:lnTo>
                    <a:pt x="5100550" y="1320799"/>
                  </a:lnTo>
                  <a:lnTo>
                    <a:pt x="5123463" y="1358899"/>
                  </a:lnTo>
                  <a:lnTo>
                    <a:pt x="5145752" y="1396999"/>
                  </a:lnTo>
                  <a:lnTo>
                    <a:pt x="5167411" y="1435099"/>
                  </a:lnTo>
                  <a:lnTo>
                    <a:pt x="5188432" y="1485899"/>
                  </a:lnTo>
                  <a:lnTo>
                    <a:pt x="5208810" y="1523999"/>
                  </a:lnTo>
                  <a:lnTo>
                    <a:pt x="5228536" y="1562099"/>
                  </a:lnTo>
                  <a:lnTo>
                    <a:pt x="5247605" y="1600199"/>
                  </a:lnTo>
                  <a:lnTo>
                    <a:pt x="5266009" y="1650999"/>
                  </a:lnTo>
                  <a:lnTo>
                    <a:pt x="5283742" y="1689099"/>
                  </a:lnTo>
                  <a:lnTo>
                    <a:pt x="5300797" y="1727199"/>
                  </a:lnTo>
                  <a:lnTo>
                    <a:pt x="5317168" y="1777999"/>
                  </a:lnTo>
                  <a:lnTo>
                    <a:pt x="5332846" y="1816099"/>
                  </a:lnTo>
                  <a:lnTo>
                    <a:pt x="5347826" y="1854199"/>
                  </a:lnTo>
                  <a:lnTo>
                    <a:pt x="5362101" y="1904999"/>
                  </a:lnTo>
                  <a:lnTo>
                    <a:pt x="5375663" y="1943099"/>
                  </a:lnTo>
                  <a:lnTo>
                    <a:pt x="5388507" y="1993899"/>
                  </a:lnTo>
                  <a:lnTo>
                    <a:pt x="5400625" y="2031999"/>
                  </a:lnTo>
                  <a:lnTo>
                    <a:pt x="5412011" y="2082799"/>
                  </a:lnTo>
                  <a:lnTo>
                    <a:pt x="5422657" y="2120899"/>
                  </a:lnTo>
                  <a:lnTo>
                    <a:pt x="5432557" y="2171699"/>
                  </a:lnTo>
                  <a:lnTo>
                    <a:pt x="5441704" y="2209799"/>
                  </a:lnTo>
                  <a:lnTo>
                    <a:pt x="5450092" y="2260599"/>
                  </a:lnTo>
                  <a:lnTo>
                    <a:pt x="5457712" y="2311399"/>
                  </a:lnTo>
                  <a:lnTo>
                    <a:pt x="5464560" y="2349499"/>
                  </a:lnTo>
                  <a:lnTo>
                    <a:pt x="5470628" y="2400299"/>
                  </a:lnTo>
                  <a:lnTo>
                    <a:pt x="5475908" y="2451099"/>
                  </a:lnTo>
                  <a:lnTo>
                    <a:pt x="5480395" y="2489199"/>
                  </a:lnTo>
                  <a:lnTo>
                    <a:pt x="5484081" y="2539999"/>
                  </a:lnTo>
                  <a:lnTo>
                    <a:pt x="5486960" y="2590799"/>
                  </a:lnTo>
                  <a:lnTo>
                    <a:pt x="5489025" y="2641599"/>
                  </a:lnTo>
                  <a:lnTo>
                    <a:pt x="5490269" y="2692399"/>
                  </a:lnTo>
                  <a:lnTo>
                    <a:pt x="5490685" y="2730499"/>
                  </a:lnTo>
                  <a:lnTo>
                    <a:pt x="5490269" y="2781299"/>
                  </a:lnTo>
                  <a:lnTo>
                    <a:pt x="5489025" y="2832099"/>
                  </a:lnTo>
                  <a:lnTo>
                    <a:pt x="5486960" y="2882899"/>
                  </a:lnTo>
                  <a:lnTo>
                    <a:pt x="5484081" y="2920999"/>
                  </a:lnTo>
                  <a:lnTo>
                    <a:pt x="5480394" y="2971799"/>
                  </a:lnTo>
                  <a:lnTo>
                    <a:pt x="5475907" y="3022599"/>
                  </a:lnTo>
                  <a:lnTo>
                    <a:pt x="5470626" y="3073399"/>
                  </a:lnTo>
                  <a:lnTo>
                    <a:pt x="5464558" y="3111499"/>
                  </a:lnTo>
                  <a:lnTo>
                    <a:pt x="5457710" y="3162299"/>
                  </a:lnTo>
                  <a:lnTo>
                    <a:pt x="5450089" y="3213099"/>
                  </a:lnTo>
                  <a:lnTo>
                    <a:pt x="5441701" y="3251199"/>
                  </a:lnTo>
                  <a:lnTo>
                    <a:pt x="5432553" y="3301999"/>
                  </a:lnTo>
                  <a:lnTo>
                    <a:pt x="5422652" y="3340099"/>
                  </a:lnTo>
                  <a:lnTo>
                    <a:pt x="5412005" y="3390899"/>
                  </a:lnTo>
                  <a:lnTo>
                    <a:pt x="5400619" y="3428999"/>
                  </a:lnTo>
                  <a:lnTo>
                    <a:pt x="5388500" y="3479799"/>
                  </a:lnTo>
                  <a:lnTo>
                    <a:pt x="5375656" y="3517899"/>
                  </a:lnTo>
                  <a:lnTo>
                    <a:pt x="5362092" y="3568699"/>
                  </a:lnTo>
                  <a:lnTo>
                    <a:pt x="5347817" y="3606799"/>
                  </a:lnTo>
                  <a:lnTo>
                    <a:pt x="5332836" y="3657599"/>
                  </a:lnTo>
                  <a:lnTo>
                    <a:pt x="5317157" y="3695699"/>
                  </a:lnTo>
                  <a:lnTo>
                    <a:pt x="5300786" y="3733799"/>
                  </a:lnTo>
                  <a:lnTo>
                    <a:pt x="5283730" y="3784599"/>
                  </a:lnTo>
                  <a:lnTo>
                    <a:pt x="5265995" y="3822699"/>
                  </a:lnTo>
                  <a:lnTo>
                    <a:pt x="5247590" y="3860799"/>
                  </a:lnTo>
                  <a:lnTo>
                    <a:pt x="5228520" y="3911599"/>
                  </a:lnTo>
                  <a:lnTo>
                    <a:pt x="5208793" y="3949699"/>
                  </a:lnTo>
                  <a:lnTo>
                    <a:pt x="5188414" y="3987799"/>
                  </a:lnTo>
                  <a:lnTo>
                    <a:pt x="5167392" y="4025899"/>
                  </a:lnTo>
                  <a:lnTo>
                    <a:pt x="5145732" y="4063999"/>
                  </a:lnTo>
                  <a:lnTo>
                    <a:pt x="5123442" y="4102099"/>
                  </a:lnTo>
                  <a:lnTo>
                    <a:pt x="5100528" y="4140199"/>
                  </a:lnTo>
                  <a:lnTo>
                    <a:pt x="5076997" y="4190999"/>
                  </a:lnTo>
                  <a:lnTo>
                    <a:pt x="5052857" y="4229099"/>
                  </a:lnTo>
                  <a:lnTo>
                    <a:pt x="5028112" y="4254499"/>
                  </a:lnTo>
                  <a:lnTo>
                    <a:pt x="5002772" y="4292599"/>
                  </a:lnTo>
                  <a:lnTo>
                    <a:pt x="4976842" y="4330699"/>
                  </a:lnTo>
                  <a:lnTo>
                    <a:pt x="4950329" y="4368799"/>
                  </a:lnTo>
                  <a:lnTo>
                    <a:pt x="4923240" y="4406899"/>
                  </a:lnTo>
                  <a:lnTo>
                    <a:pt x="4895582" y="4444999"/>
                  </a:lnTo>
                  <a:lnTo>
                    <a:pt x="4867361" y="4470399"/>
                  </a:lnTo>
                  <a:lnTo>
                    <a:pt x="4838585" y="4508499"/>
                  </a:lnTo>
                  <a:lnTo>
                    <a:pt x="4809260" y="4546599"/>
                  </a:lnTo>
                  <a:lnTo>
                    <a:pt x="4779393" y="4584699"/>
                  </a:lnTo>
                  <a:lnTo>
                    <a:pt x="4748991" y="4610099"/>
                  </a:lnTo>
                  <a:lnTo>
                    <a:pt x="4718061" y="4648199"/>
                  </a:lnTo>
                  <a:lnTo>
                    <a:pt x="4686609" y="4673599"/>
                  </a:lnTo>
                  <a:lnTo>
                    <a:pt x="4654642" y="4711699"/>
                  </a:lnTo>
                  <a:lnTo>
                    <a:pt x="4622167" y="4737099"/>
                  </a:lnTo>
                  <a:lnTo>
                    <a:pt x="4589191" y="4762499"/>
                  </a:lnTo>
                  <a:lnTo>
                    <a:pt x="4555720" y="4800599"/>
                  </a:lnTo>
                  <a:lnTo>
                    <a:pt x="4521762" y="4825999"/>
                  </a:lnTo>
                  <a:lnTo>
                    <a:pt x="4487324" y="4851399"/>
                  </a:lnTo>
                  <a:lnTo>
                    <a:pt x="4452411" y="4889499"/>
                  </a:lnTo>
                  <a:lnTo>
                    <a:pt x="4417031" y="4914899"/>
                  </a:lnTo>
                  <a:lnTo>
                    <a:pt x="4344897" y="4965699"/>
                  </a:lnTo>
                  <a:lnTo>
                    <a:pt x="4270977" y="5016499"/>
                  </a:lnTo>
                  <a:lnTo>
                    <a:pt x="4195324" y="5067299"/>
                  </a:lnTo>
                  <a:lnTo>
                    <a:pt x="4117992" y="5118099"/>
                  </a:lnTo>
                  <a:lnTo>
                    <a:pt x="4078715" y="5130799"/>
                  </a:lnTo>
                  <a:lnTo>
                    <a:pt x="3998968" y="5181599"/>
                  </a:lnTo>
                  <a:lnTo>
                    <a:pt x="3958514" y="5194299"/>
                  </a:lnTo>
                  <a:lnTo>
                    <a:pt x="3917680" y="5219699"/>
                  </a:lnTo>
                  <a:lnTo>
                    <a:pt x="3876475" y="5232399"/>
                  </a:lnTo>
                  <a:lnTo>
                    <a:pt x="3834905" y="5257799"/>
                  </a:lnTo>
                  <a:lnTo>
                    <a:pt x="3792976" y="5270499"/>
                  </a:lnTo>
                  <a:lnTo>
                    <a:pt x="3750696" y="5295899"/>
                  </a:lnTo>
                  <a:lnTo>
                    <a:pt x="3665109" y="5321299"/>
                  </a:lnTo>
                  <a:lnTo>
                    <a:pt x="3264366" y="5435599"/>
                  </a:lnTo>
                  <a:close/>
                </a:path>
                <a:path w="5490844" h="5473700">
                  <a:moveTo>
                    <a:pt x="3172169" y="5448299"/>
                  </a:moveTo>
                  <a:lnTo>
                    <a:pt x="2318609" y="5448299"/>
                  </a:lnTo>
                  <a:lnTo>
                    <a:pt x="2272378" y="5435599"/>
                  </a:lnTo>
                  <a:lnTo>
                    <a:pt x="3218399" y="5435599"/>
                  </a:lnTo>
                  <a:lnTo>
                    <a:pt x="3172169" y="5448299"/>
                  </a:lnTo>
                  <a:close/>
                </a:path>
                <a:path w="5490844" h="5473700">
                  <a:moveTo>
                    <a:pt x="3078948" y="5460999"/>
                  </a:moveTo>
                  <a:lnTo>
                    <a:pt x="2411831" y="5460999"/>
                  </a:lnTo>
                  <a:lnTo>
                    <a:pt x="2365095" y="5448299"/>
                  </a:lnTo>
                  <a:lnTo>
                    <a:pt x="3125684" y="5448299"/>
                  </a:lnTo>
                  <a:lnTo>
                    <a:pt x="3078948" y="5460999"/>
                  </a:lnTo>
                  <a:close/>
                </a:path>
                <a:path w="5490844" h="5473700">
                  <a:moveTo>
                    <a:pt x="2984757" y="5473699"/>
                  </a:moveTo>
                  <a:lnTo>
                    <a:pt x="2506023" y="5473699"/>
                  </a:lnTo>
                  <a:lnTo>
                    <a:pt x="2458809" y="5460999"/>
                  </a:lnTo>
                  <a:lnTo>
                    <a:pt x="3031970" y="5460999"/>
                  </a:lnTo>
                  <a:lnTo>
                    <a:pt x="2984757" y="5473699"/>
                  </a:lnTo>
                  <a:close/>
                </a:path>
              </a:pathLst>
            </a:custGeom>
            <a:solidFill>
              <a:srgbClr val="8B5CF5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7549695" y="562794"/>
            <a:ext cx="343535" cy="20955"/>
          </a:xfrm>
          <a:custGeom>
            <a:avLst/>
            <a:gdLst/>
            <a:ahLst/>
            <a:cxnLst/>
            <a:rect l="l" t="t" r="r" b="b"/>
            <a:pathLst>
              <a:path w="343534" h="20954">
                <a:moveTo>
                  <a:pt x="343163" y="20593"/>
                </a:moveTo>
                <a:lnTo>
                  <a:pt x="0" y="20593"/>
                </a:lnTo>
                <a:lnTo>
                  <a:pt x="0" y="0"/>
                </a:lnTo>
                <a:lnTo>
                  <a:pt x="343163" y="0"/>
                </a:lnTo>
                <a:lnTo>
                  <a:pt x="343163" y="20593"/>
                </a:lnTo>
                <a:close/>
              </a:path>
            </a:pathLst>
          </a:custGeom>
          <a:solidFill>
            <a:srgbClr val="00D4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126916" y="406628"/>
            <a:ext cx="934719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00D4AA"/>
                </a:solidFill>
                <a:latin typeface="Calibri"/>
                <a:cs typeface="Calibri"/>
              </a:rPr>
              <a:t>THE</a:t>
            </a:r>
            <a:r>
              <a:rPr dirty="0" sz="1500" spc="-35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00D4AA"/>
                </a:solidFill>
                <a:latin typeface="Calibri"/>
                <a:cs typeface="Calibri"/>
              </a:rPr>
              <a:t>VISION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43180" rIns="0" bIns="0" rtlCol="0" vert="horz">
            <a:spAutoFit/>
          </a:bodyPr>
          <a:lstStyle/>
          <a:p>
            <a:pPr algn="ctr" marR="5080">
              <a:lnSpc>
                <a:spcPts val="6450"/>
              </a:lnSpc>
              <a:spcBef>
                <a:spcPts val="340"/>
              </a:spcBef>
            </a:pPr>
            <a:r>
              <a:rPr dirty="0"/>
              <a:t>"Every</a:t>
            </a:r>
            <a:r>
              <a:rPr dirty="0" spc="-80"/>
              <a:t> </a:t>
            </a:r>
            <a:r>
              <a:rPr dirty="0"/>
              <a:t>company</a:t>
            </a:r>
            <a:r>
              <a:rPr dirty="0" spc="-80"/>
              <a:t> </a:t>
            </a:r>
            <a:r>
              <a:rPr dirty="0"/>
              <a:t>will</a:t>
            </a:r>
            <a:r>
              <a:rPr dirty="0" spc="-80"/>
              <a:t> </a:t>
            </a:r>
            <a:r>
              <a:rPr dirty="0" spc="-10"/>
              <a:t>eventually employ</a:t>
            </a:r>
          </a:p>
          <a:p>
            <a:pPr algn="ctr" marL="435609" marR="459740">
              <a:lnSpc>
                <a:spcPts val="6450"/>
              </a:lnSpc>
            </a:pPr>
            <a:r>
              <a:rPr dirty="0"/>
              <a:t>more</a:t>
            </a:r>
            <a:r>
              <a:rPr dirty="0" spc="-100"/>
              <a:t> </a:t>
            </a:r>
            <a:r>
              <a:rPr dirty="0"/>
              <a:t>AI</a:t>
            </a:r>
            <a:r>
              <a:rPr dirty="0" spc="-95"/>
              <a:t> </a:t>
            </a:r>
            <a:r>
              <a:rPr dirty="0"/>
              <a:t>workers</a:t>
            </a:r>
            <a:r>
              <a:rPr dirty="0" spc="-95"/>
              <a:t> </a:t>
            </a:r>
            <a:r>
              <a:rPr dirty="0"/>
              <a:t>than</a:t>
            </a:r>
            <a:r>
              <a:rPr dirty="0" spc="-95"/>
              <a:t> </a:t>
            </a:r>
            <a:r>
              <a:rPr dirty="0" spc="-10"/>
              <a:t>human employees."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348380" y="6402559"/>
            <a:ext cx="9559925" cy="660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500"/>
              </a:lnSpc>
              <a:spcBef>
                <a:spcPts val="100"/>
              </a:spcBef>
            </a:pPr>
            <a:r>
              <a:rPr dirty="0" sz="2100">
                <a:solidFill>
                  <a:srgbClr val="8B8FA2"/>
                </a:solidFill>
                <a:latin typeface="Calibri"/>
                <a:cs typeface="Calibri"/>
              </a:rPr>
              <a:t>Follei</a:t>
            </a:r>
            <a:r>
              <a:rPr dirty="0" sz="2100" spc="-5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8B8FA2"/>
                </a:solidFill>
                <a:latin typeface="Calibri"/>
                <a:cs typeface="Calibri"/>
              </a:rPr>
              <a:t>is</a:t>
            </a:r>
            <a:r>
              <a:rPr dirty="0" sz="210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8B8FA2"/>
                </a:solidFill>
                <a:latin typeface="Calibri"/>
                <a:cs typeface="Calibri"/>
              </a:rPr>
              <a:t>the</a:t>
            </a:r>
            <a:r>
              <a:rPr dirty="0" sz="210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8B8FA2"/>
                </a:solidFill>
                <a:latin typeface="Calibri"/>
                <a:cs typeface="Calibri"/>
              </a:rPr>
              <a:t>platform</a:t>
            </a:r>
            <a:r>
              <a:rPr dirty="0" sz="210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8B8FA2"/>
                </a:solidFill>
                <a:latin typeface="Calibri"/>
                <a:cs typeface="Calibri"/>
              </a:rPr>
              <a:t>powering</a:t>
            </a:r>
            <a:r>
              <a:rPr dirty="0" sz="210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8B8FA2"/>
                </a:solidFill>
                <a:latin typeface="Calibri"/>
                <a:cs typeface="Calibri"/>
              </a:rPr>
              <a:t>those</a:t>
            </a:r>
            <a:r>
              <a:rPr dirty="0" sz="210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8B8FA2"/>
                </a:solidFill>
                <a:latin typeface="Calibri"/>
                <a:cs typeface="Calibri"/>
              </a:rPr>
              <a:t>digital</a:t>
            </a:r>
            <a:r>
              <a:rPr dirty="0" sz="2100" spc="-5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8B8FA2"/>
                </a:solidFill>
                <a:latin typeface="Calibri"/>
                <a:cs typeface="Calibri"/>
              </a:rPr>
              <a:t>workforces.</a:t>
            </a:r>
            <a:r>
              <a:rPr dirty="0" sz="210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8B8FA2"/>
                </a:solidFill>
                <a:latin typeface="Calibri"/>
                <a:cs typeface="Calibri"/>
              </a:rPr>
              <a:t>Not</a:t>
            </a:r>
            <a:r>
              <a:rPr dirty="0" sz="210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8B8FA2"/>
                </a:solidFill>
                <a:latin typeface="Calibri"/>
                <a:cs typeface="Calibri"/>
              </a:rPr>
              <a:t>a</a:t>
            </a:r>
            <a:r>
              <a:rPr dirty="0" sz="210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8B8FA2"/>
                </a:solidFill>
                <a:latin typeface="Calibri"/>
                <a:cs typeface="Calibri"/>
              </a:rPr>
              <a:t>chatbot.</a:t>
            </a:r>
            <a:r>
              <a:rPr dirty="0" sz="210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8B8FA2"/>
                </a:solidFill>
                <a:latin typeface="Calibri"/>
                <a:cs typeface="Calibri"/>
              </a:rPr>
              <a:t>Not</a:t>
            </a:r>
            <a:r>
              <a:rPr dirty="0" sz="210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8B8FA2"/>
                </a:solidFill>
                <a:latin typeface="Calibri"/>
                <a:cs typeface="Calibri"/>
              </a:rPr>
              <a:t>automation.</a:t>
            </a:r>
            <a:endParaRPr sz="2100">
              <a:latin typeface="Calibri"/>
              <a:cs typeface="Calibri"/>
            </a:endParaRPr>
          </a:p>
          <a:p>
            <a:pPr algn="ctr">
              <a:lnSpc>
                <a:spcPts val="2495"/>
              </a:lnSpc>
            </a:pPr>
            <a:r>
              <a:rPr dirty="0" sz="2100">
                <a:solidFill>
                  <a:srgbClr val="8B8FA2"/>
                </a:solidFill>
                <a:latin typeface="Calibri"/>
                <a:cs typeface="Calibri"/>
              </a:rPr>
              <a:t>An</a:t>
            </a:r>
            <a:r>
              <a:rPr dirty="0" sz="2100" spc="-4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8B8FA2"/>
                </a:solidFill>
                <a:latin typeface="Calibri"/>
                <a:cs typeface="Calibri"/>
              </a:rPr>
              <a:t>intelligent,</a:t>
            </a:r>
            <a:r>
              <a:rPr dirty="0" sz="2100" spc="-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8B8FA2"/>
                </a:solidFill>
                <a:latin typeface="Calibri"/>
                <a:cs typeface="Calibri"/>
              </a:rPr>
              <a:t>self-</a:t>
            </a:r>
            <a:r>
              <a:rPr dirty="0" sz="2100">
                <a:solidFill>
                  <a:srgbClr val="8B8FA2"/>
                </a:solidFill>
                <a:latin typeface="Calibri"/>
                <a:cs typeface="Calibri"/>
              </a:rPr>
              <a:t>improving</a:t>
            </a:r>
            <a:r>
              <a:rPr dirty="0" sz="2100" spc="-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8B8FA2"/>
                </a:solidFill>
                <a:latin typeface="Calibri"/>
                <a:cs typeface="Calibri"/>
              </a:rPr>
              <a:t>system</a:t>
            </a:r>
            <a:r>
              <a:rPr dirty="0" sz="2100" spc="-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8B8FA2"/>
                </a:solidFill>
                <a:latin typeface="Calibri"/>
                <a:cs typeface="Calibri"/>
              </a:rPr>
              <a:t>that</a:t>
            </a:r>
            <a:r>
              <a:rPr dirty="0" sz="2100" spc="-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8B8FA2"/>
                </a:solidFill>
                <a:latin typeface="Calibri"/>
                <a:cs typeface="Calibri"/>
              </a:rPr>
              <a:t>scales</a:t>
            </a:r>
            <a:r>
              <a:rPr dirty="0" sz="2100" spc="-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8B8FA2"/>
                </a:solidFill>
                <a:latin typeface="Calibri"/>
                <a:cs typeface="Calibri"/>
              </a:rPr>
              <a:t>revenue</a:t>
            </a:r>
            <a:r>
              <a:rPr dirty="0" sz="2100" spc="-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8B8FA2"/>
                </a:solidFill>
                <a:latin typeface="Calibri"/>
                <a:cs typeface="Calibri"/>
              </a:rPr>
              <a:t>without</a:t>
            </a:r>
            <a:r>
              <a:rPr dirty="0" sz="2100" spc="-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8B8FA2"/>
                </a:solidFill>
                <a:latin typeface="Calibri"/>
                <a:cs typeface="Calibri"/>
              </a:rPr>
              <a:t>scaling</a:t>
            </a:r>
            <a:r>
              <a:rPr dirty="0" sz="2100" spc="-4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8B8FA2"/>
                </a:solidFill>
                <a:latin typeface="Calibri"/>
                <a:cs typeface="Calibri"/>
              </a:rPr>
              <a:t>headcount.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83842" y="7815016"/>
            <a:ext cx="3734435" cy="1538605"/>
            <a:chOff x="1083842" y="7815016"/>
            <a:chExt cx="3734435" cy="1538605"/>
          </a:xfrm>
        </p:grpSpPr>
        <p:sp>
          <p:nvSpPr>
            <p:cNvPr id="10" name="object 10"/>
            <p:cNvSpPr/>
            <p:nvPr/>
          </p:nvSpPr>
          <p:spPr>
            <a:xfrm>
              <a:off x="1093374" y="7824549"/>
              <a:ext cx="3716020" cy="1519555"/>
            </a:xfrm>
            <a:custGeom>
              <a:avLst/>
              <a:gdLst/>
              <a:ahLst/>
              <a:cxnLst/>
              <a:rect l="l" t="t" r="r" b="b"/>
              <a:pathLst>
                <a:path w="3716020" h="1519554">
                  <a:moveTo>
                    <a:pt x="3639787" y="1519475"/>
                  </a:moveTo>
                  <a:lnTo>
                    <a:pt x="76009" y="1519475"/>
                  </a:lnTo>
                  <a:lnTo>
                    <a:pt x="46412" y="1513553"/>
                  </a:lnTo>
                  <a:lnTo>
                    <a:pt x="22252" y="1497270"/>
                  </a:lnTo>
                  <a:lnTo>
                    <a:pt x="5969" y="1473111"/>
                  </a:lnTo>
                  <a:lnTo>
                    <a:pt x="0" y="1443513"/>
                  </a:lnTo>
                  <a:lnTo>
                    <a:pt x="0" y="76009"/>
                  </a:lnTo>
                  <a:lnTo>
                    <a:pt x="22252" y="22252"/>
                  </a:lnTo>
                  <a:lnTo>
                    <a:pt x="76009" y="0"/>
                  </a:lnTo>
                  <a:lnTo>
                    <a:pt x="3639787" y="0"/>
                  </a:lnTo>
                  <a:lnTo>
                    <a:pt x="3669385" y="5969"/>
                  </a:lnTo>
                  <a:lnTo>
                    <a:pt x="3693544" y="22252"/>
                  </a:lnTo>
                  <a:lnTo>
                    <a:pt x="3709827" y="46412"/>
                  </a:lnTo>
                  <a:lnTo>
                    <a:pt x="3715591" y="74993"/>
                  </a:lnTo>
                  <a:lnTo>
                    <a:pt x="3715591" y="1444529"/>
                  </a:lnTo>
                  <a:lnTo>
                    <a:pt x="3709827" y="1473111"/>
                  </a:lnTo>
                  <a:lnTo>
                    <a:pt x="3693544" y="1497270"/>
                  </a:lnTo>
                  <a:lnTo>
                    <a:pt x="3669385" y="1513553"/>
                  </a:lnTo>
                  <a:lnTo>
                    <a:pt x="3639787" y="1519475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93374" y="7824549"/>
              <a:ext cx="3714750" cy="1519555"/>
            </a:xfrm>
            <a:custGeom>
              <a:avLst/>
              <a:gdLst/>
              <a:ahLst/>
              <a:cxnLst/>
              <a:rect l="l" t="t" r="r" b="b"/>
              <a:pathLst>
                <a:path w="3714750" h="1519554">
                  <a:moveTo>
                    <a:pt x="3714749" y="1447815"/>
                  </a:moveTo>
                  <a:lnTo>
                    <a:pt x="3693383" y="1497182"/>
                  </a:lnTo>
                  <a:lnTo>
                    <a:pt x="3639629" y="1519433"/>
                  </a:lnTo>
                  <a:lnTo>
                    <a:pt x="76060" y="1519433"/>
                  </a:lnTo>
                  <a:lnTo>
                    <a:pt x="46464" y="1513464"/>
                  </a:lnTo>
                  <a:lnTo>
                    <a:pt x="22306" y="1497182"/>
                  </a:lnTo>
                  <a:lnTo>
                    <a:pt x="6024" y="1473024"/>
                  </a:lnTo>
                  <a:lnTo>
                    <a:pt x="0" y="1443428"/>
                  </a:lnTo>
                  <a:lnTo>
                    <a:pt x="2" y="75994"/>
                  </a:lnTo>
                  <a:lnTo>
                    <a:pt x="6024" y="46409"/>
                  </a:lnTo>
                  <a:lnTo>
                    <a:pt x="22306" y="22251"/>
                  </a:lnTo>
                  <a:lnTo>
                    <a:pt x="46464" y="5969"/>
                  </a:lnTo>
                  <a:lnTo>
                    <a:pt x="76060" y="0"/>
                  </a:lnTo>
                  <a:lnTo>
                    <a:pt x="3639629" y="0"/>
                  </a:lnTo>
                  <a:lnTo>
                    <a:pt x="3669225" y="5969"/>
                  </a:lnTo>
                  <a:lnTo>
                    <a:pt x="3693383" y="22251"/>
                  </a:lnTo>
                  <a:lnTo>
                    <a:pt x="3709665" y="46409"/>
                  </a:lnTo>
                  <a:lnTo>
                    <a:pt x="3714749" y="71618"/>
                  </a:lnTo>
                </a:path>
              </a:pathLst>
            </a:custGeom>
            <a:ln w="19064">
              <a:solidFill>
                <a:srgbClr val="00D4A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2132056" y="7980270"/>
            <a:ext cx="1638300" cy="840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 b="1">
                <a:solidFill>
                  <a:srgbClr val="00426F"/>
                </a:solidFill>
                <a:latin typeface="Georgia"/>
                <a:cs typeface="Georgia"/>
              </a:rPr>
              <a:t>Connect</a:t>
            </a:r>
            <a:endParaRPr sz="3000">
              <a:latin typeface="Georgia"/>
              <a:cs typeface="Georgia"/>
            </a:endParaRPr>
          </a:p>
          <a:p>
            <a:pPr marL="20955">
              <a:lnSpc>
                <a:spcPct val="100000"/>
              </a:lnSpc>
              <a:spcBef>
                <a:spcPts val="1190"/>
              </a:spcBef>
            </a:pPr>
            <a:r>
              <a:rPr dirty="0" sz="1350">
                <a:solidFill>
                  <a:srgbClr val="00426F"/>
                </a:solidFill>
                <a:latin typeface="Calibri"/>
                <a:cs typeface="Calibri"/>
              </a:rPr>
              <a:t>all</a:t>
            </a:r>
            <a:r>
              <a:rPr dirty="0" sz="1350" spc="-50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426F"/>
                </a:solidFill>
                <a:latin typeface="Calibri"/>
                <a:cs typeface="Calibri"/>
              </a:rPr>
              <a:t>business</a:t>
            </a:r>
            <a:r>
              <a:rPr dirty="0" sz="1350" spc="-50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0426F"/>
                </a:solidFill>
                <a:latin typeface="Calibri"/>
                <a:cs typeface="Calibri"/>
              </a:rPr>
              <a:t>knowledge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201852" y="7815016"/>
            <a:ext cx="3734435" cy="1538605"/>
            <a:chOff x="5201852" y="7815016"/>
            <a:chExt cx="3734435" cy="1538605"/>
          </a:xfrm>
        </p:grpSpPr>
        <p:sp>
          <p:nvSpPr>
            <p:cNvPr id="14" name="object 14"/>
            <p:cNvSpPr/>
            <p:nvPr/>
          </p:nvSpPr>
          <p:spPr>
            <a:xfrm>
              <a:off x="5211384" y="7824549"/>
              <a:ext cx="3716020" cy="1519555"/>
            </a:xfrm>
            <a:custGeom>
              <a:avLst/>
              <a:gdLst/>
              <a:ahLst/>
              <a:cxnLst/>
              <a:rect l="l" t="t" r="r" b="b"/>
              <a:pathLst>
                <a:path w="3716020" h="1519554">
                  <a:moveTo>
                    <a:pt x="3639787" y="1519475"/>
                  </a:moveTo>
                  <a:lnTo>
                    <a:pt x="76009" y="1519475"/>
                  </a:lnTo>
                  <a:lnTo>
                    <a:pt x="46412" y="1513553"/>
                  </a:lnTo>
                  <a:lnTo>
                    <a:pt x="22252" y="1497270"/>
                  </a:lnTo>
                  <a:lnTo>
                    <a:pt x="5969" y="1473111"/>
                  </a:lnTo>
                  <a:lnTo>
                    <a:pt x="0" y="1443513"/>
                  </a:lnTo>
                  <a:lnTo>
                    <a:pt x="0" y="76009"/>
                  </a:lnTo>
                  <a:lnTo>
                    <a:pt x="22252" y="22252"/>
                  </a:lnTo>
                  <a:lnTo>
                    <a:pt x="76009" y="0"/>
                  </a:lnTo>
                  <a:lnTo>
                    <a:pt x="3639787" y="0"/>
                  </a:lnTo>
                  <a:lnTo>
                    <a:pt x="3669385" y="5969"/>
                  </a:lnTo>
                  <a:lnTo>
                    <a:pt x="3693544" y="22252"/>
                  </a:lnTo>
                  <a:lnTo>
                    <a:pt x="3709827" y="46412"/>
                  </a:lnTo>
                  <a:lnTo>
                    <a:pt x="3715591" y="74991"/>
                  </a:lnTo>
                  <a:lnTo>
                    <a:pt x="3715591" y="1444531"/>
                  </a:lnTo>
                  <a:lnTo>
                    <a:pt x="3709827" y="1473111"/>
                  </a:lnTo>
                  <a:lnTo>
                    <a:pt x="3693544" y="1497270"/>
                  </a:lnTo>
                  <a:lnTo>
                    <a:pt x="3669385" y="1513553"/>
                  </a:lnTo>
                  <a:lnTo>
                    <a:pt x="3639787" y="1519475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211384" y="7824549"/>
              <a:ext cx="3714750" cy="1519555"/>
            </a:xfrm>
            <a:custGeom>
              <a:avLst/>
              <a:gdLst/>
              <a:ahLst/>
              <a:cxnLst/>
              <a:rect l="l" t="t" r="r" b="b"/>
              <a:pathLst>
                <a:path w="3714750" h="1519554">
                  <a:moveTo>
                    <a:pt x="3714749" y="1447815"/>
                  </a:moveTo>
                  <a:lnTo>
                    <a:pt x="3693383" y="1497182"/>
                  </a:lnTo>
                  <a:lnTo>
                    <a:pt x="3639629" y="1519433"/>
                  </a:lnTo>
                  <a:lnTo>
                    <a:pt x="76060" y="1519433"/>
                  </a:lnTo>
                  <a:lnTo>
                    <a:pt x="46464" y="1513464"/>
                  </a:lnTo>
                  <a:lnTo>
                    <a:pt x="22306" y="1497182"/>
                  </a:lnTo>
                  <a:lnTo>
                    <a:pt x="6024" y="1473024"/>
                  </a:lnTo>
                  <a:lnTo>
                    <a:pt x="0" y="1443428"/>
                  </a:lnTo>
                  <a:lnTo>
                    <a:pt x="2" y="75994"/>
                  </a:lnTo>
                  <a:lnTo>
                    <a:pt x="6024" y="46409"/>
                  </a:lnTo>
                  <a:lnTo>
                    <a:pt x="22306" y="22251"/>
                  </a:lnTo>
                  <a:lnTo>
                    <a:pt x="46464" y="5969"/>
                  </a:lnTo>
                  <a:lnTo>
                    <a:pt x="76060" y="0"/>
                  </a:lnTo>
                  <a:lnTo>
                    <a:pt x="3639629" y="0"/>
                  </a:lnTo>
                  <a:lnTo>
                    <a:pt x="3669225" y="5969"/>
                  </a:lnTo>
                  <a:lnTo>
                    <a:pt x="3693383" y="22251"/>
                  </a:lnTo>
                  <a:lnTo>
                    <a:pt x="3709665" y="46409"/>
                  </a:lnTo>
                  <a:lnTo>
                    <a:pt x="3714749" y="71617"/>
                  </a:lnTo>
                </a:path>
              </a:pathLst>
            </a:custGeom>
            <a:ln w="19064">
              <a:solidFill>
                <a:srgbClr val="00D4A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6108837" y="7980270"/>
            <a:ext cx="1920875" cy="840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3000" spc="-10" b="1">
                <a:solidFill>
                  <a:srgbClr val="00426F"/>
                </a:solidFill>
                <a:latin typeface="Georgia"/>
                <a:cs typeface="Georgia"/>
              </a:rPr>
              <a:t>Learn</a:t>
            </a:r>
            <a:endParaRPr sz="300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1190"/>
              </a:spcBef>
            </a:pPr>
            <a:r>
              <a:rPr dirty="0" sz="1350">
                <a:solidFill>
                  <a:srgbClr val="00426F"/>
                </a:solidFill>
                <a:latin typeface="Calibri"/>
                <a:cs typeface="Calibri"/>
              </a:rPr>
              <a:t>your</a:t>
            </a:r>
            <a:r>
              <a:rPr dirty="0" sz="1350" spc="-20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0426F"/>
                </a:solidFill>
                <a:latin typeface="Calibri"/>
                <a:cs typeface="Calibri"/>
              </a:rPr>
              <a:t>products</a:t>
            </a:r>
            <a:r>
              <a:rPr dirty="0" sz="1350" spc="-20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426F"/>
                </a:solidFill>
                <a:latin typeface="Calibri"/>
                <a:cs typeface="Calibri"/>
              </a:rPr>
              <a:t>&amp;</a:t>
            </a:r>
            <a:r>
              <a:rPr dirty="0" sz="1350" spc="-20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0426F"/>
                </a:solidFill>
                <a:latin typeface="Calibri"/>
                <a:cs typeface="Calibri"/>
              </a:rPr>
              <a:t>customers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9319871" y="7815016"/>
            <a:ext cx="3734435" cy="1538605"/>
            <a:chOff x="9319871" y="7815016"/>
            <a:chExt cx="3734435" cy="1538605"/>
          </a:xfrm>
        </p:grpSpPr>
        <p:sp>
          <p:nvSpPr>
            <p:cNvPr id="18" name="object 18"/>
            <p:cNvSpPr/>
            <p:nvPr/>
          </p:nvSpPr>
          <p:spPr>
            <a:xfrm>
              <a:off x="9329403" y="7824549"/>
              <a:ext cx="3716020" cy="1519555"/>
            </a:xfrm>
            <a:custGeom>
              <a:avLst/>
              <a:gdLst/>
              <a:ahLst/>
              <a:cxnLst/>
              <a:rect l="l" t="t" r="r" b="b"/>
              <a:pathLst>
                <a:path w="3716019" h="1519554">
                  <a:moveTo>
                    <a:pt x="3639788" y="1519475"/>
                  </a:moveTo>
                  <a:lnTo>
                    <a:pt x="76009" y="1519475"/>
                  </a:lnTo>
                  <a:lnTo>
                    <a:pt x="46412" y="1513553"/>
                  </a:lnTo>
                  <a:lnTo>
                    <a:pt x="22252" y="1497270"/>
                  </a:lnTo>
                  <a:lnTo>
                    <a:pt x="5969" y="1473111"/>
                  </a:lnTo>
                  <a:lnTo>
                    <a:pt x="0" y="1443513"/>
                  </a:lnTo>
                  <a:lnTo>
                    <a:pt x="0" y="76009"/>
                  </a:lnTo>
                  <a:lnTo>
                    <a:pt x="22252" y="22252"/>
                  </a:lnTo>
                  <a:lnTo>
                    <a:pt x="76009" y="0"/>
                  </a:lnTo>
                  <a:lnTo>
                    <a:pt x="3639788" y="0"/>
                  </a:lnTo>
                  <a:lnTo>
                    <a:pt x="3669385" y="5969"/>
                  </a:lnTo>
                  <a:lnTo>
                    <a:pt x="3693544" y="22252"/>
                  </a:lnTo>
                  <a:lnTo>
                    <a:pt x="3709828" y="46412"/>
                  </a:lnTo>
                  <a:lnTo>
                    <a:pt x="3715591" y="74990"/>
                  </a:lnTo>
                  <a:lnTo>
                    <a:pt x="3715591" y="1444532"/>
                  </a:lnTo>
                  <a:lnTo>
                    <a:pt x="3709828" y="1473111"/>
                  </a:lnTo>
                  <a:lnTo>
                    <a:pt x="3693544" y="1497270"/>
                  </a:lnTo>
                  <a:lnTo>
                    <a:pt x="3669385" y="1513553"/>
                  </a:lnTo>
                  <a:lnTo>
                    <a:pt x="3639788" y="1519475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9329403" y="7824549"/>
              <a:ext cx="3714750" cy="1519555"/>
            </a:xfrm>
            <a:custGeom>
              <a:avLst/>
              <a:gdLst/>
              <a:ahLst/>
              <a:cxnLst/>
              <a:rect l="l" t="t" r="r" b="b"/>
              <a:pathLst>
                <a:path w="3714750" h="1519554">
                  <a:moveTo>
                    <a:pt x="3714748" y="1447820"/>
                  </a:moveTo>
                  <a:lnTo>
                    <a:pt x="3709665" y="1473024"/>
                  </a:lnTo>
                  <a:lnTo>
                    <a:pt x="3693383" y="1497182"/>
                  </a:lnTo>
                  <a:lnTo>
                    <a:pt x="3669225" y="1513464"/>
                  </a:lnTo>
                  <a:lnTo>
                    <a:pt x="3639629" y="1519433"/>
                  </a:lnTo>
                  <a:lnTo>
                    <a:pt x="76060" y="1519433"/>
                  </a:lnTo>
                  <a:lnTo>
                    <a:pt x="46464" y="1513464"/>
                  </a:lnTo>
                  <a:lnTo>
                    <a:pt x="22307" y="1497182"/>
                  </a:lnTo>
                  <a:lnTo>
                    <a:pt x="6024" y="1473024"/>
                  </a:lnTo>
                  <a:lnTo>
                    <a:pt x="0" y="1443428"/>
                  </a:lnTo>
                  <a:lnTo>
                    <a:pt x="2" y="75994"/>
                  </a:lnTo>
                  <a:lnTo>
                    <a:pt x="6024" y="46409"/>
                  </a:lnTo>
                  <a:lnTo>
                    <a:pt x="22306" y="22251"/>
                  </a:lnTo>
                  <a:lnTo>
                    <a:pt x="46464" y="5969"/>
                  </a:lnTo>
                  <a:lnTo>
                    <a:pt x="76060" y="0"/>
                  </a:lnTo>
                  <a:lnTo>
                    <a:pt x="3639629" y="0"/>
                  </a:lnTo>
                  <a:lnTo>
                    <a:pt x="3669225" y="5968"/>
                  </a:lnTo>
                  <a:lnTo>
                    <a:pt x="3693383" y="22250"/>
                  </a:lnTo>
                  <a:lnTo>
                    <a:pt x="3709666" y="46408"/>
                  </a:lnTo>
                  <a:lnTo>
                    <a:pt x="3714748" y="71613"/>
                  </a:lnTo>
                </a:path>
              </a:pathLst>
            </a:custGeom>
            <a:ln w="19064">
              <a:solidFill>
                <a:srgbClr val="00D4A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10487306" y="7980270"/>
            <a:ext cx="1400175" cy="840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3000" spc="-10" b="1">
                <a:solidFill>
                  <a:srgbClr val="00426F"/>
                </a:solidFill>
                <a:latin typeface="Georgia"/>
                <a:cs typeface="Georgia"/>
              </a:rPr>
              <a:t>Deploy</a:t>
            </a:r>
            <a:endParaRPr sz="300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1190"/>
              </a:spcBef>
            </a:pPr>
            <a:r>
              <a:rPr dirty="0" sz="1350">
                <a:solidFill>
                  <a:srgbClr val="00426F"/>
                </a:solidFill>
                <a:latin typeface="Calibri"/>
                <a:cs typeface="Calibri"/>
              </a:rPr>
              <a:t>AI</a:t>
            </a:r>
            <a:r>
              <a:rPr dirty="0" sz="1350" spc="-35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0426F"/>
                </a:solidFill>
                <a:latin typeface="Calibri"/>
                <a:cs typeface="Calibri"/>
              </a:rPr>
              <a:t>workers</a:t>
            </a:r>
            <a:r>
              <a:rPr dirty="0" sz="1350" spc="-35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350" spc="-20">
                <a:solidFill>
                  <a:srgbClr val="00426F"/>
                </a:solidFill>
                <a:latin typeface="Calibri"/>
                <a:cs typeface="Calibri"/>
              </a:rPr>
              <a:t>24/7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3437891" y="7815016"/>
            <a:ext cx="3734435" cy="1538605"/>
            <a:chOff x="13437891" y="7815016"/>
            <a:chExt cx="3734435" cy="1538605"/>
          </a:xfrm>
        </p:grpSpPr>
        <p:sp>
          <p:nvSpPr>
            <p:cNvPr id="22" name="object 22"/>
            <p:cNvSpPr/>
            <p:nvPr/>
          </p:nvSpPr>
          <p:spPr>
            <a:xfrm>
              <a:off x="13447422" y="7824549"/>
              <a:ext cx="3716020" cy="1519555"/>
            </a:xfrm>
            <a:custGeom>
              <a:avLst/>
              <a:gdLst/>
              <a:ahLst/>
              <a:cxnLst/>
              <a:rect l="l" t="t" r="r" b="b"/>
              <a:pathLst>
                <a:path w="3716019" h="1519554">
                  <a:moveTo>
                    <a:pt x="3639787" y="1519475"/>
                  </a:moveTo>
                  <a:lnTo>
                    <a:pt x="76009" y="1519475"/>
                  </a:lnTo>
                  <a:lnTo>
                    <a:pt x="46412" y="1513553"/>
                  </a:lnTo>
                  <a:lnTo>
                    <a:pt x="22253" y="1497270"/>
                  </a:lnTo>
                  <a:lnTo>
                    <a:pt x="5969" y="1473111"/>
                  </a:lnTo>
                  <a:lnTo>
                    <a:pt x="0" y="1443513"/>
                  </a:lnTo>
                  <a:lnTo>
                    <a:pt x="0" y="76009"/>
                  </a:lnTo>
                  <a:lnTo>
                    <a:pt x="22253" y="22252"/>
                  </a:lnTo>
                  <a:lnTo>
                    <a:pt x="76009" y="0"/>
                  </a:lnTo>
                  <a:lnTo>
                    <a:pt x="3639787" y="0"/>
                  </a:lnTo>
                  <a:lnTo>
                    <a:pt x="3669385" y="5969"/>
                  </a:lnTo>
                  <a:lnTo>
                    <a:pt x="3693544" y="22252"/>
                  </a:lnTo>
                  <a:lnTo>
                    <a:pt x="3709827" y="46412"/>
                  </a:lnTo>
                  <a:lnTo>
                    <a:pt x="3715591" y="74990"/>
                  </a:lnTo>
                  <a:lnTo>
                    <a:pt x="3715591" y="1444532"/>
                  </a:lnTo>
                  <a:lnTo>
                    <a:pt x="3709827" y="1473111"/>
                  </a:lnTo>
                  <a:lnTo>
                    <a:pt x="3693544" y="1497270"/>
                  </a:lnTo>
                  <a:lnTo>
                    <a:pt x="3669385" y="1513553"/>
                  </a:lnTo>
                  <a:lnTo>
                    <a:pt x="3639787" y="1519475"/>
                  </a:lnTo>
                  <a:close/>
                </a:path>
              </a:pathLst>
            </a:custGeom>
            <a:solidFill>
              <a:srgbClr val="FFFA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3447423" y="7824549"/>
              <a:ext cx="3714750" cy="1519555"/>
            </a:xfrm>
            <a:custGeom>
              <a:avLst/>
              <a:gdLst/>
              <a:ahLst/>
              <a:cxnLst/>
              <a:rect l="l" t="t" r="r" b="b"/>
              <a:pathLst>
                <a:path w="3714750" h="1519554">
                  <a:moveTo>
                    <a:pt x="3714750" y="1447811"/>
                  </a:moveTo>
                  <a:lnTo>
                    <a:pt x="3693382" y="1497182"/>
                  </a:lnTo>
                  <a:lnTo>
                    <a:pt x="3639629" y="1519433"/>
                  </a:lnTo>
                  <a:lnTo>
                    <a:pt x="76060" y="1519433"/>
                  </a:lnTo>
                  <a:lnTo>
                    <a:pt x="46464" y="1513464"/>
                  </a:lnTo>
                  <a:lnTo>
                    <a:pt x="22306" y="1497182"/>
                  </a:lnTo>
                  <a:lnTo>
                    <a:pt x="6024" y="1473024"/>
                  </a:lnTo>
                  <a:lnTo>
                    <a:pt x="0" y="1443428"/>
                  </a:lnTo>
                  <a:lnTo>
                    <a:pt x="2" y="75994"/>
                  </a:lnTo>
                  <a:lnTo>
                    <a:pt x="6024" y="46409"/>
                  </a:lnTo>
                  <a:lnTo>
                    <a:pt x="22306" y="22251"/>
                  </a:lnTo>
                  <a:lnTo>
                    <a:pt x="46464" y="5969"/>
                  </a:lnTo>
                  <a:lnTo>
                    <a:pt x="76060" y="0"/>
                  </a:lnTo>
                  <a:lnTo>
                    <a:pt x="3639629" y="0"/>
                  </a:lnTo>
                  <a:lnTo>
                    <a:pt x="3669224" y="5969"/>
                  </a:lnTo>
                  <a:lnTo>
                    <a:pt x="3693382" y="22251"/>
                  </a:lnTo>
                  <a:lnTo>
                    <a:pt x="3709664" y="46409"/>
                  </a:lnTo>
                  <a:lnTo>
                    <a:pt x="3714750" y="71622"/>
                  </a:lnTo>
                </a:path>
              </a:pathLst>
            </a:custGeom>
            <a:ln w="19064">
              <a:solidFill>
                <a:srgbClr val="00D4A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14485508" y="7980270"/>
            <a:ext cx="1639570" cy="840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3000" spc="-20" b="1">
                <a:solidFill>
                  <a:srgbClr val="00426F"/>
                </a:solidFill>
                <a:latin typeface="Georgia"/>
                <a:cs typeface="Georgia"/>
              </a:rPr>
              <a:t>Grow</a:t>
            </a:r>
            <a:endParaRPr sz="300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1190"/>
              </a:spcBef>
            </a:pPr>
            <a:r>
              <a:rPr dirty="0" sz="1350" spc="-10">
                <a:solidFill>
                  <a:srgbClr val="00426F"/>
                </a:solidFill>
                <a:latin typeface="Calibri"/>
                <a:cs typeface="Calibri"/>
              </a:rPr>
              <a:t>revenue</a:t>
            </a:r>
            <a:r>
              <a:rPr dirty="0" sz="1350" spc="-15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0426F"/>
                </a:solidFill>
                <a:latin typeface="Calibri"/>
                <a:cs typeface="Calibri"/>
              </a:rPr>
              <a:t>autonomously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85"/>
              </a:lnSpc>
            </a:pPr>
            <a:r>
              <a:rPr dirty="0"/>
              <a:t>15</a:t>
            </a:r>
            <a:r>
              <a:rPr dirty="0" spc="-15"/>
              <a:t> </a:t>
            </a:r>
            <a:r>
              <a:rPr dirty="0"/>
              <a:t>/</a:t>
            </a:r>
            <a:r>
              <a:rPr dirty="0" spc="-15"/>
              <a:t> </a:t>
            </a:r>
            <a:r>
              <a:rPr dirty="0" spc="-25"/>
              <a:t>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863362" y="1376961"/>
            <a:ext cx="5490845" cy="5473700"/>
            <a:chOff x="6863362" y="1376961"/>
            <a:chExt cx="5490845" cy="5473700"/>
          </a:xfrm>
        </p:grpSpPr>
        <p:sp>
          <p:nvSpPr>
            <p:cNvPr id="3" name="object 3"/>
            <p:cNvSpPr/>
            <p:nvPr/>
          </p:nvSpPr>
          <p:spPr>
            <a:xfrm>
              <a:off x="6863362" y="1376961"/>
              <a:ext cx="5490845" cy="5473700"/>
            </a:xfrm>
            <a:custGeom>
              <a:avLst/>
              <a:gdLst/>
              <a:ahLst/>
              <a:cxnLst/>
              <a:rect l="l" t="t" r="r" b="b"/>
              <a:pathLst>
                <a:path w="5490845" h="5473700">
                  <a:moveTo>
                    <a:pt x="3078966" y="12699"/>
                  </a:moveTo>
                  <a:lnTo>
                    <a:pt x="2411812" y="12699"/>
                  </a:lnTo>
                  <a:lnTo>
                    <a:pt x="2458793" y="0"/>
                  </a:lnTo>
                  <a:lnTo>
                    <a:pt x="3031986" y="0"/>
                  </a:lnTo>
                  <a:lnTo>
                    <a:pt x="3078966" y="12699"/>
                  </a:lnTo>
                  <a:close/>
                </a:path>
                <a:path w="5490845" h="5473700">
                  <a:moveTo>
                    <a:pt x="3172192" y="25399"/>
                  </a:moveTo>
                  <a:lnTo>
                    <a:pt x="2318586" y="25399"/>
                  </a:lnTo>
                  <a:lnTo>
                    <a:pt x="2365074" y="12699"/>
                  </a:lnTo>
                  <a:lnTo>
                    <a:pt x="3125704" y="12699"/>
                  </a:lnTo>
                  <a:lnTo>
                    <a:pt x="3172192" y="25399"/>
                  </a:lnTo>
                  <a:close/>
                </a:path>
                <a:path w="5490845" h="5473700">
                  <a:moveTo>
                    <a:pt x="3355512" y="63499"/>
                  </a:moveTo>
                  <a:lnTo>
                    <a:pt x="2135263" y="63499"/>
                  </a:lnTo>
                  <a:lnTo>
                    <a:pt x="2272354" y="25399"/>
                  </a:lnTo>
                  <a:lnTo>
                    <a:pt x="3218423" y="25399"/>
                  </a:lnTo>
                  <a:lnTo>
                    <a:pt x="3355512" y="63499"/>
                  </a:lnTo>
                  <a:close/>
                </a:path>
                <a:path w="5490845" h="5473700">
                  <a:moveTo>
                    <a:pt x="3264366" y="5435599"/>
                  </a:moveTo>
                  <a:lnTo>
                    <a:pt x="2226411" y="5435599"/>
                  </a:lnTo>
                  <a:lnTo>
                    <a:pt x="1825660" y="5321299"/>
                  </a:lnTo>
                  <a:lnTo>
                    <a:pt x="1740071" y="5295899"/>
                  </a:lnTo>
                  <a:lnTo>
                    <a:pt x="1697790" y="5270499"/>
                  </a:lnTo>
                  <a:lnTo>
                    <a:pt x="1655860" y="5257799"/>
                  </a:lnTo>
                  <a:lnTo>
                    <a:pt x="1614288" y="5232399"/>
                  </a:lnTo>
                  <a:lnTo>
                    <a:pt x="1573082" y="5219699"/>
                  </a:lnTo>
                  <a:lnTo>
                    <a:pt x="1532247" y="5194299"/>
                  </a:lnTo>
                  <a:lnTo>
                    <a:pt x="1491791" y="5181599"/>
                  </a:lnTo>
                  <a:lnTo>
                    <a:pt x="1412043" y="5130799"/>
                  </a:lnTo>
                  <a:lnTo>
                    <a:pt x="1372763" y="5118099"/>
                  </a:lnTo>
                  <a:lnTo>
                    <a:pt x="1295429" y="5067299"/>
                  </a:lnTo>
                  <a:lnTo>
                    <a:pt x="1219773" y="5016499"/>
                  </a:lnTo>
                  <a:lnTo>
                    <a:pt x="1145850" y="4965699"/>
                  </a:lnTo>
                  <a:lnTo>
                    <a:pt x="1073713" y="4914899"/>
                  </a:lnTo>
                  <a:lnTo>
                    <a:pt x="1038332" y="4889499"/>
                  </a:lnTo>
                  <a:lnTo>
                    <a:pt x="1003418" y="4851399"/>
                  </a:lnTo>
                  <a:lnTo>
                    <a:pt x="968977" y="4825999"/>
                  </a:lnTo>
                  <a:lnTo>
                    <a:pt x="935018" y="4800599"/>
                  </a:lnTo>
                  <a:lnTo>
                    <a:pt x="901546" y="4762499"/>
                  </a:lnTo>
                  <a:lnTo>
                    <a:pt x="868569" y="4737099"/>
                  </a:lnTo>
                  <a:lnTo>
                    <a:pt x="836092" y="4711699"/>
                  </a:lnTo>
                  <a:lnTo>
                    <a:pt x="804124" y="4673599"/>
                  </a:lnTo>
                  <a:lnTo>
                    <a:pt x="772670" y="4648199"/>
                  </a:lnTo>
                  <a:lnTo>
                    <a:pt x="741738" y="4610099"/>
                  </a:lnTo>
                  <a:lnTo>
                    <a:pt x="711334" y="4584699"/>
                  </a:lnTo>
                  <a:lnTo>
                    <a:pt x="681466" y="4546599"/>
                  </a:lnTo>
                  <a:lnTo>
                    <a:pt x="652139" y="4508499"/>
                  </a:lnTo>
                  <a:lnTo>
                    <a:pt x="623362" y="4470399"/>
                  </a:lnTo>
                  <a:lnTo>
                    <a:pt x="595140" y="4444999"/>
                  </a:lnTo>
                  <a:lnTo>
                    <a:pt x="567480" y="4406899"/>
                  </a:lnTo>
                  <a:lnTo>
                    <a:pt x="540390" y="4368799"/>
                  </a:lnTo>
                  <a:lnTo>
                    <a:pt x="513875" y="4330699"/>
                  </a:lnTo>
                  <a:lnTo>
                    <a:pt x="487944" y="4292599"/>
                  </a:lnTo>
                  <a:lnTo>
                    <a:pt x="462602" y="4254499"/>
                  </a:lnTo>
                  <a:lnTo>
                    <a:pt x="437856" y="4216399"/>
                  </a:lnTo>
                  <a:lnTo>
                    <a:pt x="413714" y="4190999"/>
                  </a:lnTo>
                  <a:lnTo>
                    <a:pt x="390182" y="4140199"/>
                  </a:lnTo>
                  <a:lnTo>
                    <a:pt x="367267" y="4102099"/>
                  </a:lnTo>
                  <a:lnTo>
                    <a:pt x="344975" y="4063999"/>
                  </a:lnTo>
                  <a:lnTo>
                    <a:pt x="323314" y="4025899"/>
                  </a:lnTo>
                  <a:lnTo>
                    <a:pt x="302291" y="3987799"/>
                  </a:lnTo>
                  <a:lnTo>
                    <a:pt x="281911" y="3949699"/>
                  </a:lnTo>
                  <a:lnTo>
                    <a:pt x="262182" y="3911599"/>
                  </a:lnTo>
                  <a:lnTo>
                    <a:pt x="243111" y="3860799"/>
                  </a:lnTo>
                  <a:lnTo>
                    <a:pt x="224705" y="3822699"/>
                  </a:lnTo>
                  <a:lnTo>
                    <a:pt x="206969" y="3784599"/>
                  </a:lnTo>
                  <a:lnTo>
                    <a:pt x="189912" y="3733799"/>
                  </a:lnTo>
                  <a:lnTo>
                    <a:pt x="173540" y="3695699"/>
                  </a:lnTo>
                  <a:lnTo>
                    <a:pt x="157860" y="3657599"/>
                  </a:lnTo>
                  <a:lnTo>
                    <a:pt x="142878" y="3606799"/>
                  </a:lnTo>
                  <a:lnTo>
                    <a:pt x="128601" y="3568699"/>
                  </a:lnTo>
                  <a:lnTo>
                    <a:pt x="115037" y="3517899"/>
                  </a:lnTo>
                  <a:lnTo>
                    <a:pt x="102192" y="3479799"/>
                  </a:lnTo>
                  <a:lnTo>
                    <a:pt x="90072" y="3428999"/>
                  </a:lnTo>
                  <a:lnTo>
                    <a:pt x="78685" y="3390899"/>
                  </a:lnTo>
                  <a:lnTo>
                    <a:pt x="68037" y="3340099"/>
                  </a:lnTo>
                  <a:lnTo>
                    <a:pt x="58136" y="3301999"/>
                  </a:lnTo>
                  <a:lnTo>
                    <a:pt x="48988" y="3251199"/>
                  </a:lnTo>
                  <a:lnTo>
                    <a:pt x="40599" y="3213099"/>
                  </a:lnTo>
                  <a:lnTo>
                    <a:pt x="32977" y="3162299"/>
                  </a:lnTo>
                  <a:lnTo>
                    <a:pt x="26128" y="3111499"/>
                  </a:lnTo>
                  <a:lnTo>
                    <a:pt x="20060" y="3073399"/>
                  </a:lnTo>
                  <a:lnTo>
                    <a:pt x="14779" y="3022599"/>
                  </a:lnTo>
                  <a:lnTo>
                    <a:pt x="10291" y="2971799"/>
                  </a:lnTo>
                  <a:lnTo>
                    <a:pt x="6604" y="2920999"/>
                  </a:lnTo>
                  <a:lnTo>
                    <a:pt x="3725" y="2882899"/>
                  </a:lnTo>
                  <a:lnTo>
                    <a:pt x="1660" y="2832099"/>
                  </a:lnTo>
                  <a:lnTo>
                    <a:pt x="416" y="2781299"/>
                  </a:lnTo>
                  <a:lnTo>
                    <a:pt x="0" y="2730499"/>
                  </a:lnTo>
                  <a:lnTo>
                    <a:pt x="416" y="2692399"/>
                  </a:lnTo>
                  <a:lnTo>
                    <a:pt x="1660" y="2641599"/>
                  </a:lnTo>
                  <a:lnTo>
                    <a:pt x="3725" y="2590799"/>
                  </a:lnTo>
                  <a:lnTo>
                    <a:pt x="6604" y="2539999"/>
                  </a:lnTo>
                  <a:lnTo>
                    <a:pt x="10290" y="2489199"/>
                  </a:lnTo>
                  <a:lnTo>
                    <a:pt x="14778" y="2451099"/>
                  </a:lnTo>
                  <a:lnTo>
                    <a:pt x="20059" y="2400299"/>
                  </a:lnTo>
                  <a:lnTo>
                    <a:pt x="26126" y="2349499"/>
                  </a:lnTo>
                  <a:lnTo>
                    <a:pt x="32975" y="2311399"/>
                  </a:lnTo>
                  <a:lnTo>
                    <a:pt x="40596" y="2260599"/>
                  </a:lnTo>
                  <a:lnTo>
                    <a:pt x="48984" y="2209799"/>
                  </a:lnTo>
                  <a:lnTo>
                    <a:pt x="58132" y="2171699"/>
                  </a:lnTo>
                  <a:lnTo>
                    <a:pt x="68033" y="2120899"/>
                  </a:lnTo>
                  <a:lnTo>
                    <a:pt x="78680" y="2082799"/>
                  </a:lnTo>
                  <a:lnTo>
                    <a:pt x="90066" y="2031999"/>
                  </a:lnTo>
                  <a:lnTo>
                    <a:pt x="102185" y="1993899"/>
                  </a:lnTo>
                  <a:lnTo>
                    <a:pt x="115029" y="1943099"/>
                  </a:lnTo>
                  <a:lnTo>
                    <a:pt x="128593" y="1904999"/>
                  </a:lnTo>
                  <a:lnTo>
                    <a:pt x="142869" y="1854199"/>
                  </a:lnTo>
                  <a:lnTo>
                    <a:pt x="157850" y="1816099"/>
                  </a:lnTo>
                  <a:lnTo>
                    <a:pt x="173529" y="1777999"/>
                  </a:lnTo>
                  <a:lnTo>
                    <a:pt x="189900" y="1727199"/>
                  </a:lnTo>
                  <a:lnTo>
                    <a:pt x="206956" y="1689099"/>
                  </a:lnTo>
                  <a:lnTo>
                    <a:pt x="224691" y="1650999"/>
                  </a:lnTo>
                  <a:lnTo>
                    <a:pt x="243096" y="1600199"/>
                  </a:lnTo>
                  <a:lnTo>
                    <a:pt x="262166" y="1562099"/>
                  </a:lnTo>
                  <a:lnTo>
                    <a:pt x="281894" y="1523999"/>
                  </a:lnTo>
                  <a:lnTo>
                    <a:pt x="302273" y="1485899"/>
                  </a:lnTo>
                  <a:lnTo>
                    <a:pt x="323296" y="1435099"/>
                  </a:lnTo>
                  <a:lnTo>
                    <a:pt x="344956" y="1396999"/>
                  </a:lnTo>
                  <a:lnTo>
                    <a:pt x="367246" y="1358899"/>
                  </a:lnTo>
                  <a:lnTo>
                    <a:pt x="390160" y="1320799"/>
                  </a:lnTo>
                  <a:lnTo>
                    <a:pt x="413691" y="1282699"/>
                  </a:lnTo>
                  <a:lnTo>
                    <a:pt x="437833" y="1244599"/>
                  </a:lnTo>
                  <a:lnTo>
                    <a:pt x="462577" y="1206499"/>
                  </a:lnTo>
                  <a:lnTo>
                    <a:pt x="487918" y="1168399"/>
                  </a:lnTo>
                  <a:lnTo>
                    <a:pt x="513848" y="1130299"/>
                  </a:lnTo>
                  <a:lnTo>
                    <a:pt x="540362" y="1104899"/>
                  </a:lnTo>
                  <a:lnTo>
                    <a:pt x="567451" y="1066799"/>
                  </a:lnTo>
                  <a:lnTo>
                    <a:pt x="595110" y="1028699"/>
                  </a:lnTo>
                  <a:lnTo>
                    <a:pt x="623331" y="990599"/>
                  </a:lnTo>
                  <a:lnTo>
                    <a:pt x="652108" y="952499"/>
                  </a:lnTo>
                  <a:lnTo>
                    <a:pt x="681433" y="927099"/>
                  </a:lnTo>
                  <a:lnTo>
                    <a:pt x="711301" y="888999"/>
                  </a:lnTo>
                  <a:lnTo>
                    <a:pt x="741704" y="863599"/>
                  </a:lnTo>
                  <a:lnTo>
                    <a:pt x="772635" y="825499"/>
                  </a:lnTo>
                  <a:lnTo>
                    <a:pt x="804088" y="787399"/>
                  </a:lnTo>
                  <a:lnTo>
                    <a:pt x="836056" y="761999"/>
                  </a:lnTo>
                  <a:lnTo>
                    <a:pt x="868531" y="736599"/>
                  </a:lnTo>
                  <a:lnTo>
                    <a:pt x="901508" y="698499"/>
                  </a:lnTo>
                  <a:lnTo>
                    <a:pt x="934980" y="673099"/>
                  </a:lnTo>
                  <a:lnTo>
                    <a:pt x="968938" y="647699"/>
                  </a:lnTo>
                  <a:lnTo>
                    <a:pt x="1003378" y="609599"/>
                  </a:lnTo>
                  <a:lnTo>
                    <a:pt x="1073673" y="558799"/>
                  </a:lnTo>
                  <a:lnTo>
                    <a:pt x="1145809" y="507999"/>
                  </a:lnTo>
                  <a:lnTo>
                    <a:pt x="1219732" y="457199"/>
                  </a:lnTo>
                  <a:lnTo>
                    <a:pt x="1295387" y="406399"/>
                  </a:lnTo>
                  <a:lnTo>
                    <a:pt x="1372721" y="355599"/>
                  </a:lnTo>
                  <a:lnTo>
                    <a:pt x="1412000" y="330199"/>
                  </a:lnTo>
                  <a:lnTo>
                    <a:pt x="1451679" y="317499"/>
                  </a:lnTo>
                  <a:lnTo>
                    <a:pt x="1532206" y="266699"/>
                  </a:lnTo>
                  <a:lnTo>
                    <a:pt x="1573041" y="253999"/>
                  </a:lnTo>
                  <a:lnTo>
                    <a:pt x="1614247" y="228599"/>
                  </a:lnTo>
                  <a:lnTo>
                    <a:pt x="1655819" y="215899"/>
                  </a:lnTo>
                  <a:lnTo>
                    <a:pt x="1697750" y="190499"/>
                  </a:lnTo>
                  <a:lnTo>
                    <a:pt x="1825622" y="152399"/>
                  </a:lnTo>
                  <a:lnTo>
                    <a:pt x="1868918" y="126999"/>
                  </a:lnTo>
                  <a:lnTo>
                    <a:pt x="2090124" y="63499"/>
                  </a:lnTo>
                  <a:lnTo>
                    <a:pt x="3400651" y="63499"/>
                  </a:lnTo>
                  <a:lnTo>
                    <a:pt x="3621852" y="126999"/>
                  </a:lnTo>
                  <a:lnTo>
                    <a:pt x="3665147" y="152399"/>
                  </a:lnTo>
                  <a:lnTo>
                    <a:pt x="3793016" y="190499"/>
                  </a:lnTo>
                  <a:lnTo>
                    <a:pt x="3834945" y="215899"/>
                  </a:lnTo>
                  <a:lnTo>
                    <a:pt x="3876516" y="228599"/>
                  </a:lnTo>
                  <a:lnTo>
                    <a:pt x="3917722" y="253999"/>
                  </a:lnTo>
                  <a:lnTo>
                    <a:pt x="3958556" y="266699"/>
                  </a:lnTo>
                  <a:lnTo>
                    <a:pt x="4039080" y="317499"/>
                  </a:lnTo>
                  <a:lnTo>
                    <a:pt x="4078757" y="330199"/>
                  </a:lnTo>
                  <a:lnTo>
                    <a:pt x="4118035" y="355599"/>
                  </a:lnTo>
                  <a:lnTo>
                    <a:pt x="4195366" y="406399"/>
                  </a:lnTo>
                  <a:lnTo>
                    <a:pt x="4271019" y="457199"/>
                  </a:lnTo>
                  <a:lnTo>
                    <a:pt x="4344939" y="507999"/>
                  </a:lnTo>
                  <a:lnTo>
                    <a:pt x="4417072" y="558799"/>
                  </a:lnTo>
                  <a:lnTo>
                    <a:pt x="4487364" y="609599"/>
                  </a:lnTo>
                  <a:lnTo>
                    <a:pt x="4521802" y="647699"/>
                  </a:lnTo>
                  <a:lnTo>
                    <a:pt x="4555759" y="673099"/>
                  </a:lnTo>
                  <a:lnTo>
                    <a:pt x="4589229" y="698499"/>
                  </a:lnTo>
                  <a:lnTo>
                    <a:pt x="4622204" y="736599"/>
                  </a:lnTo>
                  <a:lnTo>
                    <a:pt x="4654678" y="761999"/>
                  </a:lnTo>
                  <a:lnTo>
                    <a:pt x="4686645" y="787399"/>
                  </a:lnTo>
                  <a:lnTo>
                    <a:pt x="4718096" y="825499"/>
                  </a:lnTo>
                  <a:lnTo>
                    <a:pt x="4749026" y="863599"/>
                  </a:lnTo>
                  <a:lnTo>
                    <a:pt x="4779427" y="888999"/>
                  </a:lnTo>
                  <a:lnTo>
                    <a:pt x="4809293" y="927099"/>
                  </a:lnTo>
                  <a:lnTo>
                    <a:pt x="4838617" y="952499"/>
                  </a:lnTo>
                  <a:lnTo>
                    <a:pt x="4867392" y="990599"/>
                  </a:lnTo>
                  <a:lnTo>
                    <a:pt x="4895612" y="1028699"/>
                  </a:lnTo>
                  <a:lnTo>
                    <a:pt x="4923269" y="1066799"/>
                  </a:lnTo>
                  <a:lnTo>
                    <a:pt x="4950357" y="1104899"/>
                  </a:lnTo>
                  <a:lnTo>
                    <a:pt x="4976869" y="1130299"/>
                  </a:lnTo>
                  <a:lnTo>
                    <a:pt x="5002798" y="1168399"/>
                  </a:lnTo>
                  <a:lnTo>
                    <a:pt x="5028138" y="1206499"/>
                  </a:lnTo>
                  <a:lnTo>
                    <a:pt x="5052881" y="1244599"/>
                  </a:lnTo>
                  <a:lnTo>
                    <a:pt x="5077020" y="1282699"/>
                  </a:lnTo>
                  <a:lnTo>
                    <a:pt x="5100550" y="1320799"/>
                  </a:lnTo>
                  <a:lnTo>
                    <a:pt x="5123463" y="1358899"/>
                  </a:lnTo>
                  <a:lnTo>
                    <a:pt x="5145752" y="1396999"/>
                  </a:lnTo>
                  <a:lnTo>
                    <a:pt x="5167411" y="1435099"/>
                  </a:lnTo>
                  <a:lnTo>
                    <a:pt x="5188432" y="1485899"/>
                  </a:lnTo>
                  <a:lnTo>
                    <a:pt x="5208810" y="1523999"/>
                  </a:lnTo>
                  <a:lnTo>
                    <a:pt x="5228536" y="1562099"/>
                  </a:lnTo>
                  <a:lnTo>
                    <a:pt x="5247605" y="1600199"/>
                  </a:lnTo>
                  <a:lnTo>
                    <a:pt x="5266010" y="1650999"/>
                  </a:lnTo>
                  <a:lnTo>
                    <a:pt x="5283743" y="1689099"/>
                  </a:lnTo>
                  <a:lnTo>
                    <a:pt x="5300798" y="1727199"/>
                  </a:lnTo>
                  <a:lnTo>
                    <a:pt x="5317168" y="1777999"/>
                  </a:lnTo>
                  <a:lnTo>
                    <a:pt x="5332846" y="1816099"/>
                  </a:lnTo>
                  <a:lnTo>
                    <a:pt x="5347826" y="1854199"/>
                  </a:lnTo>
                  <a:lnTo>
                    <a:pt x="5362101" y="1904999"/>
                  </a:lnTo>
                  <a:lnTo>
                    <a:pt x="5375664" y="1943099"/>
                  </a:lnTo>
                  <a:lnTo>
                    <a:pt x="5388507" y="1993899"/>
                  </a:lnTo>
                  <a:lnTo>
                    <a:pt x="5400625" y="2031999"/>
                  </a:lnTo>
                  <a:lnTo>
                    <a:pt x="5412011" y="2082799"/>
                  </a:lnTo>
                  <a:lnTo>
                    <a:pt x="5422657" y="2120899"/>
                  </a:lnTo>
                  <a:lnTo>
                    <a:pt x="5432557" y="2171699"/>
                  </a:lnTo>
                  <a:lnTo>
                    <a:pt x="5441704" y="2209799"/>
                  </a:lnTo>
                  <a:lnTo>
                    <a:pt x="5450092" y="2260599"/>
                  </a:lnTo>
                  <a:lnTo>
                    <a:pt x="5457713" y="2311399"/>
                  </a:lnTo>
                  <a:lnTo>
                    <a:pt x="5464560" y="2349499"/>
                  </a:lnTo>
                  <a:lnTo>
                    <a:pt x="5470628" y="2400299"/>
                  </a:lnTo>
                  <a:lnTo>
                    <a:pt x="5475908" y="2451099"/>
                  </a:lnTo>
                  <a:lnTo>
                    <a:pt x="5480395" y="2489199"/>
                  </a:lnTo>
                  <a:lnTo>
                    <a:pt x="5484082" y="2539999"/>
                  </a:lnTo>
                  <a:lnTo>
                    <a:pt x="5486961" y="2590799"/>
                  </a:lnTo>
                  <a:lnTo>
                    <a:pt x="5489025" y="2641599"/>
                  </a:lnTo>
                  <a:lnTo>
                    <a:pt x="5490269" y="2692399"/>
                  </a:lnTo>
                  <a:lnTo>
                    <a:pt x="5490685" y="2730499"/>
                  </a:lnTo>
                  <a:lnTo>
                    <a:pt x="5490269" y="2781299"/>
                  </a:lnTo>
                  <a:lnTo>
                    <a:pt x="5489025" y="2832099"/>
                  </a:lnTo>
                  <a:lnTo>
                    <a:pt x="5486960" y="2882899"/>
                  </a:lnTo>
                  <a:lnTo>
                    <a:pt x="5484081" y="2920999"/>
                  </a:lnTo>
                  <a:lnTo>
                    <a:pt x="5480395" y="2971799"/>
                  </a:lnTo>
                  <a:lnTo>
                    <a:pt x="5475907" y="3022599"/>
                  </a:lnTo>
                  <a:lnTo>
                    <a:pt x="5470626" y="3073399"/>
                  </a:lnTo>
                  <a:lnTo>
                    <a:pt x="5464559" y="3111499"/>
                  </a:lnTo>
                  <a:lnTo>
                    <a:pt x="5457710" y="3162299"/>
                  </a:lnTo>
                  <a:lnTo>
                    <a:pt x="5450089" y="3213099"/>
                  </a:lnTo>
                  <a:lnTo>
                    <a:pt x="5441701" y="3251199"/>
                  </a:lnTo>
                  <a:lnTo>
                    <a:pt x="5432553" y="3301999"/>
                  </a:lnTo>
                  <a:lnTo>
                    <a:pt x="5422652" y="3340099"/>
                  </a:lnTo>
                  <a:lnTo>
                    <a:pt x="5412006" y="3390899"/>
                  </a:lnTo>
                  <a:lnTo>
                    <a:pt x="5400619" y="3428999"/>
                  </a:lnTo>
                  <a:lnTo>
                    <a:pt x="5388501" y="3479799"/>
                  </a:lnTo>
                  <a:lnTo>
                    <a:pt x="5375656" y="3517899"/>
                  </a:lnTo>
                  <a:lnTo>
                    <a:pt x="5362093" y="3568699"/>
                  </a:lnTo>
                  <a:lnTo>
                    <a:pt x="5347817" y="3606799"/>
                  </a:lnTo>
                  <a:lnTo>
                    <a:pt x="5332836" y="3657599"/>
                  </a:lnTo>
                  <a:lnTo>
                    <a:pt x="5317157" y="3695699"/>
                  </a:lnTo>
                  <a:lnTo>
                    <a:pt x="5300786" y="3733799"/>
                  </a:lnTo>
                  <a:lnTo>
                    <a:pt x="5283730" y="3784599"/>
                  </a:lnTo>
                  <a:lnTo>
                    <a:pt x="5265996" y="3822699"/>
                  </a:lnTo>
                  <a:lnTo>
                    <a:pt x="5247590" y="3860799"/>
                  </a:lnTo>
                  <a:lnTo>
                    <a:pt x="5228521" y="3911599"/>
                  </a:lnTo>
                  <a:lnTo>
                    <a:pt x="5208793" y="3949699"/>
                  </a:lnTo>
                  <a:lnTo>
                    <a:pt x="5188415" y="3987799"/>
                  </a:lnTo>
                  <a:lnTo>
                    <a:pt x="5167392" y="4025899"/>
                  </a:lnTo>
                  <a:lnTo>
                    <a:pt x="5145732" y="4063999"/>
                  </a:lnTo>
                  <a:lnTo>
                    <a:pt x="5123442" y="4102099"/>
                  </a:lnTo>
                  <a:lnTo>
                    <a:pt x="5100528" y="4140199"/>
                  </a:lnTo>
                  <a:lnTo>
                    <a:pt x="5076998" y="4190999"/>
                  </a:lnTo>
                  <a:lnTo>
                    <a:pt x="5052857" y="4229099"/>
                  </a:lnTo>
                  <a:lnTo>
                    <a:pt x="5028113" y="4254499"/>
                  </a:lnTo>
                  <a:lnTo>
                    <a:pt x="5002772" y="4292599"/>
                  </a:lnTo>
                  <a:lnTo>
                    <a:pt x="4976842" y="4330699"/>
                  </a:lnTo>
                  <a:lnTo>
                    <a:pt x="4950329" y="4368799"/>
                  </a:lnTo>
                  <a:lnTo>
                    <a:pt x="4923240" y="4406899"/>
                  </a:lnTo>
                  <a:lnTo>
                    <a:pt x="4895582" y="4444999"/>
                  </a:lnTo>
                  <a:lnTo>
                    <a:pt x="4867362" y="4470399"/>
                  </a:lnTo>
                  <a:lnTo>
                    <a:pt x="4838586" y="4508499"/>
                  </a:lnTo>
                  <a:lnTo>
                    <a:pt x="4809261" y="4546599"/>
                  </a:lnTo>
                  <a:lnTo>
                    <a:pt x="4779394" y="4584699"/>
                  </a:lnTo>
                  <a:lnTo>
                    <a:pt x="4748991" y="4610099"/>
                  </a:lnTo>
                  <a:lnTo>
                    <a:pt x="4718061" y="4648199"/>
                  </a:lnTo>
                  <a:lnTo>
                    <a:pt x="4686609" y="4673599"/>
                  </a:lnTo>
                  <a:lnTo>
                    <a:pt x="4654642" y="4711699"/>
                  </a:lnTo>
                  <a:lnTo>
                    <a:pt x="4622167" y="4737099"/>
                  </a:lnTo>
                  <a:lnTo>
                    <a:pt x="4589191" y="4762499"/>
                  </a:lnTo>
                  <a:lnTo>
                    <a:pt x="4555721" y="4800599"/>
                  </a:lnTo>
                  <a:lnTo>
                    <a:pt x="4521763" y="4825999"/>
                  </a:lnTo>
                  <a:lnTo>
                    <a:pt x="4487324" y="4851399"/>
                  </a:lnTo>
                  <a:lnTo>
                    <a:pt x="4452411" y="4889499"/>
                  </a:lnTo>
                  <a:lnTo>
                    <a:pt x="4417031" y="4914899"/>
                  </a:lnTo>
                  <a:lnTo>
                    <a:pt x="4344898" y="4965699"/>
                  </a:lnTo>
                  <a:lnTo>
                    <a:pt x="4270977" y="5016499"/>
                  </a:lnTo>
                  <a:lnTo>
                    <a:pt x="4195324" y="5067299"/>
                  </a:lnTo>
                  <a:lnTo>
                    <a:pt x="4117992" y="5118099"/>
                  </a:lnTo>
                  <a:lnTo>
                    <a:pt x="4078715" y="5130799"/>
                  </a:lnTo>
                  <a:lnTo>
                    <a:pt x="3998968" y="5181599"/>
                  </a:lnTo>
                  <a:lnTo>
                    <a:pt x="3958514" y="5194299"/>
                  </a:lnTo>
                  <a:lnTo>
                    <a:pt x="3917680" y="5219699"/>
                  </a:lnTo>
                  <a:lnTo>
                    <a:pt x="3876475" y="5232399"/>
                  </a:lnTo>
                  <a:lnTo>
                    <a:pt x="3834905" y="5257799"/>
                  </a:lnTo>
                  <a:lnTo>
                    <a:pt x="3792976" y="5270499"/>
                  </a:lnTo>
                  <a:lnTo>
                    <a:pt x="3750696" y="5295899"/>
                  </a:lnTo>
                  <a:lnTo>
                    <a:pt x="3665109" y="5321299"/>
                  </a:lnTo>
                  <a:lnTo>
                    <a:pt x="3264366" y="5435599"/>
                  </a:lnTo>
                  <a:close/>
                </a:path>
                <a:path w="5490845" h="5473700">
                  <a:moveTo>
                    <a:pt x="3172169" y="5448299"/>
                  </a:moveTo>
                  <a:lnTo>
                    <a:pt x="2318608" y="5448299"/>
                  </a:lnTo>
                  <a:lnTo>
                    <a:pt x="2272378" y="5435599"/>
                  </a:lnTo>
                  <a:lnTo>
                    <a:pt x="3218399" y="5435599"/>
                  </a:lnTo>
                  <a:lnTo>
                    <a:pt x="3172169" y="5448299"/>
                  </a:lnTo>
                  <a:close/>
                </a:path>
                <a:path w="5490845" h="5473700">
                  <a:moveTo>
                    <a:pt x="3078948" y="5460999"/>
                  </a:moveTo>
                  <a:lnTo>
                    <a:pt x="2411830" y="5460999"/>
                  </a:lnTo>
                  <a:lnTo>
                    <a:pt x="2365095" y="5448299"/>
                  </a:lnTo>
                  <a:lnTo>
                    <a:pt x="3125683" y="5448299"/>
                  </a:lnTo>
                  <a:lnTo>
                    <a:pt x="3078948" y="5460999"/>
                  </a:lnTo>
                  <a:close/>
                </a:path>
                <a:path w="5490845" h="5473700">
                  <a:moveTo>
                    <a:pt x="2984757" y="5473699"/>
                  </a:moveTo>
                  <a:lnTo>
                    <a:pt x="2506023" y="5473699"/>
                  </a:lnTo>
                  <a:lnTo>
                    <a:pt x="2458809" y="5460999"/>
                  </a:lnTo>
                  <a:lnTo>
                    <a:pt x="3031970" y="5460999"/>
                  </a:lnTo>
                  <a:lnTo>
                    <a:pt x="2984757" y="5473699"/>
                  </a:lnTo>
                  <a:close/>
                </a:path>
              </a:pathLst>
            </a:custGeom>
            <a:solidFill>
              <a:srgbClr val="00D4AA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549695" y="1647205"/>
              <a:ext cx="3157220" cy="41275"/>
            </a:xfrm>
            <a:custGeom>
              <a:avLst/>
              <a:gdLst/>
              <a:ahLst/>
              <a:cxnLst/>
              <a:rect l="l" t="t" r="r" b="b"/>
              <a:pathLst>
                <a:path w="3157220" h="41275">
                  <a:moveTo>
                    <a:pt x="3157084" y="41176"/>
                  </a:moveTo>
                  <a:lnTo>
                    <a:pt x="0" y="41176"/>
                  </a:lnTo>
                  <a:lnTo>
                    <a:pt x="0" y="0"/>
                  </a:lnTo>
                  <a:lnTo>
                    <a:pt x="3157084" y="0"/>
                  </a:lnTo>
                  <a:lnTo>
                    <a:pt x="3157084" y="41176"/>
                  </a:lnTo>
                  <a:close/>
                </a:path>
              </a:pathLst>
            </a:custGeom>
            <a:solidFill>
              <a:srgbClr val="00D4A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7446712" y="2302855"/>
            <a:ext cx="3362960" cy="148971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600" spc="-10">
                <a:latin typeface="Calibri"/>
                <a:cs typeface="Calibri"/>
              </a:rPr>
              <a:t>FOLLEI</a:t>
            </a:r>
            <a:endParaRPr sz="9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80706" y="3544630"/>
            <a:ext cx="469519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8B8FA2"/>
                </a:solidFill>
                <a:latin typeface="Calibri"/>
                <a:cs typeface="Calibri"/>
              </a:rPr>
              <a:t>The</a:t>
            </a:r>
            <a:r>
              <a:rPr dirty="0" sz="2400" spc="-80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8B8FA2"/>
                </a:solidFill>
                <a:latin typeface="Calibri"/>
                <a:cs typeface="Calibri"/>
              </a:rPr>
              <a:t>Autonomous</a:t>
            </a:r>
            <a:r>
              <a:rPr dirty="0" sz="2400" spc="-7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8B8FA2"/>
                </a:solidFill>
                <a:latin typeface="Calibri"/>
                <a:cs typeface="Calibri"/>
              </a:rPr>
              <a:t>Workforce</a:t>
            </a:r>
            <a:r>
              <a:rPr dirty="0" sz="2400" spc="-75">
                <a:solidFill>
                  <a:srgbClr val="8B8FA2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8B8FA2"/>
                </a:solidFill>
                <a:latin typeface="Calibri"/>
                <a:cs typeface="Calibri"/>
              </a:rPr>
              <a:t>Platform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88451" y="4406328"/>
            <a:ext cx="11279505" cy="8470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3229"/>
              </a:lnSpc>
              <a:spcBef>
                <a:spcPts val="100"/>
              </a:spcBef>
            </a:pPr>
            <a:r>
              <a:rPr dirty="0" sz="2700" i="1">
                <a:solidFill>
                  <a:srgbClr val="8B8FA2"/>
                </a:solidFill>
                <a:latin typeface="Georgia"/>
                <a:cs typeface="Georgia"/>
              </a:rPr>
              <a:t>"The</a:t>
            </a:r>
            <a:r>
              <a:rPr dirty="0" sz="2700" spc="-50" i="1">
                <a:solidFill>
                  <a:srgbClr val="8B8FA2"/>
                </a:solidFill>
                <a:latin typeface="Georgia"/>
                <a:cs typeface="Georgia"/>
              </a:rPr>
              <a:t> </a:t>
            </a:r>
            <a:r>
              <a:rPr dirty="0" sz="2700" i="1">
                <a:solidFill>
                  <a:srgbClr val="8B8FA2"/>
                </a:solidFill>
                <a:latin typeface="Georgia"/>
                <a:cs typeface="Georgia"/>
              </a:rPr>
              <a:t>question</a:t>
            </a:r>
            <a:r>
              <a:rPr dirty="0" sz="2700" spc="-55" i="1">
                <a:solidFill>
                  <a:srgbClr val="8B8FA2"/>
                </a:solidFill>
                <a:latin typeface="Georgia"/>
                <a:cs typeface="Georgia"/>
              </a:rPr>
              <a:t> </a:t>
            </a:r>
            <a:r>
              <a:rPr dirty="0" sz="2700" i="1">
                <a:solidFill>
                  <a:srgbClr val="8B8FA2"/>
                </a:solidFill>
                <a:latin typeface="Georgia"/>
                <a:cs typeface="Georgia"/>
              </a:rPr>
              <a:t>is</a:t>
            </a:r>
            <a:r>
              <a:rPr dirty="0" sz="2700" spc="-50" i="1">
                <a:solidFill>
                  <a:srgbClr val="8B8FA2"/>
                </a:solidFill>
                <a:latin typeface="Georgia"/>
                <a:cs typeface="Georgia"/>
              </a:rPr>
              <a:t> </a:t>
            </a:r>
            <a:r>
              <a:rPr dirty="0" sz="2700" i="1">
                <a:solidFill>
                  <a:srgbClr val="8B8FA2"/>
                </a:solidFill>
                <a:latin typeface="Georgia"/>
                <a:cs typeface="Georgia"/>
              </a:rPr>
              <a:t>not</a:t>
            </a:r>
            <a:r>
              <a:rPr dirty="0" sz="2700" spc="-50" i="1">
                <a:solidFill>
                  <a:srgbClr val="8B8FA2"/>
                </a:solidFill>
                <a:latin typeface="Georgia"/>
                <a:cs typeface="Georgia"/>
              </a:rPr>
              <a:t> </a:t>
            </a:r>
            <a:r>
              <a:rPr dirty="0" sz="2700" i="1">
                <a:solidFill>
                  <a:srgbClr val="8B8FA2"/>
                </a:solidFill>
                <a:latin typeface="Georgia"/>
                <a:cs typeface="Georgia"/>
              </a:rPr>
              <a:t>whether</a:t>
            </a:r>
            <a:r>
              <a:rPr dirty="0" sz="2700" spc="-50" i="1">
                <a:solidFill>
                  <a:srgbClr val="8B8FA2"/>
                </a:solidFill>
                <a:latin typeface="Georgia"/>
                <a:cs typeface="Georgia"/>
              </a:rPr>
              <a:t> </a:t>
            </a:r>
            <a:r>
              <a:rPr dirty="0" sz="2700" i="1">
                <a:solidFill>
                  <a:srgbClr val="8B8FA2"/>
                </a:solidFill>
                <a:latin typeface="Georgia"/>
                <a:cs typeface="Georgia"/>
              </a:rPr>
              <a:t>AI</a:t>
            </a:r>
            <a:r>
              <a:rPr dirty="0" sz="2700" spc="-50" i="1">
                <a:solidFill>
                  <a:srgbClr val="8B8FA2"/>
                </a:solidFill>
                <a:latin typeface="Georgia"/>
                <a:cs typeface="Georgia"/>
              </a:rPr>
              <a:t> </a:t>
            </a:r>
            <a:r>
              <a:rPr dirty="0" sz="2700" i="1">
                <a:solidFill>
                  <a:srgbClr val="8B8FA2"/>
                </a:solidFill>
                <a:latin typeface="Georgia"/>
                <a:cs typeface="Georgia"/>
              </a:rPr>
              <a:t>will</a:t>
            </a:r>
            <a:r>
              <a:rPr dirty="0" sz="2700" spc="-50" i="1">
                <a:solidFill>
                  <a:srgbClr val="8B8FA2"/>
                </a:solidFill>
                <a:latin typeface="Georgia"/>
                <a:cs typeface="Georgia"/>
              </a:rPr>
              <a:t> </a:t>
            </a:r>
            <a:r>
              <a:rPr dirty="0" sz="2700" i="1">
                <a:solidFill>
                  <a:srgbClr val="8B8FA2"/>
                </a:solidFill>
                <a:latin typeface="Georgia"/>
                <a:cs typeface="Georgia"/>
              </a:rPr>
              <a:t>transform</a:t>
            </a:r>
            <a:r>
              <a:rPr dirty="0" sz="2700" spc="-50" i="1">
                <a:solidFill>
                  <a:srgbClr val="8B8FA2"/>
                </a:solidFill>
                <a:latin typeface="Georgia"/>
                <a:cs typeface="Georgia"/>
              </a:rPr>
              <a:t> </a:t>
            </a:r>
            <a:r>
              <a:rPr dirty="0" sz="2700" i="1">
                <a:solidFill>
                  <a:srgbClr val="8B8FA2"/>
                </a:solidFill>
                <a:latin typeface="Georgia"/>
                <a:cs typeface="Georgia"/>
              </a:rPr>
              <a:t>your</a:t>
            </a:r>
            <a:r>
              <a:rPr dirty="0" sz="2700" spc="-50" i="1">
                <a:solidFill>
                  <a:srgbClr val="8B8FA2"/>
                </a:solidFill>
                <a:latin typeface="Georgia"/>
                <a:cs typeface="Georgia"/>
              </a:rPr>
              <a:t> </a:t>
            </a:r>
            <a:r>
              <a:rPr dirty="0" sz="2700" spc="-10" i="1">
                <a:solidFill>
                  <a:srgbClr val="8B8FA2"/>
                </a:solidFill>
                <a:latin typeface="Georgia"/>
                <a:cs typeface="Georgia"/>
              </a:rPr>
              <a:t>workforce.</a:t>
            </a:r>
            <a:endParaRPr sz="2700">
              <a:latin typeface="Georgia"/>
              <a:cs typeface="Georgia"/>
            </a:endParaRPr>
          </a:p>
          <a:p>
            <a:pPr algn="ctr">
              <a:lnSpc>
                <a:spcPts val="3229"/>
              </a:lnSpc>
            </a:pPr>
            <a:r>
              <a:rPr dirty="0" sz="2700" i="1">
                <a:solidFill>
                  <a:srgbClr val="8B8FA2"/>
                </a:solidFill>
                <a:latin typeface="Georgia"/>
                <a:cs typeface="Georgia"/>
              </a:rPr>
              <a:t>The</a:t>
            </a:r>
            <a:r>
              <a:rPr dirty="0" sz="2700" spc="-55" i="1">
                <a:solidFill>
                  <a:srgbClr val="8B8FA2"/>
                </a:solidFill>
                <a:latin typeface="Georgia"/>
                <a:cs typeface="Georgia"/>
              </a:rPr>
              <a:t> </a:t>
            </a:r>
            <a:r>
              <a:rPr dirty="0" sz="2700" i="1">
                <a:solidFill>
                  <a:srgbClr val="8B8FA2"/>
                </a:solidFill>
                <a:latin typeface="Georgia"/>
                <a:cs typeface="Georgia"/>
              </a:rPr>
              <a:t>question</a:t>
            </a:r>
            <a:r>
              <a:rPr dirty="0" sz="2700" spc="-50" i="1">
                <a:solidFill>
                  <a:srgbClr val="8B8FA2"/>
                </a:solidFill>
                <a:latin typeface="Georgia"/>
                <a:cs typeface="Georgia"/>
              </a:rPr>
              <a:t> </a:t>
            </a:r>
            <a:r>
              <a:rPr dirty="0" sz="2700" i="1">
                <a:solidFill>
                  <a:srgbClr val="8B8FA2"/>
                </a:solidFill>
                <a:latin typeface="Georgia"/>
                <a:cs typeface="Georgia"/>
              </a:rPr>
              <a:t>is</a:t>
            </a:r>
            <a:r>
              <a:rPr dirty="0" sz="2700" spc="-50" i="1">
                <a:solidFill>
                  <a:srgbClr val="8B8FA2"/>
                </a:solidFill>
                <a:latin typeface="Georgia"/>
                <a:cs typeface="Georgia"/>
              </a:rPr>
              <a:t> </a:t>
            </a:r>
            <a:r>
              <a:rPr dirty="0" sz="2700" i="1">
                <a:solidFill>
                  <a:srgbClr val="8B8FA2"/>
                </a:solidFill>
                <a:latin typeface="Georgia"/>
                <a:cs typeface="Georgia"/>
              </a:rPr>
              <a:t>whether</a:t>
            </a:r>
            <a:r>
              <a:rPr dirty="0" sz="2700" spc="-55" i="1">
                <a:solidFill>
                  <a:srgbClr val="8B8FA2"/>
                </a:solidFill>
                <a:latin typeface="Georgia"/>
                <a:cs typeface="Georgia"/>
              </a:rPr>
              <a:t> </a:t>
            </a:r>
            <a:r>
              <a:rPr dirty="0" sz="2700" i="1">
                <a:solidFill>
                  <a:srgbClr val="8B8FA2"/>
                </a:solidFill>
                <a:latin typeface="Georgia"/>
                <a:cs typeface="Georgia"/>
              </a:rPr>
              <a:t>you</a:t>
            </a:r>
            <a:r>
              <a:rPr dirty="0" sz="2700" spc="-50" i="1">
                <a:solidFill>
                  <a:srgbClr val="8B8FA2"/>
                </a:solidFill>
                <a:latin typeface="Georgia"/>
                <a:cs typeface="Georgia"/>
              </a:rPr>
              <a:t> </a:t>
            </a:r>
            <a:r>
              <a:rPr dirty="0" sz="2700" i="1">
                <a:solidFill>
                  <a:srgbClr val="8B8FA2"/>
                </a:solidFill>
                <a:latin typeface="Georgia"/>
                <a:cs typeface="Georgia"/>
              </a:rPr>
              <a:t>will</a:t>
            </a:r>
            <a:r>
              <a:rPr dirty="0" sz="2700" spc="-50" i="1">
                <a:solidFill>
                  <a:srgbClr val="8B8FA2"/>
                </a:solidFill>
                <a:latin typeface="Georgia"/>
                <a:cs typeface="Georgia"/>
              </a:rPr>
              <a:t> </a:t>
            </a:r>
            <a:r>
              <a:rPr dirty="0" sz="2700" i="1">
                <a:solidFill>
                  <a:srgbClr val="8B8FA2"/>
                </a:solidFill>
                <a:latin typeface="Georgia"/>
                <a:cs typeface="Georgia"/>
              </a:rPr>
              <a:t>lead</a:t>
            </a:r>
            <a:r>
              <a:rPr dirty="0" sz="2700" spc="-55" i="1">
                <a:solidFill>
                  <a:srgbClr val="8B8FA2"/>
                </a:solidFill>
                <a:latin typeface="Georgia"/>
                <a:cs typeface="Georgia"/>
              </a:rPr>
              <a:t> </a:t>
            </a:r>
            <a:r>
              <a:rPr dirty="0" sz="2700" i="1">
                <a:solidFill>
                  <a:srgbClr val="8B8FA2"/>
                </a:solidFill>
                <a:latin typeface="Georgia"/>
                <a:cs typeface="Georgia"/>
              </a:rPr>
              <a:t>that</a:t>
            </a:r>
            <a:r>
              <a:rPr dirty="0" sz="2700" spc="-50" i="1">
                <a:solidFill>
                  <a:srgbClr val="8B8FA2"/>
                </a:solidFill>
                <a:latin typeface="Georgia"/>
                <a:cs typeface="Georgia"/>
              </a:rPr>
              <a:t> </a:t>
            </a:r>
            <a:r>
              <a:rPr dirty="0" sz="2700" i="1">
                <a:solidFill>
                  <a:srgbClr val="8B8FA2"/>
                </a:solidFill>
                <a:latin typeface="Georgia"/>
                <a:cs typeface="Georgia"/>
              </a:rPr>
              <a:t>transformation</a:t>
            </a:r>
            <a:r>
              <a:rPr dirty="0" sz="2700" spc="-50" i="1">
                <a:solidFill>
                  <a:srgbClr val="8B8FA2"/>
                </a:solidFill>
                <a:latin typeface="Georgia"/>
                <a:cs typeface="Georgia"/>
              </a:rPr>
              <a:t> </a:t>
            </a:r>
            <a:r>
              <a:rPr dirty="0" sz="2700" i="1">
                <a:solidFill>
                  <a:srgbClr val="8B8FA2"/>
                </a:solidFill>
                <a:latin typeface="Georgia"/>
                <a:cs typeface="Georgia"/>
              </a:rPr>
              <a:t>—</a:t>
            </a:r>
            <a:r>
              <a:rPr dirty="0" sz="2700" spc="-55" i="1">
                <a:solidFill>
                  <a:srgbClr val="8B8FA2"/>
                </a:solidFill>
                <a:latin typeface="Georgia"/>
                <a:cs typeface="Georgia"/>
              </a:rPr>
              <a:t> </a:t>
            </a:r>
            <a:r>
              <a:rPr dirty="0" sz="2700" i="1">
                <a:solidFill>
                  <a:srgbClr val="8B8FA2"/>
                </a:solidFill>
                <a:latin typeface="Georgia"/>
                <a:cs typeface="Georgia"/>
              </a:rPr>
              <a:t>or</a:t>
            </a:r>
            <a:r>
              <a:rPr dirty="0" sz="2700" spc="-50" i="1">
                <a:solidFill>
                  <a:srgbClr val="8B8FA2"/>
                </a:solidFill>
                <a:latin typeface="Georgia"/>
                <a:cs typeface="Georgia"/>
              </a:rPr>
              <a:t> </a:t>
            </a:r>
            <a:r>
              <a:rPr dirty="0" sz="2700" i="1">
                <a:solidFill>
                  <a:srgbClr val="8B8FA2"/>
                </a:solidFill>
                <a:latin typeface="Georgia"/>
                <a:cs typeface="Georgia"/>
              </a:rPr>
              <a:t>follow</a:t>
            </a:r>
            <a:r>
              <a:rPr dirty="0" sz="2700" spc="-50" i="1">
                <a:solidFill>
                  <a:srgbClr val="8B8FA2"/>
                </a:solidFill>
                <a:latin typeface="Georgia"/>
                <a:cs typeface="Georgia"/>
              </a:rPr>
              <a:t> </a:t>
            </a:r>
            <a:r>
              <a:rPr dirty="0" sz="2700" spc="-20" i="1">
                <a:solidFill>
                  <a:srgbClr val="8B8FA2"/>
                </a:solidFill>
                <a:latin typeface="Georgia"/>
                <a:cs typeface="Georgia"/>
              </a:rPr>
              <a:t>it."</a:t>
            </a:r>
            <a:endParaRPr sz="27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177029" y="5765225"/>
            <a:ext cx="2745740" cy="617855"/>
          </a:xfrm>
          <a:custGeom>
            <a:avLst/>
            <a:gdLst/>
            <a:ahLst/>
            <a:cxnLst/>
            <a:rect l="l" t="t" r="r" b="b"/>
            <a:pathLst>
              <a:path w="2745740" h="617854">
                <a:moveTo>
                  <a:pt x="2560034" y="617705"/>
                </a:moveTo>
                <a:lnTo>
                  <a:pt x="185356" y="617705"/>
                </a:lnTo>
                <a:lnTo>
                  <a:pt x="136151" y="611165"/>
                </a:lnTo>
                <a:lnTo>
                  <a:pt x="91892" y="592468"/>
                </a:lnTo>
                <a:lnTo>
                  <a:pt x="54326" y="563474"/>
                </a:lnTo>
                <a:lnTo>
                  <a:pt x="25317" y="525956"/>
                </a:lnTo>
                <a:lnTo>
                  <a:pt x="6622" y="481685"/>
                </a:lnTo>
                <a:lnTo>
                  <a:pt x="0" y="432434"/>
                </a:lnTo>
                <a:lnTo>
                  <a:pt x="0" y="185356"/>
                </a:lnTo>
                <a:lnTo>
                  <a:pt x="6619" y="136073"/>
                </a:lnTo>
                <a:lnTo>
                  <a:pt x="25301" y="91792"/>
                </a:lnTo>
                <a:lnTo>
                  <a:pt x="54280" y="54280"/>
                </a:lnTo>
                <a:lnTo>
                  <a:pt x="91792" y="25301"/>
                </a:lnTo>
                <a:lnTo>
                  <a:pt x="136073" y="6619"/>
                </a:lnTo>
                <a:lnTo>
                  <a:pt x="185356" y="0"/>
                </a:lnTo>
                <a:lnTo>
                  <a:pt x="2560034" y="0"/>
                </a:lnTo>
                <a:lnTo>
                  <a:pt x="2609284" y="6619"/>
                </a:lnTo>
                <a:lnTo>
                  <a:pt x="2653555" y="25301"/>
                </a:lnTo>
                <a:lnTo>
                  <a:pt x="2691074" y="54280"/>
                </a:lnTo>
                <a:lnTo>
                  <a:pt x="2720068" y="91792"/>
                </a:lnTo>
                <a:lnTo>
                  <a:pt x="2738764" y="136073"/>
                </a:lnTo>
                <a:lnTo>
                  <a:pt x="2745390" y="185356"/>
                </a:lnTo>
                <a:lnTo>
                  <a:pt x="2745390" y="432434"/>
                </a:lnTo>
                <a:lnTo>
                  <a:pt x="2738771" y="481685"/>
                </a:lnTo>
                <a:lnTo>
                  <a:pt x="2720089" y="525956"/>
                </a:lnTo>
                <a:lnTo>
                  <a:pt x="2691110" y="563474"/>
                </a:lnTo>
                <a:lnTo>
                  <a:pt x="2653597" y="592468"/>
                </a:lnTo>
                <a:lnTo>
                  <a:pt x="2609317" y="611165"/>
                </a:lnTo>
                <a:lnTo>
                  <a:pt x="2560034" y="617705"/>
                </a:lnTo>
                <a:close/>
              </a:path>
            </a:pathLst>
          </a:custGeom>
          <a:solidFill>
            <a:srgbClr val="FFFA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665195" y="5891494"/>
            <a:ext cx="176911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426F"/>
                </a:solidFill>
                <a:latin typeface="Calibri"/>
                <a:cs typeface="Calibri"/>
              </a:rPr>
              <a:t>Watch</a:t>
            </a:r>
            <a:r>
              <a:rPr dirty="0" sz="1800" spc="-40" b="1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426F"/>
                </a:solidFill>
                <a:latin typeface="Calibri"/>
                <a:cs typeface="Calibri"/>
              </a:rPr>
              <a:t>Demo</a:t>
            </a:r>
            <a:r>
              <a:rPr dirty="0" sz="1800" spc="-40" b="1">
                <a:solidFill>
                  <a:srgbClr val="00426F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00426F"/>
                </a:solidFill>
                <a:latin typeface="Calibri"/>
                <a:cs typeface="Calibri"/>
              </a:rPr>
              <a:t>Flow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305707" y="5736625"/>
            <a:ext cx="2800350" cy="675005"/>
            <a:chOff x="9305707" y="5736625"/>
            <a:chExt cx="2800350" cy="675005"/>
          </a:xfrm>
        </p:grpSpPr>
        <p:sp>
          <p:nvSpPr>
            <p:cNvPr id="11" name="object 11"/>
            <p:cNvSpPr/>
            <p:nvPr/>
          </p:nvSpPr>
          <p:spPr>
            <a:xfrm>
              <a:off x="9324642" y="5755690"/>
              <a:ext cx="2763520" cy="636905"/>
            </a:xfrm>
            <a:custGeom>
              <a:avLst/>
              <a:gdLst/>
              <a:ahLst/>
              <a:cxnLst/>
              <a:rect l="l" t="t" r="r" b="b"/>
              <a:pathLst>
                <a:path w="2763520" h="636904">
                  <a:moveTo>
                    <a:pt x="2573369" y="636765"/>
                  </a:moveTo>
                  <a:lnTo>
                    <a:pt x="191071" y="636765"/>
                  </a:lnTo>
                  <a:lnTo>
                    <a:pt x="147559" y="631796"/>
                  </a:lnTo>
                  <a:lnTo>
                    <a:pt x="147355" y="631796"/>
                  </a:lnTo>
                  <a:lnTo>
                    <a:pt x="107201" y="617422"/>
                  </a:lnTo>
                  <a:lnTo>
                    <a:pt x="71671" y="594869"/>
                  </a:lnTo>
                  <a:lnTo>
                    <a:pt x="42042" y="565280"/>
                  </a:lnTo>
                  <a:lnTo>
                    <a:pt x="19456" y="529803"/>
                  </a:lnTo>
                  <a:lnTo>
                    <a:pt x="5058" y="489584"/>
                  </a:lnTo>
                  <a:lnTo>
                    <a:pt x="0" y="445770"/>
                  </a:lnTo>
                  <a:lnTo>
                    <a:pt x="0" y="191071"/>
                  </a:lnTo>
                  <a:lnTo>
                    <a:pt x="5045" y="147257"/>
                  </a:lnTo>
                  <a:lnTo>
                    <a:pt x="19418" y="107038"/>
                  </a:lnTo>
                  <a:lnTo>
                    <a:pt x="41972" y="71561"/>
                  </a:lnTo>
                  <a:lnTo>
                    <a:pt x="71561" y="41973"/>
                  </a:lnTo>
                  <a:lnTo>
                    <a:pt x="107038" y="19419"/>
                  </a:lnTo>
                  <a:lnTo>
                    <a:pt x="147257" y="5046"/>
                  </a:lnTo>
                  <a:lnTo>
                    <a:pt x="191071" y="0"/>
                  </a:lnTo>
                  <a:lnTo>
                    <a:pt x="2573369" y="0"/>
                  </a:lnTo>
                  <a:lnTo>
                    <a:pt x="2617183" y="5046"/>
                  </a:lnTo>
                  <a:lnTo>
                    <a:pt x="2657402" y="19419"/>
                  </a:lnTo>
                  <a:lnTo>
                    <a:pt x="2692879" y="41973"/>
                  </a:lnTo>
                  <a:lnTo>
                    <a:pt x="2722468" y="71561"/>
                  </a:lnTo>
                  <a:lnTo>
                    <a:pt x="2745022" y="107038"/>
                  </a:lnTo>
                  <a:lnTo>
                    <a:pt x="2759395" y="147257"/>
                  </a:lnTo>
                  <a:lnTo>
                    <a:pt x="2763461" y="182568"/>
                  </a:lnTo>
                  <a:lnTo>
                    <a:pt x="2763461" y="454273"/>
                  </a:lnTo>
                  <a:lnTo>
                    <a:pt x="2745022" y="529803"/>
                  </a:lnTo>
                  <a:lnTo>
                    <a:pt x="2722468" y="565280"/>
                  </a:lnTo>
                  <a:lnTo>
                    <a:pt x="2692879" y="594869"/>
                  </a:lnTo>
                  <a:lnTo>
                    <a:pt x="2657402" y="617422"/>
                  </a:lnTo>
                  <a:lnTo>
                    <a:pt x="2617183" y="631796"/>
                  </a:lnTo>
                  <a:lnTo>
                    <a:pt x="2573369" y="636765"/>
                  </a:lnTo>
                  <a:close/>
                </a:path>
              </a:pathLst>
            </a:custGeom>
            <a:solidFill>
              <a:srgbClr val="0042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9324772" y="5755690"/>
              <a:ext cx="2762250" cy="636905"/>
            </a:xfrm>
            <a:custGeom>
              <a:avLst/>
              <a:gdLst/>
              <a:ahLst/>
              <a:cxnLst/>
              <a:rect l="l" t="t" r="r" b="b"/>
              <a:pathLst>
                <a:path w="2762250" h="636904">
                  <a:moveTo>
                    <a:pt x="2762118" y="462915"/>
                  </a:moveTo>
                  <a:lnTo>
                    <a:pt x="2744683" y="529737"/>
                  </a:lnTo>
                  <a:lnTo>
                    <a:pt x="2722132" y="565210"/>
                  </a:lnTo>
                  <a:lnTo>
                    <a:pt x="2692547" y="594795"/>
                  </a:lnTo>
                  <a:lnTo>
                    <a:pt x="2657074" y="617346"/>
                  </a:lnTo>
                  <a:lnTo>
                    <a:pt x="2616860" y="631717"/>
                  </a:lnTo>
                  <a:lnTo>
                    <a:pt x="2573051" y="636762"/>
                  </a:lnTo>
                  <a:lnTo>
                    <a:pt x="191047" y="636762"/>
                  </a:lnTo>
                  <a:lnTo>
                    <a:pt x="147339" y="631694"/>
                  </a:lnTo>
                  <a:lnTo>
                    <a:pt x="107045" y="617255"/>
                  </a:lnTo>
                  <a:lnTo>
                    <a:pt x="71572" y="594705"/>
                  </a:lnTo>
                  <a:lnTo>
                    <a:pt x="41985" y="565128"/>
                  </a:lnTo>
                  <a:lnTo>
                    <a:pt x="19430" y="529674"/>
                  </a:lnTo>
                  <a:lnTo>
                    <a:pt x="5053" y="489487"/>
                  </a:lnTo>
                  <a:lnTo>
                    <a:pt x="0" y="445714"/>
                  </a:lnTo>
                  <a:lnTo>
                    <a:pt x="0" y="191047"/>
                  </a:lnTo>
                  <a:lnTo>
                    <a:pt x="5045" y="147238"/>
                  </a:lnTo>
                  <a:lnTo>
                    <a:pt x="19416" y="107024"/>
                  </a:lnTo>
                  <a:lnTo>
                    <a:pt x="41967" y="71552"/>
                  </a:lnTo>
                  <a:lnTo>
                    <a:pt x="71552" y="41967"/>
                  </a:lnTo>
                  <a:lnTo>
                    <a:pt x="107025" y="19416"/>
                  </a:lnTo>
                  <a:lnTo>
                    <a:pt x="147238" y="5045"/>
                  </a:lnTo>
                  <a:lnTo>
                    <a:pt x="191047" y="0"/>
                  </a:lnTo>
                  <a:lnTo>
                    <a:pt x="2573051" y="0"/>
                  </a:lnTo>
                  <a:lnTo>
                    <a:pt x="2616860" y="5045"/>
                  </a:lnTo>
                  <a:lnTo>
                    <a:pt x="2657074" y="19416"/>
                  </a:lnTo>
                  <a:lnTo>
                    <a:pt x="2692547" y="41967"/>
                  </a:lnTo>
                  <a:lnTo>
                    <a:pt x="2722131" y="71552"/>
                  </a:lnTo>
                  <a:lnTo>
                    <a:pt x="2744683" y="107024"/>
                  </a:lnTo>
                  <a:lnTo>
                    <a:pt x="2759054" y="147238"/>
                  </a:lnTo>
                  <a:lnTo>
                    <a:pt x="2762118" y="173847"/>
                  </a:lnTo>
                </a:path>
              </a:pathLst>
            </a:custGeom>
            <a:ln w="38129">
              <a:solidFill>
                <a:srgbClr val="0C40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9838564" y="5862919"/>
            <a:ext cx="173672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AF0"/>
                </a:solidFill>
                <a:latin typeface="Calibri"/>
                <a:cs typeface="Calibri"/>
              </a:rPr>
              <a:t>View</a:t>
            </a:r>
            <a:r>
              <a:rPr dirty="0" sz="1800" spc="-20" b="1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FFFAF0"/>
                </a:solidFill>
                <a:latin typeface="Calibri"/>
                <a:cs typeface="Calibri"/>
              </a:rPr>
              <a:t>Architecture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85"/>
              </a:lnSpc>
            </a:pPr>
            <a:r>
              <a:rPr dirty="0"/>
              <a:t>16</a:t>
            </a:r>
            <a:r>
              <a:rPr dirty="0" spc="-15"/>
              <a:t> </a:t>
            </a:r>
            <a:r>
              <a:rPr dirty="0"/>
              <a:t>/</a:t>
            </a:r>
            <a:r>
              <a:rPr dirty="0" spc="-15"/>
              <a:t> </a:t>
            </a:r>
            <a:r>
              <a:rPr dirty="0" spc="-25"/>
              <a:t>16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398515" y="7544520"/>
            <a:ext cx="545973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6A6F82"/>
                </a:solidFill>
                <a:latin typeface="Calibri"/>
                <a:cs typeface="Calibri"/>
              </a:rPr>
              <a:t>Deck</a:t>
            </a:r>
            <a:r>
              <a:rPr dirty="0" sz="1500" spc="-25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6A6F82"/>
                </a:solidFill>
                <a:latin typeface="Calibri"/>
                <a:cs typeface="Calibri"/>
              </a:rPr>
              <a:t>Version</a:t>
            </a:r>
            <a:r>
              <a:rPr dirty="0" sz="1500" spc="-20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6A6F82"/>
                </a:solidFill>
                <a:latin typeface="Calibri"/>
                <a:cs typeface="Calibri"/>
              </a:rPr>
              <a:t>v1.0</a:t>
            </a:r>
            <a:r>
              <a:rPr dirty="0" sz="1500" spc="305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6A6F82"/>
                </a:solidFill>
                <a:latin typeface="Calibri"/>
                <a:cs typeface="Calibri"/>
              </a:rPr>
              <a:t>·</a:t>
            </a:r>
            <a:r>
              <a:rPr dirty="0" sz="1500" spc="305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6A6F82"/>
                </a:solidFill>
                <a:latin typeface="Calibri"/>
                <a:cs typeface="Calibri"/>
              </a:rPr>
              <a:t>Status:</a:t>
            </a:r>
            <a:r>
              <a:rPr dirty="0" sz="1500" spc="-20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6A6F82"/>
                </a:solidFill>
                <a:latin typeface="Calibri"/>
                <a:cs typeface="Calibri"/>
              </a:rPr>
              <a:t>MVP</a:t>
            </a:r>
            <a:r>
              <a:rPr dirty="0" sz="1500" spc="-20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6A6F82"/>
                </a:solidFill>
                <a:latin typeface="Calibri"/>
                <a:cs typeface="Calibri"/>
              </a:rPr>
              <a:t>in</a:t>
            </a:r>
            <a:r>
              <a:rPr dirty="0" sz="1500" spc="-25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6A6F82"/>
                </a:solidFill>
                <a:latin typeface="Calibri"/>
                <a:cs typeface="Calibri"/>
              </a:rPr>
              <a:t>Build</a:t>
            </a:r>
            <a:r>
              <a:rPr dirty="0" sz="1500" spc="305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6A6F82"/>
                </a:solidFill>
                <a:latin typeface="Calibri"/>
                <a:cs typeface="Calibri"/>
              </a:rPr>
              <a:t>·</a:t>
            </a:r>
            <a:r>
              <a:rPr dirty="0" sz="1500" spc="305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6A6F82"/>
                </a:solidFill>
                <a:latin typeface="Calibri"/>
                <a:cs typeface="Calibri"/>
              </a:rPr>
              <a:t>Classification:</a:t>
            </a:r>
            <a:r>
              <a:rPr dirty="0" sz="1500" spc="-20">
                <a:solidFill>
                  <a:srgbClr val="6A6F8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6A6F82"/>
                </a:solidFill>
                <a:latin typeface="Calibri"/>
                <a:cs typeface="Calibri"/>
              </a:rPr>
              <a:t>Confidential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Pradeep</dc:creator>
  <cp:keywords>DAHL-FBsTxw,BAFbXEa9EcY,0</cp:keywords>
  <dc:title>Upload your business knowledge. Deploy AI employees that sell, support, and grow your revenue — 24/7.</dc:title>
  <dcterms:created xsi:type="dcterms:W3CDTF">2026-07-18T13:03:44Z</dcterms:created>
  <dcterms:modified xsi:type="dcterms:W3CDTF">2026-07-18T13:03:44Z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2026-06-08T00:00:00Z</vt:filetime>
  </property>
  <property fmtid="{D5CDD505-2E9C-101B-9397-08002B2CF9AE}" pid="4" name="Creator">
    <vt:lpwstr>Canva</vt:lpwstr>
  </property>
  <property fmtid="{D5CDD505-2E9C-101B-9397-08002B2CF9AE}" pid="5" name="LastSaved">
    <vt:filetime>2026-07-18T00:00:00Z</vt:filetime>
  </property>
  <property fmtid="{D5CDD505-2E9C-101B-9397-08002B2CF9AE}" pid="6" name="Producer">
    <vt:lpwstr>Canva</vt:lpwstr>
  </property>
</Properties>
</file>